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9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7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19_10E35DC2.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0C_0.xml" ContentType="application/vnd.ms-powerpoint.comments+xml"/>
  <Override PartName="/ppt/notesSlides/notesSlide21.xml" ContentType="application/vnd.openxmlformats-officedocument.presentationml.notesSlide+xml"/>
  <Override PartName="/ppt/comments/modernComment_117_48762DB8.xml" ContentType="application/vnd.ms-powerpoint.comments+xml"/>
  <Override PartName="/ppt/notesSlides/notesSlide22.xml" ContentType="application/vnd.openxmlformats-officedocument.presentationml.notesSlide+xml"/>
  <Override PartName="/ppt/comments/modernComment_118_D079A3A2.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9" r:id="rId4"/>
    <p:sldId id="295" r:id="rId5"/>
    <p:sldId id="260" r:id="rId6"/>
    <p:sldId id="261" r:id="rId7"/>
    <p:sldId id="265" r:id="rId8"/>
    <p:sldId id="278" r:id="rId9"/>
    <p:sldId id="264" r:id="rId10"/>
    <p:sldId id="283" r:id="rId11"/>
    <p:sldId id="263" r:id="rId12"/>
    <p:sldId id="285" r:id="rId13"/>
    <p:sldId id="281" r:id="rId14"/>
    <p:sldId id="270" r:id="rId15"/>
    <p:sldId id="288" r:id="rId16"/>
    <p:sldId id="291" r:id="rId17"/>
    <p:sldId id="292" r:id="rId18"/>
    <p:sldId id="258" r:id="rId19"/>
    <p:sldId id="266" r:id="rId20"/>
    <p:sldId id="268" r:id="rId21"/>
    <p:sldId id="279" r:id="rId22"/>
    <p:sldId id="280" r:id="rId23"/>
    <p:sldId id="286" r:id="rId24"/>
    <p:sldId id="293" r:id="rId25"/>
    <p:sldId id="294" r:id="rId26"/>
    <p:sldId id="274" r:id="rId27"/>
    <p:sldId id="275" r:id="rId28"/>
    <p:sldId id="276" r:id="rId29"/>
    <p:sldId id="277" r:id="rId30"/>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B2EDD8-9B47-2FCA-979B-9062368EEE32}" name="爽 冷" initials="爽冷" userId="5350fdbd5c0e5e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5999"/>
    <a:srgbClr val="1D3EBF"/>
    <a:srgbClr val="004C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10"/>
  </p:normalViewPr>
  <p:slideViewPr>
    <p:cSldViewPr snapToGrid="0" snapToObjects="1">
      <p:cViewPr varScale="1">
        <p:scale>
          <a:sx n="99" d="100"/>
          <a:sy n="99" d="100"/>
        </p:scale>
        <p:origin x="72"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6CD9BA1F-E38A-4D9E-8C4B-CD8BC6F29DFE}"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0" sldId="268"/>
      <ac:spMk id="32" creationId="{00000000-0000-0000-0000-000000000000}"/>
    </ac:deMkLst>
    <p188:txBody>
      <a:bodyPr/>
      <a:lstStyle/>
      <a:p>
        <a:r>
          <a:rPr lang="zh-CN" altLang="en-US"/>
          <a:t>关于每一步操作的截图</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D2306A0-1B17-41F4-B810-7F00102BF0C9}" authorId="{7CB2EDD8-9B47-2FCA-979B-9062368EEE32}" created="2025-11-16T03:02:58.867">
    <pc:sldMkLst xmlns:pc="http://schemas.microsoft.com/office/powerpoint/2013/main/command">
      <pc:docMk/>
      <pc:sldMk cId="0" sldId="263"/>
    </pc:sldMkLst>
    <p188:txBody>
      <a:bodyPr/>
      <a:lstStyle/>
      <a:p>
        <a:r>
          <a:rPr lang="zh-CN" altLang="en-US"/>
          <a:t>数据集也许更改一下描述，或者pre的时候口头描述区别</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709005CC-2CFE-46C5-AA51-2C38A97AB13D}" authorId="{7CB2EDD8-9B47-2FCA-979B-9062368EEE32}" created="2025-11-16T03:08:56.801">
    <ac:deMkLst xmlns:ac="http://schemas.microsoft.com/office/drawing/2013/main/command">
      <pc:docMk xmlns:pc="http://schemas.microsoft.com/office/powerpoint/2013/main/command"/>
      <pc:sldMk xmlns:pc="http://schemas.microsoft.com/office/powerpoint/2013/main/command" cId="0" sldId="265"/>
      <ac:spMk id="31" creationId="{00000000-0000-0000-0000-000000000000}"/>
    </ac:deMkLst>
    <p188:txBody>
      <a:bodyPr/>
      <a:lstStyle/>
      <a:p>
        <a:r>
          <a:rPr lang="zh-CN" altLang="en-US"/>
          <a:t>关于这个项目的技术挑战</a:t>
        </a:r>
      </a:p>
    </p188:txBody>
  </p188:cm>
</p188:cmLst>
</file>

<file path=ppt/comments/modernComment_117_48762DB8.xml><?xml version="1.0" encoding="utf-8"?>
<p188:cmLst xmlns:a="http://schemas.openxmlformats.org/drawingml/2006/main" xmlns:r="http://schemas.openxmlformats.org/officeDocument/2006/relationships" xmlns:p188="http://schemas.microsoft.com/office/powerpoint/2018/8/main">
  <p188:cm id="{3433138E-D7A4-4130-ABB1-47A9754608C7}"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1215704504" sldId="279"/>
      <ac:spMk id="32" creationId="{2601A35F-63FA-2959-1524-CF50530A309A}"/>
    </ac:deMkLst>
    <p188:txBody>
      <a:bodyPr/>
      <a:lstStyle/>
      <a:p>
        <a:r>
          <a:rPr lang="zh-CN" altLang="en-US"/>
          <a:t>关于每一步操作的截图</a:t>
        </a:r>
      </a:p>
    </p188:txBody>
  </p188:cm>
</p188:cmLst>
</file>

<file path=ppt/comments/modernComment_118_D079A3A2.xml><?xml version="1.0" encoding="utf-8"?>
<p188:cmLst xmlns:a="http://schemas.openxmlformats.org/drawingml/2006/main" xmlns:r="http://schemas.openxmlformats.org/officeDocument/2006/relationships" xmlns:p188="http://schemas.microsoft.com/office/powerpoint/2018/8/main">
  <p188:cm id="{1EBAC4E2-1067-4D8A-B626-CA3F7001309B}"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3497632674" sldId="280"/>
      <ac:spMk id="32" creationId="{F8E01097-4384-68B9-7AAC-577BC260EF6F}"/>
    </ac:deMkLst>
    <p188:txBody>
      <a:bodyPr/>
      <a:lstStyle/>
      <a:p>
        <a:r>
          <a:rPr lang="zh-CN" altLang="en-US"/>
          <a:t>关于每一步操作的截图</a:t>
        </a:r>
      </a:p>
    </p188:txBody>
  </p188:cm>
</p188:cmLst>
</file>

<file path=ppt/comments/modernComment_119_10E35DC2.xml><?xml version="1.0" encoding="utf-8"?>
<p188:cmLst xmlns:a="http://schemas.openxmlformats.org/drawingml/2006/main" xmlns:r="http://schemas.openxmlformats.org/officeDocument/2006/relationships" xmlns:p188="http://schemas.microsoft.com/office/powerpoint/2018/8/main">
  <p188:cm id="{3BA82C6E-891E-47A4-90D9-B42D7A074C3A}" authorId="{7CB2EDD8-9B47-2FCA-979B-9062368EEE32}" created="2025-11-16T03:02:58.867">
    <pc:sldMkLst xmlns:pc="http://schemas.microsoft.com/office/powerpoint/2013/main/command">
      <pc:docMk/>
      <pc:sldMk cId="0" sldId="263"/>
    </pc:sldMkLst>
    <p188:txBody>
      <a:bodyPr/>
      <a:lstStyle/>
      <a:p>
        <a:r>
          <a:rPr lang="zh-CN" altLang="en-US"/>
          <a:t>数据集也许更改一下描述，或者pre的时候口头描述区别</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5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10C1-19B4-024F-BF4F-E61DD4582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D1372-B259-B2D8-59BF-00885C549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B13FA-DADF-4757-750C-A25AB9027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07DF4-2873-10A8-6AD3-63A3FF631CF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23089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E352-CDA3-3E38-C95B-CA14B27BC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69B68-41F2-C0AD-F99F-AA1A90B97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EDDEC-4EC9-C89D-A577-10DD1743D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B66859-D741-5976-55EA-8BD5F1DDA23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7120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73C59-7F24-6647-7FAB-C4116EF93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83C55-69AF-BD5D-7DE6-63FC1C611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617AC-C6BA-759F-AB4D-911AB1A338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9B1842-EF3E-F679-A56C-4EB0D91069D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966041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2B2B-7DF0-A009-E29B-D811D1F66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BF508-27A4-9369-EB7E-588D34863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987E9-CF7B-41F7-0CDE-55C34EE4CE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7FAA3-32E8-646C-B6A6-E1AB48CB525D}"/>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697124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70EF-4839-896A-F023-1AB41039A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4A90D-FD85-3205-6147-9CBD4DD59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4EAB0-FE16-AE1E-F1D5-041608F0F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E10A84-500B-6DC3-D62C-3B0D972C2849}"/>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763070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19_10E35DC2.xm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5.jp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7_48762DB8.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8_D079A3A2.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39-d3jnsaos8jdo4os5dls0.png"/>
          <p:cNvPicPr>
            <a:picLocks noChangeAspect="1"/>
          </p:cNvPicPr>
          <p:nvPr/>
        </p:nvPicPr>
        <p:blipFill>
          <a:blip r:embed="rId3"/>
          <a:stretch>
            <a:fillRect/>
          </a:stretch>
        </p:blipFill>
        <p:spPr>
          <a:xfrm>
            <a:off x="182880" y="365760"/>
            <a:ext cx="11826240" cy="6492240"/>
          </a:xfrm>
          <a:prstGeom prst="rect">
            <a:avLst/>
          </a:prstGeom>
        </p:spPr>
      </p:pic>
      <p:pic>
        <p:nvPicPr>
          <p:cNvPr id="3" name="Image 1" descr="https://kimi-img.moonshot.cn/pub/slides/slides_tmpl/image/25-10-09-17:19:39-d3jnsaos8jdo4os5dlq0.png"/>
          <p:cNvPicPr>
            <a:picLocks noChangeAspect="1"/>
          </p:cNvPicPr>
          <p:nvPr/>
        </p:nvPicPr>
        <p:blipFill>
          <a:blip r:embed="rId4"/>
          <a:stretch>
            <a:fillRect/>
          </a:stretch>
        </p:blipFill>
        <p:spPr>
          <a:xfrm>
            <a:off x="466090" y="4965065"/>
            <a:ext cx="4747895" cy="597535"/>
          </a:xfrm>
          <a:prstGeom prst="rect">
            <a:avLst/>
          </a:prstGeom>
        </p:spPr>
      </p:pic>
      <p:sp>
        <p:nvSpPr>
          <p:cNvPr id="4" name="Text 0"/>
          <p:cNvSpPr/>
          <p:nvPr/>
        </p:nvSpPr>
        <p:spPr>
          <a:xfrm>
            <a:off x="961315" y="1773085"/>
            <a:ext cx="6406515" cy="2585323"/>
          </a:xfrm>
          <a:prstGeom prst="rect">
            <a:avLst/>
          </a:prstGeom>
          <a:noFill/>
          <a:ln/>
        </p:spPr>
        <p:txBody>
          <a:bodyPr wrap="square" lIns="91440" tIns="45720" rIns="91440" bIns="45720" rtlCol="0" anchor="t">
            <a:spAutoFit/>
          </a:bodyPr>
          <a:lstStyle/>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 Log Analyzer</a:t>
            </a:r>
            <a:endParaRPr lang="en-US" sz="1600" dirty="0">
              <a:latin typeface="Times New Roman" panose="02020603050405020304" pitchFamily="18" charset="0"/>
              <a:cs typeface="Times New Roman" panose="02020603050405020304" pitchFamily="18" charset="0"/>
            </a:endParaRPr>
          </a:p>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 based LogLLM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5400" b="1" dirty="0">
                <a:solidFill>
                  <a:srgbClr val="004CC0"/>
                </a:solidFill>
                <a:latin typeface="Times New Roman" panose="02020603050405020304" pitchFamily="18" charset="0"/>
                <a:ea typeface="MiSans" pitchFamily="34" charset="-122"/>
                <a:cs typeface="Times New Roman" panose="02020603050405020304" pitchFamily="18" charset="0"/>
              </a:rPr>
              <a:t>for VS Code</a:t>
            </a:r>
            <a:endParaRPr lang="en-US" sz="1600" dirty="0">
              <a:latin typeface="Times New Roman" panose="02020603050405020304" pitchFamily="18" charset="0"/>
              <a:cs typeface="Times New Roman" panose="02020603050405020304" pitchFamily="18" charset="0"/>
            </a:endParaRPr>
          </a:p>
        </p:txBody>
      </p:sp>
      <p:sp>
        <p:nvSpPr>
          <p:cNvPr id="5" name="Shape 1"/>
          <p:cNvSpPr/>
          <p:nvPr/>
        </p:nvSpPr>
        <p:spPr>
          <a:xfrm>
            <a:off x="667075" y="756100"/>
            <a:ext cx="237324" cy="0"/>
          </a:xfrm>
          <a:prstGeom prst="line">
            <a:avLst/>
          </a:prstGeom>
          <a:noFill/>
          <a:ln w="31750">
            <a:solidFill>
              <a:srgbClr val="004CC0"/>
            </a:solidFill>
            <a:prstDash val="solid"/>
            <a:headEnd type="none"/>
            <a:tailEnd type="none"/>
          </a:ln>
        </p:spPr>
      </p:sp>
      <p:sp>
        <p:nvSpPr>
          <p:cNvPr id="6" name="Shape 2"/>
          <p:cNvSpPr/>
          <p:nvPr/>
        </p:nvSpPr>
        <p:spPr>
          <a:xfrm>
            <a:off x="667075" y="821637"/>
            <a:ext cx="237324" cy="0"/>
          </a:xfrm>
          <a:prstGeom prst="line">
            <a:avLst/>
          </a:prstGeom>
          <a:noFill/>
          <a:ln w="31750">
            <a:solidFill>
              <a:srgbClr val="004CC0"/>
            </a:solidFill>
            <a:prstDash val="solid"/>
            <a:headEnd type="none"/>
            <a:tailEnd type="none"/>
          </a:ln>
        </p:spPr>
      </p:sp>
      <p:sp>
        <p:nvSpPr>
          <p:cNvPr id="7" name="Shape 3"/>
          <p:cNvSpPr/>
          <p:nvPr/>
        </p:nvSpPr>
        <p:spPr>
          <a:xfrm>
            <a:off x="667075" y="887173"/>
            <a:ext cx="237324" cy="0"/>
          </a:xfrm>
          <a:prstGeom prst="line">
            <a:avLst/>
          </a:prstGeom>
          <a:noFill/>
          <a:ln w="31750">
            <a:solidFill>
              <a:srgbClr val="004CC0"/>
            </a:solidFill>
            <a:prstDash val="solid"/>
            <a:headEnd type="none"/>
            <a:tailEnd type="none"/>
          </a:ln>
        </p:spPr>
      </p:sp>
      <p:sp>
        <p:nvSpPr>
          <p:cNvPr id="8" name="Text 4"/>
          <p:cNvSpPr/>
          <p:nvPr/>
        </p:nvSpPr>
        <p:spPr>
          <a:xfrm>
            <a:off x="2464435" y="5071745"/>
            <a:ext cx="2573020" cy="307777"/>
          </a:xfrm>
          <a:prstGeom prst="rect">
            <a:avLst/>
          </a:prstGeom>
          <a:noFill/>
          <a:ln/>
        </p:spPr>
        <p:txBody>
          <a:bodyPr wrap="square" lIns="91440" tIns="45720" rIns="91440" bIns="45720" rtlCol="0" anchor="t">
            <a:spAutoFit/>
          </a:bodyPr>
          <a:lstStyle/>
          <a:p>
            <a:pPr algn="ctr">
              <a:lnSpc>
                <a:spcPct val="100000"/>
              </a:lnSpc>
            </a:pPr>
            <a:r>
              <a:rPr lang="en-US" sz="1400" dirty="0">
                <a:solidFill>
                  <a:srgbClr val="404040"/>
                </a:solidFill>
                <a:latin typeface="MiSans" pitchFamily="34" charset="0"/>
                <a:ea typeface="MiSans" pitchFamily="34" charset="-122"/>
                <a:cs typeface="MiSans" pitchFamily="34" charset="-120"/>
              </a:rPr>
              <a:t>日期</a:t>
            </a:r>
            <a:r>
              <a:rPr lang="en-US" sz="1400">
                <a:solidFill>
                  <a:srgbClr val="404040"/>
                </a:solidFill>
                <a:latin typeface="MiSans" pitchFamily="34" charset="0"/>
                <a:ea typeface="MiSans" pitchFamily="34" charset="-122"/>
                <a:cs typeface="MiSans" pitchFamily="34" charset="-120"/>
              </a:rPr>
              <a:t>：2025/11/19</a:t>
            </a:r>
            <a:endParaRPr lang="en-US" sz="1600" dirty="0"/>
          </a:p>
        </p:txBody>
      </p:sp>
      <p:sp>
        <p:nvSpPr>
          <p:cNvPr id="9" name="Text 5"/>
          <p:cNvSpPr/>
          <p:nvPr/>
        </p:nvSpPr>
        <p:spPr>
          <a:xfrm>
            <a:off x="501650" y="5064344"/>
            <a:ext cx="1927225" cy="338554"/>
          </a:xfrm>
          <a:prstGeom prst="rect">
            <a:avLst/>
          </a:prstGeom>
          <a:noFill/>
          <a:ln/>
        </p:spPr>
        <p:txBody>
          <a:bodyPr wrap="square" lIns="91440" tIns="45720" rIns="91440" bIns="45720" rtlCol="0" anchor="t">
            <a:spAutoFit/>
          </a:bodyPr>
          <a:lstStyle/>
          <a:p>
            <a:pPr algn="ctr">
              <a:lnSpc>
                <a:spcPct val="100000"/>
              </a:lnSpc>
            </a:pPr>
            <a:r>
              <a:rPr lang="en-US" sz="1600"/>
              <a:t>G</a:t>
            </a:r>
            <a:r>
              <a:rPr lang="en-US" altLang="zh-CN" sz="1600"/>
              <a:t>roup</a:t>
            </a:r>
            <a:r>
              <a:rPr lang="zh-CN" altLang="en-US" sz="1600"/>
              <a:t>：</a:t>
            </a:r>
            <a:r>
              <a:rPr lang="en-US" sz="1600"/>
              <a:t>G</a:t>
            </a:r>
            <a:r>
              <a:rPr lang="en-US" altLang="zh-CN" sz="1600"/>
              <a:t>it Commit</a:t>
            </a:r>
            <a:endParaRPr lang="en-US" sz="1600" dirty="0"/>
          </a:p>
        </p:txBody>
      </p:sp>
      <p:sp>
        <p:nvSpPr>
          <p:cNvPr id="11" name="Text 7"/>
          <p:cNvSpPr/>
          <p:nvPr/>
        </p:nvSpPr>
        <p:spPr>
          <a:xfrm>
            <a:off x="462280" y="4228465"/>
            <a:ext cx="774258" cy="76200"/>
          </a:xfrm>
          <a:prstGeom prst="rect">
            <a:avLst/>
          </a:prstGeom>
          <a:noFill/>
          <a:ln/>
        </p:spPr>
        <p:txBody>
          <a:bodyPr wrap="square" lIns="45720" tIns="91440" rIns="91440" bIns="45720" rtlCol="0" anchor="ctr"/>
          <a:lstStyle/>
          <a:p>
            <a:pPr>
              <a:lnSpc>
                <a:spcPct val="100000"/>
              </a:lnSpc>
            </a:pPr>
            <a:endParaRPr lang="en-US" sz="1600" dirty="0"/>
          </a:p>
        </p:txBody>
      </p:sp>
      <p:pic>
        <p:nvPicPr>
          <p:cNvPr id="13" name="Image 2" descr="https://kimi-img.moonshot.cn/pub/slides/slides_tmpl/image/25-10-09-17:19:40-d3jnsb0s8jdo4os5dlv0.png"/>
          <p:cNvPicPr>
            <a:picLocks noChangeAspect="1"/>
          </p:cNvPicPr>
          <p:nvPr/>
        </p:nvPicPr>
        <p:blipFill>
          <a:blip r:embed="rId5"/>
          <a:stretch>
            <a:fillRect/>
          </a:stretch>
        </p:blipFill>
        <p:spPr>
          <a:xfrm>
            <a:off x="6896100" y="984250"/>
            <a:ext cx="4748530" cy="4748530"/>
          </a:xfrm>
          <a:prstGeom prst="rect">
            <a:avLst/>
          </a:prstGeom>
        </p:spPr>
      </p:pic>
      <p:pic>
        <p:nvPicPr>
          <p:cNvPr id="14" name="Image 3" descr="https://kimi-img.moonshot.cn/pub/slides/slides_tmpl/image/25-10-09-17:19:39-d3jnsaos8jdo4os5dlqg.png"/>
          <p:cNvPicPr>
            <a:picLocks noChangeAspect="1"/>
          </p:cNvPicPr>
          <p:nvPr/>
        </p:nvPicPr>
        <p:blipFill>
          <a:blip r:embed="rId6"/>
          <a:stretch>
            <a:fillRect/>
          </a:stretch>
        </p:blipFill>
        <p:spPr>
          <a:xfrm>
            <a:off x="0" y="5998210"/>
            <a:ext cx="12192000" cy="85979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pic>
        <p:nvPicPr>
          <p:cNvPr id="25" name="Image 0" descr="https://kimi-img.moonshot.cn/pub/slides/slides_tmpl/image/25-10-09-17:19:39-d3jnsaos8jdo4os5dlu0.png">
            <a:extLst>
              <a:ext uri="{FF2B5EF4-FFF2-40B4-BE49-F238E27FC236}">
                <a16:creationId xmlns:a16="http://schemas.microsoft.com/office/drawing/2014/main" id="{CD65C0A7-DBD4-D84C-6BE4-634EFC6F0AF8}"/>
              </a:ext>
            </a:extLst>
          </p:cNvPr>
          <p:cNvPicPr>
            <a:picLocks/>
          </p:cNvPicPr>
          <p:nvPr/>
        </p:nvPicPr>
        <p:blipFill>
          <a:blip r:embed="rId3"/>
          <a:srcRect t="16499" b="-15902"/>
          <a:stretch>
            <a:fillRect/>
          </a:stretch>
        </p:blipFill>
        <p:spPr>
          <a:xfrm>
            <a:off x="5463777" y="1409179"/>
            <a:ext cx="5989804" cy="5229608"/>
          </a:xfrm>
          <a:prstGeom prst="rect">
            <a:avLst/>
          </a:prstGeom>
        </p:spPr>
      </p:pic>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699895" y="2041906"/>
            <a:ext cx="2643505" cy="2643505"/>
          </a:xfrm>
          <a:prstGeom prst="ellipse">
            <a:avLst/>
          </a:prstGeom>
          <a:gradFill flip="none" rotWithShape="1">
            <a:gsLst>
              <a:gs pos="0">
                <a:srgbClr val="C8E2FE"/>
              </a:gs>
              <a:gs pos="30000">
                <a:srgbClr val="C8E2FE">
                  <a:alpha val="0"/>
                </a:srgbClr>
              </a:gs>
              <a:gs pos="100000">
                <a:srgbClr val="C8E2FE">
                  <a:alpha val="0"/>
                </a:srgbClr>
              </a:gs>
            </a:gsLst>
            <a:lin ang="5400000" scaled="1"/>
          </a:gradFill>
          <a:ln/>
        </p:spPr>
      </p:sp>
      <p:sp>
        <p:nvSpPr>
          <p:cNvPr id="5" name="Text 3"/>
          <p:cNvSpPr/>
          <p:nvPr/>
        </p:nvSpPr>
        <p:spPr>
          <a:xfrm>
            <a:off x="1699895" y="2041906"/>
            <a:ext cx="2643505" cy="264350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624503"/>
            <a:ext cx="7802117" cy="998185"/>
          </a:xfrm>
          <a:custGeom>
            <a:avLst/>
            <a:gdLst/>
            <a:ahLst/>
            <a:cxnLst/>
            <a:rect l="l" t="t" r="r" b="b"/>
            <a:pathLst>
              <a:path w="7802117" h="998185">
                <a:moveTo>
                  <a:pt x="7802117" y="998185"/>
                </a:moveTo>
                <a:lnTo>
                  <a:pt x="0" y="998185"/>
                </a:lnTo>
                <a:lnTo>
                  <a:pt x="0" y="323839"/>
                </a:lnTo>
                <a:lnTo>
                  <a:pt x="52704" y="306059"/>
                </a:lnTo>
                <a:lnTo>
                  <a:pt x="281935" y="240022"/>
                </a:lnTo>
                <a:lnTo>
                  <a:pt x="511167" y="182874"/>
                </a:lnTo>
                <a:lnTo>
                  <a:pt x="740398" y="133980"/>
                </a:lnTo>
                <a:lnTo>
                  <a:pt x="968994" y="93342"/>
                </a:lnTo>
                <a:lnTo>
                  <a:pt x="1198225" y="60323"/>
                </a:lnTo>
                <a:lnTo>
                  <a:pt x="1427457" y="34924"/>
                </a:lnTo>
                <a:lnTo>
                  <a:pt x="1656688" y="16509"/>
                </a:lnTo>
                <a:lnTo>
                  <a:pt x="1885919" y="5080"/>
                </a:lnTo>
                <a:lnTo>
                  <a:pt x="2115150" y="0"/>
                </a:lnTo>
                <a:lnTo>
                  <a:pt x="2344382" y="1270"/>
                </a:lnTo>
                <a:lnTo>
                  <a:pt x="2573613" y="8255"/>
                </a:lnTo>
                <a:lnTo>
                  <a:pt x="2802844" y="20319"/>
                </a:lnTo>
                <a:lnTo>
                  <a:pt x="3032075" y="38099"/>
                </a:lnTo>
                <a:lnTo>
                  <a:pt x="3261306" y="60323"/>
                </a:lnTo>
                <a:lnTo>
                  <a:pt x="3490538" y="86992"/>
                </a:lnTo>
                <a:lnTo>
                  <a:pt x="3719769" y="118106"/>
                </a:lnTo>
                <a:lnTo>
                  <a:pt x="3949000" y="153030"/>
                </a:lnTo>
                <a:lnTo>
                  <a:pt x="4178231" y="191128"/>
                </a:lnTo>
                <a:lnTo>
                  <a:pt x="4407463" y="233037"/>
                </a:lnTo>
                <a:lnTo>
                  <a:pt x="4636059" y="276850"/>
                </a:lnTo>
                <a:lnTo>
                  <a:pt x="4865290" y="323839"/>
                </a:lnTo>
                <a:lnTo>
                  <a:pt x="5094521" y="372732"/>
                </a:lnTo>
                <a:lnTo>
                  <a:pt x="5323753" y="423530"/>
                </a:lnTo>
                <a:lnTo>
                  <a:pt x="5552984" y="475598"/>
                </a:lnTo>
                <a:lnTo>
                  <a:pt x="5782215" y="528936"/>
                </a:lnTo>
                <a:lnTo>
                  <a:pt x="6011446" y="583545"/>
                </a:lnTo>
                <a:lnTo>
                  <a:pt x="6240678" y="638153"/>
                </a:lnTo>
                <a:lnTo>
                  <a:pt x="6469909" y="692761"/>
                </a:lnTo>
                <a:lnTo>
                  <a:pt x="6699140" y="748004"/>
                </a:lnTo>
                <a:lnTo>
                  <a:pt x="6928371" y="801977"/>
                </a:lnTo>
                <a:lnTo>
                  <a:pt x="7157603" y="855315"/>
                </a:lnTo>
                <a:lnTo>
                  <a:pt x="7386834" y="907383"/>
                </a:lnTo>
                <a:lnTo>
                  <a:pt x="7616065" y="958181"/>
                </a:lnTo>
                <a:lnTo>
                  <a:pt x="7802117" y="998185"/>
                </a:lnTo>
                <a:close/>
              </a:path>
            </a:pathLst>
          </a:custGeom>
          <a:gradFill flip="none" rotWithShape="1">
            <a:gsLst>
              <a:gs pos="0">
                <a:srgbClr val="F8AA5C"/>
              </a:gs>
              <a:gs pos="26000">
                <a:srgbClr val="F8AA5C"/>
              </a:gs>
              <a:gs pos="63000">
                <a:srgbClr val="FBCC9D"/>
              </a:gs>
              <a:gs pos="99000">
                <a:srgbClr val="FDEEDE"/>
              </a:gs>
              <a:gs pos="100000">
                <a:srgbClr val="FDEEDE"/>
              </a:gs>
            </a:gsLst>
            <a:lin ang="0" scaled="1"/>
          </a:gradFill>
          <a:ln/>
        </p:spPr>
      </p:sp>
      <p:sp>
        <p:nvSpPr>
          <p:cNvPr id="7" name="Text 5"/>
          <p:cNvSpPr/>
          <p:nvPr/>
        </p:nvSpPr>
        <p:spPr>
          <a:xfrm>
            <a:off x="0" y="5624503"/>
            <a:ext cx="7802117" cy="99818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0" y="5786120"/>
            <a:ext cx="12192000" cy="1071880"/>
          </a:xfrm>
          <a:custGeom>
            <a:avLst/>
            <a:gdLst/>
            <a:ahLst/>
            <a:cxnLst/>
            <a:rect l="l" t="t" r="r" b="b"/>
            <a:pathLst>
              <a:path w="12192000" h="1071880">
                <a:moveTo>
                  <a:pt x="12192000" y="65405"/>
                </a:moveTo>
                <a:lnTo>
                  <a:pt x="12192000" y="1071880"/>
                </a:lnTo>
                <a:lnTo>
                  <a:pt x="0" y="1071880"/>
                </a:lnTo>
                <a:lnTo>
                  <a:pt x="0" y="69215"/>
                </a:lnTo>
                <a:lnTo>
                  <a:pt x="136525" y="48895"/>
                </a:lnTo>
                <a:lnTo>
                  <a:pt x="278130" y="31750"/>
                </a:lnTo>
                <a:lnTo>
                  <a:pt x="420370" y="17780"/>
                </a:lnTo>
                <a:lnTo>
                  <a:pt x="561975" y="8255"/>
                </a:lnTo>
                <a:lnTo>
                  <a:pt x="703580" y="2540"/>
                </a:lnTo>
                <a:lnTo>
                  <a:pt x="845185" y="0"/>
                </a:lnTo>
                <a:lnTo>
                  <a:pt x="986790" y="635"/>
                </a:lnTo>
                <a:lnTo>
                  <a:pt x="1128395" y="3810"/>
                </a:lnTo>
                <a:lnTo>
                  <a:pt x="1270635" y="10795"/>
                </a:lnTo>
                <a:lnTo>
                  <a:pt x="1412240" y="19685"/>
                </a:lnTo>
                <a:lnTo>
                  <a:pt x="1553845" y="31750"/>
                </a:lnTo>
                <a:lnTo>
                  <a:pt x="1695450" y="45720"/>
                </a:lnTo>
                <a:lnTo>
                  <a:pt x="1837055" y="61595"/>
                </a:lnTo>
                <a:lnTo>
                  <a:pt x="1978660" y="80010"/>
                </a:lnTo>
                <a:lnTo>
                  <a:pt x="2120265" y="99695"/>
                </a:lnTo>
                <a:lnTo>
                  <a:pt x="2262505" y="121285"/>
                </a:lnTo>
                <a:lnTo>
                  <a:pt x="2404110" y="144145"/>
                </a:lnTo>
                <a:lnTo>
                  <a:pt x="2545715" y="168275"/>
                </a:lnTo>
                <a:lnTo>
                  <a:pt x="2687320" y="194310"/>
                </a:lnTo>
                <a:lnTo>
                  <a:pt x="2828925" y="220980"/>
                </a:lnTo>
                <a:lnTo>
                  <a:pt x="2970530" y="247650"/>
                </a:lnTo>
                <a:lnTo>
                  <a:pt x="3112770" y="275590"/>
                </a:lnTo>
                <a:lnTo>
                  <a:pt x="3254375" y="303530"/>
                </a:lnTo>
                <a:lnTo>
                  <a:pt x="3395980" y="332740"/>
                </a:lnTo>
                <a:lnTo>
                  <a:pt x="3537585" y="361315"/>
                </a:lnTo>
                <a:lnTo>
                  <a:pt x="3679190" y="389255"/>
                </a:lnTo>
                <a:lnTo>
                  <a:pt x="3820795" y="417830"/>
                </a:lnTo>
                <a:lnTo>
                  <a:pt x="3963035" y="445770"/>
                </a:lnTo>
                <a:lnTo>
                  <a:pt x="4104640" y="473075"/>
                </a:lnTo>
                <a:lnTo>
                  <a:pt x="4246245" y="499110"/>
                </a:lnTo>
                <a:lnTo>
                  <a:pt x="4387850" y="525145"/>
                </a:lnTo>
                <a:lnTo>
                  <a:pt x="4529455" y="549275"/>
                </a:lnTo>
                <a:lnTo>
                  <a:pt x="4671060" y="572135"/>
                </a:lnTo>
                <a:lnTo>
                  <a:pt x="4813300" y="594360"/>
                </a:lnTo>
                <a:lnTo>
                  <a:pt x="4954905" y="614045"/>
                </a:lnTo>
                <a:lnTo>
                  <a:pt x="5096510" y="631825"/>
                </a:lnTo>
                <a:lnTo>
                  <a:pt x="5238115" y="648335"/>
                </a:lnTo>
                <a:lnTo>
                  <a:pt x="5379720" y="662305"/>
                </a:lnTo>
                <a:lnTo>
                  <a:pt x="5521325" y="673735"/>
                </a:lnTo>
                <a:lnTo>
                  <a:pt x="5662930" y="682625"/>
                </a:lnTo>
                <a:lnTo>
                  <a:pt x="5805170" y="689610"/>
                </a:lnTo>
                <a:lnTo>
                  <a:pt x="5946775" y="693420"/>
                </a:lnTo>
                <a:lnTo>
                  <a:pt x="6088380" y="693420"/>
                </a:lnTo>
                <a:lnTo>
                  <a:pt x="6108065" y="693420"/>
                </a:lnTo>
                <a:lnTo>
                  <a:pt x="6128385" y="693420"/>
                </a:lnTo>
                <a:lnTo>
                  <a:pt x="6269990" y="693420"/>
                </a:lnTo>
                <a:lnTo>
                  <a:pt x="6411595" y="689610"/>
                </a:lnTo>
                <a:lnTo>
                  <a:pt x="6553835" y="682625"/>
                </a:lnTo>
                <a:lnTo>
                  <a:pt x="6695440" y="673735"/>
                </a:lnTo>
                <a:lnTo>
                  <a:pt x="6837045" y="662305"/>
                </a:lnTo>
                <a:lnTo>
                  <a:pt x="6978650" y="648335"/>
                </a:lnTo>
                <a:lnTo>
                  <a:pt x="7120255" y="631825"/>
                </a:lnTo>
                <a:lnTo>
                  <a:pt x="7261860" y="614045"/>
                </a:lnTo>
                <a:lnTo>
                  <a:pt x="7403465" y="594360"/>
                </a:lnTo>
                <a:lnTo>
                  <a:pt x="7545705" y="572135"/>
                </a:lnTo>
                <a:lnTo>
                  <a:pt x="7687310" y="549275"/>
                </a:lnTo>
                <a:lnTo>
                  <a:pt x="7828915" y="525145"/>
                </a:lnTo>
                <a:lnTo>
                  <a:pt x="7970520" y="499110"/>
                </a:lnTo>
                <a:lnTo>
                  <a:pt x="8112125" y="473075"/>
                </a:lnTo>
                <a:lnTo>
                  <a:pt x="8253730" y="445770"/>
                </a:lnTo>
                <a:lnTo>
                  <a:pt x="8395970" y="417830"/>
                </a:lnTo>
                <a:lnTo>
                  <a:pt x="8537575" y="389255"/>
                </a:lnTo>
                <a:lnTo>
                  <a:pt x="8679180" y="361315"/>
                </a:lnTo>
                <a:lnTo>
                  <a:pt x="8820785" y="332740"/>
                </a:lnTo>
                <a:lnTo>
                  <a:pt x="8962390" y="303530"/>
                </a:lnTo>
                <a:lnTo>
                  <a:pt x="9103995" y="275590"/>
                </a:lnTo>
                <a:lnTo>
                  <a:pt x="9246235" y="247650"/>
                </a:lnTo>
                <a:lnTo>
                  <a:pt x="9387840" y="220980"/>
                </a:lnTo>
                <a:lnTo>
                  <a:pt x="9529445" y="194310"/>
                </a:lnTo>
                <a:lnTo>
                  <a:pt x="9671050" y="168275"/>
                </a:lnTo>
                <a:lnTo>
                  <a:pt x="9812655" y="144145"/>
                </a:lnTo>
                <a:lnTo>
                  <a:pt x="9954260" y="121285"/>
                </a:lnTo>
                <a:lnTo>
                  <a:pt x="10096500" y="99695"/>
                </a:lnTo>
                <a:lnTo>
                  <a:pt x="10238105" y="80010"/>
                </a:lnTo>
                <a:lnTo>
                  <a:pt x="10379710" y="61595"/>
                </a:lnTo>
                <a:lnTo>
                  <a:pt x="10521315" y="45720"/>
                </a:lnTo>
                <a:lnTo>
                  <a:pt x="10662920" y="31750"/>
                </a:lnTo>
                <a:lnTo>
                  <a:pt x="10804525" y="19685"/>
                </a:lnTo>
                <a:lnTo>
                  <a:pt x="10946130" y="10795"/>
                </a:lnTo>
                <a:lnTo>
                  <a:pt x="11088370" y="3810"/>
                </a:lnTo>
                <a:lnTo>
                  <a:pt x="11229975" y="635"/>
                </a:lnTo>
                <a:lnTo>
                  <a:pt x="11371580" y="0"/>
                </a:lnTo>
                <a:lnTo>
                  <a:pt x="11513185" y="2540"/>
                </a:lnTo>
                <a:lnTo>
                  <a:pt x="11654790" y="8255"/>
                </a:lnTo>
                <a:lnTo>
                  <a:pt x="11796395" y="17780"/>
                </a:lnTo>
                <a:lnTo>
                  <a:pt x="11938635" y="31750"/>
                </a:lnTo>
                <a:lnTo>
                  <a:pt x="12080240" y="48895"/>
                </a:lnTo>
                <a:lnTo>
                  <a:pt x="12192000" y="65405"/>
                </a:lnTo>
                <a:close/>
              </a:path>
            </a:pathLst>
          </a:custGeom>
          <a:solidFill>
            <a:srgbClr val="056EE1"/>
          </a:solidFill>
          <a:ln/>
        </p:spPr>
      </p:sp>
      <p:sp>
        <p:nvSpPr>
          <p:cNvPr id="9" name="Text 7"/>
          <p:cNvSpPr/>
          <p:nvPr/>
        </p:nvSpPr>
        <p:spPr>
          <a:xfrm>
            <a:off x="0" y="5786120"/>
            <a:ext cx="12192000" cy="10718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9"/>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10"/>
          <p:cNvSpPr/>
          <p:nvPr/>
        </p:nvSpPr>
        <p:spPr>
          <a:xfrm>
            <a:off x="11106785" y="815657"/>
            <a:ext cx="235520" cy="0"/>
          </a:xfrm>
          <a:prstGeom prst="line">
            <a:avLst/>
          </a:prstGeom>
          <a:noFill/>
          <a:ln w="31750">
            <a:solidFill>
              <a:srgbClr val="056EE1"/>
            </a:solidFill>
            <a:prstDash val="solid"/>
            <a:headEnd type="none"/>
            <a:tailEnd type="none"/>
          </a:ln>
        </p:spPr>
      </p:sp>
      <p:pic>
        <p:nvPicPr>
          <p:cNvPr id="14" name="Image 1" descr="https://kimi-img.moonshot.cn/pub/slides/slides_tmpl/image/25-10-09-17:19:39-d3jnsaos8jdo4os5dlrg.png"/>
          <p:cNvPicPr>
            <a:picLocks noChangeAspect="1"/>
          </p:cNvPicPr>
          <p:nvPr/>
        </p:nvPicPr>
        <p:blipFill>
          <a:blip r:embed="rId4"/>
          <a:srcRect/>
          <a:stretch/>
        </p:blipFill>
        <p:spPr>
          <a:xfrm>
            <a:off x="2007235" y="3430905"/>
            <a:ext cx="2084070" cy="303530"/>
          </a:xfrm>
          <a:prstGeom prst="rect">
            <a:avLst/>
          </a:prstGeom>
        </p:spPr>
      </p:pic>
      <p:sp>
        <p:nvSpPr>
          <p:cNvPr id="15" name="Text 11"/>
          <p:cNvSpPr/>
          <p:nvPr/>
        </p:nvSpPr>
        <p:spPr>
          <a:xfrm>
            <a:off x="1581647" y="2476550"/>
            <a:ext cx="2880000" cy="1081088"/>
          </a:xfrm>
          <a:prstGeom prst="rect">
            <a:avLst/>
          </a:prstGeom>
          <a:noFill/>
          <a:ln/>
        </p:spPr>
        <p:txBody>
          <a:bodyPr wrap="square" lIns="91440" tIns="45720" rIns="91440" bIns="45720" rtlCol="0" anchor="b"/>
          <a:lstStyle/>
          <a:p>
            <a:pPr algn="ctr">
              <a:lnSpc>
                <a:spcPct val="100000"/>
              </a:lnSpc>
            </a:pPr>
            <a:r>
              <a:rPr lang="en-US" sz="5400" dirty="0">
                <a:solidFill>
                  <a:srgbClr val="000000"/>
                </a:solidFill>
                <a:latin typeface="MiSans" pitchFamily="34" charset="0"/>
                <a:ea typeface="MiSans" pitchFamily="34" charset="-122"/>
                <a:cs typeface="MiSans" pitchFamily="34" charset="-120"/>
              </a:rPr>
              <a:t>目录</a:t>
            </a:r>
            <a:endParaRPr lang="en-US" sz="1600" dirty="0"/>
          </a:p>
        </p:txBody>
      </p:sp>
      <p:sp>
        <p:nvSpPr>
          <p:cNvPr id="16" name="Text 12"/>
          <p:cNvSpPr/>
          <p:nvPr/>
        </p:nvSpPr>
        <p:spPr>
          <a:xfrm>
            <a:off x="5656524" y="1575759"/>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01</a:t>
            </a:r>
            <a:endParaRPr lang="en-US" sz="1600" dirty="0"/>
          </a:p>
        </p:txBody>
      </p:sp>
      <p:sp>
        <p:nvSpPr>
          <p:cNvPr id="17" name="Text 13"/>
          <p:cNvSpPr/>
          <p:nvPr/>
        </p:nvSpPr>
        <p:spPr>
          <a:xfrm>
            <a:off x="6486525" y="1599088"/>
            <a:ext cx="4317365" cy="504000"/>
          </a:xfrm>
          <a:prstGeom prst="rect">
            <a:avLst/>
          </a:prstGeom>
          <a:noFill/>
          <a:ln/>
        </p:spPr>
        <p:txBody>
          <a:bodyPr wrap="square" lIns="0" tIns="0" rIns="0" bIns="0" rtlCol="0" anchor="ctr"/>
          <a:lstStyle/>
          <a:p>
            <a:pPr>
              <a:lnSpc>
                <a:spcPct val="100000"/>
              </a:lnSpc>
            </a:pPr>
            <a:r>
              <a:rPr lang="zh-CN" altLang="en-US" sz="1800">
                <a:solidFill>
                  <a:srgbClr val="022144"/>
                </a:solidFill>
                <a:latin typeface="MiSans" pitchFamily="34" charset="0"/>
                <a:ea typeface="MiSans" pitchFamily="34" charset="-122"/>
                <a:cs typeface="MiSans" pitchFamily="34" charset="-120"/>
              </a:rPr>
              <a:t>项目背景与目标</a:t>
            </a:r>
            <a:endParaRPr lang="en-US" sz="1600" dirty="0"/>
          </a:p>
        </p:txBody>
      </p:sp>
      <p:sp>
        <p:nvSpPr>
          <p:cNvPr id="18" name="Text 14"/>
          <p:cNvSpPr/>
          <p:nvPr/>
        </p:nvSpPr>
        <p:spPr>
          <a:xfrm>
            <a:off x="5656524" y="2412848"/>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02</a:t>
            </a:r>
            <a:endParaRPr lang="en-US" sz="1600" dirty="0"/>
          </a:p>
        </p:txBody>
      </p:sp>
      <p:sp>
        <p:nvSpPr>
          <p:cNvPr id="19" name="Text 15"/>
          <p:cNvSpPr/>
          <p:nvPr/>
        </p:nvSpPr>
        <p:spPr>
          <a:xfrm>
            <a:off x="6486525" y="2424379"/>
            <a:ext cx="4317365" cy="504000"/>
          </a:xfrm>
          <a:prstGeom prst="rect">
            <a:avLst/>
          </a:prstGeom>
          <a:noFill/>
          <a:ln/>
        </p:spPr>
        <p:txBody>
          <a:bodyPr wrap="square" lIns="0" tIns="0" rIns="0" bIns="0" rtlCol="0" anchor="ctr"/>
          <a:lstStyle/>
          <a:p>
            <a:pPr>
              <a:lnSpc>
                <a:spcPct val="100000"/>
              </a:lnSpc>
            </a:pPr>
            <a:r>
              <a:rPr lang="zh-CN" altLang="en-US" sz="1800">
                <a:solidFill>
                  <a:srgbClr val="022144"/>
                </a:solidFill>
                <a:latin typeface="MiSans" pitchFamily="34" charset="0"/>
                <a:ea typeface="MiSans" pitchFamily="34" charset="-122"/>
                <a:cs typeface="MiSans" pitchFamily="34" charset="-120"/>
              </a:rPr>
              <a:t>核心技术方案</a:t>
            </a:r>
            <a:endParaRPr lang="en-US" sz="1600" dirty="0"/>
          </a:p>
        </p:txBody>
      </p:sp>
      <p:sp>
        <p:nvSpPr>
          <p:cNvPr id="20" name="Text 16"/>
          <p:cNvSpPr/>
          <p:nvPr/>
        </p:nvSpPr>
        <p:spPr>
          <a:xfrm>
            <a:off x="5653925" y="3253438"/>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03</a:t>
            </a:r>
            <a:endParaRPr lang="en-US" sz="1600" dirty="0"/>
          </a:p>
        </p:txBody>
      </p:sp>
      <p:sp>
        <p:nvSpPr>
          <p:cNvPr id="21" name="Text 17"/>
          <p:cNvSpPr/>
          <p:nvPr/>
        </p:nvSpPr>
        <p:spPr>
          <a:xfrm>
            <a:off x="6486524" y="3269900"/>
            <a:ext cx="4317365" cy="504000"/>
          </a:xfrm>
          <a:prstGeom prst="rect">
            <a:avLst/>
          </a:prstGeom>
          <a:noFill/>
          <a:ln/>
        </p:spPr>
        <p:txBody>
          <a:bodyPr wrap="square" lIns="0" tIns="0" rIns="0" bIns="0" rtlCol="0" anchor="ctr"/>
          <a:lstStyle/>
          <a:p>
            <a:pPr>
              <a:lnSpc>
                <a:spcPct val="100000"/>
              </a:lnSpc>
            </a:pPr>
            <a:r>
              <a:rPr lang="zh-CN" altLang="en-US" sz="1800">
                <a:solidFill>
                  <a:srgbClr val="022144"/>
                </a:solidFill>
                <a:latin typeface="MiSans" pitchFamily="34" charset="0"/>
                <a:ea typeface="MiSans" pitchFamily="34" charset="-122"/>
                <a:cs typeface="MiSans" pitchFamily="34" charset="-120"/>
              </a:rPr>
              <a:t>敏捷开发流程</a:t>
            </a:r>
            <a:endParaRPr lang="en-US" sz="1600" dirty="0"/>
          </a:p>
        </p:txBody>
      </p:sp>
      <p:sp>
        <p:nvSpPr>
          <p:cNvPr id="22" name="Text 18"/>
          <p:cNvSpPr/>
          <p:nvPr/>
        </p:nvSpPr>
        <p:spPr>
          <a:xfrm>
            <a:off x="5656524" y="4122955"/>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04</a:t>
            </a:r>
            <a:endParaRPr lang="en-US" sz="1600" dirty="0"/>
          </a:p>
        </p:txBody>
      </p:sp>
      <p:sp>
        <p:nvSpPr>
          <p:cNvPr id="23" name="Text 19"/>
          <p:cNvSpPr/>
          <p:nvPr/>
        </p:nvSpPr>
        <p:spPr>
          <a:xfrm>
            <a:off x="6484044" y="4148117"/>
            <a:ext cx="4317365" cy="504000"/>
          </a:xfrm>
          <a:prstGeom prst="rect">
            <a:avLst/>
          </a:prstGeom>
          <a:noFill/>
          <a:ln/>
        </p:spPr>
        <p:txBody>
          <a:bodyPr wrap="square" lIns="0" tIns="0" rIns="0" bIns="0" rtlCol="0" anchor="ctr"/>
          <a:lstStyle/>
          <a:p>
            <a:pPr>
              <a:lnSpc>
                <a:spcPct val="100000"/>
              </a:lnSpc>
            </a:pPr>
            <a:r>
              <a:rPr lang="zh-CN" altLang="en-US">
                <a:solidFill>
                  <a:srgbClr val="022144"/>
                </a:solidFill>
                <a:latin typeface="MiSans" pitchFamily="34" charset="0"/>
                <a:ea typeface="MiSans" pitchFamily="34" charset="-122"/>
              </a:rPr>
              <a:t>测试与实验结果</a:t>
            </a:r>
            <a:endParaRPr lang="en-US" sz="1600" dirty="0"/>
          </a:p>
        </p:txBody>
      </p:sp>
      <p:sp>
        <p:nvSpPr>
          <p:cNvPr id="26" name="Text 18">
            <a:extLst>
              <a:ext uri="{FF2B5EF4-FFF2-40B4-BE49-F238E27FC236}">
                <a16:creationId xmlns:a16="http://schemas.microsoft.com/office/drawing/2014/main" id="{9D922834-0B38-06EB-6A35-41FA4E9977F8}"/>
              </a:ext>
            </a:extLst>
          </p:cNvPr>
          <p:cNvSpPr/>
          <p:nvPr/>
        </p:nvSpPr>
        <p:spPr>
          <a:xfrm>
            <a:off x="5679700" y="4968571"/>
            <a:ext cx="832600" cy="504190"/>
          </a:xfrm>
          <a:prstGeom prst="rect">
            <a:avLst/>
          </a:prstGeom>
          <a:noFill/>
          <a:ln/>
        </p:spPr>
        <p:txBody>
          <a:bodyPr wrap="square" lIns="0" tIns="0" rIns="0" bIns="0" rtlCol="0" anchor="ctr"/>
          <a:lstStyle/>
          <a:p>
            <a:pPr algn="ctr">
              <a:lnSpc>
                <a:spcPct val="100000"/>
              </a:lnSpc>
            </a:pPr>
            <a:r>
              <a:rPr lang="en-US" sz="3200" b="1">
                <a:solidFill>
                  <a:srgbClr val="056EE1"/>
                </a:solidFill>
                <a:latin typeface="MiSans" pitchFamily="34" charset="0"/>
                <a:ea typeface="MiSans" pitchFamily="34" charset="-122"/>
                <a:cs typeface="MiSans" pitchFamily="34" charset="-120"/>
              </a:rPr>
              <a:t>05</a:t>
            </a:r>
            <a:endParaRPr lang="en-US" sz="1600" dirty="0"/>
          </a:p>
        </p:txBody>
      </p:sp>
      <p:sp>
        <p:nvSpPr>
          <p:cNvPr id="27" name="Text 19">
            <a:extLst>
              <a:ext uri="{FF2B5EF4-FFF2-40B4-BE49-F238E27FC236}">
                <a16:creationId xmlns:a16="http://schemas.microsoft.com/office/drawing/2014/main" id="{4D131A34-08F9-C206-3985-CC66C4ACFE7B}"/>
              </a:ext>
            </a:extLst>
          </p:cNvPr>
          <p:cNvSpPr/>
          <p:nvPr/>
        </p:nvSpPr>
        <p:spPr>
          <a:xfrm>
            <a:off x="6489124" y="4968761"/>
            <a:ext cx="4317365" cy="504000"/>
          </a:xfrm>
          <a:prstGeom prst="rect">
            <a:avLst/>
          </a:prstGeom>
          <a:noFill/>
          <a:ln/>
        </p:spPr>
        <p:txBody>
          <a:bodyPr wrap="square" lIns="0" tIns="0" rIns="0" bIns="0" rtlCol="0" anchor="ctr"/>
          <a:lstStyle/>
          <a:p>
            <a:pPr>
              <a:lnSpc>
                <a:spcPct val="100000"/>
              </a:lnSpc>
            </a:pPr>
            <a:r>
              <a:rPr lang="zh-CN" altLang="en-US">
                <a:solidFill>
                  <a:srgbClr val="022144"/>
                </a:solidFill>
                <a:latin typeface="MiSans" pitchFamily="34" charset="0"/>
                <a:ea typeface="MiSans" pitchFamily="34" charset="-122"/>
              </a:rPr>
              <a:t>项目成果与未来工作</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zh-CN" altLang="en-US" sz="5400">
                <a:solidFill>
                  <a:srgbClr val="000000"/>
                </a:solidFill>
                <a:latin typeface="MiSans" pitchFamily="34" charset="0"/>
                <a:ea typeface="MiSans" pitchFamily="34" charset="-122"/>
                <a:cs typeface="MiSans" pitchFamily="34" charset="-120"/>
              </a:rPr>
              <a:t>项目背景与目标</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6200000">
            <a:off x="9305290" y="2005648"/>
            <a:ext cx="2637155" cy="1113155"/>
          </a:xfrm>
          <a:prstGeom prst="round2DiagRect">
            <a:avLst>
              <a:gd name="adj1" fmla="val 16667"/>
              <a:gd name="adj2" fmla="val 0"/>
            </a:avLst>
          </a:prstGeom>
          <a:solidFill>
            <a:srgbClr val="004CC0"/>
          </a:solidFill>
          <a:ln/>
        </p:spPr>
      </p:sp>
      <p:sp>
        <p:nvSpPr>
          <p:cNvPr id="3" name="Text 1"/>
          <p:cNvSpPr/>
          <p:nvPr/>
        </p:nvSpPr>
        <p:spPr>
          <a:xfrm rot="16200000">
            <a:off x="9305290" y="200564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rot="5400000" flipV="1">
            <a:off x="9305290" y="4632008"/>
            <a:ext cx="2637155" cy="1113155"/>
          </a:xfrm>
          <a:prstGeom prst="round2DiagRect">
            <a:avLst>
              <a:gd name="adj1" fmla="val 16667"/>
              <a:gd name="adj2" fmla="val 0"/>
            </a:avLst>
          </a:prstGeom>
          <a:solidFill>
            <a:srgbClr val="004CC0"/>
          </a:solidFill>
          <a:ln/>
        </p:spPr>
      </p:sp>
      <p:sp>
        <p:nvSpPr>
          <p:cNvPr id="5" name="Text 3"/>
          <p:cNvSpPr/>
          <p:nvPr/>
        </p:nvSpPr>
        <p:spPr>
          <a:xfrm rot="5400000">
            <a:off x="9305290" y="463200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21410" y="1243487"/>
            <a:ext cx="8854440" cy="5263200"/>
          </a:xfrm>
          <a:prstGeom prst="rect">
            <a:avLst/>
          </a:prstGeom>
          <a:solidFill>
            <a:srgbClr val="000000">
              <a:alpha val="0"/>
            </a:srgbClr>
          </a:solidFill>
          <a:ln w="19050">
            <a:solidFill>
              <a:srgbClr val="004CC0"/>
            </a:solidFill>
            <a:prstDash val="solid"/>
          </a:ln>
        </p:spPr>
      </p:sp>
      <p:sp>
        <p:nvSpPr>
          <p:cNvPr id="7" name="Text 5"/>
          <p:cNvSpPr/>
          <p:nvPr/>
        </p:nvSpPr>
        <p:spPr>
          <a:xfrm>
            <a:off x="1121410" y="1243487"/>
            <a:ext cx="8854440" cy="5263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487170" y="3030220"/>
            <a:ext cx="167640" cy="167640"/>
          </a:xfrm>
          <a:prstGeom prst="rect">
            <a:avLst/>
          </a:prstGeom>
          <a:solidFill>
            <a:srgbClr val="004CC0"/>
          </a:solidFill>
          <a:ln/>
        </p:spPr>
      </p:sp>
      <p:sp>
        <p:nvSpPr>
          <p:cNvPr id="9" name="Text 7"/>
          <p:cNvSpPr/>
          <p:nvPr/>
        </p:nvSpPr>
        <p:spPr>
          <a:xfrm>
            <a:off x="1487170" y="3030220"/>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563370" y="3114040"/>
            <a:ext cx="7992110" cy="0"/>
          </a:xfrm>
          <a:prstGeom prst="line">
            <a:avLst/>
          </a:prstGeom>
          <a:noFill/>
          <a:ln w="12700">
            <a:solidFill>
              <a:srgbClr val="004CC0"/>
            </a:solidFill>
            <a:prstDash val="dash"/>
            <a:headEnd type="none"/>
            <a:tailEnd type="none"/>
          </a:ln>
        </p:spPr>
      </p:sp>
      <p:sp>
        <p:nvSpPr>
          <p:cNvPr id="11" name="Shape 9"/>
          <p:cNvSpPr/>
          <p:nvPr/>
        </p:nvSpPr>
        <p:spPr>
          <a:xfrm>
            <a:off x="1553210" y="4665980"/>
            <a:ext cx="167640" cy="167640"/>
          </a:xfrm>
          <a:prstGeom prst="rect">
            <a:avLst/>
          </a:prstGeom>
          <a:solidFill>
            <a:srgbClr val="004CC0"/>
          </a:solidFill>
          <a:ln/>
        </p:spPr>
      </p:sp>
      <p:sp>
        <p:nvSpPr>
          <p:cNvPr id="12" name="Text 10"/>
          <p:cNvSpPr/>
          <p:nvPr/>
        </p:nvSpPr>
        <p:spPr>
          <a:xfrm>
            <a:off x="1553210" y="4665980"/>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1629410" y="4749800"/>
            <a:ext cx="7992110" cy="0"/>
          </a:xfrm>
          <a:prstGeom prst="line">
            <a:avLst/>
          </a:prstGeom>
          <a:noFill/>
          <a:ln w="12700">
            <a:solidFill>
              <a:srgbClr val="004CC0"/>
            </a:solidFill>
            <a:prstDash val="dash"/>
            <a:headEnd type="none"/>
            <a:tailEnd type="none"/>
          </a:ln>
        </p:spPr>
      </p:sp>
      <p:sp>
        <p:nvSpPr>
          <p:cNvPr id="14" name="Text 12"/>
          <p:cNvSpPr/>
          <p:nvPr/>
        </p:nvSpPr>
        <p:spPr>
          <a:xfrm>
            <a:off x="1209040" y="584835"/>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01-日志异常检测的学术演进与瓶颈</a:t>
            </a:r>
            <a:endParaRPr lang="en-US" sz="1600" dirty="0"/>
          </a:p>
        </p:txBody>
      </p:sp>
      <p:sp>
        <p:nvSpPr>
          <p:cNvPr id="15" name="Shape 13"/>
          <p:cNvSpPr/>
          <p:nvPr/>
        </p:nvSpPr>
        <p:spPr>
          <a:xfrm>
            <a:off x="11106785" y="693737"/>
            <a:ext cx="235520" cy="0"/>
          </a:xfrm>
          <a:prstGeom prst="line">
            <a:avLst/>
          </a:prstGeom>
          <a:noFill/>
          <a:ln w="31750">
            <a:solidFill>
              <a:srgbClr val="004CC0"/>
            </a:solidFill>
            <a:prstDash val="solid"/>
            <a:headEnd type="none"/>
            <a:tailEnd type="none"/>
          </a:ln>
        </p:spPr>
      </p:sp>
      <p:sp>
        <p:nvSpPr>
          <p:cNvPr id="16" name="Shape 14"/>
          <p:cNvSpPr/>
          <p:nvPr/>
        </p:nvSpPr>
        <p:spPr>
          <a:xfrm>
            <a:off x="11106785" y="754697"/>
            <a:ext cx="235520" cy="0"/>
          </a:xfrm>
          <a:prstGeom prst="line">
            <a:avLst/>
          </a:prstGeom>
          <a:noFill/>
          <a:ln w="31750">
            <a:solidFill>
              <a:srgbClr val="004CC0"/>
            </a:solidFill>
            <a:prstDash val="solid"/>
            <a:headEnd type="none"/>
            <a:tailEnd type="none"/>
          </a:ln>
        </p:spPr>
      </p:sp>
      <p:sp>
        <p:nvSpPr>
          <p:cNvPr id="17" name="Shape 15"/>
          <p:cNvSpPr/>
          <p:nvPr/>
        </p:nvSpPr>
        <p:spPr>
          <a:xfrm>
            <a:off x="11106785" y="815657"/>
            <a:ext cx="235520" cy="0"/>
          </a:xfrm>
          <a:prstGeom prst="line">
            <a:avLst/>
          </a:prstGeom>
          <a:noFill/>
          <a:ln w="31750">
            <a:solidFill>
              <a:srgbClr val="004CC0"/>
            </a:solidFill>
            <a:prstDash val="solid"/>
            <a:headEnd type="none"/>
            <a:tailEnd type="none"/>
          </a:ln>
        </p:spPr>
      </p:sp>
      <p:sp>
        <p:nvSpPr>
          <p:cNvPr id="18" name="Text 16"/>
          <p:cNvSpPr/>
          <p:nvPr/>
        </p:nvSpPr>
        <p:spPr>
          <a:xfrm>
            <a:off x="1359535" y="1580515"/>
            <a:ext cx="8560435" cy="284559"/>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1D3EBF"/>
                </a:solidFill>
                <a:latin typeface="MiSans" pitchFamily="34" charset="0"/>
                <a:ea typeface="MiSans" pitchFamily="34" charset="-122"/>
                <a:cs typeface="MiSans" pitchFamily="34" charset="-120"/>
              </a:rPr>
              <a:t>日志的重要性</a:t>
            </a:r>
            <a:endParaRPr lang="en-US" sz="1600" dirty="0"/>
          </a:p>
        </p:txBody>
      </p:sp>
      <p:sp>
        <p:nvSpPr>
          <p:cNvPr id="19" name="Text 17"/>
          <p:cNvSpPr/>
          <p:nvPr/>
        </p:nvSpPr>
        <p:spPr>
          <a:xfrm>
            <a:off x="1397635" y="1922145"/>
            <a:ext cx="8192770" cy="571698"/>
          </a:xfrm>
          <a:prstGeom prst="rect">
            <a:avLst/>
          </a:prstGeom>
          <a:noFill/>
          <a:ln/>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0"/>
                <a:ea typeface="MiSans" pitchFamily="34" charset="-122"/>
                <a:cs typeface="MiSans" pitchFamily="34" charset="-120"/>
              </a:rPr>
              <a:t>系统日志是软件可靠性研究的核心观测载体，记录了软件运行时的状态和事件，为调试、性能监控和可靠性保障提供关键信息。</a:t>
            </a:r>
            <a:endParaRPr lang="en-US" sz="1600" dirty="0"/>
          </a:p>
        </p:txBody>
      </p:sp>
      <p:sp>
        <p:nvSpPr>
          <p:cNvPr id="20" name="Text 18"/>
          <p:cNvSpPr/>
          <p:nvPr/>
        </p:nvSpPr>
        <p:spPr>
          <a:xfrm>
            <a:off x="1359535" y="3292475"/>
            <a:ext cx="8560435" cy="284559"/>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1D3EBF"/>
                </a:solidFill>
                <a:latin typeface="MiSans" pitchFamily="34" charset="0"/>
                <a:ea typeface="MiSans" pitchFamily="34" charset="-122"/>
                <a:cs typeface="MiSans" pitchFamily="34" charset="-120"/>
              </a:rPr>
              <a:t>现有方法的局限性</a:t>
            </a:r>
            <a:endParaRPr lang="en-US" sz="1600" dirty="0"/>
          </a:p>
        </p:txBody>
      </p:sp>
      <p:sp>
        <p:nvSpPr>
          <p:cNvPr id="21" name="Text 19"/>
          <p:cNvSpPr/>
          <p:nvPr/>
        </p:nvSpPr>
        <p:spPr>
          <a:xfrm>
            <a:off x="1397635" y="3634105"/>
            <a:ext cx="8192770" cy="571698"/>
          </a:xfrm>
          <a:prstGeom prst="rect">
            <a:avLst/>
          </a:prstGeom>
          <a:noFill/>
          <a:ln/>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0"/>
                <a:ea typeface="MiSans" pitchFamily="34" charset="-122"/>
                <a:cs typeface="MiSans" pitchFamily="34" charset="-120"/>
              </a:rPr>
              <a:t>当前日志异常检测方法存在三难困境：云端大模型导致隐私不可控，IDE缺乏统一分析接口，传统工具对复杂日志支持不足，解析准确率与效率难以兼顾。</a:t>
            </a:r>
            <a:endParaRPr lang="en-US" sz="1600" dirty="0"/>
          </a:p>
        </p:txBody>
      </p:sp>
      <p:sp>
        <p:nvSpPr>
          <p:cNvPr id="22" name="Text 20"/>
          <p:cNvSpPr/>
          <p:nvPr/>
        </p:nvSpPr>
        <p:spPr>
          <a:xfrm>
            <a:off x="1359535" y="4973955"/>
            <a:ext cx="8560435" cy="284559"/>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1D3EBF"/>
                </a:solidFill>
                <a:latin typeface="MiSans" pitchFamily="34" charset="0"/>
                <a:ea typeface="MiSans" pitchFamily="34" charset="-122"/>
                <a:cs typeface="MiSans" pitchFamily="34" charset="-120"/>
              </a:rPr>
              <a:t>研究目标</a:t>
            </a:r>
            <a:endParaRPr lang="en-US" sz="1600" dirty="0"/>
          </a:p>
        </p:txBody>
      </p:sp>
      <p:sp>
        <p:nvSpPr>
          <p:cNvPr id="23" name="Text 21"/>
          <p:cNvSpPr/>
          <p:nvPr/>
        </p:nvSpPr>
        <p:spPr>
          <a:xfrm>
            <a:off x="1397635" y="5315585"/>
            <a:ext cx="8192770" cy="571698"/>
          </a:xfrm>
          <a:prstGeom prst="rect">
            <a:avLst/>
          </a:prstGeom>
          <a:noFill/>
          <a:ln/>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0"/>
                <a:ea typeface="MiSans" pitchFamily="34" charset="-122"/>
                <a:cs typeface="MiSans" pitchFamily="34" charset="-120"/>
              </a:rPr>
              <a:t>本研究旨在提出一种基于LogLLM的本地化大模型方案，满足高解析性能、零隐私出域和IDE原生体验三项严苛指标，为日志异常检测提供新的工程化范式。</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6"/>
          <p:cNvSpPr/>
          <p:nvPr/>
        </p:nvSpPr>
        <p:spPr>
          <a:xfrm>
            <a:off x="767770" y="504887"/>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01-Clear </a:t>
            </a:r>
            <a:r>
              <a:rPr lang="en-US" sz="3000" b="1" dirty="0">
                <a:solidFill>
                  <a:srgbClr val="000000"/>
                </a:solidFill>
                <a:latin typeface="MiSans" pitchFamily="34" charset="0"/>
                <a:ea typeface="MiSans" pitchFamily="34" charset="-122"/>
                <a:cs typeface="MiSans" pitchFamily="34" charset="-120"/>
              </a:rPr>
              <a:t>the Bottlenecks</a:t>
            </a:r>
            <a:endParaRPr lang="en-US" sz="1600" dirty="0"/>
          </a:p>
        </p:txBody>
      </p:sp>
      <p:sp>
        <p:nvSpPr>
          <p:cNvPr id="9" name="Shape 7"/>
          <p:cNvSpPr/>
          <p:nvPr/>
        </p:nvSpPr>
        <p:spPr>
          <a:xfrm>
            <a:off x="11106785" y="693737"/>
            <a:ext cx="235520" cy="0"/>
          </a:xfrm>
          <a:prstGeom prst="line">
            <a:avLst/>
          </a:prstGeom>
          <a:noFill/>
          <a:ln w="31750">
            <a:solidFill>
              <a:srgbClr val="004CC0"/>
            </a:solidFill>
            <a:prstDash val="solid"/>
            <a:headEnd type="none"/>
            <a:tailEnd type="none"/>
          </a:ln>
        </p:spPr>
      </p:sp>
      <p:sp>
        <p:nvSpPr>
          <p:cNvPr id="10" name="Shape 8"/>
          <p:cNvSpPr/>
          <p:nvPr/>
        </p:nvSpPr>
        <p:spPr>
          <a:xfrm>
            <a:off x="11106785" y="754697"/>
            <a:ext cx="235520" cy="0"/>
          </a:xfrm>
          <a:prstGeom prst="line">
            <a:avLst/>
          </a:prstGeom>
          <a:noFill/>
          <a:ln w="31750">
            <a:solidFill>
              <a:srgbClr val="004CC0"/>
            </a:solidFill>
            <a:prstDash val="solid"/>
            <a:headEnd type="none"/>
            <a:tailEnd type="none"/>
          </a:ln>
        </p:spPr>
      </p:sp>
      <p:sp>
        <p:nvSpPr>
          <p:cNvPr id="11" name="Shape 9"/>
          <p:cNvSpPr/>
          <p:nvPr/>
        </p:nvSpPr>
        <p:spPr>
          <a:xfrm>
            <a:off x="11106785" y="815657"/>
            <a:ext cx="235520" cy="0"/>
          </a:xfrm>
          <a:prstGeom prst="line">
            <a:avLst/>
          </a:prstGeom>
          <a:noFill/>
          <a:ln w="31750">
            <a:solidFill>
              <a:srgbClr val="004CC0"/>
            </a:solidFill>
            <a:prstDash val="solid"/>
            <a:headEnd type="none"/>
            <a:tailEnd type="none"/>
          </a:ln>
        </p:spPr>
      </p:sp>
      <p:pic>
        <p:nvPicPr>
          <p:cNvPr id="12" name="Image 0" descr="https://kimi-img.moonshot.cn/pub/slides/25-11-15-23:06:10-d4c9doique5jefscqe7g.png"/>
          <p:cNvPicPr>
            <a:picLocks noChangeAspect="1"/>
          </p:cNvPicPr>
          <p:nvPr/>
        </p:nvPicPr>
        <p:blipFill>
          <a:blip r:embed="rId3"/>
          <a:stretch>
            <a:fillRect/>
          </a:stretch>
        </p:blipFill>
        <p:spPr>
          <a:xfrm>
            <a:off x="848360" y="1525554"/>
            <a:ext cx="4207609" cy="3333300"/>
          </a:xfrm>
          <a:prstGeom prst="rect">
            <a:avLst/>
          </a:prstGeom>
        </p:spPr>
      </p:pic>
      <p:pic>
        <p:nvPicPr>
          <p:cNvPr id="13" name="Image 1" descr="https://kimi-img.moonshot.cn/pub/slides/25-11-15-23:06:28-d4c9dt6c8f21d3nhn5ag.png"/>
          <p:cNvPicPr>
            <a:picLocks noChangeAspect="1"/>
          </p:cNvPicPr>
          <p:nvPr/>
        </p:nvPicPr>
        <p:blipFill>
          <a:blip r:embed="rId4"/>
          <a:stretch>
            <a:fillRect/>
          </a:stretch>
        </p:blipFill>
        <p:spPr>
          <a:xfrm>
            <a:off x="6631315" y="0"/>
            <a:ext cx="4424733" cy="3584321"/>
          </a:xfrm>
          <a:prstGeom prst="rect">
            <a:avLst/>
          </a:prstGeom>
        </p:spPr>
      </p:pic>
      <p:pic>
        <p:nvPicPr>
          <p:cNvPr id="14" name="Image 2" descr="https://kimi-img.moonshot.cn/pub/slides/25-11-15-23:54:29-d4ca4d87dlc2qipot92g.png"/>
          <p:cNvPicPr>
            <a:picLocks noChangeAspect="1"/>
          </p:cNvPicPr>
          <p:nvPr/>
        </p:nvPicPr>
        <p:blipFill>
          <a:blip r:embed="rId5"/>
          <a:stretch>
            <a:fillRect/>
          </a:stretch>
        </p:blipFill>
        <p:spPr>
          <a:xfrm>
            <a:off x="6631315" y="3690293"/>
            <a:ext cx="4424733" cy="3167707"/>
          </a:xfrm>
          <a:prstGeom prst="rect">
            <a:avLst/>
          </a:prstGeom>
        </p:spPr>
      </p:pic>
      <p:sp>
        <p:nvSpPr>
          <p:cNvPr id="15" name="图形 32">
            <a:extLst>
              <a:ext uri="{FF2B5EF4-FFF2-40B4-BE49-F238E27FC236}">
                <a16:creationId xmlns:a16="http://schemas.microsoft.com/office/drawing/2014/main" id="{E9E51BB2-808E-DE51-0AFE-05C54220B34E}"/>
              </a:ext>
            </a:extLst>
          </p:cNvPr>
          <p:cNvSpPr/>
          <p:nvPr/>
        </p:nvSpPr>
        <p:spPr>
          <a:xfrm flipV="1">
            <a:off x="5442879" y="4068088"/>
            <a:ext cx="801526" cy="639089"/>
          </a:xfrm>
          <a:custGeom>
            <a:avLst/>
            <a:gdLst>
              <a:gd name="connsiteX0" fmla="*/ 503717 w 712577"/>
              <a:gd name="connsiteY0" fmla="*/ 121897 h 568167"/>
              <a:gd name="connsiteX1" fmla="*/ 503717 w 712577"/>
              <a:gd name="connsiteY1" fmla="*/ -545 h 568167"/>
              <a:gd name="connsiteX2" fmla="*/ 712413 w 712577"/>
              <a:gd name="connsiteY2" fmla="*/ 197019 h 568167"/>
              <a:gd name="connsiteX3" fmla="*/ 503717 w 712577"/>
              <a:gd name="connsiteY3" fmla="*/ 395087 h 568167"/>
              <a:gd name="connsiteX4" fmla="*/ 503717 w 712577"/>
              <a:gd name="connsiteY4" fmla="*/ 271024 h 568167"/>
              <a:gd name="connsiteX5" fmla="*/ 11246 w 712577"/>
              <a:gd name="connsiteY5" fmla="*/ 567623 h 568167"/>
              <a:gd name="connsiteX6" fmla="*/ -164 w 712577"/>
              <a:gd name="connsiteY6" fmla="*/ 493077 h 568167"/>
              <a:gd name="connsiteX7" fmla="*/ 503679 w 712577"/>
              <a:gd name="connsiteY7" fmla="*/ 121897 h 56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2577" h="568167">
                <a:moveTo>
                  <a:pt x="503717" y="121897"/>
                </a:moveTo>
                <a:lnTo>
                  <a:pt x="503717" y="-545"/>
                </a:lnTo>
                <a:lnTo>
                  <a:pt x="712413" y="197019"/>
                </a:lnTo>
                <a:lnTo>
                  <a:pt x="503717" y="395087"/>
                </a:lnTo>
                <a:lnTo>
                  <a:pt x="503717" y="271024"/>
                </a:lnTo>
                <a:cubicBezTo>
                  <a:pt x="258166" y="288346"/>
                  <a:pt x="59474" y="409996"/>
                  <a:pt x="11246" y="567623"/>
                </a:cubicBezTo>
                <a:cubicBezTo>
                  <a:pt x="3826" y="543393"/>
                  <a:pt x="-16" y="518304"/>
                  <a:pt x="-164" y="493077"/>
                </a:cubicBezTo>
                <a:cubicBezTo>
                  <a:pt x="-164" y="300771"/>
                  <a:pt x="220436" y="142172"/>
                  <a:pt x="503679" y="121897"/>
                </a:cubicBezTo>
                <a:close/>
              </a:path>
            </a:pathLst>
          </a:cu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endParaRPr>
          </a:p>
        </p:txBody>
      </p:sp>
      <p:sp>
        <p:nvSpPr>
          <p:cNvPr id="16" name="图形 32">
            <a:extLst>
              <a:ext uri="{FF2B5EF4-FFF2-40B4-BE49-F238E27FC236}">
                <a16:creationId xmlns:a16="http://schemas.microsoft.com/office/drawing/2014/main" id="{5DF041F5-A966-1D9E-ED7B-22FD9E67805F}"/>
              </a:ext>
            </a:extLst>
          </p:cNvPr>
          <p:cNvSpPr/>
          <p:nvPr/>
        </p:nvSpPr>
        <p:spPr>
          <a:xfrm>
            <a:off x="5439907" y="2322907"/>
            <a:ext cx="801526" cy="639090"/>
          </a:xfrm>
          <a:custGeom>
            <a:avLst/>
            <a:gdLst>
              <a:gd name="connsiteX0" fmla="*/ 503717 w 712577"/>
              <a:gd name="connsiteY0" fmla="*/ 121897 h 568167"/>
              <a:gd name="connsiteX1" fmla="*/ 503717 w 712577"/>
              <a:gd name="connsiteY1" fmla="*/ -545 h 568167"/>
              <a:gd name="connsiteX2" fmla="*/ 712413 w 712577"/>
              <a:gd name="connsiteY2" fmla="*/ 197019 h 568167"/>
              <a:gd name="connsiteX3" fmla="*/ 503717 w 712577"/>
              <a:gd name="connsiteY3" fmla="*/ 395087 h 568167"/>
              <a:gd name="connsiteX4" fmla="*/ 503717 w 712577"/>
              <a:gd name="connsiteY4" fmla="*/ 271024 h 568167"/>
              <a:gd name="connsiteX5" fmla="*/ 11246 w 712577"/>
              <a:gd name="connsiteY5" fmla="*/ 567623 h 568167"/>
              <a:gd name="connsiteX6" fmla="*/ -164 w 712577"/>
              <a:gd name="connsiteY6" fmla="*/ 493077 h 568167"/>
              <a:gd name="connsiteX7" fmla="*/ 503679 w 712577"/>
              <a:gd name="connsiteY7" fmla="*/ 121897 h 56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2577" h="568167">
                <a:moveTo>
                  <a:pt x="503717" y="121897"/>
                </a:moveTo>
                <a:lnTo>
                  <a:pt x="503717" y="-545"/>
                </a:lnTo>
                <a:lnTo>
                  <a:pt x="712413" y="197019"/>
                </a:lnTo>
                <a:lnTo>
                  <a:pt x="503717" y="395087"/>
                </a:lnTo>
                <a:lnTo>
                  <a:pt x="503717" y="271024"/>
                </a:lnTo>
                <a:cubicBezTo>
                  <a:pt x="258166" y="288346"/>
                  <a:pt x="59474" y="409996"/>
                  <a:pt x="11246" y="567623"/>
                </a:cubicBezTo>
                <a:cubicBezTo>
                  <a:pt x="3826" y="543393"/>
                  <a:pt x="-16" y="518304"/>
                  <a:pt x="-164" y="493077"/>
                </a:cubicBezTo>
                <a:cubicBezTo>
                  <a:pt x="-164" y="300771"/>
                  <a:pt x="220436" y="142172"/>
                  <a:pt x="503679" y="121897"/>
                </a:cubicBezTo>
                <a:close/>
              </a:path>
            </a:pathLst>
          </a:cu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zh-CN" altLang="en-US" sz="5400">
                <a:solidFill>
                  <a:srgbClr val="000000"/>
                </a:solidFill>
                <a:latin typeface="MiSans" pitchFamily="34" charset="0"/>
                <a:ea typeface="MiSans" pitchFamily="34" charset="-122"/>
                <a:cs typeface="MiSans" pitchFamily="34" charset="-120"/>
              </a:rPr>
              <a:t>核心技术方案</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02</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43-d3jnsbos8jdo4os5dm80.jpg"/>
          <p:cNvPicPr>
            <a:picLocks noChangeAspect="1"/>
          </p:cNvPicPr>
          <p:nvPr/>
        </p:nvPicPr>
        <p:blipFill>
          <a:blip r:embed="rId4"/>
          <a:srcRect l="29" r="29"/>
          <a:stretch/>
        </p:blipFill>
        <p:spPr>
          <a:xfrm>
            <a:off x="9966960" y="-34290"/>
            <a:ext cx="2223770" cy="6892290"/>
          </a:xfrm>
          <a:prstGeom prst="rect">
            <a:avLst/>
          </a:prstGeom>
        </p:spPr>
      </p:pic>
      <p:sp>
        <p:nvSpPr>
          <p:cNvPr id="3" name="Shape 0"/>
          <p:cNvSpPr/>
          <p:nvPr/>
        </p:nvSpPr>
        <p:spPr>
          <a:xfrm>
            <a:off x="9964420" y="-34290"/>
            <a:ext cx="2227580" cy="6903720"/>
          </a:xfrm>
          <a:prstGeom prst="rect">
            <a:avLst/>
          </a:prstGeom>
          <a:gradFill flip="none" rotWithShape="1">
            <a:gsLst>
              <a:gs pos="0">
                <a:srgbClr val="004CC0">
                  <a:alpha val="78000"/>
                </a:srgbClr>
              </a:gs>
              <a:gs pos="100000">
                <a:srgbClr val="004CC0"/>
              </a:gs>
            </a:gsLst>
            <a:lin ang="2700000" scaled="1"/>
          </a:gradFill>
          <a:ln/>
        </p:spPr>
      </p:sp>
      <p:sp>
        <p:nvSpPr>
          <p:cNvPr id="4" name="Text 1"/>
          <p:cNvSpPr/>
          <p:nvPr/>
        </p:nvSpPr>
        <p:spPr>
          <a:xfrm>
            <a:off x="9964420" y="-34290"/>
            <a:ext cx="2227580" cy="6903720"/>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a:ln/>
        </p:spPr>
      </p:sp>
      <p:sp>
        <p:nvSpPr>
          <p:cNvPr id="6" name="Text 3"/>
          <p:cNvSpPr/>
          <p:nvPr/>
        </p:nvSpPr>
        <p:spPr>
          <a:xfrm>
            <a:off x="6291731" y="8722360"/>
            <a:ext cx="287989" cy="698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rot="4920000" flipV="1">
            <a:off x="9856470" y="5581650"/>
            <a:ext cx="1457960" cy="1342390"/>
          </a:xfrm>
          <a:custGeom>
            <a:avLst/>
            <a:gdLst/>
            <a:ahLst/>
            <a:cxnLst/>
            <a:rect l="l" t="t" r="r" b="b"/>
            <a:pathLst>
              <a:path w="1457960" h="1342390">
                <a:moveTo>
                  <a:pt x="0" y="272600"/>
                </a:moveTo>
                <a:cubicBezTo>
                  <a:pt x="-2882" y="202123"/>
                  <a:pt x="17069" y="72029"/>
                  <a:pt x="20394" y="64272"/>
                </a:cubicBezTo>
                <a:lnTo>
                  <a:pt x="453991" y="0"/>
                </a:lnTo>
                <a:cubicBezTo>
                  <a:pt x="420962" y="60947"/>
                  <a:pt x="391479" y="210102"/>
                  <a:pt x="396356" y="272600"/>
                </a:cubicBezTo>
                <a:cubicBezTo>
                  <a:pt x="384829" y="650695"/>
                  <a:pt x="731086" y="955431"/>
                  <a:pt x="1070028" y="946122"/>
                </a:cubicBezTo>
                <a:cubicBezTo>
                  <a:pt x="1184412" y="955209"/>
                  <a:pt x="1353994" y="890273"/>
                  <a:pt x="1397221" y="861461"/>
                </a:cubicBezTo>
                <a:lnTo>
                  <a:pt x="1457960" y="1269918"/>
                </a:lnTo>
                <a:cubicBezTo>
                  <a:pt x="1365300" y="1313579"/>
                  <a:pt x="1153599" y="1348152"/>
                  <a:pt x="1070028" y="1342390"/>
                </a:cubicBezTo>
                <a:cubicBezTo>
                  <a:pt x="469509" y="1360785"/>
                  <a:pt x="-14631" y="811152"/>
                  <a:pt x="0" y="272600"/>
                </a:cubicBezTo>
                <a:close/>
              </a:path>
            </a:pathLst>
          </a:custGeom>
          <a:gradFill flip="none" rotWithShape="1">
            <a:gsLst>
              <a:gs pos="0">
                <a:srgbClr val="00B0F0">
                  <a:alpha val="34000"/>
                </a:srgbClr>
              </a:gs>
              <a:gs pos="76000">
                <a:srgbClr val="00B0F0">
                  <a:alpha val="0"/>
                </a:srgbClr>
              </a:gs>
              <a:gs pos="100000">
                <a:srgbClr val="00B0F0">
                  <a:alpha val="0"/>
                </a:srgbClr>
              </a:gs>
            </a:gsLst>
            <a:lin ang="16200000" scaled="1"/>
          </a:gradFill>
          <a:ln/>
        </p:spPr>
      </p:sp>
      <p:sp>
        <p:nvSpPr>
          <p:cNvPr id="8" name="Text 5"/>
          <p:cNvSpPr/>
          <p:nvPr/>
        </p:nvSpPr>
        <p:spPr>
          <a:xfrm rot="4920000">
            <a:off x="9856470" y="5581650"/>
            <a:ext cx="1457960" cy="1342390"/>
          </a:xfrm>
          <a:prstGeom prst="rect">
            <a:avLst/>
          </a:prstGeom>
          <a:noFill/>
          <a:ln/>
        </p:spPr>
        <p:txBody>
          <a:bodyPr wrap="square" lIns="45720" tIns="91440" rIns="91440" bIns="45720" rtlCol="0" anchor="t"/>
          <a:lstStyle/>
          <a:p>
            <a:pPr>
              <a:lnSpc>
                <a:spcPct val="100000"/>
              </a:lnSpc>
            </a:pPr>
            <a:endParaRPr lang="en-US" sz="1600" dirty="0"/>
          </a:p>
        </p:txBody>
      </p:sp>
      <p:sp>
        <p:nvSpPr>
          <p:cNvPr id="9" name="Shape 6"/>
          <p:cNvSpPr/>
          <p:nvPr/>
        </p:nvSpPr>
        <p:spPr>
          <a:xfrm rot="15060000" flipH="1">
            <a:off x="10623533" y="4245026"/>
            <a:ext cx="1958340" cy="1694329"/>
          </a:xfrm>
          <a:custGeom>
            <a:avLst/>
            <a:gdLst/>
            <a:ahLst/>
            <a:cxnLst/>
            <a:rect l="l" t="t" r="r" b="b"/>
            <a:pathLst>
              <a:path w="1958340" h="1694329">
                <a:moveTo>
                  <a:pt x="250190" y="1632094"/>
                </a:moveTo>
                <a:lnTo>
                  <a:pt x="525780" y="1632094"/>
                </a:lnTo>
                <a:lnTo>
                  <a:pt x="349885" y="1694329"/>
                </a:lnTo>
                <a:lnTo>
                  <a:pt x="309245" y="1694329"/>
                </a:lnTo>
                <a:cubicBezTo>
                  <a:pt x="288290" y="1675277"/>
                  <a:pt x="265430" y="1651780"/>
                  <a:pt x="250190" y="1632094"/>
                </a:cubicBezTo>
                <a:close/>
                <a:moveTo>
                  <a:pt x="173990" y="1537470"/>
                </a:moveTo>
                <a:lnTo>
                  <a:pt x="793750" y="1537470"/>
                </a:lnTo>
                <a:lnTo>
                  <a:pt x="626745" y="1596530"/>
                </a:lnTo>
                <a:lnTo>
                  <a:pt x="217805" y="1596530"/>
                </a:lnTo>
                <a:cubicBezTo>
                  <a:pt x="202565" y="1578114"/>
                  <a:pt x="186055" y="1556522"/>
                  <a:pt x="173990" y="1537470"/>
                </a:cubicBezTo>
                <a:close/>
                <a:moveTo>
                  <a:pt x="114935" y="1439672"/>
                </a:moveTo>
                <a:lnTo>
                  <a:pt x="1071245" y="1439672"/>
                </a:lnTo>
                <a:lnTo>
                  <a:pt x="899795" y="1500637"/>
                </a:lnTo>
                <a:lnTo>
                  <a:pt x="149225" y="1500637"/>
                </a:lnTo>
                <a:cubicBezTo>
                  <a:pt x="137795" y="1481585"/>
                  <a:pt x="125095" y="1458723"/>
                  <a:pt x="114935" y="1439672"/>
                </a:cubicBezTo>
                <a:close/>
                <a:moveTo>
                  <a:pt x="68580" y="1343778"/>
                </a:moveTo>
                <a:lnTo>
                  <a:pt x="1343660" y="1343778"/>
                </a:lnTo>
                <a:lnTo>
                  <a:pt x="1176655" y="1402203"/>
                </a:lnTo>
                <a:lnTo>
                  <a:pt x="95250" y="1402203"/>
                </a:lnTo>
                <a:cubicBezTo>
                  <a:pt x="90170" y="1393313"/>
                  <a:pt x="85090" y="1380611"/>
                  <a:pt x="81280" y="1372356"/>
                </a:cubicBezTo>
                <a:cubicBezTo>
                  <a:pt x="77470" y="1362830"/>
                  <a:pt x="72390" y="1350764"/>
                  <a:pt x="68580" y="1343778"/>
                </a:cubicBezTo>
                <a:close/>
                <a:moveTo>
                  <a:pt x="35560" y="1245345"/>
                </a:moveTo>
                <a:lnTo>
                  <a:pt x="1621155" y="1245345"/>
                </a:lnTo>
                <a:lnTo>
                  <a:pt x="1445260" y="1307580"/>
                </a:lnTo>
                <a:lnTo>
                  <a:pt x="54610" y="1307580"/>
                </a:lnTo>
                <a:cubicBezTo>
                  <a:pt x="46990" y="1288528"/>
                  <a:pt x="40640" y="1265031"/>
                  <a:pt x="35560" y="1245345"/>
                </a:cubicBezTo>
                <a:close/>
                <a:moveTo>
                  <a:pt x="12700" y="1150721"/>
                </a:moveTo>
                <a:lnTo>
                  <a:pt x="1889125" y="1150721"/>
                </a:lnTo>
                <a:lnTo>
                  <a:pt x="1722120" y="1209781"/>
                </a:lnTo>
                <a:lnTo>
                  <a:pt x="26035" y="1209781"/>
                </a:lnTo>
                <a:cubicBezTo>
                  <a:pt x="24130" y="1200256"/>
                  <a:pt x="20955" y="1188189"/>
                  <a:pt x="19050" y="1179934"/>
                </a:cubicBezTo>
                <a:cubicBezTo>
                  <a:pt x="16510" y="1170408"/>
                  <a:pt x="13970" y="1158342"/>
                  <a:pt x="12700" y="1150721"/>
                </a:cubicBezTo>
                <a:close/>
                <a:moveTo>
                  <a:pt x="1270" y="1052923"/>
                </a:moveTo>
                <a:lnTo>
                  <a:pt x="1957070" y="1052923"/>
                </a:lnTo>
                <a:cubicBezTo>
                  <a:pt x="1955165" y="1073879"/>
                  <a:pt x="1952625" y="1096741"/>
                  <a:pt x="1948815" y="1113888"/>
                </a:cubicBezTo>
                <a:lnTo>
                  <a:pt x="9525" y="1113888"/>
                </a:lnTo>
                <a:cubicBezTo>
                  <a:pt x="5080" y="1094836"/>
                  <a:pt x="3175" y="1071974"/>
                  <a:pt x="1270" y="1052923"/>
                </a:cubicBezTo>
                <a:close/>
                <a:moveTo>
                  <a:pt x="0" y="957029"/>
                </a:moveTo>
                <a:lnTo>
                  <a:pt x="1958340" y="957029"/>
                </a:lnTo>
                <a:lnTo>
                  <a:pt x="1958340" y="960204"/>
                </a:lnTo>
                <a:lnTo>
                  <a:pt x="1958340" y="960839"/>
                </a:lnTo>
                <a:lnTo>
                  <a:pt x="1958340" y="961475"/>
                </a:lnTo>
                <a:lnTo>
                  <a:pt x="1958340" y="962110"/>
                </a:lnTo>
                <a:lnTo>
                  <a:pt x="1958340" y="962745"/>
                </a:lnTo>
                <a:lnTo>
                  <a:pt x="1958340" y="963380"/>
                </a:lnTo>
                <a:lnTo>
                  <a:pt x="1958340" y="964015"/>
                </a:lnTo>
                <a:lnTo>
                  <a:pt x="1958340" y="979256"/>
                </a:lnTo>
                <a:lnTo>
                  <a:pt x="1958340" y="979891"/>
                </a:lnTo>
                <a:lnTo>
                  <a:pt x="1958340" y="980526"/>
                </a:lnTo>
                <a:lnTo>
                  <a:pt x="1958340" y="981796"/>
                </a:lnTo>
                <a:lnTo>
                  <a:pt x="1958340" y="982431"/>
                </a:lnTo>
                <a:lnTo>
                  <a:pt x="1958340" y="984337"/>
                </a:lnTo>
                <a:lnTo>
                  <a:pt x="1958340" y="991322"/>
                </a:lnTo>
                <a:lnTo>
                  <a:pt x="1958340" y="1018630"/>
                </a:lnTo>
                <a:lnTo>
                  <a:pt x="0" y="1018630"/>
                </a:lnTo>
                <a:lnTo>
                  <a:pt x="0" y="957029"/>
                </a:lnTo>
                <a:close/>
                <a:moveTo>
                  <a:pt x="5080" y="858596"/>
                </a:moveTo>
                <a:lnTo>
                  <a:pt x="1951355" y="858596"/>
                </a:lnTo>
                <a:cubicBezTo>
                  <a:pt x="1953895" y="873202"/>
                  <a:pt x="1954530" y="889078"/>
                  <a:pt x="1955165" y="901144"/>
                </a:cubicBezTo>
                <a:cubicBezTo>
                  <a:pt x="1955800" y="907495"/>
                  <a:pt x="1956435" y="916386"/>
                  <a:pt x="1957070" y="920831"/>
                </a:cubicBezTo>
                <a:lnTo>
                  <a:pt x="1270" y="920831"/>
                </a:lnTo>
                <a:cubicBezTo>
                  <a:pt x="1270" y="901144"/>
                  <a:pt x="3175" y="880822"/>
                  <a:pt x="5080" y="863041"/>
                </a:cubicBezTo>
                <a:lnTo>
                  <a:pt x="5080" y="861771"/>
                </a:lnTo>
                <a:lnTo>
                  <a:pt x="5080" y="861136"/>
                </a:lnTo>
                <a:lnTo>
                  <a:pt x="5080" y="859866"/>
                </a:lnTo>
                <a:lnTo>
                  <a:pt x="5080" y="858596"/>
                </a:lnTo>
                <a:close/>
                <a:moveTo>
                  <a:pt x="22225" y="763972"/>
                </a:moveTo>
                <a:lnTo>
                  <a:pt x="1934210" y="763972"/>
                </a:lnTo>
                <a:cubicBezTo>
                  <a:pt x="1938020" y="783024"/>
                  <a:pt x="1942465" y="805886"/>
                  <a:pt x="1945640" y="824938"/>
                </a:cubicBezTo>
                <a:lnTo>
                  <a:pt x="10795" y="824938"/>
                </a:lnTo>
                <a:cubicBezTo>
                  <a:pt x="14605" y="803981"/>
                  <a:pt x="19050" y="781119"/>
                  <a:pt x="22225" y="763972"/>
                </a:cubicBezTo>
                <a:close/>
                <a:moveTo>
                  <a:pt x="49530" y="666174"/>
                </a:moveTo>
                <a:lnTo>
                  <a:pt x="1908810" y="666174"/>
                </a:lnTo>
                <a:cubicBezTo>
                  <a:pt x="1911350" y="676334"/>
                  <a:pt x="1915160" y="689036"/>
                  <a:pt x="1917065" y="697291"/>
                </a:cubicBezTo>
                <a:cubicBezTo>
                  <a:pt x="1920240" y="706817"/>
                  <a:pt x="1923415" y="718248"/>
                  <a:pt x="1925955" y="727139"/>
                </a:cubicBezTo>
                <a:lnTo>
                  <a:pt x="32385" y="727139"/>
                </a:lnTo>
                <a:cubicBezTo>
                  <a:pt x="34925" y="713803"/>
                  <a:pt x="40005" y="698561"/>
                  <a:pt x="43180" y="687765"/>
                </a:cubicBezTo>
                <a:cubicBezTo>
                  <a:pt x="45720" y="680780"/>
                  <a:pt x="48260" y="671889"/>
                  <a:pt x="49530" y="666174"/>
                </a:cubicBezTo>
                <a:close/>
                <a:moveTo>
                  <a:pt x="86995" y="570280"/>
                </a:moveTo>
                <a:lnTo>
                  <a:pt x="1868170" y="570280"/>
                </a:lnTo>
                <a:cubicBezTo>
                  <a:pt x="1877060" y="589332"/>
                  <a:pt x="1887855" y="612829"/>
                  <a:pt x="1894840" y="631881"/>
                </a:cubicBezTo>
                <a:lnTo>
                  <a:pt x="62230" y="631881"/>
                </a:lnTo>
                <a:cubicBezTo>
                  <a:pt x="69850" y="610924"/>
                  <a:pt x="78105" y="587427"/>
                  <a:pt x="86995" y="570280"/>
                </a:cubicBezTo>
                <a:close/>
                <a:moveTo>
                  <a:pt x="140335" y="471846"/>
                </a:moveTo>
                <a:lnTo>
                  <a:pt x="1818640" y="471846"/>
                </a:lnTo>
                <a:cubicBezTo>
                  <a:pt x="1821815" y="477562"/>
                  <a:pt x="1825625" y="485183"/>
                  <a:pt x="1828165" y="488993"/>
                </a:cubicBezTo>
                <a:cubicBezTo>
                  <a:pt x="1835785" y="503599"/>
                  <a:pt x="1845310" y="520746"/>
                  <a:pt x="1851025" y="534082"/>
                </a:cubicBezTo>
                <a:lnTo>
                  <a:pt x="105410" y="534082"/>
                </a:lnTo>
                <a:cubicBezTo>
                  <a:pt x="111125" y="523921"/>
                  <a:pt x="118110" y="511220"/>
                  <a:pt x="123190" y="502964"/>
                </a:cubicBezTo>
                <a:cubicBezTo>
                  <a:pt x="128905" y="492803"/>
                  <a:pt x="135255" y="480737"/>
                  <a:pt x="140335" y="471846"/>
                </a:cubicBezTo>
                <a:close/>
                <a:moveTo>
                  <a:pt x="207010" y="377223"/>
                </a:moveTo>
                <a:lnTo>
                  <a:pt x="1751330" y="377223"/>
                </a:lnTo>
                <a:cubicBezTo>
                  <a:pt x="1766570" y="396275"/>
                  <a:pt x="1783080" y="419137"/>
                  <a:pt x="1795145" y="438189"/>
                </a:cubicBezTo>
                <a:lnTo>
                  <a:pt x="163195" y="438189"/>
                </a:lnTo>
                <a:cubicBezTo>
                  <a:pt x="175895" y="417232"/>
                  <a:pt x="193040" y="394370"/>
                  <a:pt x="207010" y="377223"/>
                </a:cubicBezTo>
                <a:close/>
                <a:moveTo>
                  <a:pt x="292100" y="281330"/>
                </a:moveTo>
                <a:lnTo>
                  <a:pt x="1664970" y="281330"/>
                </a:lnTo>
                <a:cubicBezTo>
                  <a:pt x="1683385" y="299746"/>
                  <a:pt x="1704975" y="321338"/>
                  <a:pt x="1722120" y="340390"/>
                </a:cubicBezTo>
                <a:lnTo>
                  <a:pt x="234315" y="340390"/>
                </a:lnTo>
                <a:cubicBezTo>
                  <a:pt x="251460" y="319433"/>
                  <a:pt x="273050" y="298476"/>
                  <a:pt x="292100" y="281330"/>
                </a:cubicBezTo>
                <a:close/>
                <a:moveTo>
                  <a:pt x="405765" y="183531"/>
                </a:moveTo>
                <a:lnTo>
                  <a:pt x="1550670" y="183531"/>
                </a:lnTo>
                <a:cubicBezTo>
                  <a:pt x="1577340" y="202583"/>
                  <a:pt x="1605280" y="226080"/>
                  <a:pt x="1627505" y="245132"/>
                </a:cubicBezTo>
                <a:lnTo>
                  <a:pt x="330835" y="245132"/>
                </a:lnTo>
                <a:cubicBezTo>
                  <a:pt x="353060" y="224175"/>
                  <a:pt x="382905" y="200678"/>
                  <a:pt x="405765" y="183531"/>
                </a:cubicBezTo>
                <a:close/>
                <a:moveTo>
                  <a:pt x="572770" y="88273"/>
                </a:moveTo>
                <a:lnTo>
                  <a:pt x="1384300" y="88273"/>
                </a:lnTo>
                <a:cubicBezTo>
                  <a:pt x="1423670" y="105419"/>
                  <a:pt x="1464310" y="127011"/>
                  <a:pt x="1497330" y="147333"/>
                </a:cubicBezTo>
                <a:lnTo>
                  <a:pt x="459740" y="147333"/>
                </a:lnTo>
                <a:cubicBezTo>
                  <a:pt x="495300" y="125106"/>
                  <a:pt x="537845" y="104149"/>
                  <a:pt x="572770" y="88273"/>
                </a:cubicBezTo>
                <a:close/>
                <a:moveTo>
                  <a:pt x="977900" y="0"/>
                </a:moveTo>
                <a:cubicBezTo>
                  <a:pt x="1087120" y="-1270"/>
                  <a:pt x="1203325" y="19687"/>
                  <a:pt x="1293495" y="51440"/>
                </a:cubicBezTo>
                <a:lnTo>
                  <a:pt x="661670" y="51440"/>
                </a:lnTo>
                <a:cubicBezTo>
                  <a:pt x="759460" y="16511"/>
                  <a:pt x="878840" y="-635"/>
                  <a:pt x="977900" y="0"/>
                </a:cubicBezTo>
                <a:close/>
              </a:path>
            </a:pathLst>
          </a:custGeom>
          <a:gradFill flip="none" rotWithShape="1">
            <a:gsLst>
              <a:gs pos="0">
                <a:srgbClr val="00B0F0">
                  <a:alpha val="34000"/>
                </a:srgbClr>
              </a:gs>
              <a:gs pos="76000">
                <a:srgbClr val="00B0F0">
                  <a:alpha val="3000"/>
                </a:srgbClr>
              </a:gs>
              <a:gs pos="100000">
                <a:srgbClr val="00B0F0">
                  <a:alpha val="3000"/>
                </a:srgbClr>
              </a:gs>
            </a:gsLst>
            <a:lin ang="13500000" scaled="1"/>
          </a:gradFill>
          <a:ln/>
        </p:spPr>
      </p:sp>
      <p:sp>
        <p:nvSpPr>
          <p:cNvPr id="10" name="Text 7"/>
          <p:cNvSpPr/>
          <p:nvPr/>
        </p:nvSpPr>
        <p:spPr>
          <a:xfrm rot="15060000">
            <a:off x="10623533" y="4245026"/>
            <a:ext cx="1958340" cy="1694329"/>
          </a:xfrm>
          <a:prstGeom prst="rect">
            <a:avLst/>
          </a:prstGeom>
          <a:noFill/>
          <a:ln/>
        </p:spPr>
        <p:txBody>
          <a:bodyPr wrap="square" lIns="45720" tIns="91440" rIns="91440" bIns="45720" rtlCol="0" anchor="t"/>
          <a:lstStyle/>
          <a:p>
            <a:pPr>
              <a:lnSpc>
                <a:spcPct val="100000"/>
              </a:lnSpc>
            </a:pPr>
            <a:endParaRPr lang="en-US" sz="1600" dirty="0"/>
          </a:p>
        </p:txBody>
      </p:sp>
      <p:sp>
        <p:nvSpPr>
          <p:cNvPr id="11" name="Shape 8"/>
          <p:cNvSpPr/>
          <p:nvPr/>
        </p:nvSpPr>
        <p:spPr>
          <a:xfrm rot="6540000">
            <a:off x="10932795" y="1224280"/>
            <a:ext cx="464185" cy="464185"/>
          </a:xfrm>
          <a:prstGeom prst="ellipse">
            <a:avLst/>
          </a:prstGeom>
          <a:gradFill flip="none" rotWithShape="1">
            <a:gsLst>
              <a:gs pos="0">
                <a:srgbClr val="00B0F0">
                  <a:alpha val="34000"/>
                </a:srgbClr>
              </a:gs>
              <a:gs pos="76000">
                <a:srgbClr val="00B0F0">
                  <a:alpha val="3000"/>
                </a:srgbClr>
              </a:gs>
              <a:gs pos="100000">
                <a:srgbClr val="00B0F0">
                  <a:alpha val="3000"/>
                </a:srgbClr>
              </a:gs>
            </a:gsLst>
            <a:lin ang="0" scaled="1"/>
          </a:gradFill>
          <a:ln/>
        </p:spPr>
      </p:sp>
      <p:sp>
        <p:nvSpPr>
          <p:cNvPr id="12" name="Text 9"/>
          <p:cNvSpPr/>
          <p:nvPr/>
        </p:nvSpPr>
        <p:spPr>
          <a:xfrm rot="6540000">
            <a:off x="10932795" y="1224280"/>
            <a:ext cx="464185" cy="464185"/>
          </a:xfrm>
          <a:prstGeom prst="rect">
            <a:avLst/>
          </a:prstGeom>
          <a:noFill/>
          <a:ln/>
        </p:spPr>
        <p:txBody>
          <a:bodyPr wrap="square" lIns="45720" tIns="91440" rIns="91440" bIns="45720" rtlCol="0" anchor="t"/>
          <a:lstStyle/>
          <a:p>
            <a:pPr>
              <a:lnSpc>
                <a:spcPct val="100000"/>
              </a:lnSpc>
            </a:pPr>
            <a:endParaRPr lang="en-US" sz="1600" dirty="0"/>
          </a:p>
        </p:txBody>
      </p:sp>
      <p:sp>
        <p:nvSpPr>
          <p:cNvPr id="13" name="Shape 10"/>
          <p:cNvSpPr/>
          <p:nvPr/>
        </p:nvSpPr>
        <p:spPr>
          <a:xfrm>
            <a:off x="629920" y="1517650"/>
            <a:ext cx="91440" cy="1432560"/>
          </a:xfrm>
          <a:prstGeom prst="rect">
            <a:avLst/>
          </a:prstGeom>
          <a:solidFill>
            <a:srgbClr val="004CC0"/>
          </a:solidFill>
          <a:ln/>
        </p:spPr>
      </p:sp>
      <p:sp>
        <p:nvSpPr>
          <p:cNvPr id="14" name="Text 11"/>
          <p:cNvSpPr/>
          <p:nvPr/>
        </p:nvSpPr>
        <p:spPr>
          <a:xfrm>
            <a:off x="629920" y="1517650"/>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2"/>
          <p:cNvSpPr/>
          <p:nvPr/>
        </p:nvSpPr>
        <p:spPr>
          <a:xfrm>
            <a:off x="756920" y="1517650"/>
            <a:ext cx="9063990" cy="1432560"/>
          </a:xfrm>
          <a:prstGeom prst="rect">
            <a:avLst/>
          </a:prstGeom>
          <a:solidFill>
            <a:srgbClr val="FFFFFF"/>
          </a:solidFill>
          <a:ln w="19050">
            <a:solidFill>
              <a:srgbClr val="004CC0"/>
            </a:solidFill>
            <a:prstDash val="solid"/>
          </a:ln>
        </p:spPr>
      </p:sp>
      <p:sp>
        <p:nvSpPr>
          <p:cNvPr id="16" name="Text 13"/>
          <p:cNvSpPr/>
          <p:nvPr/>
        </p:nvSpPr>
        <p:spPr>
          <a:xfrm>
            <a:off x="756920" y="1517650"/>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4"/>
          <p:cNvSpPr/>
          <p:nvPr/>
        </p:nvSpPr>
        <p:spPr>
          <a:xfrm flipH="1" flipV="1">
            <a:off x="9592310" y="1517650"/>
            <a:ext cx="228600" cy="228600"/>
          </a:xfrm>
          <a:prstGeom prst="rtTriangle">
            <a:avLst/>
          </a:prstGeom>
          <a:solidFill>
            <a:srgbClr val="004CC0"/>
          </a:solidFill>
          <a:ln/>
        </p:spPr>
      </p:sp>
      <p:sp>
        <p:nvSpPr>
          <p:cNvPr id="18" name="Text 15"/>
          <p:cNvSpPr/>
          <p:nvPr/>
        </p:nvSpPr>
        <p:spPr>
          <a:xfrm>
            <a:off x="9592310" y="1517650"/>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6"/>
          <p:cNvSpPr/>
          <p:nvPr/>
        </p:nvSpPr>
        <p:spPr>
          <a:xfrm>
            <a:off x="629920" y="3169285"/>
            <a:ext cx="91440" cy="1432560"/>
          </a:xfrm>
          <a:prstGeom prst="rect">
            <a:avLst/>
          </a:prstGeom>
          <a:solidFill>
            <a:srgbClr val="004CC0"/>
          </a:solidFill>
          <a:ln/>
        </p:spPr>
      </p:sp>
      <p:sp>
        <p:nvSpPr>
          <p:cNvPr id="20" name="Text 17"/>
          <p:cNvSpPr/>
          <p:nvPr/>
        </p:nvSpPr>
        <p:spPr>
          <a:xfrm>
            <a:off x="629920" y="3169285"/>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a:off x="756920" y="3169285"/>
            <a:ext cx="9063990" cy="1432560"/>
          </a:xfrm>
          <a:prstGeom prst="rect">
            <a:avLst/>
          </a:prstGeom>
          <a:solidFill>
            <a:srgbClr val="FFFFFF"/>
          </a:solidFill>
          <a:ln w="19050">
            <a:solidFill>
              <a:srgbClr val="004CC0"/>
            </a:solidFill>
            <a:prstDash val="solid"/>
          </a:ln>
        </p:spPr>
      </p:sp>
      <p:sp>
        <p:nvSpPr>
          <p:cNvPr id="22" name="Text 19"/>
          <p:cNvSpPr/>
          <p:nvPr/>
        </p:nvSpPr>
        <p:spPr>
          <a:xfrm>
            <a:off x="756920" y="3169285"/>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0"/>
          <p:cNvSpPr/>
          <p:nvPr/>
        </p:nvSpPr>
        <p:spPr>
          <a:xfrm flipH="1" flipV="1">
            <a:off x="9592310" y="3169285"/>
            <a:ext cx="228600" cy="228600"/>
          </a:xfrm>
          <a:prstGeom prst="rtTriangle">
            <a:avLst/>
          </a:prstGeom>
          <a:solidFill>
            <a:srgbClr val="004CC0"/>
          </a:solidFill>
          <a:ln/>
        </p:spPr>
      </p:sp>
      <p:sp>
        <p:nvSpPr>
          <p:cNvPr id="24" name="Text 21"/>
          <p:cNvSpPr/>
          <p:nvPr/>
        </p:nvSpPr>
        <p:spPr>
          <a:xfrm>
            <a:off x="9592310" y="3169285"/>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2"/>
          <p:cNvSpPr/>
          <p:nvPr/>
        </p:nvSpPr>
        <p:spPr>
          <a:xfrm>
            <a:off x="629920" y="4820920"/>
            <a:ext cx="91440" cy="1432560"/>
          </a:xfrm>
          <a:prstGeom prst="rect">
            <a:avLst/>
          </a:prstGeom>
          <a:solidFill>
            <a:srgbClr val="004CC0"/>
          </a:solidFill>
          <a:ln/>
        </p:spPr>
      </p:sp>
      <p:sp>
        <p:nvSpPr>
          <p:cNvPr id="26" name="Text 23"/>
          <p:cNvSpPr/>
          <p:nvPr/>
        </p:nvSpPr>
        <p:spPr>
          <a:xfrm>
            <a:off x="629920" y="4820920"/>
            <a:ext cx="9144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4"/>
          <p:cNvSpPr/>
          <p:nvPr/>
        </p:nvSpPr>
        <p:spPr>
          <a:xfrm>
            <a:off x="756920" y="4820920"/>
            <a:ext cx="9063990" cy="1432560"/>
          </a:xfrm>
          <a:prstGeom prst="rect">
            <a:avLst/>
          </a:prstGeom>
          <a:solidFill>
            <a:srgbClr val="FFFFFF"/>
          </a:solidFill>
          <a:ln w="19050">
            <a:solidFill>
              <a:srgbClr val="004CC0"/>
            </a:solidFill>
            <a:prstDash val="solid"/>
          </a:ln>
        </p:spPr>
      </p:sp>
      <p:sp>
        <p:nvSpPr>
          <p:cNvPr id="28" name="Text 25"/>
          <p:cNvSpPr/>
          <p:nvPr/>
        </p:nvSpPr>
        <p:spPr>
          <a:xfrm>
            <a:off x="756920" y="4820920"/>
            <a:ext cx="9063990" cy="143256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6"/>
          <p:cNvSpPr/>
          <p:nvPr/>
        </p:nvSpPr>
        <p:spPr>
          <a:xfrm flipH="1" flipV="1">
            <a:off x="9592310" y="4820920"/>
            <a:ext cx="228600" cy="228600"/>
          </a:xfrm>
          <a:prstGeom prst="rtTriangle">
            <a:avLst/>
          </a:prstGeom>
          <a:solidFill>
            <a:srgbClr val="004CC0"/>
          </a:solidFill>
          <a:ln/>
        </p:spPr>
      </p:sp>
      <p:sp>
        <p:nvSpPr>
          <p:cNvPr id="30" name="Text 27"/>
          <p:cNvSpPr/>
          <p:nvPr/>
        </p:nvSpPr>
        <p:spPr>
          <a:xfrm>
            <a:off x="9592310" y="4820920"/>
            <a:ext cx="228600" cy="228600"/>
          </a:xfrm>
          <a:prstGeom prst="rect">
            <a:avLst/>
          </a:prstGeom>
          <a:noFill/>
          <a:ln/>
        </p:spPr>
        <p:txBody>
          <a:bodyPr wrap="square" lIns="45720" tIns="91440" rIns="91440" bIns="45720" rtlCol="0" anchor="ctr"/>
          <a:lstStyle/>
          <a:p>
            <a:pPr>
              <a:lnSpc>
                <a:spcPct val="100000"/>
              </a:lnSpc>
            </a:pPr>
            <a:endParaRPr lang="en-US" sz="1600" dirty="0"/>
          </a:p>
        </p:txBody>
      </p:sp>
      <p:sp>
        <p:nvSpPr>
          <p:cNvPr id="31" name="Text 28"/>
          <p:cNvSpPr/>
          <p:nvPr/>
        </p:nvSpPr>
        <p:spPr>
          <a:xfrm>
            <a:off x="629920" y="547409"/>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02-Technical </a:t>
            </a:r>
            <a:r>
              <a:rPr lang="en-US" sz="3000" b="1" dirty="0">
                <a:solidFill>
                  <a:srgbClr val="000000"/>
                </a:solidFill>
                <a:latin typeface="MiSans" pitchFamily="34" charset="0"/>
                <a:ea typeface="MiSans" pitchFamily="34" charset="-122"/>
                <a:cs typeface="MiSans" pitchFamily="34" charset="-120"/>
              </a:rPr>
              <a:t>Challenges</a:t>
            </a:r>
            <a:endParaRPr lang="en-US" sz="1600" dirty="0"/>
          </a:p>
        </p:txBody>
      </p:sp>
      <p:sp>
        <p:nvSpPr>
          <p:cNvPr id="32" name="Text 29"/>
          <p:cNvSpPr/>
          <p:nvPr/>
        </p:nvSpPr>
        <p:spPr>
          <a:xfrm>
            <a:off x="843915" y="1572419"/>
            <a:ext cx="6934200" cy="369332"/>
          </a:xfrm>
          <a:prstGeom prst="rect">
            <a:avLst/>
          </a:prstGeom>
          <a:noFill/>
          <a:ln/>
        </p:spPr>
        <p:txBody>
          <a:bodyPr wrap="square" lIns="91440" tIns="45720" rIns="91440" bIns="45720" rtlCol="0" anchor="ctr">
            <a:spAutoFit/>
          </a:bodyPr>
          <a:lstStyle/>
          <a:p>
            <a:pPr algn="just">
              <a:lnSpc>
                <a:spcPct val="100000"/>
              </a:lnSpc>
            </a:pPr>
            <a:r>
              <a:rPr lang="en-US" sz="1800">
                <a:solidFill>
                  <a:srgbClr val="1D3EBF"/>
                </a:solidFill>
                <a:latin typeface="MiSans" pitchFamily="34" charset="0"/>
                <a:ea typeface="MiSans" pitchFamily="34" charset="-122"/>
                <a:cs typeface="MiSans" pitchFamily="34" charset="-120"/>
              </a:rPr>
              <a:t>K</a:t>
            </a:r>
            <a:r>
              <a:rPr lang="en-US" altLang="zh-CN" sz="1800">
                <a:solidFill>
                  <a:srgbClr val="1D3EBF"/>
                </a:solidFill>
                <a:latin typeface="MiSans" pitchFamily="34" charset="0"/>
                <a:ea typeface="MiSans" pitchFamily="34" charset="-122"/>
                <a:cs typeface="MiSans" pitchFamily="34" charset="-120"/>
              </a:rPr>
              <a:t>ey information extraction</a:t>
            </a:r>
            <a:endParaRPr lang="en-US" sz="1600" dirty="0"/>
          </a:p>
        </p:txBody>
      </p:sp>
      <p:sp>
        <p:nvSpPr>
          <p:cNvPr id="33" name="Text 30"/>
          <p:cNvSpPr/>
          <p:nvPr/>
        </p:nvSpPr>
        <p:spPr>
          <a:xfrm>
            <a:off x="895985" y="1991360"/>
            <a:ext cx="8798560" cy="629852"/>
          </a:xfrm>
          <a:prstGeom prst="rect">
            <a:avLst/>
          </a:prstGeom>
          <a:noFill/>
          <a:ln/>
        </p:spPr>
        <p:txBody>
          <a:bodyPr wrap="square" lIns="91440" tIns="45720" rIns="91440" bIns="45720" rtlCol="0" anchor="t">
            <a:spAutoFit/>
          </a:bodyPr>
          <a:lstStyle/>
          <a:p>
            <a:pPr algn="just">
              <a:lnSpc>
                <a:spcPct val="130000"/>
              </a:lnSpc>
            </a:pPr>
            <a:r>
              <a:rPr lang="en-US" sz="1400">
                <a:solidFill>
                  <a:srgbClr val="000000"/>
                </a:solidFill>
                <a:latin typeface="MiSans" pitchFamily="34" charset="0"/>
                <a:ea typeface="MiSans" pitchFamily="34" charset="-122"/>
                <a:cs typeface="MiSans" pitchFamily="34" charset="-120"/>
              </a:rPr>
              <a:t>Implement advanced NLP techniques to accurately identify and extract essential log patterns and parameters from raw data, eliminating noise while preserving meaningful semantic information for precise analysis.</a:t>
            </a:r>
            <a:endParaRPr lang="en-US" sz="1600" dirty="0"/>
          </a:p>
        </p:txBody>
      </p:sp>
      <p:sp>
        <p:nvSpPr>
          <p:cNvPr id="34" name="Text 31"/>
          <p:cNvSpPr/>
          <p:nvPr/>
        </p:nvSpPr>
        <p:spPr>
          <a:xfrm>
            <a:off x="843915" y="3224054"/>
            <a:ext cx="6934200" cy="369332"/>
          </a:xfrm>
          <a:prstGeom prst="rect">
            <a:avLst/>
          </a:prstGeom>
          <a:noFill/>
          <a:ln/>
        </p:spPr>
        <p:txBody>
          <a:bodyPr wrap="square" lIns="91440" tIns="45720" rIns="91440" bIns="45720" rtlCol="0" anchor="ctr">
            <a:spAutoFit/>
          </a:bodyPr>
          <a:lstStyle/>
          <a:p>
            <a:pPr algn="just">
              <a:lnSpc>
                <a:spcPct val="100000"/>
              </a:lnSpc>
            </a:pPr>
            <a:r>
              <a:rPr lang="en-US" altLang="zh-CN">
                <a:solidFill>
                  <a:srgbClr val="1D3EBF"/>
                </a:solidFill>
                <a:latin typeface="MiSans" pitchFamily="34" charset="0"/>
                <a:ea typeface="MiSans" pitchFamily="34" charset="-122"/>
                <a:cs typeface="MiSans" pitchFamily="34" charset="-120"/>
              </a:rPr>
              <a:t>P</a:t>
            </a:r>
            <a:r>
              <a:rPr lang="en-US" altLang="zh-CN" sz="1800">
                <a:solidFill>
                  <a:srgbClr val="1D3EBF"/>
                </a:solidFill>
                <a:latin typeface="MiSans" pitchFamily="34" charset="0"/>
                <a:ea typeface="MiSans" pitchFamily="34" charset="-122"/>
                <a:cs typeface="MiSans" pitchFamily="34" charset="-120"/>
              </a:rPr>
              <a:t>riority Ranking</a:t>
            </a:r>
            <a:endParaRPr lang="en-US" sz="1600" dirty="0"/>
          </a:p>
        </p:txBody>
      </p:sp>
      <p:sp>
        <p:nvSpPr>
          <p:cNvPr id="35" name="Text 32"/>
          <p:cNvSpPr/>
          <p:nvPr/>
        </p:nvSpPr>
        <p:spPr>
          <a:xfrm>
            <a:off x="895985" y="3642995"/>
            <a:ext cx="8798560" cy="629852"/>
          </a:xfrm>
          <a:prstGeom prst="rect">
            <a:avLst/>
          </a:prstGeom>
          <a:noFill/>
          <a:ln/>
        </p:spPr>
        <p:txBody>
          <a:bodyPr wrap="square" lIns="91440" tIns="45720" rIns="91440" bIns="45720" rtlCol="0" anchor="t">
            <a:spAutoFit/>
          </a:bodyPr>
          <a:lstStyle/>
          <a:p>
            <a:pPr algn="just">
              <a:lnSpc>
                <a:spcPct val="130000"/>
              </a:lnSpc>
            </a:pPr>
            <a:r>
              <a:rPr lang="en-US" sz="1400">
                <a:solidFill>
                  <a:srgbClr val="000000"/>
                </a:solidFill>
                <a:latin typeface="MiSans" pitchFamily="34" charset="0"/>
                <a:ea typeface="MiSans" pitchFamily="34" charset="-122"/>
                <a:cs typeface="MiSans" pitchFamily="34" charset="-120"/>
              </a:rPr>
              <a:t>Develop intelligent algorithms to automatically classify and rank detected anomalies by severity and urgency, enabling developers to focus on critical issues first and optimize troubleshooting efficiency.</a:t>
            </a:r>
            <a:endParaRPr lang="en-US" sz="1600" dirty="0"/>
          </a:p>
        </p:txBody>
      </p:sp>
      <p:sp>
        <p:nvSpPr>
          <p:cNvPr id="36" name="Text 33"/>
          <p:cNvSpPr/>
          <p:nvPr/>
        </p:nvSpPr>
        <p:spPr>
          <a:xfrm>
            <a:off x="843915" y="4918075"/>
            <a:ext cx="6934200" cy="284559"/>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1D3EBF"/>
                </a:solidFill>
                <a:latin typeface="MiSans" pitchFamily="34" charset="0"/>
                <a:ea typeface="MiSans" pitchFamily="34" charset="-122"/>
                <a:cs typeface="MiSans" pitchFamily="34" charset="-120"/>
              </a:rPr>
              <a:t>VS Code Integration</a:t>
            </a:r>
            <a:endParaRPr lang="en-US" sz="1600" dirty="0"/>
          </a:p>
        </p:txBody>
      </p:sp>
      <p:sp>
        <p:nvSpPr>
          <p:cNvPr id="37" name="Text 34"/>
          <p:cNvSpPr/>
          <p:nvPr/>
        </p:nvSpPr>
        <p:spPr>
          <a:xfrm>
            <a:off x="895985" y="5294630"/>
            <a:ext cx="8798560" cy="629852"/>
          </a:xfrm>
          <a:prstGeom prst="rect">
            <a:avLst/>
          </a:prstGeom>
          <a:noFill/>
          <a:ln/>
        </p:spPr>
        <p:txBody>
          <a:bodyPr wrap="square" lIns="91440" tIns="45720" rIns="91440" bIns="45720" rtlCol="0" anchor="t">
            <a:spAutoFit/>
          </a:bodyPr>
          <a:lstStyle/>
          <a:p>
            <a:pPr algn="just">
              <a:lnSpc>
                <a:spcPct val="130000"/>
              </a:lnSpc>
            </a:pPr>
            <a:r>
              <a:rPr lang="en-US" sz="1400">
                <a:solidFill>
                  <a:srgbClr val="000000"/>
                </a:solidFill>
                <a:latin typeface="MiSans" pitchFamily="34" charset="0"/>
                <a:ea typeface="MiSans" pitchFamily="34" charset="-122"/>
                <a:cs typeface="MiSans" pitchFamily="34" charset="-120"/>
              </a:rPr>
              <a:t>Seamlessly embed the anomaly detection engine into VS Code's extension ecosystem, ensuring real-time log monitoring, native UI components, and uninterrupted performance within the developer's existing workflow.</a:t>
            </a:r>
            <a:endParaRPr lang="en-US" sz="1600" dirty="0"/>
          </a:p>
        </p:txBody>
      </p:sp>
    </p:spTree>
  </p:cSld>
  <p:clrMapOvr>
    <a:masterClrMapping/>
  </p:clrMapOvr>
  <p:transition>
    <p:fade/>
  </p:transition>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756C-EE1D-5A96-F79C-00D860A0D8D8}"/>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ACDCED27-C7E7-9D11-B530-55622E9ED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5427" y="78039"/>
            <a:ext cx="7787742" cy="6284617"/>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C4D2164C-4176-B3FA-6901-C26BF34A92D5}"/>
              </a:ext>
            </a:extLst>
          </p:cNvPr>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pic>
        <p:nvPicPr>
          <p:cNvPr id="3" name="Image 0" descr="https://kimi-img.moonshot.cn/pub/slides/slides_tmpl/image/25-10-09-17:19:39-d3jnsaos8jdo4os5dltg.svg">
            <a:extLst>
              <a:ext uri="{FF2B5EF4-FFF2-40B4-BE49-F238E27FC236}">
                <a16:creationId xmlns:a16="http://schemas.microsoft.com/office/drawing/2014/main" id="{ACBC0A53-39E4-9A79-EE3C-4662E53A26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6000115"/>
            <a:ext cx="12191365" cy="857885"/>
          </a:xfrm>
          <a:prstGeom prst="rect">
            <a:avLst/>
          </a:prstGeom>
        </p:spPr>
      </p:pic>
      <p:sp>
        <p:nvSpPr>
          <p:cNvPr id="4" name="Shape 1">
            <a:extLst>
              <a:ext uri="{FF2B5EF4-FFF2-40B4-BE49-F238E27FC236}">
                <a16:creationId xmlns:a16="http://schemas.microsoft.com/office/drawing/2014/main" id="{F4011A65-8B90-E62B-3E52-506E299A9F31}"/>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5" name="Shape 2">
            <a:extLst>
              <a:ext uri="{FF2B5EF4-FFF2-40B4-BE49-F238E27FC236}">
                <a16:creationId xmlns:a16="http://schemas.microsoft.com/office/drawing/2014/main" id="{A59F490D-0005-0BFE-CBD7-72F75E768797}"/>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6" name="Shape 3">
            <a:extLst>
              <a:ext uri="{FF2B5EF4-FFF2-40B4-BE49-F238E27FC236}">
                <a16:creationId xmlns:a16="http://schemas.microsoft.com/office/drawing/2014/main" id="{796F6D11-CFEC-6C82-10C6-21BFA4C9DD33}"/>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9" name="Text 8">
            <a:extLst>
              <a:ext uri="{FF2B5EF4-FFF2-40B4-BE49-F238E27FC236}">
                <a16:creationId xmlns:a16="http://schemas.microsoft.com/office/drawing/2014/main" id="{84BB47BA-3A0C-CE4F-595E-07D7BEC548E5}"/>
              </a:ext>
            </a:extLst>
          </p:cNvPr>
          <p:cNvSpPr/>
          <p:nvPr/>
        </p:nvSpPr>
        <p:spPr>
          <a:xfrm>
            <a:off x="258831" y="326066"/>
            <a:ext cx="10151745" cy="1015663"/>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 System Architecture </a:t>
            </a:r>
          </a:p>
          <a:p>
            <a:pPr>
              <a:lnSpc>
                <a:spcPct val="100000"/>
              </a:lnSpc>
            </a:pPr>
            <a:r>
              <a:rPr lang="en-US" sz="3000" b="1">
                <a:solidFill>
                  <a:srgbClr val="000000"/>
                </a:solidFill>
                <a:latin typeface="MiSans" pitchFamily="34" charset="0"/>
                <a:ea typeface="MiSans" pitchFamily="34" charset="-122"/>
                <a:cs typeface="MiSans" pitchFamily="34" charset="-120"/>
              </a:rPr>
              <a:t>Diagram</a:t>
            </a:r>
            <a:endParaRPr lang="en-US" sz="1600" dirty="0"/>
          </a:p>
        </p:txBody>
      </p:sp>
      <p:sp>
        <p:nvSpPr>
          <p:cNvPr id="7" name="Text 32">
            <a:extLst>
              <a:ext uri="{FF2B5EF4-FFF2-40B4-BE49-F238E27FC236}">
                <a16:creationId xmlns:a16="http://schemas.microsoft.com/office/drawing/2014/main" id="{C116ED7D-9497-B3C3-9643-F3B00CFC09D7}"/>
              </a:ext>
            </a:extLst>
          </p:cNvPr>
          <p:cNvSpPr/>
          <p:nvPr/>
        </p:nvSpPr>
        <p:spPr>
          <a:xfrm>
            <a:off x="332356" y="1869426"/>
            <a:ext cx="3284334" cy="3990772"/>
          </a:xfrm>
          <a:prstGeom prst="rect">
            <a:avLst/>
          </a:prstGeom>
          <a:noFill/>
          <a:ln/>
        </p:spPr>
        <p:txBody>
          <a:bodyPr wrap="square" lIns="91440" tIns="45720" rIns="91440" bIns="45720" rtlCol="0" anchor="t">
            <a:spAutoFit/>
          </a:bodyPr>
          <a:lstStyle/>
          <a:p>
            <a:pPr algn="just" eaLnBrk="0" latinLnBrk="1">
              <a:lnSpc>
                <a:spcPct val="130000"/>
              </a:lnSpc>
            </a:pPr>
            <a:r>
              <a:rPr lang="en-US" sz="1400">
                <a:solidFill>
                  <a:srgbClr val="000000"/>
                </a:solidFill>
                <a:latin typeface="MiSans" pitchFamily="34" charset="0"/>
                <a:ea typeface="MiSans" pitchFamily="34" charset="-122"/>
                <a:cs typeface="MiSans" pitchFamily="34" charset="-120"/>
              </a:rPr>
              <a:t>This figure illustrates the system architecture of the VS Code plugin for anomaly log parsing based on LogLLM, which consists of three core components: left-side External Services (LLM APIs, Log Processing Server), middle VS Code Plugin System backend (Node.js-based for core logic/communication), and right front-end WebView .</a:t>
            </a:r>
          </a:p>
          <a:p>
            <a:pPr algn="just" eaLnBrk="0" latinLnBrk="1">
              <a:lnSpc>
                <a:spcPct val="130000"/>
              </a:lnSpc>
            </a:pPr>
            <a:r>
              <a:rPr lang="en-US" sz="1400">
                <a:solidFill>
                  <a:srgbClr val="000000"/>
                </a:solidFill>
                <a:latin typeface="MiSans" pitchFamily="34" charset="0"/>
                <a:ea typeface="MiSans" pitchFamily="34" charset="-122"/>
                <a:cs typeface="MiSans" pitchFamily="34" charset="-120"/>
              </a:rPr>
              <a:t>A clear data flow links user requests, the log processing/anomaly detection pipeline (BERT+Projector+Llama model architecture), and result presentation, creating an efficient, secure IDE-integrated log analysis solution.</a:t>
            </a:r>
            <a:endParaRPr lang="en-US" sz="1600" dirty="0"/>
          </a:p>
        </p:txBody>
      </p:sp>
    </p:spTree>
    <p:extLst>
      <p:ext uri="{BB962C8B-B14F-4D97-AF65-F5344CB8AC3E}">
        <p14:creationId xmlns:p14="http://schemas.microsoft.com/office/powerpoint/2010/main" val="15231788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flipH="1" flipV="1">
            <a:off x="6218738" y="1422400"/>
            <a:ext cx="5348515" cy="4749800"/>
          </a:xfrm>
          <a:prstGeom prst="round2DiagRect">
            <a:avLst/>
          </a:prstGeom>
          <a:solidFill>
            <a:schemeClr val="bg1"/>
          </a:solidFill>
          <a:ln w="19050">
            <a:solidFill>
              <a:srgbClr val="004CC0"/>
            </a:solidFill>
          </a:ln>
        </p:spPr>
        <p:txBody>
          <a:bodyPr/>
          <a:lstStyle/>
          <a:p>
            <a:endParaRPr lang="zh-CN" altLang="en-US"/>
          </a:p>
        </p:txBody>
      </p:sp>
      <p:sp>
        <p:nvSpPr>
          <p:cNvPr id="3" name="Text 1"/>
          <p:cNvSpPr/>
          <p:nvPr/>
        </p:nvSpPr>
        <p:spPr>
          <a:xfrm>
            <a:off x="617195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flipV="1">
            <a:off x="671527" y="1422400"/>
            <a:ext cx="5348515" cy="4749800"/>
          </a:xfrm>
          <a:prstGeom prst="round2DiagRect">
            <a:avLst/>
          </a:prstGeom>
          <a:solidFill>
            <a:srgbClr val="1D3EBF"/>
          </a:solidFill>
          <a:ln w="19050">
            <a:solidFill>
              <a:srgbClr val="004CC0"/>
            </a:solidFill>
            <a:prstDash val="solid"/>
          </a:ln>
        </p:spPr>
      </p:sp>
      <p:sp>
        <p:nvSpPr>
          <p:cNvPr id="5" name="Text 3"/>
          <p:cNvSpPr/>
          <p:nvPr/>
        </p:nvSpPr>
        <p:spPr>
          <a:xfrm>
            <a:off x="67152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1219835" y="584835"/>
            <a:ext cx="10151745" cy="338554"/>
          </a:xfrm>
          <a:prstGeom prst="rect">
            <a:avLst/>
          </a:prstGeom>
          <a:noFill/>
          <a:ln/>
        </p:spPr>
        <p:txBody>
          <a:bodyPr wrap="square" lIns="91440" tIns="45720" rIns="91440" bIns="45720" rtlCol="0" anchor="t">
            <a:spAutoFit/>
          </a:bodyPr>
          <a:lstStyle/>
          <a:p>
            <a:pPr>
              <a:lnSpc>
                <a:spcPct val="100000"/>
              </a:lnSpc>
            </a:pPr>
            <a:endParaRPr lang="en-US" sz="1600" dirty="0">
              <a:solidFill>
                <a:srgbClr val="C00000"/>
              </a:solidFill>
            </a:endParaRPr>
          </a:p>
        </p:txBody>
      </p:sp>
      <p:sp>
        <p:nvSpPr>
          <p:cNvPr id="7" name="Shape 5"/>
          <p:cNvSpPr/>
          <p:nvPr/>
        </p:nvSpPr>
        <p:spPr>
          <a:xfrm>
            <a:off x="11106785" y="693737"/>
            <a:ext cx="235520" cy="0"/>
          </a:xfrm>
          <a:prstGeom prst="line">
            <a:avLst/>
          </a:prstGeom>
          <a:noFill/>
          <a:ln w="31750">
            <a:solidFill>
              <a:srgbClr val="004CC0"/>
            </a:solidFill>
            <a:prstDash val="solid"/>
            <a:headEnd type="none"/>
            <a:tailEnd type="none"/>
          </a:ln>
        </p:spPr>
      </p:sp>
      <p:sp>
        <p:nvSpPr>
          <p:cNvPr id="8" name="Shape 6"/>
          <p:cNvSpPr/>
          <p:nvPr/>
        </p:nvSpPr>
        <p:spPr>
          <a:xfrm>
            <a:off x="11106785" y="754697"/>
            <a:ext cx="235520" cy="0"/>
          </a:xfrm>
          <a:prstGeom prst="line">
            <a:avLst/>
          </a:prstGeom>
          <a:noFill/>
          <a:ln w="31750">
            <a:solidFill>
              <a:srgbClr val="004CC0"/>
            </a:solidFill>
            <a:prstDash val="solid"/>
            <a:headEnd type="none"/>
            <a:tailEnd type="none"/>
          </a:ln>
        </p:spPr>
      </p:sp>
      <p:sp>
        <p:nvSpPr>
          <p:cNvPr id="9" name="Shape 7"/>
          <p:cNvSpPr/>
          <p:nvPr/>
        </p:nvSpPr>
        <p:spPr>
          <a:xfrm>
            <a:off x="11106785" y="815657"/>
            <a:ext cx="235520" cy="0"/>
          </a:xfrm>
          <a:prstGeom prst="line">
            <a:avLst/>
          </a:prstGeom>
          <a:noFill/>
          <a:ln w="31750">
            <a:solidFill>
              <a:srgbClr val="004CC0"/>
            </a:solidFill>
            <a:prstDash val="solid"/>
            <a:headEnd type="none"/>
            <a:tailEnd type="none"/>
          </a:ln>
        </p:spPr>
      </p:sp>
      <p:sp>
        <p:nvSpPr>
          <p:cNvPr id="10" name="Text 8"/>
          <p:cNvSpPr/>
          <p:nvPr/>
        </p:nvSpPr>
        <p:spPr>
          <a:xfrm>
            <a:off x="1044961" y="2148861"/>
            <a:ext cx="4285712" cy="523220"/>
          </a:xfrm>
          <a:prstGeom prst="rect">
            <a:avLst/>
          </a:prstGeom>
          <a:noFill/>
          <a:ln/>
        </p:spPr>
        <p:txBody>
          <a:bodyPr wrap="square" lIns="91440" tIns="45720" rIns="91440" bIns="45720" rtlCol="0" anchor="ctr">
            <a:spAutoFit/>
          </a:bodyPr>
          <a:lstStyle/>
          <a:p>
            <a:pPr algn="just">
              <a:lnSpc>
                <a:spcPct val="100000"/>
              </a:lnSpc>
            </a:pPr>
            <a:r>
              <a:rPr lang="en-US" sz="2800">
                <a:solidFill>
                  <a:schemeClr val="bg1"/>
                </a:solidFill>
                <a:latin typeface="MiSans" pitchFamily="34" charset="0"/>
                <a:ea typeface="MiSans" pitchFamily="34" charset="-122"/>
                <a:cs typeface="MiSans" pitchFamily="34" charset="-120"/>
              </a:rPr>
              <a:t>back</a:t>
            </a:r>
            <a:endParaRPr lang="en-US" sz="1600" dirty="0">
              <a:solidFill>
                <a:schemeClr val="bg1"/>
              </a:solidFill>
            </a:endParaRPr>
          </a:p>
        </p:txBody>
      </p:sp>
      <p:sp>
        <p:nvSpPr>
          <p:cNvPr id="11" name="Text 9"/>
          <p:cNvSpPr/>
          <p:nvPr/>
        </p:nvSpPr>
        <p:spPr>
          <a:xfrm>
            <a:off x="1080309" y="2894305"/>
            <a:ext cx="4215624" cy="2283702"/>
          </a:xfrm>
          <a:prstGeom prst="rect">
            <a:avLst/>
          </a:prstGeom>
          <a:noFill/>
          <a:ln/>
        </p:spPr>
        <p:txBody>
          <a:bodyPr wrap="square" lIns="91440" tIns="45720" rIns="91440" bIns="45720" rtlCol="0" anchor="t">
            <a:spAutoFit/>
          </a:bodyPr>
          <a:lstStyle/>
          <a:p>
            <a:pPr algn="just">
              <a:lnSpc>
                <a:spcPct val="120000"/>
              </a:lnSpc>
            </a:pPr>
            <a:r>
              <a:rPr lang="en-US" sz="2000">
                <a:solidFill>
                  <a:schemeClr val="bg1"/>
                </a:solidFill>
                <a:latin typeface="MiSans" pitchFamily="34" charset="0"/>
                <a:ea typeface="MiSans" pitchFamily="34" charset="-122"/>
                <a:cs typeface="MiSans" pitchFamily="34" charset="-120"/>
              </a:rPr>
              <a:t>The plugin's frontend is a Vue.js single-page application embedded in the VS Code WebView, sending and receiving messages via postMessage, and updating the UI through Pinia to achieve real-time interaction.</a:t>
            </a:r>
            <a:endParaRPr lang="en-US" sz="1600" dirty="0">
              <a:solidFill>
                <a:schemeClr val="bg1"/>
              </a:solidFill>
            </a:endParaRPr>
          </a:p>
        </p:txBody>
      </p:sp>
      <p:sp>
        <p:nvSpPr>
          <p:cNvPr id="12" name="Text 10"/>
          <p:cNvSpPr/>
          <p:nvPr/>
        </p:nvSpPr>
        <p:spPr>
          <a:xfrm>
            <a:off x="6612782" y="2087518"/>
            <a:ext cx="4285712" cy="523220"/>
          </a:xfrm>
          <a:prstGeom prst="rect">
            <a:avLst/>
          </a:prstGeom>
          <a:noFill/>
          <a:ln/>
        </p:spPr>
        <p:txBody>
          <a:bodyPr wrap="square" lIns="91440" tIns="45720" rIns="91440" bIns="45720" rtlCol="0" anchor="ctr">
            <a:spAutoFit/>
          </a:bodyPr>
          <a:lstStyle/>
          <a:p>
            <a:pPr algn="r">
              <a:lnSpc>
                <a:spcPct val="100000"/>
              </a:lnSpc>
            </a:pPr>
            <a:r>
              <a:rPr lang="en-US" sz="2800">
                <a:solidFill>
                  <a:srgbClr val="1D3EBF"/>
                </a:solidFill>
                <a:latin typeface="MiSans" pitchFamily="34" charset="0"/>
                <a:ea typeface="MiSans" pitchFamily="34" charset="-122"/>
                <a:cs typeface="MiSans" pitchFamily="34" charset="-120"/>
              </a:rPr>
              <a:t>front</a:t>
            </a:r>
          </a:p>
        </p:txBody>
      </p:sp>
      <p:sp>
        <p:nvSpPr>
          <p:cNvPr id="13" name="Text 11"/>
          <p:cNvSpPr/>
          <p:nvPr/>
        </p:nvSpPr>
        <p:spPr>
          <a:xfrm>
            <a:off x="6682870" y="2894305"/>
            <a:ext cx="4215624" cy="2653034"/>
          </a:xfrm>
          <a:prstGeom prst="rect">
            <a:avLst/>
          </a:prstGeom>
          <a:noFill/>
          <a:ln/>
        </p:spPr>
        <p:txBody>
          <a:bodyPr wrap="square" lIns="91440" tIns="45720" rIns="91440" bIns="45720" rtlCol="0" anchor="t">
            <a:spAutoFit/>
          </a:bodyPr>
          <a:lstStyle/>
          <a:p>
            <a:pPr algn="just">
              <a:lnSpc>
                <a:spcPct val="120000"/>
              </a:lnSpc>
            </a:pPr>
            <a:r>
              <a:rPr lang="en-US" sz="2000">
                <a:solidFill>
                  <a:srgbClr val="1D3EBF"/>
                </a:solidFill>
                <a:latin typeface="MiSans" pitchFamily="34" charset="0"/>
                <a:ea typeface="MiSans" pitchFamily="34" charset="-122"/>
                <a:cs typeface="MiSans" pitchFamily="34" charset="-120"/>
              </a:rPr>
              <a:t>The plugin's backend runs in the Node.js environment provided by VS Code, monitors frontend messages, processes core business logic, returns results via encapsulated interfaces, and ensures the security of sensitive information.</a:t>
            </a:r>
            <a:endParaRPr lang="en-US" sz="1600" dirty="0">
              <a:solidFill>
                <a:srgbClr val="1D3EBF"/>
              </a:solidFill>
            </a:endParaRPr>
          </a:p>
        </p:txBody>
      </p:sp>
      <p:sp>
        <p:nvSpPr>
          <p:cNvPr id="14" name="Text 17">
            <a:extLst>
              <a:ext uri="{FF2B5EF4-FFF2-40B4-BE49-F238E27FC236}">
                <a16:creationId xmlns:a16="http://schemas.microsoft.com/office/drawing/2014/main" id="{FE91244E-0915-A740-C8CF-B93A889D3B46}"/>
              </a:ext>
            </a:extLst>
          </p:cNvPr>
          <p:cNvSpPr/>
          <p:nvPr/>
        </p:nvSpPr>
        <p:spPr>
          <a:xfrm>
            <a:off x="671527" y="338614"/>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solidFill>
                  <a:srgbClr val="000000"/>
                </a:solidFill>
                <a:latin typeface="MiSans" pitchFamily="34" charset="0"/>
                <a:ea typeface="MiSans" pitchFamily="34" charset="-122"/>
                <a:cs typeface="MiSans" pitchFamily="34" charset="-120"/>
              </a:rPr>
              <a:t>02- </a:t>
            </a:r>
            <a:r>
              <a:rPr kumimoji="0" lang="en-US" altLang="zh-CN"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back &amp; front</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848360" y="6346190"/>
            <a:ext cx="163338" cy="153035"/>
          </a:xfrm>
          <a:prstGeom prst="rect">
            <a:avLst/>
          </a:prstGeom>
          <a:solidFill>
            <a:srgbClr val="004CC0"/>
          </a:solidFill>
          <a:ln/>
        </p:spPr>
      </p:sp>
      <p:sp>
        <p:nvSpPr>
          <p:cNvPr id="8" name="Text 6"/>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1122291" y="6346190"/>
            <a:ext cx="163338" cy="153035"/>
          </a:xfrm>
          <a:prstGeom prst="rect">
            <a:avLst/>
          </a:prstGeom>
          <a:solidFill>
            <a:srgbClr val="004CC0"/>
          </a:solidFill>
          <a:ln/>
        </p:spPr>
      </p:sp>
      <p:sp>
        <p:nvSpPr>
          <p:cNvPr id="10" name="Text 8"/>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9"/>
          <p:cNvSpPr/>
          <p:nvPr/>
        </p:nvSpPr>
        <p:spPr>
          <a:xfrm>
            <a:off x="1396222" y="6346190"/>
            <a:ext cx="163338" cy="153035"/>
          </a:xfrm>
          <a:prstGeom prst="rect">
            <a:avLst/>
          </a:prstGeom>
          <a:solidFill>
            <a:srgbClr val="004CC0"/>
          </a:solidFill>
          <a:ln/>
        </p:spPr>
      </p:sp>
      <p:sp>
        <p:nvSpPr>
          <p:cNvPr id="12" name="Text 10"/>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1"/>
          <p:cNvSpPr/>
          <p:nvPr/>
        </p:nvSpPr>
        <p:spPr>
          <a:xfrm>
            <a:off x="252467" y="1397000"/>
            <a:ext cx="5931163" cy="4222750"/>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14" name="Text 12"/>
          <p:cNvSpPr/>
          <p:nvPr/>
        </p:nvSpPr>
        <p:spPr>
          <a:xfrm>
            <a:off x="1101090" y="1397000"/>
            <a:ext cx="4817110" cy="40798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672465" y="4773295"/>
            <a:ext cx="1233170" cy="1233170"/>
          </a:xfrm>
          <a:prstGeom prst="ellipse">
            <a:avLst/>
          </a:prstGeom>
          <a:solidFill>
            <a:srgbClr val="FFFFFF">
              <a:alpha val="0"/>
            </a:srgbClr>
          </a:solidFill>
          <a:ln/>
        </p:spPr>
      </p:sp>
      <p:sp>
        <p:nvSpPr>
          <p:cNvPr id="16" name="Text 14"/>
          <p:cNvSpPr/>
          <p:nvPr/>
        </p:nvSpPr>
        <p:spPr>
          <a:xfrm>
            <a:off x="67246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5"/>
          <p:cNvSpPr/>
          <p:nvPr/>
        </p:nvSpPr>
        <p:spPr>
          <a:xfrm>
            <a:off x="365991" y="4972396"/>
            <a:ext cx="1008957" cy="1008957"/>
          </a:xfrm>
          <a:prstGeom prst="ellipse">
            <a:avLst/>
          </a:prstGeom>
          <a:solidFill>
            <a:srgbClr val="1D3EBF"/>
          </a:solidFill>
          <a:ln/>
        </p:spPr>
      </p:sp>
      <p:sp>
        <p:nvSpPr>
          <p:cNvPr id="18" name="Text 16"/>
          <p:cNvSpPr/>
          <p:nvPr/>
        </p:nvSpPr>
        <p:spPr>
          <a:xfrm>
            <a:off x="78457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6305237" y="1381125"/>
            <a:ext cx="5884374" cy="5118099"/>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20" name="Text 18"/>
          <p:cNvSpPr/>
          <p:nvPr/>
        </p:nvSpPr>
        <p:spPr>
          <a:xfrm>
            <a:off x="6592570" y="1397000"/>
            <a:ext cx="4817110" cy="40798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9"/>
          <p:cNvSpPr/>
          <p:nvPr/>
        </p:nvSpPr>
        <p:spPr>
          <a:xfrm>
            <a:off x="6163945" y="4773295"/>
            <a:ext cx="1233170" cy="1233170"/>
          </a:xfrm>
          <a:prstGeom prst="ellipse">
            <a:avLst/>
          </a:prstGeom>
          <a:solidFill>
            <a:srgbClr val="FFFFFF">
              <a:alpha val="0"/>
            </a:srgbClr>
          </a:solidFill>
          <a:ln/>
        </p:spPr>
      </p:sp>
      <p:sp>
        <p:nvSpPr>
          <p:cNvPr id="22" name="Text 20"/>
          <p:cNvSpPr/>
          <p:nvPr/>
        </p:nvSpPr>
        <p:spPr>
          <a:xfrm>
            <a:off x="616394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1"/>
          <p:cNvSpPr/>
          <p:nvPr/>
        </p:nvSpPr>
        <p:spPr>
          <a:xfrm>
            <a:off x="5594031" y="5763343"/>
            <a:ext cx="1008957" cy="1008957"/>
          </a:xfrm>
          <a:prstGeom prst="ellipse">
            <a:avLst/>
          </a:prstGeom>
          <a:solidFill>
            <a:srgbClr val="1D3EBF"/>
          </a:solidFill>
          <a:ln/>
        </p:spPr>
      </p:sp>
      <p:sp>
        <p:nvSpPr>
          <p:cNvPr id="24" name="Text 22"/>
          <p:cNvSpPr/>
          <p:nvPr/>
        </p:nvSpPr>
        <p:spPr>
          <a:xfrm>
            <a:off x="627605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02- </a:t>
            </a:r>
            <a:r>
              <a:rPr kumimoji="0" lang="zh-CN" alt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日志预处理</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p:cNvSpPr/>
          <p:nvPr/>
        </p:nvSpPr>
        <p:spPr>
          <a:xfrm>
            <a:off x="476453" y="5121737"/>
            <a:ext cx="788035" cy="552450"/>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5"/>
          <p:cNvSpPr/>
          <p:nvPr/>
        </p:nvSpPr>
        <p:spPr>
          <a:xfrm>
            <a:off x="1249680" y="1918970"/>
            <a:ext cx="4465320" cy="707886"/>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1D3EBF"/>
                </a:solidFill>
                <a:effectLst/>
                <a:uLnTx/>
                <a:uFillTx/>
                <a:latin typeface="MiSans" pitchFamily="34" charset="0"/>
                <a:ea typeface="MiSans" pitchFamily="34" charset="-122"/>
                <a:cs typeface="MiSans" pitchFamily="34" charset="-120"/>
              </a:rPr>
              <a:t>正则脱敏</a:t>
            </a:r>
            <a:endParaRPr kumimoji="0" lang="en-US" altLang="zh-CN" sz="2000" b="0" i="0" u="none" strike="noStrike" kern="1200" cap="none" spc="0" normalizeH="0" baseline="0" noProof="0">
              <a:ln>
                <a:noFill/>
              </a:ln>
              <a:solidFill>
                <a:srgbClr val="1D3EBF"/>
              </a:solidFill>
              <a:effectLst/>
              <a:uLnTx/>
              <a:uFillTx/>
              <a:latin typeface="MiSans" pitchFamily="34" charset="0"/>
              <a:ea typeface="MiSans" pitchFamily="34" charset="-122"/>
              <a:cs typeface="MiSans" pitchFamily="34" charset="-12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zh-CN" sz="2000">
              <a:solidFill>
                <a:srgbClr val="1D3EBF"/>
              </a:solidFill>
              <a:latin typeface="MiSans" pitchFamily="34" charset="0"/>
              <a:ea typeface="MiSans" pitchFamily="34" charset="-122"/>
              <a:cs typeface="MiSans" pitchFamily="34" charset="-120"/>
            </a:endParaRPr>
          </a:p>
        </p:txBody>
      </p:sp>
      <p:sp>
        <p:nvSpPr>
          <p:cNvPr id="29" name="Text 27"/>
          <p:cNvSpPr/>
          <p:nvPr/>
        </p:nvSpPr>
        <p:spPr>
          <a:xfrm>
            <a:off x="5683350" y="5910434"/>
            <a:ext cx="788035" cy="552450"/>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8"/>
          <p:cNvSpPr/>
          <p:nvPr/>
        </p:nvSpPr>
        <p:spPr>
          <a:xfrm>
            <a:off x="6655995" y="1426477"/>
            <a:ext cx="4465320" cy="400110"/>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1D3EBF"/>
                </a:solidFill>
                <a:effectLst/>
                <a:uLnTx/>
                <a:uFillTx/>
                <a:latin typeface="MiSans" pitchFamily="34" charset="0"/>
                <a:ea typeface="MiSans" pitchFamily="34" charset="-122"/>
                <a:cs typeface="MiSans" pitchFamily="34" charset="-120"/>
              </a:rPr>
              <a:t>分片策略</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CF971D30-846E-5ACA-C0D1-ECE00910C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1150" y="4410143"/>
            <a:ext cx="5665848" cy="173028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2" name="表格 31">
            <a:extLst>
              <a:ext uri="{FF2B5EF4-FFF2-40B4-BE49-F238E27FC236}">
                <a16:creationId xmlns:a16="http://schemas.microsoft.com/office/drawing/2014/main" id="{FFB9A3C8-0021-5B25-6DAC-5FE6BBF70880}"/>
              </a:ext>
            </a:extLst>
          </p:cNvPr>
          <p:cNvGraphicFramePr>
            <a:graphicFrameLocks noGrp="1"/>
          </p:cNvGraphicFramePr>
          <p:nvPr>
            <p:extLst>
              <p:ext uri="{D42A27DB-BD31-4B8C-83A1-F6EECF244321}">
                <p14:modId xmlns:p14="http://schemas.microsoft.com/office/powerpoint/2010/main" val="4132511821"/>
              </p:ext>
            </p:extLst>
          </p:nvPr>
        </p:nvGraphicFramePr>
        <p:xfrm>
          <a:off x="363295" y="2388350"/>
          <a:ext cx="5731510" cy="2621280"/>
        </p:xfrm>
        <a:graphic>
          <a:graphicData uri="http://schemas.openxmlformats.org/drawingml/2006/table">
            <a:tbl>
              <a:tblPr/>
              <a:tblGrid>
                <a:gridCol w="5731510">
                  <a:extLst>
                    <a:ext uri="{9D8B030D-6E8A-4147-A177-3AD203B41FA5}">
                      <a16:colId xmlns:a16="http://schemas.microsoft.com/office/drawing/2014/main" val="2789571658"/>
                    </a:ext>
                  </a:extLst>
                </a:gridCol>
              </a:tblGrid>
              <a:tr h="0">
                <a:tc>
                  <a:txBody>
                    <a:bodyPr/>
                    <a:lstStyle/>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Pattern:</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IP address: '\d{1,3}\.\d{1,3}\.\d{1,3}\.\d{1,3}(:\d{1,5})?',</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MAC address: '([0-9A-Fa-f]{2}:){11}[0-9A-Fa-f]{2}',</a:t>
                      </a:r>
                      <a:endParaRPr lang="en-US" sz="1100" kern="10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a:effectLst/>
                          <a:latin typeface="Courier New" panose="02070309020205020404" pitchFamily="49" charset="0"/>
                          <a:ea typeface="宋体" panose="02010600030101010101" pitchFamily="2" charset="-122"/>
                        </a:rPr>
                        <a:t>File Path: '[a-zA-Z0-9]*[:\.]*([/\\]+[^/\\\s\[\]]+)+[/\\]*'</a:t>
                      </a:r>
                      <a:endParaRPr lang="en-US" sz="1100" kern="10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宋体" panose="02010600030101010101" pitchFamily="2" charset="-122"/>
                          <a:ea typeface="宋体" panose="02010600030101010101" pitchFamily="2" charset="-122"/>
                          <a:cs typeface="Courier New" panose="02070309020205020404" pitchFamily="49" charset="0"/>
                        </a:rPr>
                        <a:t> </a:t>
                      </a:r>
                      <a:endParaRPr lang="en-US" sz="1100" kern="10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Before:</a:t>
                      </a:r>
                      <a:br>
                        <a:rPr lang="en-US" sz="800" b="1"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2354412 floating point alignment exceptions ;-; 2354412 floating point alignment exceptions</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iar 001061e8 dear 0247015c ;-; iar 00106200 dear 0247016c ;-; iar 001061b4 dear 024701dc</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ciod: Received signal 15, code=0, errno=0, address=0x000001f2</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10668 total interrupts. 0 critical input interrupts. 0 microseconds total spent on critical input interrupts</a:t>
                      </a:r>
                      <a:br>
                        <a:rPr lang="en-US" sz="800" b="0" kern="0">
                          <a:solidFill>
                            <a:srgbClr val="080808"/>
                          </a:solidFill>
                          <a:effectLst/>
                          <a:latin typeface="Courier New" panose="02070309020205020404" pitchFamily="49" charset="0"/>
                          <a:ea typeface="宋体" panose="02010600030101010101" pitchFamily="2" charset="-122"/>
                        </a:rPr>
                      </a:br>
                      <a:br>
                        <a:rPr lang="en-US" sz="800" b="1" kern="0">
                          <a:solidFill>
                            <a:srgbClr val="080808"/>
                          </a:solidFill>
                          <a:effectLst/>
                          <a:latin typeface="Courier New" panose="02070309020205020404" pitchFamily="49" charset="0"/>
                          <a:ea typeface="宋体" panose="02010600030101010101" pitchFamily="2" charset="-122"/>
                        </a:rPr>
                      </a:br>
                      <a:r>
                        <a:rPr lang="en-US" sz="800" b="1" kern="0">
                          <a:solidFill>
                            <a:srgbClr val="080808"/>
                          </a:solidFill>
                          <a:effectLst/>
                          <a:latin typeface="Courier New" panose="02070309020205020404" pitchFamily="49" charset="0"/>
                          <a:ea typeface="宋体" panose="02010600030101010101" pitchFamily="2" charset="-122"/>
                        </a:rPr>
                        <a:t>After:</a:t>
                      </a:r>
                      <a:br>
                        <a:rPr lang="en-US" sz="800" b="1"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&lt;*&gt; floating point alignment exceptions ;-; &lt;*&gt; floating point alignment exceptions ;-; &lt;*&gt; floating point alignment exceptions</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iar &lt;*&gt; dear &lt;*&gt; ;-; iar &lt;*&gt; dear &lt;*&gt; ;-; iar &lt;*&gt; dear &lt;*&gt; ;-; iar &lt;*&gt; dear &lt;*&gt; ;-; iar &lt;*&gt; dear &lt;*&gt;</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ciod: Received signal &lt;*&gt;, code=&lt;*&gt;, errno=&lt;*&gt;, address=&lt;*&gt;</a:t>
                      </a:r>
                      <a:br>
                        <a:rPr lang="en-US" sz="800" b="0" kern="0">
                          <a:solidFill>
                            <a:srgbClr val="080808"/>
                          </a:solidFill>
                          <a:effectLst/>
                          <a:latin typeface="Courier New" panose="02070309020205020404" pitchFamily="49" charset="0"/>
                          <a:ea typeface="宋体" panose="02010600030101010101" pitchFamily="2" charset="-122"/>
                        </a:rPr>
                      </a:br>
                      <a:r>
                        <a:rPr lang="en-US" sz="800" b="0" kern="0">
                          <a:solidFill>
                            <a:srgbClr val="080808"/>
                          </a:solidFill>
                          <a:effectLst/>
                          <a:latin typeface="Courier New" panose="02070309020205020404" pitchFamily="49" charset="0"/>
                          <a:ea typeface="宋体" panose="02010600030101010101" pitchFamily="2" charset="-122"/>
                        </a:rPr>
                        <a:t>&lt;*&gt; total interrupts. &lt;*&gt; critical input interrupts. &lt;*&gt; microseconds total spent on critical input interrupts</a:t>
                      </a:r>
                      <a:endParaRPr lang="en-US" sz="1100" kern="100">
                        <a:effectLst/>
                        <a:latin typeface="Times New Roman" panose="02020603050405020304" pitchFamily="18" charset="0"/>
                        <a:ea typeface="等线" panose="02010600030101010101" pitchFamily="2" charset="-122"/>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1939221"/>
                  </a:ext>
                </a:extLst>
              </a:tr>
            </a:tbl>
          </a:graphicData>
        </a:graphic>
      </p:graphicFrame>
      <p:pic>
        <p:nvPicPr>
          <p:cNvPr id="33" name="Picture 1">
            <a:extLst>
              <a:ext uri="{FF2B5EF4-FFF2-40B4-BE49-F238E27FC236}">
                <a16:creationId xmlns:a16="http://schemas.microsoft.com/office/drawing/2014/main" id="{AE7A1CF2-5F4E-2EF7-28DA-3CA76C9865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4406" y="1793902"/>
            <a:ext cx="5646035" cy="26702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8">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8118" y="1980398"/>
            <a:ext cx="6926566" cy="4117788"/>
          </a:xfrm>
          <a:prstGeom prst="rect">
            <a:avLst/>
          </a:prstGeom>
          <a:solidFill>
            <a:srgbClr val="FFFFFF"/>
          </a:solidFill>
          <a:ln w="19050">
            <a:solidFill>
              <a:srgbClr val="004CC0"/>
            </a:solidFill>
            <a:prstDash val="solid"/>
          </a:ln>
        </p:spPr>
      </p:sp>
      <p:sp>
        <p:nvSpPr>
          <p:cNvPr id="9" name="Text 7"/>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p:cNvSpPr/>
          <p:nvPr/>
        </p:nvSpPr>
        <p:spPr>
          <a:xfrm>
            <a:off x="1477891" y="1102690"/>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 LogLLM Framework</a:t>
            </a:r>
            <a:endParaRPr lang="en-US" sz="1600" dirty="0"/>
          </a:p>
        </p:txBody>
      </p:sp>
      <p:grpSp>
        <p:nvGrpSpPr>
          <p:cNvPr id="48" name="组合 47">
            <a:extLst>
              <a:ext uri="{FF2B5EF4-FFF2-40B4-BE49-F238E27FC236}">
                <a16:creationId xmlns:a16="http://schemas.microsoft.com/office/drawing/2014/main" id="{08BDDE9F-AE98-3318-A444-3BD06CA43362}"/>
              </a:ext>
            </a:extLst>
          </p:cNvPr>
          <p:cNvGrpSpPr/>
          <p:nvPr/>
        </p:nvGrpSpPr>
        <p:grpSpPr>
          <a:xfrm>
            <a:off x="885237" y="1110071"/>
            <a:ext cx="438785" cy="434340"/>
            <a:chOff x="757237" y="1748473"/>
            <a:chExt cx="438785" cy="434340"/>
          </a:xfrm>
        </p:grpSpPr>
        <p:sp>
          <p:nvSpPr>
            <p:cNvPr id="11" name="Shape 9"/>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9480" y="1881505"/>
              <a:ext cx="113665" cy="168910"/>
            </a:xfrm>
            <a:prstGeom prst="chevron">
              <a:avLst>
                <a:gd name="adj" fmla="val 64013"/>
              </a:avLst>
            </a:prstGeom>
            <a:solidFill>
              <a:srgbClr val="FFFFFF"/>
            </a:solidFill>
            <a:ln/>
          </p:spPr>
        </p:sp>
      </p:grpSp>
      <p:grpSp>
        <p:nvGrpSpPr>
          <p:cNvPr id="47" name="组合 46">
            <a:extLst>
              <a:ext uri="{FF2B5EF4-FFF2-40B4-BE49-F238E27FC236}">
                <a16:creationId xmlns:a16="http://schemas.microsoft.com/office/drawing/2014/main" id="{88538BEF-2B45-0BBE-D041-0D7F13EA0E36}"/>
              </a:ext>
            </a:extLst>
          </p:cNvPr>
          <p:cNvGrpSpPr/>
          <p:nvPr/>
        </p:nvGrpSpPr>
        <p:grpSpPr>
          <a:xfrm>
            <a:off x="7170056" y="748872"/>
            <a:ext cx="4826873" cy="3121025"/>
            <a:chOff x="757237" y="4000390"/>
            <a:chExt cx="4217100" cy="2032194"/>
          </a:xfrm>
        </p:grpSpPr>
        <p:sp>
          <p:nvSpPr>
            <p:cNvPr id="13" name="Shape 11"/>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16" name="Text 14"/>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7" name="Shape 15"/>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18" name="Text 16"/>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22" name="Text 20"/>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p:cNvSpPr/>
          <p:nvPr/>
        </p:nvSpPr>
        <p:spPr>
          <a:xfrm>
            <a:off x="6435725" y="1881505"/>
            <a:ext cx="113665" cy="168910"/>
          </a:xfrm>
          <a:prstGeom prst="chevron">
            <a:avLst>
              <a:gd name="adj" fmla="val 64013"/>
            </a:avLst>
          </a:prstGeom>
          <a:solidFill>
            <a:srgbClr val="FFFFFF"/>
          </a:solidFill>
          <a:ln/>
        </p:spPr>
      </p:sp>
      <p:sp>
        <p:nvSpPr>
          <p:cNvPr id="24" name="Text 22"/>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6" name="Text 24"/>
          <p:cNvSpPr/>
          <p:nvPr/>
        </p:nvSpPr>
        <p:spPr>
          <a:xfrm>
            <a:off x="1486266" y="1524913"/>
            <a:ext cx="4329430" cy="356592"/>
          </a:xfrm>
          <a:prstGeom prst="rect">
            <a:avLst/>
          </a:prstGeom>
          <a:noFill/>
          <a:ln/>
        </p:spPr>
        <p:txBody>
          <a:bodyPr wrap="square" lIns="0" tIns="0" rIns="0" bIns="0" rtlCol="0" anchor="t">
            <a:spAutoFit/>
          </a:bodyPr>
          <a:lstStyle/>
          <a:p>
            <a:pPr algn="just">
              <a:lnSpc>
                <a:spcPct val="130000"/>
              </a:lnSpc>
            </a:pPr>
            <a:r>
              <a:rPr lang="en-US" sz="1800" dirty="0">
                <a:solidFill>
                  <a:srgbClr val="000000"/>
                </a:solidFill>
                <a:latin typeface="MiSans" pitchFamily="34" charset="0"/>
                <a:ea typeface="MiSans" pitchFamily="34" charset="-122"/>
                <a:cs typeface="MiSans" pitchFamily="34" charset="-120"/>
              </a:rPr>
              <a:t>Bert+Lama+Projector</a:t>
            </a:r>
            <a:endParaRPr lang="en-US" sz="1600" dirty="0"/>
          </a:p>
        </p:txBody>
      </p:sp>
      <p:grpSp>
        <p:nvGrpSpPr>
          <p:cNvPr id="43" name="组合 42">
            <a:extLst>
              <a:ext uri="{FF2B5EF4-FFF2-40B4-BE49-F238E27FC236}">
                <a16:creationId xmlns:a16="http://schemas.microsoft.com/office/drawing/2014/main" id="{AA71AB6C-1AF2-1B9D-ED73-6D69C936E45F}"/>
              </a:ext>
            </a:extLst>
          </p:cNvPr>
          <p:cNvGrpSpPr/>
          <p:nvPr/>
        </p:nvGrpSpPr>
        <p:grpSpPr>
          <a:xfrm>
            <a:off x="7170055" y="4039292"/>
            <a:ext cx="4826874" cy="2154056"/>
            <a:chOff x="6273482" y="4028211"/>
            <a:chExt cx="5132389" cy="2109554"/>
          </a:xfrm>
        </p:grpSpPr>
        <p:sp>
          <p:nvSpPr>
            <p:cNvPr id="25" name="Shape 23"/>
            <p:cNvSpPr/>
            <p:nvPr/>
          </p:nvSpPr>
          <p:spPr>
            <a:xfrm>
              <a:off x="6273483" y="4028211"/>
              <a:ext cx="5132388" cy="2109554"/>
            </a:xfrm>
            <a:prstGeom prst="rect">
              <a:avLst/>
            </a:prstGeom>
            <a:solidFill>
              <a:srgbClr val="FFFFFF"/>
            </a:solidFill>
            <a:ln w="19050">
              <a:solidFill>
                <a:srgbClr val="004CC0"/>
              </a:solidFill>
              <a:prstDash val="solid"/>
            </a:ln>
          </p:spPr>
          <p:txBody>
            <a:bodyPr/>
            <a:lstStyle/>
            <a:p>
              <a:endParaRPr lang="zh-CN" altLang="en-US"/>
            </a:p>
          </p:txBody>
        </p:sp>
        <p:sp>
          <p:nvSpPr>
            <p:cNvPr id="27" name="Shape 25"/>
            <p:cNvSpPr/>
            <p:nvPr/>
          </p:nvSpPr>
          <p:spPr>
            <a:xfrm rot="5400000">
              <a:off x="6281741" y="4178571"/>
              <a:ext cx="434340" cy="438786"/>
            </a:xfrm>
            <a:prstGeom prst="roundRect">
              <a:avLst>
                <a:gd name="adj" fmla="val 0"/>
              </a:avLst>
            </a:prstGeom>
            <a:gradFill flip="none" rotWithShape="1">
              <a:gsLst>
                <a:gs pos="0">
                  <a:srgbClr val="2078FF"/>
                </a:gs>
                <a:gs pos="100000">
                  <a:srgbClr val="004CC0"/>
                </a:gs>
              </a:gsLst>
              <a:lin ang="13200000" scaled="1"/>
            </a:gradFill>
            <a:ln/>
          </p:spPr>
          <p:txBody>
            <a:bodyPr/>
            <a:lstStyle/>
            <a:p>
              <a:endParaRPr lang="zh-CN" altLang="en-US"/>
            </a:p>
          </p:txBody>
        </p:sp>
        <p:sp>
          <p:nvSpPr>
            <p:cNvPr id="28" name="Text 26"/>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9" name="Shape 27"/>
            <p:cNvSpPr/>
            <p:nvPr/>
          </p:nvSpPr>
          <p:spPr>
            <a:xfrm>
              <a:off x="6435725" y="4313509"/>
              <a:ext cx="113665" cy="168910"/>
            </a:xfrm>
            <a:prstGeom prst="chevron">
              <a:avLst>
                <a:gd name="adj" fmla="val 64013"/>
              </a:avLst>
            </a:prstGeom>
            <a:solidFill>
              <a:srgbClr val="FFFFFF"/>
            </a:solidFill>
            <a:ln/>
          </p:spPr>
          <p:txBody>
            <a:bodyPr/>
            <a:lstStyle/>
            <a:p>
              <a:endParaRPr lang="zh-CN" altLang="en-US"/>
            </a:p>
          </p:txBody>
        </p:sp>
        <p:sp>
          <p:nvSpPr>
            <p:cNvPr id="30" name="Text 28"/>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31" name="Text 29"/>
          <p:cNvSpPr/>
          <p:nvPr/>
        </p:nvSpPr>
        <p:spPr>
          <a:xfrm>
            <a:off x="614108" y="384948"/>
            <a:ext cx="10151745" cy="553998"/>
          </a:xfrm>
          <a:prstGeom prst="rect">
            <a:avLst/>
          </a:prstGeom>
          <a:noFill/>
          <a:ln/>
        </p:spPr>
        <p:txBody>
          <a:bodyPr wrap="square" lIns="91440" tIns="45720" rIns="91440" bIns="45720" rtlCol="0" anchor="t">
            <a:spAutoFit/>
          </a:bodyPr>
          <a:lstStyle/>
          <a:p>
            <a:pPr>
              <a:lnSpc>
                <a:spcPct val="100000"/>
              </a:lnSpc>
            </a:pPr>
            <a:r>
              <a:rPr lang="en-US" altLang="zh-CN" sz="3000" b="1">
                <a:solidFill>
                  <a:srgbClr val="000000"/>
                </a:solidFill>
                <a:latin typeface="MiSans" pitchFamily="34" charset="0"/>
                <a:ea typeface="MiSans" pitchFamily="34" charset="-122"/>
                <a:cs typeface="MiSans" pitchFamily="34" charset="-120"/>
              </a:rPr>
              <a:t>02- LogLLM</a:t>
            </a:r>
            <a:r>
              <a:rPr lang="zh-CN" altLang="en-US" sz="3000" b="1">
                <a:solidFill>
                  <a:srgbClr val="000000"/>
                </a:solidFill>
                <a:latin typeface="MiSans" pitchFamily="34" charset="0"/>
                <a:ea typeface="MiSans" pitchFamily="34" charset="-122"/>
                <a:cs typeface="MiSans" pitchFamily="34" charset="-120"/>
              </a:rPr>
              <a:t>模型</a:t>
            </a:r>
            <a:endParaRPr lang="en-US" sz="1600" dirty="0"/>
          </a:p>
        </p:txBody>
      </p:sp>
      <p:sp>
        <p:nvSpPr>
          <p:cNvPr id="37" name="Text 33"/>
          <p:cNvSpPr/>
          <p:nvPr/>
        </p:nvSpPr>
        <p:spPr>
          <a:xfrm>
            <a:off x="7763182" y="4264961"/>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Evaluation Metircs</a:t>
            </a:r>
            <a:endParaRPr lang="en-US" sz="1600" dirty="0"/>
          </a:p>
        </p:txBody>
      </p:sp>
      <p:sp>
        <p:nvSpPr>
          <p:cNvPr id="38" name="Text 34"/>
          <p:cNvSpPr/>
          <p:nvPr/>
        </p:nvSpPr>
        <p:spPr>
          <a:xfrm>
            <a:off x="7821658" y="809576"/>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Datasets</a:t>
            </a:r>
            <a:endParaRPr lang="en-US" sz="1600" dirty="0"/>
          </a:p>
        </p:txBody>
      </p:sp>
      <p:sp>
        <p:nvSpPr>
          <p:cNvPr id="45" name="Text 24">
            <a:extLst>
              <a:ext uri="{FF2B5EF4-FFF2-40B4-BE49-F238E27FC236}">
                <a16:creationId xmlns:a16="http://schemas.microsoft.com/office/drawing/2014/main" id="{513BBA09-E335-11F7-00D4-787367F259AD}"/>
              </a:ext>
            </a:extLst>
          </p:cNvPr>
          <p:cNvSpPr/>
          <p:nvPr/>
        </p:nvSpPr>
        <p:spPr>
          <a:xfrm>
            <a:off x="7733576" y="4807106"/>
            <a:ext cx="3970909" cy="964367"/>
          </a:xfrm>
          <a:prstGeom prst="rect">
            <a:avLst/>
          </a:prstGeom>
          <a:noFill/>
          <a:ln/>
        </p:spPr>
        <p:txBody>
          <a:bodyPr wrap="square" lIns="0" tIns="0" rIns="0" bIns="0" rtlCol="0" anchor="t">
            <a:spAutoFit/>
          </a:bodyPr>
          <a:lstStyle/>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Precision</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:Reduce false positives</a:t>
            </a:r>
          </a:p>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Recall</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 Reduce false negatives</a:t>
            </a:r>
          </a:p>
          <a:p>
            <a:pPr algn="just">
              <a:lnSpc>
                <a:spcPct val="130000"/>
              </a:lnSpc>
            </a:pPr>
            <a:r>
              <a:rPr lang="en-US" sz="1600" b="1">
                <a:solidFill>
                  <a:srgbClr val="000000"/>
                </a:solidFill>
                <a:latin typeface="Times New Roman" panose="02020603050405020304" pitchFamily="18" charset="0"/>
                <a:ea typeface="MiSans" pitchFamily="34" charset="-122"/>
                <a:cs typeface="Times New Roman" panose="02020603050405020304" pitchFamily="18" charset="0"/>
              </a:rPr>
              <a:t>F1-score</a:t>
            </a:r>
            <a:r>
              <a:rPr lang="en-US" sz="1600">
                <a:solidFill>
                  <a:srgbClr val="000000"/>
                </a:solidFill>
                <a:latin typeface="Times New Roman" panose="02020603050405020304" pitchFamily="18" charset="0"/>
                <a:ea typeface="MiSans" pitchFamily="34" charset="-122"/>
                <a:cs typeface="Times New Roman" panose="02020603050405020304" pitchFamily="18" charset="0"/>
              </a:rPr>
              <a:t>:Comprehensive perrformance</a:t>
            </a:r>
            <a:endParaRPr lang="en-US" sz="1600" dirty="0">
              <a:latin typeface="Times New Roman" panose="02020603050405020304" pitchFamily="18" charset="0"/>
              <a:cs typeface="Times New Roman" panose="02020603050405020304" pitchFamily="18" charset="0"/>
            </a:endParaRPr>
          </a:p>
        </p:txBody>
      </p:sp>
      <p:pic>
        <p:nvPicPr>
          <p:cNvPr id="39" name="图片 38">
            <a:extLst>
              <a:ext uri="{FF2B5EF4-FFF2-40B4-BE49-F238E27FC236}">
                <a16:creationId xmlns:a16="http://schemas.microsoft.com/office/drawing/2014/main" id="{6C094460-32F8-2F47-A096-2DBAEED73B01}"/>
              </a:ext>
            </a:extLst>
          </p:cNvPr>
          <p:cNvPicPr>
            <a:picLocks noChangeAspect="1"/>
          </p:cNvPicPr>
          <p:nvPr/>
        </p:nvPicPr>
        <p:blipFill>
          <a:blip r:embed="rId4"/>
          <a:stretch>
            <a:fillRect/>
          </a:stretch>
        </p:blipFill>
        <p:spPr>
          <a:xfrm>
            <a:off x="98117" y="2207674"/>
            <a:ext cx="6926566" cy="3890512"/>
          </a:xfrm>
          <a:prstGeom prst="rect">
            <a:avLst/>
          </a:prstGeom>
        </p:spPr>
      </p:pic>
      <p:graphicFrame>
        <p:nvGraphicFramePr>
          <p:cNvPr id="52" name="表格 51">
            <a:extLst>
              <a:ext uri="{FF2B5EF4-FFF2-40B4-BE49-F238E27FC236}">
                <a16:creationId xmlns:a16="http://schemas.microsoft.com/office/drawing/2014/main" id="{DD6E016A-5D21-AB1B-56A3-811A839B68CC}"/>
              </a:ext>
            </a:extLst>
          </p:cNvPr>
          <p:cNvGraphicFramePr>
            <a:graphicFrameLocks noGrp="1"/>
          </p:cNvGraphicFramePr>
          <p:nvPr>
            <p:extLst>
              <p:ext uri="{D42A27DB-BD31-4B8C-83A1-F6EECF244321}">
                <p14:modId xmlns:p14="http://schemas.microsoft.com/office/powerpoint/2010/main" val="3859965780"/>
              </p:ext>
            </p:extLst>
          </p:nvPr>
        </p:nvGraphicFramePr>
        <p:xfrm>
          <a:off x="7234474" y="1300064"/>
          <a:ext cx="4702036" cy="2416351"/>
        </p:xfrm>
        <a:graphic>
          <a:graphicData uri="http://schemas.openxmlformats.org/drawingml/2006/table">
            <a:tbl>
              <a:tblPr/>
              <a:tblGrid>
                <a:gridCol w="836278">
                  <a:extLst>
                    <a:ext uri="{9D8B030D-6E8A-4147-A177-3AD203B41FA5}">
                      <a16:colId xmlns:a16="http://schemas.microsoft.com/office/drawing/2014/main" val="2452525548"/>
                    </a:ext>
                  </a:extLst>
                </a:gridCol>
                <a:gridCol w="1985975">
                  <a:extLst>
                    <a:ext uri="{9D8B030D-6E8A-4147-A177-3AD203B41FA5}">
                      <a16:colId xmlns:a16="http://schemas.microsoft.com/office/drawing/2014/main" val="858696949"/>
                    </a:ext>
                  </a:extLst>
                </a:gridCol>
                <a:gridCol w="1148962">
                  <a:extLst>
                    <a:ext uri="{9D8B030D-6E8A-4147-A177-3AD203B41FA5}">
                      <a16:colId xmlns:a16="http://schemas.microsoft.com/office/drawing/2014/main" val="3517549486"/>
                    </a:ext>
                  </a:extLst>
                </a:gridCol>
                <a:gridCol w="730821">
                  <a:extLst>
                    <a:ext uri="{9D8B030D-6E8A-4147-A177-3AD203B41FA5}">
                      <a16:colId xmlns:a16="http://schemas.microsoft.com/office/drawing/2014/main" val="3949706560"/>
                    </a:ext>
                  </a:extLst>
                </a:gridCol>
              </a:tblGrid>
              <a:tr h="345716">
                <a:tc>
                  <a:txBody>
                    <a:bodyPr/>
                    <a:lstStyle/>
                    <a:p>
                      <a:pPr marL="0" marR="0" algn="ctr">
                        <a:buNone/>
                      </a:pPr>
                      <a:r>
                        <a:rPr lang="en-US" sz="1600" kern="100">
                          <a:effectLst/>
                          <a:latin typeface="Times New Roman" panose="02020603050405020304" pitchFamily="18" charset="0"/>
                          <a:ea typeface="等线" panose="02010600030101010101" pitchFamily="2" charset="-122"/>
                        </a:rPr>
                        <a:t>Dataset</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Description</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Type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600" kern="100">
                          <a:effectLst/>
                          <a:latin typeface="Times New Roman" panose="02020603050405020304" pitchFamily="18" charset="0"/>
                          <a:ea typeface="等线" panose="02010600030101010101" pitchFamily="2" charset="-122"/>
                        </a:rPr>
                        <a:t>Size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21703"/>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HDFS</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Hadoop distributed file system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Distributed system</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1.47GB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76173948"/>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BGL</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it-IT" sz="1200" kern="100">
                          <a:effectLst/>
                          <a:latin typeface="Times New Roman" panose="02020603050405020304" pitchFamily="18" charset="0"/>
                          <a:ea typeface="等线" panose="02010600030101010101" pitchFamily="2" charset="-122"/>
                        </a:rPr>
                        <a:t>Blue Gene/L supercomputer log</a:t>
                      </a:r>
                      <a:endParaRPr lang="it-IT"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Super computer</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708.76MB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502744141"/>
                  </a:ext>
                </a:extLst>
              </a:tr>
              <a:tr h="418162">
                <a:tc>
                  <a:txBody>
                    <a:bodyPr/>
                    <a:lstStyle/>
                    <a:p>
                      <a:pPr marL="0" marR="0" algn="l">
                        <a:buNone/>
                      </a:pPr>
                      <a:r>
                        <a:rPr lang="en-US" sz="1200" kern="100">
                          <a:effectLst/>
                          <a:latin typeface="Times New Roman" panose="02020603050405020304" pitchFamily="18" charset="0"/>
                          <a:ea typeface="等线" panose="02010600030101010101" pitchFamily="2" charset="-122"/>
                        </a:rPr>
                        <a:t>Thunderbird</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Thunderbird supercomputer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Super computer</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29.60GB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3257098544"/>
                  </a:ext>
                </a:extLst>
              </a:tr>
              <a:tr h="280873">
                <a:tc>
                  <a:txBody>
                    <a:bodyPr/>
                    <a:lstStyle/>
                    <a:p>
                      <a:pPr marL="0" marR="0" algn="l">
                        <a:buNone/>
                      </a:pPr>
                      <a:r>
                        <a:rPr lang="en-US" sz="1200" kern="100">
                          <a:effectLst/>
                          <a:latin typeface="Times New Roman" panose="02020603050405020304" pitchFamily="18" charset="0"/>
                          <a:ea typeface="等线" panose="02010600030101010101" pitchFamily="2" charset="-122"/>
                        </a:rPr>
                        <a:t>Linux</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Linux system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Opreating system</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2.25MB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424917435"/>
                  </a:ext>
                </a:extLst>
              </a:tr>
              <a:tr h="449396">
                <a:tc>
                  <a:txBody>
                    <a:bodyPr/>
                    <a:lstStyle/>
                    <a:p>
                      <a:pPr marL="0" marR="0" algn="l">
                        <a:buNone/>
                      </a:pPr>
                      <a:r>
                        <a:rPr lang="en-US" sz="1200" kern="100">
                          <a:effectLst/>
                          <a:latin typeface="Times New Roman" panose="02020603050405020304" pitchFamily="18" charset="0"/>
                          <a:ea typeface="等线" panose="02010600030101010101" pitchFamily="2" charset="-122"/>
                        </a:rPr>
                        <a:t>Apache</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Web server error log</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a:effectLst/>
                          <a:latin typeface="Times New Roman" panose="02020603050405020304" pitchFamily="18" charset="0"/>
                          <a:ea typeface="等线" panose="02010600030101010101" pitchFamily="2" charset="-122"/>
                        </a:rPr>
                        <a:t>Server application</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r">
                        <a:buNone/>
                      </a:pPr>
                      <a:r>
                        <a:rPr lang="en-US" sz="1200" kern="100">
                          <a:effectLst/>
                          <a:latin typeface="Times New Roman" panose="02020603050405020304" pitchFamily="18" charset="0"/>
                          <a:ea typeface="等线" panose="02010600030101010101" pitchFamily="2" charset="-122"/>
                        </a:rPr>
                        <a:t>4.90MB</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764418"/>
                  </a:ext>
                </a:extLst>
              </a:tr>
            </a:tbl>
          </a:graphicData>
        </a:graphic>
      </p:graphicFrame>
      <p:sp>
        <p:nvSpPr>
          <p:cNvPr id="53" name="Shape 25">
            <a:extLst>
              <a:ext uri="{FF2B5EF4-FFF2-40B4-BE49-F238E27FC236}">
                <a16:creationId xmlns:a16="http://schemas.microsoft.com/office/drawing/2014/main" id="{F594792E-32AB-F0A0-73AB-B425DD344E23}"/>
              </a:ext>
            </a:extLst>
          </p:cNvPr>
          <p:cNvSpPr/>
          <p:nvPr/>
        </p:nvSpPr>
        <p:spPr>
          <a:xfrm rot="5400000">
            <a:off x="7160314" y="837493"/>
            <a:ext cx="443503" cy="412666"/>
          </a:xfrm>
          <a:prstGeom prst="roundRect">
            <a:avLst>
              <a:gd name="adj" fmla="val 0"/>
            </a:avLst>
          </a:prstGeom>
          <a:gradFill flip="none" rotWithShape="1">
            <a:gsLst>
              <a:gs pos="0">
                <a:srgbClr val="2078FF"/>
              </a:gs>
              <a:gs pos="100000">
                <a:srgbClr val="004CC0"/>
              </a:gs>
            </a:gsLst>
            <a:lin ang="13200000" scaled="1"/>
          </a:gradFill>
          <a:ln/>
        </p:spPr>
        <p:txBody>
          <a:bodyPr/>
          <a:lstStyle/>
          <a:p>
            <a:endParaRPr lang="zh-CN" altLang="en-US"/>
          </a:p>
        </p:txBody>
      </p:sp>
      <p:sp>
        <p:nvSpPr>
          <p:cNvPr id="55" name="Shape 27">
            <a:extLst>
              <a:ext uri="{FF2B5EF4-FFF2-40B4-BE49-F238E27FC236}">
                <a16:creationId xmlns:a16="http://schemas.microsoft.com/office/drawing/2014/main" id="{C8A1FB9C-B972-75FD-2ECE-3F20F26A30F3}"/>
              </a:ext>
            </a:extLst>
          </p:cNvPr>
          <p:cNvSpPr/>
          <p:nvPr/>
        </p:nvSpPr>
        <p:spPr>
          <a:xfrm>
            <a:off x="7337508" y="957910"/>
            <a:ext cx="106899" cy="172473"/>
          </a:xfrm>
          <a:prstGeom prst="chevron">
            <a:avLst>
              <a:gd name="adj" fmla="val 64013"/>
            </a:avLst>
          </a:prstGeom>
          <a:solidFill>
            <a:srgbClr val="FFFFFF"/>
          </a:solidFill>
          <a:ln/>
        </p:spPr>
        <p:txBody>
          <a:bodyPr/>
          <a:lstStyle/>
          <a:p>
            <a:endParaRPr lang="zh-CN" altLang="en-US"/>
          </a:p>
        </p:txBody>
      </p:sp>
    </p:spTree>
  </p:cSld>
  <p:clrMapOvr>
    <a:masterClrMapping/>
  </p:clrMapOvr>
  <p:transition>
    <p:fade/>
  </p:transition>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flipH="1">
            <a:off x="6098239" y="0"/>
            <a:ext cx="6087733" cy="1800860"/>
          </a:xfrm>
          <a:prstGeom prst="round1Rect">
            <a:avLst>
              <a:gd name="adj" fmla="val 27449"/>
            </a:avLst>
          </a:prstGeom>
          <a:solidFill>
            <a:srgbClr val="004CC0"/>
          </a:solidFill>
          <a:ln w="19050">
            <a:solidFill>
              <a:srgbClr val="004CC0"/>
            </a:solidFill>
            <a:prstDash val="solid"/>
          </a:ln>
        </p:spPr>
      </p:sp>
      <p:sp>
        <p:nvSpPr>
          <p:cNvPr id="8" name="Text 6"/>
          <p:cNvSpPr/>
          <p:nvPr/>
        </p:nvSpPr>
        <p:spPr>
          <a:xfrm>
            <a:off x="6098239" y="0"/>
            <a:ext cx="6087733" cy="180086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6668" y="0"/>
            <a:ext cx="6087733" cy="1800860"/>
          </a:xfrm>
          <a:prstGeom prst="round1Rect">
            <a:avLst>
              <a:gd name="adj" fmla="val 27414"/>
            </a:avLst>
          </a:prstGeom>
          <a:solidFill>
            <a:srgbClr val="004CC0"/>
          </a:solidFill>
          <a:ln w="19050">
            <a:solidFill>
              <a:srgbClr val="004CC0"/>
            </a:solidFill>
            <a:prstDash val="solid"/>
          </a:ln>
        </p:spPr>
      </p:sp>
      <p:sp>
        <p:nvSpPr>
          <p:cNvPr id="10" name="Text 8"/>
          <p:cNvSpPr/>
          <p:nvPr/>
        </p:nvSpPr>
        <p:spPr>
          <a:xfrm>
            <a:off x="6668" y="0"/>
            <a:ext cx="6087733" cy="180086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1" name="Image 0" descr="https://kimi-img.moonshot.cn/pub/slides/slides_tmpl/image/25-09-04-15:50:53-d2sk9ne1bb2p4onbqegg.png"/>
          <p:cNvPicPr>
            <a:picLocks noChangeAspect="1"/>
          </p:cNvPicPr>
          <p:nvPr/>
        </p:nvPicPr>
        <p:blipFill>
          <a:blip r:embed="rId3"/>
          <a:stretch>
            <a:fillRect/>
          </a:stretch>
        </p:blipFill>
        <p:spPr>
          <a:xfrm>
            <a:off x="606425" y="293370"/>
            <a:ext cx="1395730" cy="450850"/>
          </a:xfrm>
          <a:prstGeom prst="rect">
            <a:avLst/>
          </a:prstGeom>
        </p:spPr>
      </p:pic>
      <p:sp>
        <p:nvSpPr>
          <p:cNvPr id="12" name="Shape 9"/>
          <p:cNvSpPr/>
          <p:nvPr/>
        </p:nvSpPr>
        <p:spPr>
          <a:xfrm>
            <a:off x="848360" y="6346190"/>
            <a:ext cx="163338" cy="153035"/>
          </a:xfrm>
          <a:prstGeom prst="rect">
            <a:avLst/>
          </a:prstGeom>
          <a:solidFill>
            <a:srgbClr val="004CC0"/>
          </a:solidFill>
          <a:ln/>
        </p:spPr>
      </p:sp>
      <p:sp>
        <p:nvSpPr>
          <p:cNvPr id="13" name="Text 10"/>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11"/>
          <p:cNvSpPr/>
          <p:nvPr/>
        </p:nvSpPr>
        <p:spPr>
          <a:xfrm>
            <a:off x="1122291" y="6346190"/>
            <a:ext cx="163338" cy="153035"/>
          </a:xfrm>
          <a:prstGeom prst="rect">
            <a:avLst/>
          </a:prstGeom>
          <a:solidFill>
            <a:srgbClr val="004CC0"/>
          </a:solidFill>
          <a:ln/>
        </p:spPr>
      </p:sp>
      <p:sp>
        <p:nvSpPr>
          <p:cNvPr id="15" name="Text 12"/>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1396222" y="6346190"/>
            <a:ext cx="163338" cy="153035"/>
          </a:xfrm>
          <a:prstGeom prst="rect">
            <a:avLst/>
          </a:prstGeom>
          <a:solidFill>
            <a:srgbClr val="004CC0"/>
          </a:solidFill>
          <a:ln/>
        </p:spPr>
      </p:sp>
      <p:sp>
        <p:nvSpPr>
          <p:cNvPr id="17" name="Text 14"/>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5"/>
          <p:cNvSpPr/>
          <p:nvPr/>
        </p:nvSpPr>
        <p:spPr>
          <a:xfrm>
            <a:off x="443865" y="756920"/>
            <a:ext cx="95675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02- 前端框架与通信流程</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6"/>
          <p:cNvSpPr/>
          <p:nvPr/>
        </p:nvSpPr>
        <p:spPr>
          <a:xfrm>
            <a:off x="351790" y="191770"/>
            <a:ext cx="76200" cy="1282065"/>
          </a:xfrm>
          <a:prstGeom prst="rect">
            <a:avLst/>
          </a:prstGeom>
          <a:solidFill>
            <a:srgbClr val="FFFFFF"/>
          </a:solidFill>
          <a:ln/>
        </p:spPr>
      </p:sp>
      <p:sp>
        <p:nvSpPr>
          <p:cNvPr id="20" name="Text 17"/>
          <p:cNvSpPr/>
          <p:nvPr/>
        </p:nvSpPr>
        <p:spPr>
          <a:xfrm>
            <a:off x="351790" y="191770"/>
            <a:ext cx="76200" cy="128206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8"/>
          <p:cNvSpPr/>
          <p:nvPr/>
        </p:nvSpPr>
        <p:spPr>
          <a:xfrm>
            <a:off x="915670" y="2287905"/>
            <a:ext cx="10361295" cy="3719830"/>
          </a:xfrm>
          <a:prstGeom prst="roundRect">
            <a:avLst>
              <a:gd name="adj" fmla="val 6943"/>
            </a:avLst>
          </a:prstGeom>
          <a:solidFill>
            <a:srgbClr val="004CC0"/>
          </a:solidFill>
          <a:ln/>
        </p:spPr>
      </p:sp>
      <p:sp>
        <p:nvSpPr>
          <p:cNvPr id="22" name="Text 19"/>
          <p:cNvSpPr/>
          <p:nvPr/>
        </p:nvSpPr>
        <p:spPr>
          <a:xfrm>
            <a:off x="915670" y="2287905"/>
            <a:ext cx="10361295" cy="37198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0"/>
          <p:cNvSpPr/>
          <p:nvPr/>
        </p:nvSpPr>
        <p:spPr>
          <a:xfrm>
            <a:off x="4453255" y="2034540"/>
            <a:ext cx="3286760" cy="4281170"/>
          </a:xfrm>
          <a:prstGeom prst="roundRect">
            <a:avLst>
              <a:gd name="adj" fmla="val 6943"/>
            </a:avLst>
          </a:prstGeom>
          <a:solidFill>
            <a:srgbClr val="FFFFFF"/>
          </a:solidFill>
          <a:ln w="19050">
            <a:solidFill>
              <a:srgbClr val="004CC0"/>
            </a:solidFill>
            <a:prstDash val="solid"/>
          </a:ln>
        </p:spPr>
      </p:sp>
      <p:sp>
        <p:nvSpPr>
          <p:cNvPr id="24" name="Text 21"/>
          <p:cNvSpPr/>
          <p:nvPr/>
        </p:nvSpPr>
        <p:spPr>
          <a:xfrm>
            <a:off x="4453255" y="2034540"/>
            <a:ext cx="3286760" cy="4281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2"/>
          <p:cNvSpPr/>
          <p:nvPr/>
        </p:nvSpPr>
        <p:spPr>
          <a:xfrm>
            <a:off x="1224280" y="2650490"/>
            <a:ext cx="2782570" cy="306784"/>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前端框架</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3"/>
          <p:cNvSpPr/>
          <p:nvPr/>
        </p:nvSpPr>
        <p:spPr>
          <a:xfrm>
            <a:off x="1224280" y="3368675"/>
            <a:ext cx="2781300" cy="1188980"/>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前端采用WebView+Node.js后端架构，</a:t>
            </a:r>
            <a:r>
              <a:rPr kumimoji="0" 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WebView负责渲染</a:t>
            </a:r>
            <a:r>
              <a:rPr lang="en-US" sz="1400">
                <a:solidFill>
                  <a:srgbClr val="FFFFFF"/>
                </a:solidFill>
                <a:latin typeface="MiSans" pitchFamily="34" charset="0"/>
                <a:ea typeface="MiSans" pitchFamily="34" charset="-122"/>
                <a:cs typeface="MiSans" pitchFamily="34" charset="-120"/>
              </a:rPr>
              <a:t>V</a:t>
            </a:r>
            <a:r>
              <a:rPr lang="en-US" altLang="zh-CN" sz="1400">
                <a:solidFill>
                  <a:srgbClr val="FFFFFF"/>
                </a:solidFill>
                <a:latin typeface="MiSans" pitchFamily="34" charset="0"/>
                <a:ea typeface="MiSans" pitchFamily="34" charset="-122"/>
                <a:cs typeface="MiSans" pitchFamily="34" charset="-120"/>
              </a:rPr>
              <a:t>ue</a:t>
            </a:r>
            <a:r>
              <a:rPr kumimoji="0" 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界面</a:t>
            </a:r>
            <a:r>
              <a:rPr kumimoji="0" lang="en-US" sz="14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，Node子进程托管LogLLM与评分服务。</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4"/>
          <p:cNvSpPr/>
          <p:nvPr/>
        </p:nvSpPr>
        <p:spPr>
          <a:xfrm>
            <a:off x="4716780" y="2294890"/>
            <a:ext cx="2782570" cy="306784"/>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通信流程</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5"/>
          <p:cNvSpPr/>
          <p:nvPr/>
        </p:nvSpPr>
        <p:spPr>
          <a:xfrm>
            <a:off x="4716780" y="3013075"/>
            <a:ext cx="2781300" cy="857647"/>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通过VS Code API双向通信实现命令调用与结果回显，确保前后端协同工作。</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6"/>
          <p:cNvSpPr/>
          <p:nvPr/>
        </p:nvSpPr>
        <p:spPr>
          <a:xfrm>
            <a:off x="8158480" y="2650490"/>
            <a:ext cx="2782570" cy="306784"/>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消息序列</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7"/>
          <p:cNvSpPr/>
          <p:nvPr/>
        </p:nvSpPr>
        <p:spPr>
          <a:xfrm>
            <a:off x="8158480" y="3368675"/>
            <a:ext cx="2781300" cy="857647"/>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明确消息序列与异常回调机制，保障系统稳定运行，提升用户体验。</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8DB78-1075-6D37-658F-E8595736D6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05111A-3EFD-C0FD-CCF3-7DD0FF0E676D}"/>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28569999-E8B1-91AE-95E6-31D20F74C129}"/>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2F53B6F2-FF37-D58C-F3C2-5C60FB8B2023}"/>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3E9C5976-6121-D9FB-98F0-DA490F01734A}"/>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4578884-7745-1F31-0D9A-14FFECF8D6E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92D23E8-7586-7921-1A3B-3CF310F4BE5C}"/>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AA7BF182-BD63-4142-8500-F3E59624A845}"/>
              </a:ext>
            </a:extLst>
          </p:cNvPr>
          <p:cNvSpPr/>
          <p:nvPr/>
        </p:nvSpPr>
        <p:spPr>
          <a:xfrm>
            <a:off x="786130" y="1744954"/>
            <a:ext cx="5494166" cy="4551518"/>
          </a:xfrm>
          <a:prstGeom prst="rect">
            <a:avLst/>
          </a:prstGeom>
          <a:solidFill>
            <a:srgbClr val="FFFFFF"/>
          </a:solidFill>
          <a:ln w="19050">
            <a:solidFill>
              <a:srgbClr val="004CC0"/>
            </a:solidFill>
            <a:prstDash val="solid"/>
          </a:ln>
        </p:spPr>
      </p:sp>
      <p:sp>
        <p:nvSpPr>
          <p:cNvPr id="9" name="Text 7">
            <a:extLst>
              <a:ext uri="{FF2B5EF4-FFF2-40B4-BE49-F238E27FC236}">
                <a16:creationId xmlns:a16="http://schemas.microsoft.com/office/drawing/2014/main" id="{DF25DD1D-2CC1-B4AD-8CBD-945896D94DBA}"/>
              </a:ext>
            </a:extLst>
          </p:cNvPr>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a:extLst>
              <a:ext uri="{FF2B5EF4-FFF2-40B4-BE49-F238E27FC236}">
                <a16:creationId xmlns:a16="http://schemas.microsoft.com/office/drawing/2014/main" id="{DCCBD4DC-FFA4-3CFA-9287-E0A58EEB4067}"/>
              </a:ext>
            </a:extLst>
          </p:cNvPr>
          <p:cNvSpPr/>
          <p:nvPr/>
        </p:nvSpPr>
        <p:spPr>
          <a:xfrm>
            <a:off x="1477891" y="1102690"/>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  </a:t>
            </a:r>
            <a:r>
              <a:rPr lang="en-US" sz="2400" b="1">
                <a:solidFill>
                  <a:srgbClr val="004CC0"/>
                </a:solidFill>
                <a:latin typeface="Times New Roman" panose="02020603050405020304" pitchFamily="18" charset="0"/>
                <a:ea typeface="MiSans" pitchFamily="34" charset="-122"/>
                <a:cs typeface="Times New Roman" panose="02020603050405020304" pitchFamily="18" charset="0"/>
              </a:rPr>
              <a:t>Framework of Front-end</a:t>
            </a:r>
            <a:endParaRPr lang="en-US" sz="1600" dirty="0">
              <a:latin typeface="Times New Roman" panose="02020603050405020304" pitchFamily="18" charset="0"/>
              <a:cs typeface="Times New Roman" panose="02020603050405020304" pitchFamily="18" charset="0"/>
            </a:endParaRPr>
          </a:p>
        </p:txBody>
      </p:sp>
      <p:grpSp>
        <p:nvGrpSpPr>
          <p:cNvPr id="48" name="组合 47">
            <a:extLst>
              <a:ext uri="{FF2B5EF4-FFF2-40B4-BE49-F238E27FC236}">
                <a16:creationId xmlns:a16="http://schemas.microsoft.com/office/drawing/2014/main" id="{C932229F-69AE-30C2-ABF7-C8F0A838A790}"/>
              </a:ext>
            </a:extLst>
          </p:cNvPr>
          <p:cNvGrpSpPr/>
          <p:nvPr/>
        </p:nvGrpSpPr>
        <p:grpSpPr>
          <a:xfrm>
            <a:off x="885237" y="1110071"/>
            <a:ext cx="438785" cy="434340"/>
            <a:chOff x="757237" y="1748473"/>
            <a:chExt cx="438785" cy="434340"/>
          </a:xfrm>
        </p:grpSpPr>
        <p:sp>
          <p:nvSpPr>
            <p:cNvPr id="11" name="Shape 9">
              <a:extLst>
                <a:ext uri="{FF2B5EF4-FFF2-40B4-BE49-F238E27FC236}">
                  <a16:creationId xmlns:a16="http://schemas.microsoft.com/office/drawing/2014/main" id="{5FC6F49D-9F01-4974-9CC5-D71CE9FE3CB7}"/>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052DB32-F988-F029-9666-D6726F7E3500}"/>
                </a:ext>
              </a:extLst>
            </p:cNvPr>
            <p:cNvSpPr/>
            <p:nvPr/>
          </p:nvSpPr>
          <p:spPr>
            <a:xfrm>
              <a:off x="919480" y="1881505"/>
              <a:ext cx="113665" cy="168910"/>
            </a:xfrm>
            <a:prstGeom prst="chevron">
              <a:avLst>
                <a:gd name="adj" fmla="val 64013"/>
              </a:avLst>
            </a:prstGeom>
            <a:solidFill>
              <a:srgbClr val="FFFFFF"/>
            </a:solidFill>
            <a:ln/>
          </p:spPr>
        </p:sp>
      </p:grpSp>
      <p:grpSp>
        <p:nvGrpSpPr>
          <p:cNvPr id="47" name="组合 46">
            <a:extLst>
              <a:ext uri="{FF2B5EF4-FFF2-40B4-BE49-F238E27FC236}">
                <a16:creationId xmlns:a16="http://schemas.microsoft.com/office/drawing/2014/main" id="{09A1080B-FCBA-F4BE-B19C-3674B0C915F4}"/>
              </a:ext>
            </a:extLst>
          </p:cNvPr>
          <p:cNvGrpSpPr/>
          <p:nvPr/>
        </p:nvGrpSpPr>
        <p:grpSpPr>
          <a:xfrm>
            <a:off x="6601474" y="428243"/>
            <a:ext cx="5181647" cy="5058157"/>
            <a:chOff x="757237" y="4000390"/>
            <a:chExt cx="4217100" cy="2032194"/>
          </a:xfrm>
        </p:grpSpPr>
        <p:sp>
          <p:nvSpPr>
            <p:cNvPr id="13" name="Shape 11">
              <a:extLst>
                <a:ext uri="{FF2B5EF4-FFF2-40B4-BE49-F238E27FC236}">
                  <a16:creationId xmlns:a16="http://schemas.microsoft.com/office/drawing/2014/main" id="{E95DCD92-C40E-3F6B-7C21-C7EA88213898}"/>
                </a:ext>
              </a:extLst>
            </p:cNvPr>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16" name="Text 14">
              <a:extLst>
                <a:ext uri="{FF2B5EF4-FFF2-40B4-BE49-F238E27FC236}">
                  <a16:creationId xmlns:a16="http://schemas.microsoft.com/office/drawing/2014/main" id="{421944FA-3461-BB43-F981-B4AE8D34FD20}"/>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7" name="Shape 15">
              <a:extLst>
                <a:ext uri="{FF2B5EF4-FFF2-40B4-BE49-F238E27FC236}">
                  <a16:creationId xmlns:a16="http://schemas.microsoft.com/office/drawing/2014/main" id="{9905C6C8-FCF3-52AD-D9E4-9E6CD00A2BBD}"/>
                </a:ext>
              </a:extLst>
            </p:cNvPr>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18" name="Text 16">
              <a:extLst>
                <a:ext uri="{FF2B5EF4-FFF2-40B4-BE49-F238E27FC236}">
                  <a16:creationId xmlns:a16="http://schemas.microsoft.com/office/drawing/2014/main" id="{5B636DD9-92CC-F955-ABA3-B9069A502AD6}"/>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22" name="Text 20">
            <a:extLst>
              <a:ext uri="{FF2B5EF4-FFF2-40B4-BE49-F238E27FC236}">
                <a16:creationId xmlns:a16="http://schemas.microsoft.com/office/drawing/2014/main" id="{E89F2B07-E887-DDC2-EC9E-BD68CB539482}"/>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a:extLst>
              <a:ext uri="{FF2B5EF4-FFF2-40B4-BE49-F238E27FC236}">
                <a16:creationId xmlns:a16="http://schemas.microsoft.com/office/drawing/2014/main" id="{D63521C8-59C5-73DD-E75A-24AF68FE398A}"/>
              </a:ext>
            </a:extLst>
          </p:cNvPr>
          <p:cNvSpPr/>
          <p:nvPr/>
        </p:nvSpPr>
        <p:spPr>
          <a:xfrm>
            <a:off x="6435725" y="1881505"/>
            <a:ext cx="113665" cy="168910"/>
          </a:xfrm>
          <a:prstGeom prst="chevron">
            <a:avLst>
              <a:gd name="adj" fmla="val 64013"/>
            </a:avLst>
          </a:prstGeom>
          <a:solidFill>
            <a:srgbClr val="FFFFFF"/>
          </a:solidFill>
          <a:ln/>
        </p:spPr>
      </p:sp>
      <p:sp>
        <p:nvSpPr>
          <p:cNvPr id="24" name="Text 22">
            <a:extLst>
              <a:ext uri="{FF2B5EF4-FFF2-40B4-BE49-F238E27FC236}">
                <a16:creationId xmlns:a16="http://schemas.microsoft.com/office/drawing/2014/main" id="{A4BA4DE5-7087-C8DC-54B4-61832448BD18}"/>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1" name="Text 29">
            <a:extLst>
              <a:ext uri="{FF2B5EF4-FFF2-40B4-BE49-F238E27FC236}">
                <a16:creationId xmlns:a16="http://schemas.microsoft.com/office/drawing/2014/main" id="{F2672DB9-FE27-3EE7-203B-CA6495E3D404}"/>
              </a:ext>
            </a:extLst>
          </p:cNvPr>
          <p:cNvSpPr/>
          <p:nvPr/>
        </p:nvSpPr>
        <p:spPr>
          <a:xfrm>
            <a:off x="1237195" y="393358"/>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02- </a:t>
            </a:r>
            <a:r>
              <a:rPr lang="zh-CN" altLang="en-US" sz="3000" b="1">
                <a:solidFill>
                  <a:srgbClr val="000000"/>
                </a:solidFill>
                <a:latin typeface="MiSans" pitchFamily="34" charset="0"/>
                <a:ea typeface="MiSans" pitchFamily="34" charset="-122"/>
                <a:cs typeface="MiSans" pitchFamily="34" charset="-120"/>
              </a:rPr>
              <a:t>前端实现</a:t>
            </a:r>
            <a:endParaRPr lang="en-US" sz="1600" dirty="0"/>
          </a:p>
        </p:txBody>
      </p:sp>
      <p:sp>
        <p:nvSpPr>
          <p:cNvPr id="38" name="Text 34">
            <a:extLst>
              <a:ext uri="{FF2B5EF4-FFF2-40B4-BE49-F238E27FC236}">
                <a16:creationId xmlns:a16="http://schemas.microsoft.com/office/drawing/2014/main" id="{D6310891-E266-9189-BDC1-B9356455CC2A}"/>
              </a:ext>
            </a:extLst>
          </p:cNvPr>
          <p:cNvSpPr/>
          <p:nvPr/>
        </p:nvSpPr>
        <p:spPr>
          <a:xfrm>
            <a:off x="7821658" y="809576"/>
            <a:ext cx="4330700" cy="435610"/>
          </a:xfrm>
          <a:prstGeom prst="rect">
            <a:avLst/>
          </a:prstGeom>
          <a:noFill/>
          <a:ln/>
        </p:spPr>
        <p:txBody>
          <a:bodyPr wrap="square" lIns="0" tIns="0" rIns="0" bIns="0" rtlCol="0" anchor="ctr"/>
          <a:lstStyle/>
          <a:p>
            <a:pPr algn="just">
              <a:lnSpc>
                <a:spcPct val="100000"/>
              </a:lnSpc>
            </a:pPr>
            <a:endParaRPr lang="en-US" sz="1600" dirty="0"/>
          </a:p>
        </p:txBody>
      </p:sp>
      <p:sp>
        <p:nvSpPr>
          <p:cNvPr id="55" name="Shape 27">
            <a:extLst>
              <a:ext uri="{FF2B5EF4-FFF2-40B4-BE49-F238E27FC236}">
                <a16:creationId xmlns:a16="http://schemas.microsoft.com/office/drawing/2014/main" id="{BF276720-7795-6A6C-64E1-12A6770A8241}"/>
              </a:ext>
            </a:extLst>
          </p:cNvPr>
          <p:cNvSpPr/>
          <p:nvPr/>
        </p:nvSpPr>
        <p:spPr>
          <a:xfrm>
            <a:off x="7337508" y="957910"/>
            <a:ext cx="106899" cy="172473"/>
          </a:xfrm>
          <a:prstGeom prst="chevron">
            <a:avLst>
              <a:gd name="adj" fmla="val 64013"/>
            </a:avLst>
          </a:prstGeom>
          <a:solidFill>
            <a:srgbClr val="FFFFFF"/>
          </a:solidFill>
          <a:ln/>
        </p:spPr>
        <p:txBody>
          <a:bodyPr/>
          <a:lstStyle/>
          <a:p>
            <a:endParaRPr lang="zh-CN" altLang="en-US"/>
          </a:p>
        </p:txBody>
      </p:sp>
      <p:pic>
        <p:nvPicPr>
          <p:cNvPr id="10241" name="Picture 1">
            <a:extLst>
              <a:ext uri="{FF2B5EF4-FFF2-40B4-BE49-F238E27FC236}">
                <a16:creationId xmlns:a16="http://schemas.microsoft.com/office/drawing/2014/main" id="{DCCC51A0-7E31-C8D0-5B57-BDAFCFBAE3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291" y="1834236"/>
            <a:ext cx="4858747" cy="441882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4DFAC696-6C65-AD68-5623-3C28E5E990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7099" y="627712"/>
            <a:ext cx="4779095" cy="4551519"/>
          </a:xfrm>
          <a:prstGeom prst="rect">
            <a:avLst/>
          </a:prstGeom>
          <a:noFill/>
          <a:extLst>
            <a:ext uri="{909E8E84-426E-40DD-AFC4-6F175D3DCCD1}">
              <a14:hiddenFill xmlns:a14="http://schemas.microsoft.com/office/drawing/2010/main">
                <a:solidFill>
                  <a:srgbClr val="FFFFFF"/>
                </a:solidFill>
              </a14:hiddenFill>
            </a:ext>
          </a:extLst>
        </p:spPr>
      </p:pic>
      <p:sp>
        <p:nvSpPr>
          <p:cNvPr id="15" name="Text 11">
            <a:extLst>
              <a:ext uri="{FF2B5EF4-FFF2-40B4-BE49-F238E27FC236}">
                <a16:creationId xmlns:a16="http://schemas.microsoft.com/office/drawing/2014/main" id="{1705BBB3-FED6-EFA0-B04D-37E76249399D}"/>
              </a:ext>
            </a:extLst>
          </p:cNvPr>
          <p:cNvSpPr/>
          <p:nvPr/>
        </p:nvSpPr>
        <p:spPr>
          <a:xfrm>
            <a:off x="7917722" y="5716446"/>
            <a:ext cx="3929089" cy="461665"/>
          </a:xfrm>
          <a:prstGeom prst="rect">
            <a:avLst/>
          </a:prstGeom>
          <a:noFill/>
          <a:ln/>
        </p:spPr>
        <p:txBody>
          <a:bodyPr wrap="square" lIns="91440" tIns="45720" rIns="91440" bIns="45720" rtlCol="0" anchor="ctr">
            <a:spAutoFit/>
          </a:bodyPr>
          <a:lstStyle/>
          <a:p>
            <a:pPr algn="just">
              <a:lnSpc>
                <a:spcPct val="100000"/>
              </a:lnSpc>
            </a:pPr>
            <a:r>
              <a:rPr lang="en-US" sz="2400" b="1">
                <a:solidFill>
                  <a:srgbClr val="1D3EBF"/>
                </a:solidFill>
                <a:latin typeface="Times New Roman" panose="02020603050405020304" pitchFamily="18" charset="0"/>
                <a:ea typeface="MiSans" pitchFamily="34" charset="-122"/>
                <a:cs typeface="Times New Roman" panose="02020603050405020304" pitchFamily="18" charset="0"/>
              </a:rPr>
              <a:t>Front-end interaction</a:t>
            </a:r>
            <a:endParaRPr lang="en-US" sz="1600" b="1"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AAB4FD81-5F76-1DBF-7C81-AD9FFB6F7FB4}"/>
              </a:ext>
            </a:extLst>
          </p:cNvPr>
          <p:cNvGrpSpPr/>
          <p:nvPr/>
        </p:nvGrpSpPr>
        <p:grpSpPr>
          <a:xfrm>
            <a:off x="7284117" y="5704403"/>
            <a:ext cx="438785" cy="434340"/>
            <a:chOff x="757237" y="1748473"/>
            <a:chExt cx="438785" cy="434340"/>
          </a:xfrm>
        </p:grpSpPr>
        <p:sp>
          <p:nvSpPr>
            <p:cNvPr id="20" name="Shape 9">
              <a:extLst>
                <a:ext uri="{FF2B5EF4-FFF2-40B4-BE49-F238E27FC236}">
                  <a16:creationId xmlns:a16="http://schemas.microsoft.com/office/drawing/2014/main" id="{83685820-23AC-B797-376D-49A8DF5A4418}"/>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21" name="Shape 10">
              <a:extLst>
                <a:ext uri="{FF2B5EF4-FFF2-40B4-BE49-F238E27FC236}">
                  <a16:creationId xmlns:a16="http://schemas.microsoft.com/office/drawing/2014/main" id="{7CF79FA3-B21A-C15A-F099-A9C425B93397}"/>
                </a:ext>
              </a:extLst>
            </p:cNvPr>
            <p:cNvSpPr/>
            <p:nvPr/>
          </p:nvSpPr>
          <p:spPr>
            <a:xfrm>
              <a:off x="919480" y="1881505"/>
              <a:ext cx="113665" cy="168910"/>
            </a:xfrm>
            <a:prstGeom prst="chevron">
              <a:avLst>
                <a:gd name="adj" fmla="val 64013"/>
              </a:avLst>
            </a:prstGeom>
            <a:solidFill>
              <a:srgbClr val="FFFFFF"/>
            </a:solidFill>
            <a:ln/>
          </p:spPr>
        </p:sp>
      </p:grpSp>
    </p:spTree>
    <p:extLst>
      <p:ext uri="{BB962C8B-B14F-4D97-AF65-F5344CB8AC3E}">
        <p14:creationId xmlns:p14="http://schemas.microsoft.com/office/powerpoint/2010/main" val="283336130"/>
      </p:ext>
    </p:extLst>
  </p:cSld>
  <p:clrMapOvr>
    <a:masterClrMapping/>
  </p:clrMapOvr>
  <p:transition>
    <p:fade/>
  </p:transition>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zh-CN" altLang="en-US" sz="5400">
                <a:solidFill>
                  <a:srgbClr val="000000"/>
                </a:solidFill>
                <a:latin typeface="MiSans" pitchFamily="34" charset="0"/>
                <a:ea typeface="MiSans" pitchFamily="34" charset="-122"/>
              </a:rPr>
              <a:t>敏捷开发流程</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03</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7" name="Image 0" descr="https://kimi-img.moonshot.cn/pub/slides/slides_tmpl/image/25-09-04-15:50:54-d2sk9nm1bb2p4onbqekg.png"/>
          <p:cNvPicPr>
            <a:picLocks noChangeAspect="1"/>
          </p:cNvPicPr>
          <p:nvPr/>
        </p:nvPicPr>
        <p:blipFill>
          <a:blip r:embed="rId3"/>
          <a:stretch>
            <a:fillRect/>
          </a:stretch>
        </p:blipFill>
        <p:spPr>
          <a:xfrm>
            <a:off x="0" y="1542415"/>
            <a:ext cx="12192000" cy="5315585"/>
          </a:xfrm>
          <a:prstGeom prst="rect">
            <a:avLst/>
          </a:prstGeom>
        </p:spPr>
      </p:pic>
      <p:sp>
        <p:nvSpPr>
          <p:cNvPr id="8" name="Shape 5"/>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a:ln/>
        </p:spPr>
      </p:sp>
      <p:sp>
        <p:nvSpPr>
          <p:cNvPr id="9" name="Text 6"/>
          <p:cNvSpPr/>
          <p:nvPr/>
        </p:nvSpPr>
        <p:spPr>
          <a:xfrm>
            <a:off x="6291731" y="8722360"/>
            <a:ext cx="287989" cy="698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7"/>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03- 需求与架构设计</a:t>
            </a:r>
            <a:r>
              <a:rPr lang="zh-CN" altLang="en-US" sz="3200" b="1">
                <a:solidFill>
                  <a:srgbClr val="000000"/>
                </a:solidFill>
                <a:latin typeface="MiSans" pitchFamily="34" charset="0"/>
                <a:ea typeface="MiSans" pitchFamily="34" charset="-122"/>
                <a:cs typeface="MiSans" pitchFamily="34" charset="-120"/>
              </a:rPr>
              <a:t>（</a:t>
            </a:r>
            <a:r>
              <a:rPr lang="en-US" altLang="zh-CN" sz="3200" b="1">
                <a:solidFill>
                  <a:srgbClr val="000000"/>
                </a:solidFill>
                <a:latin typeface="MiSans" pitchFamily="34" charset="0"/>
                <a:ea typeface="MiSans" pitchFamily="34" charset="-122"/>
                <a:cs typeface="MiSans" pitchFamily="34" charset="-120"/>
              </a:rPr>
              <a:t>sprint1</a:t>
            </a:r>
            <a:r>
              <a:rPr lang="zh-CN" altLang="en-US" sz="3200" b="1">
                <a:solidFill>
                  <a:srgbClr val="000000"/>
                </a:solidFill>
                <a:latin typeface="MiSans" pitchFamily="34" charset="0"/>
                <a:ea typeface="MiSans" pitchFamily="34" charset="-122"/>
                <a:cs typeface="MiSans" pitchFamily="34" charset="-120"/>
              </a:rPr>
              <a:t>）</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8"/>
          <p:cNvSpPr/>
          <p:nvPr/>
        </p:nvSpPr>
        <p:spPr>
          <a:xfrm>
            <a:off x="1679598" y="2715638"/>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9"/>
          <p:cNvSpPr/>
          <p:nvPr/>
        </p:nvSpPr>
        <p:spPr>
          <a:xfrm>
            <a:off x="966118" y="3329501"/>
            <a:ext cx="2576661" cy="375672"/>
          </a:xfrm>
          <a:prstGeom prst="rect">
            <a:avLst/>
          </a:prstGeom>
          <a:noFill/>
          <a:ln/>
        </p:spPr>
        <p:txBody>
          <a:bodyPr wrap="square" lIns="0" tIns="0" rIns="0"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需求澄清</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0"/>
          <p:cNvSpPr/>
          <p:nvPr/>
        </p:nvSpPr>
        <p:spPr>
          <a:xfrm>
            <a:off x="966118" y="3845586"/>
            <a:ext cx="2575045" cy="2495876"/>
          </a:xfrm>
          <a:prstGeom prst="rect">
            <a:avLst/>
          </a:prstGeom>
          <a:solidFill>
            <a:srgbClr val="000000">
              <a:alpha val="0"/>
            </a:srgbClr>
          </a:solidFill>
          <a:ln/>
        </p:spPr>
      </p:sp>
      <p:sp>
        <p:nvSpPr>
          <p:cNvPr id="14" name="Text 11"/>
          <p:cNvSpPr/>
          <p:nvPr/>
        </p:nvSpPr>
        <p:spPr>
          <a:xfrm>
            <a:off x="966118" y="3845586"/>
            <a:ext cx="2575045" cy="2495876"/>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聚焦需求分析与架构设计</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2"/>
          <p:cNvSpPr/>
          <p:nvPr/>
        </p:nvSpPr>
        <p:spPr>
          <a:xfrm>
            <a:off x="5545973" y="2707386"/>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3"/>
          <p:cNvSpPr/>
          <p:nvPr/>
        </p:nvSpPr>
        <p:spPr>
          <a:xfrm>
            <a:off x="4833128" y="3329501"/>
            <a:ext cx="2576661" cy="375672"/>
          </a:xfrm>
          <a:prstGeom prst="rect">
            <a:avLst/>
          </a:prstGeom>
          <a:noFill/>
          <a:ln/>
        </p:spPr>
        <p:txBody>
          <a:bodyPr wrap="square" lIns="0" tIns="0" rIns="0"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用户故事</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4"/>
          <p:cNvSpPr/>
          <p:nvPr/>
        </p:nvSpPr>
        <p:spPr>
          <a:xfrm>
            <a:off x="4833128" y="3837334"/>
            <a:ext cx="2575045" cy="2495876"/>
          </a:xfrm>
          <a:prstGeom prst="rect">
            <a:avLst/>
          </a:prstGeom>
          <a:solidFill>
            <a:srgbClr val="000000">
              <a:alpha val="0"/>
            </a:srgbClr>
          </a:solidFill>
          <a:ln/>
        </p:spPr>
      </p:sp>
      <p:sp>
        <p:nvSpPr>
          <p:cNvPr id="18" name="Text 15"/>
          <p:cNvSpPr/>
          <p:nvPr/>
        </p:nvSpPr>
        <p:spPr>
          <a:xfrm>
            <a:off x="4833128" y="3837334"/>
            <a:ext cx="2575045" cy="2495876"/>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召开需求研讨会明确用户故事、技术调研验证可行性</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6"/>
          <p:cNvSpPr/>
          <p:nvPr/>
        </p:nvSpPr>
        <p:spPr>
          <a:xfrm>
            <a:off x="9412983" y="2707386"/>
            <a:ext cx="1148389"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03</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7"/>
          <p:cNvSpPr/>
          <p:nvPr/>
        </p:nvSpPr>
        <p:spPr>
          <a:xfrm>
            <a:off x="8699503" y="3329501"/>
            <a:ext cx="2576661" cy="375672"/>
          </a:xfrm>
          <a:prstGeom prst="rect">
            <a:avLst/>
          </a:prstGeom>
          <a:noFill/>
          <a:ln/>
        </p:spPr>
        <p:txBody>
          <a:bodyPr wrap="square" lIns="0" tIns="0" rIns="0"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规格说明</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8"/>
          <p:cNvSpPr/>
          <p:nvPr/>
        </p:nvSpPr>
        <p:spPr>
          <a:xfrm>
            <a:off x="8699503" y="3837334"/>
            <a:ext cx="2575045" cy="2495876"/>
          </a:xfrm>
          <a:prstGeom prst="rect">
            <a:avLst/>
          </a:prstGeom>
          <a:solidFill>
            <a:srgbClr val="000000">
              <a:alpha val="0"/>
            </a:srgbClr>
          </a:solidFill>
          <a:ln/>
        </p:spPr>
      </p:sp>
      <p:sp>
        <p:nvSpPr>
          <p:cNvPr id="22" name="Text 19"/>
          <p:cNvSpPr/>
          <p:nvPr/>
        </p:nvSpPr>
        <p:spPr>
          <a:xfrm>
            <a:off x="8699503" y="3837334"/>
            <a:ext cx="2575045" cy="2495876"/>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配置开发环境，并产出需求规格说明书和系统架构图</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7" name="Image 0" descr="https://kimi-img.moonshot.cn/pub/slides/slides_tmpl/image/25-09-04-15:50:55-d2sk9nu1bb2p4onbqel0.png"/>
          <p:cNvPicPr>
            <a:picLocks noChangeAspect="1"/>
          </p:cNvPicPr>
          <p:nvPr/>
        </p:nvPicPr>
        <p:blipFill>
          <a:blip r:embed="rId3"/>
          <a:srcRect l="32" r="32"/>
          <a:stretch/>
        </p:blipFill>
        <p:spPr>
          <a:xfrm>
            <a:off x="7287895" y="-6350"/>
            <a:ext cx="4904105" cy="6864350"/>
          </a:xfrm>
          <a:prstGeom prst="rect">
            <a:avLst/>
          </a:prstGeom>
        </p:spPr>
      </p:pic>
      <p:sp>
        <p:nvSpPr>
          <p:cNvPr id="9" name="Text 6"/>
          <p:cNvSpPr/>
          <p:nvPr/>
        </p:nvSpPr>
        <p:spPr>
          <a:xfrm>
            <a:off x="7287895" y="-6350"/>
            <a:ext cx="488442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flipV="1">
            <a:off x="-1905" y="0"/>
            <a:ext cx="7306945" cy="6858000"/>
          </a:xfrm>
          <a:prstGeom prst="round1Rect">
            <a:avLst>
              <a:gd name="adj" fmla="val 16667"/>
            </a:avLst>
          </a:prstGeom>
          <a:solidFill>
            <a:srgbClr val="000000">
              <a:alpha val="0"/>
            </a:srgbClr>
          </a:solidFill>
          <a:ln/>
        </p:spPr>
      </p:sp>
      <p:sp>
        <p:nvSpPr>
          <p:cNvPr id="11" name="Text 8"/>
          <p:cNvSpPr/>
          <p:nvPr/>
        </p:nvSpPr>
        <p:spPr>
          <a:xfrm>
            <a:off x="-1905" y="0"/>
            <a:ext cx="7306945"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848360" y="6346190"/>
            <a:ext cx="163338" cy="153035"/>
          </a:xfrm>
          <a:prstGeom prst="rect">
            <a:avLst/>
          </a:prstGeom>
          <a:solidFill>
            <a:srgbClr val="004CC0"/>
          </a:solidFill>
          <a:ln/>
        </p:spPr>
      </p:sp>
      <p:sp>
        <p:nvSpPr>
          <p:cNvPr id="13" name="Text 10"/>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122291" y="6346190"/>
            <a:ext cx="163338" cy="153035"/>
          </a:xfrm>
          <a:prstGeom prst="rect">
            <a:avLst/>
          </a:prstGeom>
          <a:solidFill>
            <a:srgbClr val="004CC0"/>
          </a:solidFill>
          <a:ln/>
        </p:spPr>
      </p:sp>
      <p:sp>
        <p:nvSpPr>
          <p:cNvPr id="15" name="Text 12"/>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1396222" y="6346190"/>
            <a:ext cx="163338" cy="153035"/>
          </a:xfrm>
          <a:prstGeom prst="rect">
            <a:avLst/>
          </a:prstGeom>
          <a:solidFill>
            <a:srgbClr val="004CC0"/>
          </a:solidFill>
          <a:ln/>
        </p:spPr>
      </p:sp>
      <p:sp>
        <p:nvSpPr>
          <p:cNvPr id="17" name="Text 14"/>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5"/>
          <p:cNvSpPr/>
          <p:nvPr/>
        </p:nvSpPr>
        <p:spPr>
          <a:xfrm>
            <a:off x="340919" y="229994"/>
            <a:ext cx="10151745" cy="1077218"/>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03- 前后端开发与模型集成</a:t>
            </a:r>
            <a:r>
              <a:rPr lang="zh-CN" altLang="en-US" sz="3200" b="1">
                <a:solidFill>
                  <a:srgbClr val="000000"/>
                </a:solidFill>
                <a:latin typeface="MiSans" pitchFamily="34" charset="0"/>
                <a:ea typeface="MiSans" pitchFamily="34" charset="-122"/>
                <a:cs typeface="MiSans" pitchFamily="34" charset="-120"/>
              </a:rPr>
              <a:t> （</a:t>
            </a:r>
            <a:r>
              <a:rPr lang="en-US" altLang="zh-CN" sz="3200" b="1">
                <a:solidFill>
                  <a:srgbClr val="000000"/>
                </a:solidFill>
                <a:latin typeface="MiSans" pitchFamily="34" charset="0"/>
                <a:ea typeface="MiSans" pitchFamily="34" charset="-122"/>
                <a:cs typeface="MiSans" pitchFamily="34" charset="-120"/>
              </a:rPr>
              <a:t>sprint2</a:t>
            </a:r>
            <a:r>
              <a:rPr lang="zh-CN" altLang="en-US" sz="3200" b="1">
                <a:solidFill>
                  <a:srgbClr val="000000"/>
                </a:solidFill>
                <a:latin typeface="MiSans" pitchFamily="34" charset="0"/>
                <a:ea typeface="MiSans" pitchFamily="34" charset="-122"/>
                <a:cs typeface="MiSans" pitchFamily="34" charset="-120"/>
              </a:rPr>
              <a:t>）</a:t>
            </a:r>
            <a:endParaRPr lang="en-US" sz="3200" b="1">
              <a:solidFill>
                <a:srgbClr val="000000"/>
              </a:solidFill>
              <a:latin typeface="MiSans" pitchFamily="34" charset="0"/>
              <a:ea typeface="MiSans" pitchFamily="34" charset="-122"/>
              <a:cs typeface="MiSans" pitchFamily="34" charset="-120"/>
            </a:endParaRPr>
          </a:p>
          <a:p>
            <a:pPr>
              <a:lnSpc>
                <a:spcPct val="100000"/>
              </a:lnSpc>
            </a:pPr>
            <a:endParaRPr lang="en-US" altLang="zh-CN" sz="3200" b="1">
              <a:solidFill>
                <a:srgbClr val="000000"/>
              </a:solidFill>
              <a:latin typeface="MiSans" pitchFamily="34" charset="0"/>
              <a:ea typeface="MiSans" pitchFamily="34" charset="-122"/>
              <a:cs typeface="MiSans" pitchFamily="34" charset="-120"/>
            </a:endParaRPr>
          </a:p>
        </p:txBody>
      </p:sp>
      <p:sp>
        <p:nvSpPr>
          <p:cNvPr id="19" name="Shape 16"/>
          <p:cNvSpPr/>
          <p:nvPr/>
        </p:nvSpPr>
        <p:spPr>
          <a:xfrm flipH="1">
            <a:off x="6159661" y="5695950"/>
            <a:ext cx="2279328" cy="1162050"/>
          </a:xfrm>
          <a:custGeom>
            <a:avLst/>
            <a:gdLst/>
            <a:ahLst/>
            <a:cxnLst/>
            <a:rect l="l" t="t" r="r" b="b"/>
            <a:pathLst>
              <a:path w="2279328" h="1162050">
                <a:moveTo>
                  <a:pt x="2279328" y="1150620"/>
                </a:moveTo>
                <a:cubicBezTo>
                  <a:pt x="1688697" y="1161415"/>
                  <a:pt x="1119024" y="480060"/>
                  <a:pt x="1139982" y="0"/>
                </a:cubicBezTo>
                <a:cubicBezTo>
                  <a:pt x="1150143" y="607060"/>
                  <a:pt x="506800" y="1145540"/>
                  <a:pt x="0" y="1150620"/>
                </a:cubicBezTo>
                <a:cubicBezTo>
                  <a:pt x="49537" y="1149985"/>
                  <a:pt x="99074" y="1153795"/>
                  <a:pt x="147975" y="1162050"/>
                </a:cubicBezTo>
                <a:lnTo>
                  <a:pt x="2161837" y="1162050"/>
                </a:lnTo>
                <a:cubicBezTo>
                  <a:pt x="2201847" y="1155065"/>
                  <a:pt x="2241223" y="1151255"/>
                  <a:pt x="2279328" y="1150620"/>
                </a:cubicBezTo>
                <a:close/>
              </a:path>
            </a:pathLst>
          </a:custGeom>
          <a:solidFill>
            <a:srgbClr val="004CC0"/>
          </a:solidFill>
          <a:ln/>
        </p:spPr>
      </p:sp>
      <p:sp>
        <p:nvSpPr>
          <p:cNvPr id="20" name="Text 17"/>
          <p:cNvSpPr/>
          <p:nvPr/>
        </p:nvSpPr>
        <p:spPr>
          <a:xfrm>
            <a:off x="6159661" y="5695950"/>
            <a:ext cx="2279328" cy="116205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flipH="1">
            <a:off x="11388725" y="422910"/>
            <a:ext cx="614680" cy="575310"/>
          </a:xfrm>
          <a:custGeom>
            <a:avLst/>
            <a:gdLst/>
            <a:ahLst/>
            <a:cxnLst/>
            <a:rect l="l" t="t" r="r" b="b"/>
            <a:pathLst>
              <a:path w="614680" h="575310">
                <a:moveTo>
                  <a:pt x="614680" y="287655"/>
                </a:moveTo>
                <a:lnTo>
                  <a:pt x="606766" y="287655"/>
                </a:lnTo>
                <a:lnTo>
                  <a:pt x="598851" y="287655"/>
                </a:lnTo>
                <a:lnTo>
                  <a:pt x="592256" y="287655"/>
                </a:lnTo>
                <a:lnTo>
                  <a:pt x="592256" y="287655"/>
                </a:lnTo>
                <a:lnTo>
                  <a:pt x="600170" y="287655"/>
                </a:lnTo>
                <a:lnTo>
                  <a:pt x="606766" y="287655"/>
                </a:lnTo>
                <a:lnTo>
                  <a:pt x="614680" y="287655"/>
                </a:lnTo>
                <a:close/>
                <a:moveTo>
                  <a:pt x="592256" y="287655"/>
                </a:moveTo>
                <a:cubicBezTo>
                  <a:pt x="444522" y="290294"/>
                  <a:pt x="302064" y="120076"/>
                  <a:pt x="307340" y="0"/>
                </a:cubicBezTo>
                <a:cubicBezTo>
                  <a:pt x="309978" y="151745"/>
                  <a:pt x="149053" y="286335"/>
                  <a:pt x="22424" y="287655"/>
                </a:cubicBezTo>
                <a:cubicBezTo>
                  <a:pt x="170158" y="285016"/>
                  <a:pt x="312616" y="455234"/>
                  <a:pt x="307340" y="575310"/>
                </a:cubicBezTo>
                <a:cubicBezTo>
                  <a:pt x="304702" y="424885"/>
                  <a:pt x="465627" y="290294"/>
                  <a:pt x="592256" y="287655"/>
                </a:cubicBezTo>
                <a:close/>
                <a:moveTo>
                  <a:pt x="22424" y="287655"/>
                </a:moveTo>
                <a:lnTo>
                  <a:pt x="21105" y="287655"/>
                </a:lnTo>
                <a:lnTo>
                  <a:pt x="14510" y="287655"/>
                </a:lnTo>
                <a:lnTo>
                  <a:pt x="6595" y="287655"/>
                </a:lnTo>
                <a:lnTo>
                  <a:pt x="0" y="287655"/>
                </a:lnTo>
                <a:lnTo>
                  <a:pt x="7914" y="287655"/>
                </a:lnTo>
                <a:lnTo>
                  <a:pt x="15829" y="287655"/>
                </a:lnTo>
                <a:lnTo>
                  <a:pt x="22424" y="287655"/>
                </a:lnTo>
                <a:close/>
              </a:path>
            </a:pathLst>
          </a:custGeom>
          <a:solidFill>
            <a:srgbClr val="FFFFFF"/>
          </a:solidFill>
          <a:ln/>
        </p:spPr>
      </p:sp>
      <p:sp>
        <p:nvSpPr>
          <p:cNvPr id="22" name="Text 19"/>
          <p:cNvSpPr/>
          <p:nvPr/>
        </p:nvSpPr>
        <p:spPr>
          <a:xfrm>
            <a:off x="11388725" y="422910"/>
            <a:ext cx="614680" cy="57531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0"/>
          <p:cNvSpPr/>
          <p:nvPr/>
        </p:nvSpPr>
        <p:spPr>
          <a:xfrm flipH="1">
            <a:off x="11549380" y="559816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4" name="Text 21"/>
          <p:cNvSpPr/>
          <p:nvPr/>
        </p:nvSpPr>
        <p:spPr>
          <a:xfrm>
            <a:off x="11549380" y="559816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2"/>
          <p:cNvSpPr/>
          <p:nvPr/>
        </p:nvSpPr>
        <p:spPr>
          <a:xfrm flipH="1">
            <a:off x="11549380" y="61252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6" name="Text 23"/>
          <p:cNvSpPr/>
          <p:nvPr/>
        </p:nvSpPr>
        <p:spPr>
          <a:xfrm>
            <a:off x="11549380" y="612521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4"/>
          <p:cNvSpPr/>
          <p:nvPr/>
        </p:nvSpPr>
        <p:spPr>
          <a:xfrm flipH="1">
            <a:off x="11549380" y="507111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8" name="Text 25"/>
          <p:cNvSpPr/>
          <p:nvPr/>
        </p:nvSpPr>
        <p:spPr>
          <a:xfrm>
            <a:off x="11549380" y="507111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6"/>
          <p:cNvSpPr/>
          <p:nvPr/>
        </p:nvSpPr>
        <p:spPr>
          <a:xfrm>
            <a:off x="11696065" y="1156335"/>
            <a:ext cx="0" cy="3600000"/>
          </a:xfrm>
          <a:prstGeom prst="line">
            <a:avLst/>
          </a:prstGeom>
          <a:noFill/>
          <a:ln w="19050">
            <a:solidFill>
              <a:srgbClr val="FFFFFF"/>
            </a:solidFill>
            <a:prstDash val="solid"/>
            <a:headEnd type="none"/>
            <a:tailEnd type="none"/>
          </a:ln>
        </p:spPr>
      </p:sp>
      <p:pic>
        <p:nvPicPr>
          <p:cNvPr id="30" name="Image 1" descr="https://kimi-img.moonshot.cn/pub/slides/slides_tmpl/image/25-09-04-15:50:52-d2sk9n61bb2p4onbqeeg.png"/>
          <p:cNvPicPr>
            <a:picLocks noChangeAspect="1"/>
          </p:cNvPicPr>
          <p:nvPr/>
        </p:nvPicPr>
        <p:blipFill>
          <a:blip r:embed="rId4"/>
          <a:srcRect/>
          <a:stretch/>
        </p:blipFill>
        <p:spPr>
          <a:xfrm>
            <a:off x="684530" y="1392059"/>
            <a:ext cx="6019800" cy="546100"/>
          </a:xfrm>
          <a:prstGeom prst="rect">
            <a:avLst/>
          </a:prstGeom>
        </p:spPr>
      </p:pic>
      <p:pic>
        <p:nvPicPr>
          <p:cNvPr id="31" name="Image 2" descr="https://kimi-img.moonshot.cn/pub/slides/slides_tmpl/image/25-09-04-15:50:52-d2sk9n61bb2p4onbqef0.png"/>
          <p:cNvPicPr>
            <a:picLocks noChangeAspect="1"/>
          </p:cNvPicPr>
          <p:nvPr/>
        </p:nvPicPr>
        <p:blipFill>
          <a:blip r:embed="rId5"/>
          <a:srcRect/>
          <a:stretch/>
        </p:blipFill>
        <p:spPr>
          <a:xfrm>
            <a:off x="779146" y="3830954"/>
            <a:ext cx="6032500" cy="546100"/>
          </a:xfrm>
          <a:prstGeom prst="rect">
            <a:avLst/>
          </a:prstGeom>
        </p:spPr>
      </p:pic>
      <p:sp>
        <p:nvSpPr>
          <p:cNvPr id="32" name="Shape 27"/>
          <p:cNvSpPr/>
          <p:nvPr/>
        </p:nvSpPr>
        <p:spPr>
          <a:xfrm flipH="1" flipV="1">
            <a:off x="11056781" y="0"/>
            <a:ext cx="1135219" cy="1058229"/>
          </a:xfrm>
          <a:custGeom>
            <a:avLst/>
            <a:gdLst/>
            <a:ahLst/>
            <a:cxnLst/>
            <a:rect l="l" t="t" r="r" b="b"/>
            <a:pathLst>
              <a:path w="1135219" h="1058229">
                <a:moveTo>
                  <a:pt x="1135219" y="1046802"/>
                </a:moveTo>
                <a:cubicBezTo>
                  <a:pt x="586022" y="1056325"/>
                  <a:pt x="55237" y="468490"/>
                  <a:pt x="0" y="0"/>
                </a:cubicBezTo>
                <a:lnTo>
                  <a:pt x="0" y="1058229"/>
                </a:lnTo>
                <a:lnTo>
                  <a:pt x="1017761" y="1058229"/>
                </a:lnTo>
                <a:cubicBezTo>
                  <a:pt x="1057760" y="1051246"/>
                  <a:pt x="1097124" y="1047437"/>
                  <a:pt x="1135219" y="1046802"/>
                </a:cubicBezTo>
                <a:close/>
              </a:path>
            </a:pathLst>
          </a:custGeom>
          <a:solidFill>
            <a:srgbClr val="004CC0"/>
          </a:solidFill>
          <a:ln/>
        </p:spPr>
      </p:sp>
      <p:sp>
        <p:nvSpPr>
          <p:cNvPr id="33" name="Text 28"/>
          <p:cNvSpPr/>
          <p:nvPr/>
        </p:nvSpPr>
        <p:spPr>
          <a:xfrm>
            <a:off x="11056781" y="0"/>
            <a:ext cx="1135219" cy="1058229"/>
          </a:xfrm>
          <a:prstGeom prst="rect">
            <a:avLst/>
          </a:prstGeom>
          <a:noFill/>
          <a:ln/>
        </p:spPr>
        <p:txBody>
          <a:bodyPr wrap="square" lIns="45720" tIns="91440" rIns="91440" bIns="45720" rtlCol="0" anchor="ctr"/>
          <a:lstStyle/>
          <a:p>
            <a:pPr>
              <a:lnSpc>
                <a:spcPct val="100000"/>
              </a:lnSpc>
            </a:pPr>
            <a:endParaRPr lang="en-US" sz="1600" dirty="0"/>
          </a:p>
        </p:txBody>
      </p:sp>
      <p:sp>
        <p:nvSpPr>
          <p:cNvPr id="34" name="Text 29"/>
          <p:cNvSpPr/>
          <p:nvPr/>
        </p:nvSpPr>
        <p:spPr>
          <a:xfrm>
            <a:off x="684530" y="1417320"/>
            <a:ext cx="5901055" cy="306784"/>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前后端开发</a:t>
            </a:r>
            <a:endParaRPr lang="en-US" sz="1600" dirty="0"/>
          </a:p>
        </p:txBody>
      </p:sp>
      <p:sp>
        <p:nvSpPr>
          <p:cNvPr id="35" name="Text 30"/>
          <p:cNvSpPr/>
          <p:nvPr/>
        </p:nvSpPr>
        <p:spPr>
          <a:xfrm>
            <a:off x="684530" y="1990090"/>
            <a:ext cx="6149975" cy="705450"/>
          </a:xfrm>
          <a:prstGeom prst="rect">
            <a:avLst/>
          </a:prstGeom>
          <a:noFill/>
          <a:ln/>
        </p:spPr>
        <p:txBody>
          <a:bodyPr wrap="square" lIns="91440" tIns="45720" rIns="91440" bIns="45720" rtlCol="0" anchor="t">
            <a:spAutoFit/>
          </a:bodyPr>
          <a:lstStyle/>
          <a:p>
            <a:pPr algn="just">
              <a:lnSpc>
                <a:spcPct val="130000"/>
              </a:lnSpc>
            </a:pPr>
            <a:r>
              <a:rPr lang="zh-CN" altLang="en-US" sz="1600">
                <a:solidFill>
                  <a:srgbClr val="000000"/>
                </a:solidFill>
                <a:latin typeface="MiSans" pitchFamily="34" charset="0"/>
                <a:ea typeface="MiSans" pitchFamily="34" charset="-122"/>
                <a:cs typeface="MiSans" pitchFamily="34" charset="-120"/>
              </a:rPr>
              <a:t>前后端开发，涵盖后端服务搭建与</a:t>
            </a:r>
            <a:r>
              <a:rPr lang="en-US" altLang="zh-CN" sz="1600">
                <a:solidFill>
                  <a:srgbClr val="000000"/>
                </a:solidFill>
                <a:latin typeface="MiSans" pitchFamily="34" charset="0"/>
                <a:ea typeface="MiSans" pitchFamily="34" charset="-122"/>
                <a:cs typeface="MiSans" pitchFamily="34" charset="-120"/>
              </a:rPr>
              <a:t>LogLLM</a:t>
            </a:r>
            <a:r>
              <a:rPr lang="zh-CN" altLang="en-US" sz="1600">
                <a:solidFill>
                  <a:srgbClr val="000000"/>
                </a:solidFill>
                <a:latin typeface="MiSans" pitchFamily="34" charset="0"/>
                <a:ea typeface="MiSans" pitchFamily="34" charset="-122"/>
                <a:cs typeface="MiSans" pitchFamily="34" charset="-120"/>
              </a:rPr>
              <a:t>模型集成、前端界面实现，前后端数据通信对接</a:t>
            </a:r>
            <a:endParaRPr lang="en-US" sz="1600" dirty="0"/>
          </a:p>
        </p:txBody>
      </p:sp>
      <p:sp>
        <p:nvSpPr>
          <p:cNvPr id="36" name="Text 31"/>
          <p:cNvSpPr/>
          <p:nvPr/>
        </p:nvSpPr>
        <p:spPr>
          <a:xfrm>
            <a:off x="781050" y="3860800"/>
            <a:ext cx="5901055" cy="400110"/>
          </a:xfrm>
          <a:prstGeom prst="rect">
            <a:avLst/>
          </a:prstGeom>
          <a:noFill/>
          <a:ln/>
        </p:spPr>
        <p:txBody>
          <a:bodyPr wrap="square" lIns="91440" tIns="45720" rIns="91440" bIns="45720" rtlCol="0" anchor="t">
            <a:spAutoFit/>
          </a:bodyPr>
          <a:lstStyle/>
          <a:p>
            <a:pPr algn="ctr">
              <a:lnSpc>
                <a:spcPct val="100000"/>
              </a:lnSpc>
            </a:pPr>
            <a:r>
              <a:rPr lang="en-US" sz="2000">
                <a:solidFill>
                  <a:srgbClr val="FFFFFF"/>
                </a:solidFill>
                <a:latin typeface="MiSans" pitchFamily="34" charset="0"/>
                <a:ea typeface="MiSans" pitchFamily="34" charset="-122"/>
                <a:cs typeface="MiSans" pitchFamily="34" charset="-120"/>
              </a:rPr>
              <a:t>模型集成</a:t>
            </a:r>
            <a:r>
              <a:rPr lang="zh-CN" altLang="en-US" sz="2000">
                <a:solidFill>
                  <a:srgbClr val="FFFFFF"/>
                </a:solidFill>
                <a:latin typeface="MiSans" pitchFamily="34" charset="0"/>
                <a:ea typeface="MiSans" pitchFamily="34" charset="-122"/>
                <a:cs typeface="MiSans" pitchFamily="34" charset="-120"/>
              </a:rPr>
              <a:t>与交付</a:t>
            </a:r>
            <a:endParaRPr lang="en-US" sz="1600" dirty="0"/>
          </a:p>
        </p:txBody>
      </p:sp>
      <p:sp>
        <p:nvSpPr>
          <p:cNvPr id="37" name="Text 32"/>
          <p:cNvSpPr/>
          <p:nvPr/>
        </p:nvSpPr>
        <p:spPr>
          <a:xfrm>
            <a:off x="781050" y="4433570"/>
            <a:ext cx="6149975" cy="385362"/>
          </a:xfrm>
          <a:prstGeom prst="rect">
            <a:avLst/>
          </a:prstGeom>
          <a:noFill/>
          <a:ln/>
        </p:spPr>
        <p:txBody>
          <a:bodyPr wrap="square" lIns="91440" tIns="45720" rIns="91440" bIns="45720" rtlCol="0" anchor="t">
            <a:spAutoFit/>
          </a:bodyPr>
          <a:lstStyle/>
          <a:p>
            <a:pPr algn="just">
              <a:lnSpc>
                <a:spcPct val="130000"/>
              </a:lnSpc>
            </a:pPr>
            <a:r>
              <a:rPr lang="zh-CN" altLang="en-US" sz="1600">
                <a:solidFill>
                  <a:srgbClr val="000000"/>
                </a:solidFill>
                <a:latin typeface="MiSans" pitchFamily="34" charset="0"/>
                <a:ea typeface="MiSans" pitchFamily="34" charset="-122"/>
                <a:cs typeface="MiSans" pitchFamily="34" charset="-120"/>
              </a:rPr>
              <a:t>以及自定义</a:t>
            </a:r>
            <a:r>
              <a:rPr lang="en-US" altLang="zh-CN" sz="1600">
                <a:solidFill>
                  <a:srgbClr val="000000"/>
                </a:solidFill>
                <a:latin typeface="MiSans" pitchFamily="34" charset="0"/>
                <a:ea typeface="MiSans" pitchFamily="34" charset="-122"/>
                <a:cs typeface="MiSans" pitchFamily="34" charset="-120"/>
              </a:rPr>
              <a:t>prompt</a:t>
            </a:r>
            <a:r>
              <a:rPr lang="zh-CN" altLang="en-US" sz="1600">
                <a:solidFill>
                  <a:srgbClr val="000000"/>
                </a:solidFill>
                <a:latin typeface="MiSans" pitchFamily="34" charset="0"/>
                <a:ea typeface="MiSans" pitchFamily="34" charset="-122"/>
                <a:cs typeface="MiSans" pitchFamily="34" charset="-120"/>
              </a:rPr>
              <a:t>等功能的完善，交付可运行插件原型</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7" name="Shape 5"/>
          <p:cNvSpPr/>
          <p:nvPr/>
        </p:nvSpPr>
        <p:spPr>
          <a:xfrm>
            <a:off x="-14605" y="6308725"/>
            <a:ext cx="12221210" cy="548640"/>
          </a:xfrm>
          <a:prstGeom prst="roundRect">
            <a:avLst>
              <a:gd name="adj" fmla="val 0"/>
            </a:avLst>
          </a:prstGeom>
          <a:solidFill>
            <a:srgbClr val="004CC0"/>
          </a:solidFill>
          <a:ln/>
        </p:spPr>
      </p:sp>
      <p:sp>
        <p:nvSpPr>
          <p:cNvPr id="8" name="Text 6"/>
          <p:cNvSpPr/>
          <p:nvPr/>
        </p:nvSpPr>
        <p:spPr>
          <a:xfrm>
            <a:off x="-14605" y="6308725"/>
            <a:ext cx="12221210" cy="54864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754380" y="1522010"/>
            <a:ext cx="3212560" cy="4269096"/>
          </a:xfrm>
          <a:prstGeom prst="rect">
            <a:avLst/>
          </a:prstGeom>
          <a:solidFill>
            <a:srgbClr val="FFFFFF"/>
          </a:solidFill>
          <a:ln w="19050">
            <a:solidFill>
              <a:srgbClr val="004CC0"/>
            </a:solidFill>
            <a:prstDash val="solid"/>
          </a:ln>
        </p:spPr>
      </p:sp>
      <p:sp>
        <p:nvSpPr>
          <p:cNvPr id="10" name="Text 8"/>
          <p:cNvSpPr/>
          <p:nvPr/>
        </p:nvSpPr>
        <p:spPr>
          <a:xfrm>
            <a:off x="754380" y="1522010"/>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1008434" y="3047060"/>
            <a:ext cx="2704451" cy="37276"/>
          </a:xfrm>
          <a:prstGeom prst="rect">
            <a:avLst/>
          </a:prstGeom>
          <a:solidFill>
            <a:srgbClr val="004CC0"/>
          </a:solidFill>
          <a:ln/>
        </p:spPr>
      </p:sp>
      <p:sp>
        <p:nvSpPr>
          <p:cNvPr id="12" name="Text 10"/>
          <p:cNvSpPr/>
          <p:nvPr/>
        </p:nvSpPr>
        <p:spPr>
          <a:xfrm>
            <a:off x="1008434" y="3047060"/>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480513" y="1262385"/>
            <a:ext cx="3212560" cy="4269096"/>
          </a:xfrm>
          <a:prstGeom prst="rect">
            <a:avLst/>
          </a:prstGeom>
          <a:solidFill>
            <a:srgbClr val="FFFFFF"/>
          </a:solidFill>
          <a:ln w="19050">
            <a:solidFill>
              <a:srgbClr val="004CC0"/>
            </a:solidFill>
            <a:prstDash val="solid"/>
          </a:ln>
        </p:spPr>
      </p:sp>
      <p:sp>
        <p:nvSpPr>
          <p:cNvPr id="14" name="Text 12"/>
          <p:cNvSpPr/>
          <p:nvPr/>
        </p:nvSpPr>
        <p:spPr>
          <a:xfrm>
            <a:off x="4480513" y="1262385"/>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4734567" y="2787435"/>
            <a:ext cx="2704451" cy="37276"/>
          </a:xfrm>
          <a:prstGeom prst="rect">
            <a:avLst/>
          </a:prstGeom>
          <a:solidFill>
            <a:srgbClr val="004CC0"/>
          </a:solidFill>
          <a:ln/>
        </p:spPr>
      </p:sp>
      <p:sp>
        <p:nvSpPr>
          <p:cNvPr id="16" name="Text 14"/>
          <p:cNvSpPr/>
          <p:nvPr/>
        </p:nvSpPr>
        <p:spPr>
          <a:xfrm>
            <a:off x="4734567" y="2787435"/>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8206645" y="1002760"/>
            <a:ext cx="3212560" cy="4269096"/>
          </a:xfrm>
          <a:prstGeom prst="rect">
            <a:avLst/>
          </a:prstGeom>
          <a:solidFill>
            <a:srgbClr val="FFFFFF"/>
          </a:solidFill>
          <a:ln w="19050">
            <a:solidFill>
              <a:srgbClr val="004CC0"/>
            </a:solidFill>
            <a:prstDash val="solid"/>
          </a:ln>
        </p:spPr>
      </p:sp>
      <p:sp>
        <p:nvSpPr>
          <p:cNvPr id="18" name="Text 16"/>
          <p:cNvSpPr/>
          <p:nvPr/>
        </p:nvSpPr>
        <p:spPr>
          <a:xfrm>
            <a:off x="8206645" y="1002760"/>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8460699" y="2527811"/>
            <a:ext cx="2704451" cy="37276"/>
          </a:xfrm>
          <a:prstGeom prst="rect">
            <a:avLst/>
          </a:prstGeom>
          <a:solidFill>
            <a:srgbClr val="004CC0"/>
          </a:solidFill>
          <a:ln/>
        </p:spPr>
      </p:sp>
      <p:sp>
        <p:nvSpPr>
          <p:cNvPr id="20" name="Text 18"/>
          <p:cNvSpPr/>
          <p:nvPr/>
        </p:nvSpPr>
        <p:spPr>
          <a:xfrm>
            <a:off x="8460699" y="2527811"/>
            <a:ext cx="2704451" cy="37276"/>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3964208" y="1275464"/>
            <a:ext cx="527914" cy="4519565"/>
          </a:xfrm>
          <a:custGeom>
            <a:avLst/>
            <a:gdLst/>
            <a:ahLst/>
            <a:cxnLst/>
            <a:rect l="l" t="t" r="r" b="b"/>
            <a:pathLst>
              <a:path w="527914" h="4519565">
                <a:moveTo>
                  <a:pt x="527914" y="0"/>
                </a:moveTo>
                <a:lnTo>
                  <a:pt x="0" y="241314"/>
                </a:lnTo>
                <a:lnTo>
                  <a:pt x="0" y="4519565"/>
                </a:lnTo>
                <a:lnTo>
                  <a:pt x="518353" y="4254708"/>
                </a:lnTo>
                <a:lnTo>
                  <a:pt x="527914" y="0"/>
                </a:lnTo>
                <a:close/>
              </a:path>
            </a:pathLst>
          </a:custGeom>
          <a:solidFill>
            <a:srgbClr val="004CC0"/>
          </a:solidFill>
          <a:ln/>
        </p:spPr>
      </p:sp>
      <p:sp>
        <p:nvSpPr>
          <p:cNvPr id="22" name="Text 20"/>
          <p:cNvSpPr/>
          <p:nvPr/>
        </p:nvSpPr>
        <p:spPr>
          <a:xfrm>
            <a:off x="3964208" y="1275464"/>
            <a:ext cx="527914" cy="4519565"/>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1"/>
          <p:cNvSpPr/>
          <p:nvPr/>
        </p:nvSpPr>
        <p:spPr>
          <a:xfrm>
            <a:off x="7688292" y="999490"/>
            <a:ext cx="527914" cy="4545724"/>
          </a:xfrm>
          <a:custGeom>
            <a:avLst/>
            <a:gdLst/>
            <a:ahLst/>
            <a:cxnLst/>
            <a:rect l="l" t="t" r="r" b="b"/>
            <a:pathLst>
              <a:path w="527914" h="4545724">
                <a:moveTo>
                  <a:pt x="527914" y="0"/>
                </a:moveTo>
                <a:lnTo>
                  <a:pt x="0" y="242710"/>
                </a:lnTo>
                <a:lnTo>
                  <a:pt x="0" y="4545724"/>
                </a:lnTo>
                <a:lnTo>
                  <a:pt x="518353" y="4279334"/>
                </a:lnTo>
                <a:lnTo>
                  <a:pt x="527914" y="0"/>
                </a:lnTo>
                <a:close/>
              </a:path>
            </a:pathLst>
          </a:custGeom>
          <a:solidFill>
            <a:srgbClr val="004CC0"/>
          </a:solidFill>
          <a:ln/>
        </p:spPr>
      </p:sp>
      <p:sp>
        <p:nvSpPr>
          <p:cNvPr id="24" name="Text 22"/>
          <p:cNvSpPr/>
          <p:nvPr/>
        </p:nvSpPr>
        <p:spPr>
          <a:xfrm>
            <a:off x="7688292" y="999490"/>
            <a:ext cx="527914" cy="4545724"/>
          </a:xfrm>
          <a:prstGeom prst="rect">
            <a:avLst/>
          </a:prstGeom>
          <a:noFill/>
          <a:ln/>
        </p:spPr>
        <p:txBody>
          <a:bodyPr wrap="square" lIns="45720" tIns="91440" rIns="91440" bIns="45720" rtlCol="0" anchor="ctr"/>
          <a:lstStyle/>
          <a:p>
            <a:pPr>
              <a:lnSpc>
                <a:spcPct val="100000"/>
              </a:lnSpc>
            </a:pPr>
            <a:endParaRPr lang="en-US" sz="1600" dirty="0"/>
          </a:p>
        </p:txBody>
      </p:sp>
      <p:sp>
        <p:nvSpPr>
          <p:cNvPr id="25" name="Text 23"/>
          <p:cNvSpPr/>
          <p:nvPr/>
        </p:nvSpPr>
        <p:spPr>
          <a:xfrm>
            <a:off x="582930" y="211455"/>
            <a:ext cx="10151745" cy="584775"/>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03- 测试优化与</a:t>
            </a:r>
            <a:r>
              <a:rPr lang="zh-CN" altLang="en-US" sz="3200" b="1">
                <a:solidFill>
                  <a:srgbClr val="000000"/>
                </a:solidFill>
                <a:latin typeface="MiSans" pitchFamily="34" charset="0"/>
                <a:ea typeface="MiSans" pitchFamily="34" charset="-122"/>
                <a:cs typeface="MiSans" pitchFamily="34" charset="-120"/>
              </a:rPr>
              <a:t>交付成果 （</a:t>
            </a:r>
            <a:r>
              <a:rPr lang="en-US" altLang="zh-CN" sz="3200" b="1">
                <a:solidFill>
                  <a:srgbClr val="000000"/>
                </a:solidFill>
                <a:latin typeface="MiSans" pitchFamily="34" charset="0"/>
                <a:ea typeface="MiSans" pitchFamily="34" charset="-122"/>
                <a:cs typeface="MiSans" pitchFamily="34" charset="-120"/>
              </a:rPr>
              <a:t>sprint3)</a:t>
            </a:r>
            <a:endParaRPr lang="en-US" sz="1600" dirty="0"/>
          </a:p>
        </p:txBody>
      </p:sp>
      <p:sp>
        <p:nvSpPr>
          <p:cNvPr id="26" name="Text 24"/>
          <p:cNvSpPr/>
          <p:nvPr/>
        </p:nvSpPr>
        <p:spPr>
          <a:xfrm>
            <a:off x="964726" y="1682885"/>
            <a:ext cx="642649" cy="429617"/>
          </a:xfrm>
          <a:prstGeom prst="rect">
            <a:avLst/>
          </a:prstGeom>
          <a:solidFill>
            <a:srgbClr val="004CC0"/>
          </a:solidFill>
          <a:ln/>
        </p:spPr>
        <p:txBody>
          <a:bodyPr wrap="square" lIns="91440" tIns="45720" rIns="91440" bIns="45720" rtlCol="0" anchor="t">
            <a:spAutoFit/>
          </a:bodyPr>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01</a:t>
            </a:r>
            <a:endParaRPr lang="en-US" sz="1600" dirty="0"/>
          </a:p>
        </p:txBody>
      </p:sp>
      <p:sp>
        <p:nvSpPr>
          <p:cNvPr id="27" name="Text 25"/>
          <p:cNvSpPr/>
          <p:nvPr/>
        </p:nvSpPr>
        <p:spPr>
          <a:xfrm>
            <a:off x="931945" y="2320503"/>
            <a:ext cx="2857430" cy="306784"/>
          </a:xfrm>
          <a:prstGeom prst="rect">
            <a:avLst/>
          </a:prstGeom>
          <a:noFill/>
          <a:ln/>
        </p:spPr>
        <p:txBody>
          <a:bodyPr wrap="square" lIns="91440" tIns="45720" rIns="91440" bIns="45720" rtlCol="0" anchor="t">
            <a:spAutoFit/>
          </a:bodyPr>
          <a:lstStyle/>
          <a:p>
            <a:pPr algn="just">
              <a:lnSpc>
                <a:spcPct val="100000"/>
              </a:lnSpc>
            </a:pPr>
            <a:r>
              <a:rPr lang="en-US" sz="2000" dirty="0">
                <a:solidFill>
                  <a:srgbClr val="1D3EBF"/>
                </a:solidFill>
                <a:latin typeface="MiSans" pitchFamily="34" charset="0"/>
                <a:ea typeface="MiSans" pitchFamily="34" charset="-122"/>
                <a:cs typeface="MiSans" pitchFamily="34" charset="-120"/>
              </a:rPr>
              <a:t>多维度测试</a:t>
            </a:r>
            <a:endParaRPr lang="en-US" sz="1600" dirty="0"/>
          </a:p>
        </p:txBody>
      </p:sp>
      <p:sp>
        <p:nvSpPr>
          <p:cNvPr id="28" name="Text 26"/>
          <p:cNvSpPr/>
          <p:nvPr/>
        </p:nvSpPr>
        <p:spPr>
          <a:xfrm>
            <a:off x="932628" y="3153003"/>
            <a:ext cx="2856064" cy="830263"/>
          </a:xfrm>
          <a:prstGeom prst="rect">
            <a:avLst/>
          </a:prstGeom>
          <a:noFill/>
          <a:ln/>
        </p:spPr>
        <p:txBody>
          <a:bodyPr wrap="square" lIns="91440" tIns="45720" rIns="91440" bIns="45720" rtlCol="0" anchor="t">
            <a:spAutoFit/>
          </a:bodyPr>
          <a:lstStyle/>
          <a:p>
            <a:pPr algn="just">
              <a:lnSpc>
                <a:spcPct val="110000"/>
              </a:lnSpc>
            </a:pPr>
            <a:r>
              <a:rPr lang="en-US" sz="1600" dirty="0">
                <a:solidFill>
                  <a:srgbClr val="000000"/>
                </a:solidFill>
                <a:latin typeface="MiSans" pitchFamily="34" charset="0"/>
                <a:ea typeface="MiSans" pitchFamily="34" charset="-122"/>
                <a:cs typeface="MiSans" pitchFamily="34" charset="-120"/>
              </a:rPr>
              <a:t>进行功能、性能、安全、兼容四维度测试，确保系统稳定可靠。</a:t>
            </a:r>
            <a:endParaRPr lang="en-US" sz="1600" dirty="0"/>
          </a:p>
        </p:txBody>
      </p:sp>
      <p:sp>
        <p:nvSpPr>
          <p:cNvPr id="29" name="Text 27"/>
          <p:cNvSpPr/>
          <p:nvPr/>
        </p:nvSpPr>
        <p:spPr>
          <a:xfrm>
            <a:off x="4690859" y="1423261"/>
            <a:ext cx="695918" cy="616691"/>
          </a:xfrm>
          <a:prstGeom prst="rect">
            <a:avLst/>
          </a:prstGeom>
          <a:solidFill>
            <a:srgbClr val="004CC0"/>
          </a:solidFill>
          <a:ln/>
        </p:spPr>
        <p:txBody>
          <a:bodyPr wrap="square" lIns="91440" tIns="45720" rIns="91440" bIns="45720" rtlCol="0" anchor="t"/>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02</a:t>
            </a:r>
            <a:endParaRPr lang="en-US" sz="1600" dirty="0"/>
          </a:p>
        </p:txBody>
      </p:sp>
      <p:sp>
        <p:nvSpPr>
          <p:cNvPr id="30" name="Text 28"/>
          <p:cNvSpPr/>
          <p:nvPr/>
        </p:nvSpPr>
        <p:spPr>
          <a:xfrm>
            <a:off x="4658077" y="2060878"/>
            <a:ext cx="2857430" cy="306784"/>
          </a:xfrm>
          <a:prstGeom prst="rect">
            <a:avLst/>
          </a:prstGeom>
          <a:noFill/>
          <a:ln/>
        </p:spPr>
        <p:txBody>
          <a:bodyPr wrap="square" lIns="91440" tIns="45720" rIns="91440" bIns="45720" rtlCol="0" anchor="t">
            <a:spAutoFit/>
          </a:bodyPr>
          <a:lstStyle/>
          <a:p>
            <a:pPr algn="just">
              <a:lnSpc>
                <a:spcPct val="100000"/>
              </a:lnSpc>
            </a:pPr>
            <a:r>
              <a:rPr lang="en-US" sz="2000" dirty="0">
                <a:solidFill>
                  <a:srgbClr val="1D3EBF"/>
                </a:solidFill>
                <a:latin typeface="MiSans" pitchFamily="34" charset="0"/>
                <a:ea typeface="MiSans" pitchFamily="34" charset="-122"/>
                <a:cs typeface="MiSans" pitchFamily="34" charset="-120"/>
              </a:rPr>
              <a:t>优化改进</a:t>
            </a:r>
            <a:endParaRPr lang="en-US" sz="1600" dirty="0"/>
          </a:p>
        </p:txBody>
      </p:sp>
      <p:sp>
        <p:nvSpPr>
          <p:cNvPr id="31" name="Text 29"/>
          <p:cNvSpPr/>
          <p:nvPr/>
        </p:nvSpPr>
        <p:spPr>
          <a:xfrm>
            <a:off x="4658760" y="2893378"/>
            <a:ext cx="2856064" cy="830263"/>
          </a:xfrm>
          <a:prstGeom prst="rect">
            <a:avLst/>
          </a:prstGeom>
          <a:noFill/>
          <a:ln/>
        </p:spPr>
        <p:txBody>
          <a:bodyPr wrap="square" lIns="91440" tIns="45720" rIns="91440" bIns="45720" rtlCol="0" anchor="t">
            <a:spAutoFit/>
          </a:bodyPr>
          <a:lstStyle/>
          <a:p>
            <a:pPr algn="just">
              <a:lnSpc>
                <a:spcPct val="110000"/>
              </a:lnSpc>
            </a:pPr>
            <a:r>
              <a:rPr lang="en-US" sz="1600" dirty="0">
                <a:solidFill>
                  <a:srgbClr val="000000"/>
                </a:solidFill>
                <a:latin typeface="MiSans" pitchFamily="34" charset="0"/>
                <a:ea typeface="MiSans" pitchFamily="34" charset="-122"/>
                <a:cs typeface="MiSans" pitchFamily="34" charset="-120"/>
              </a:rPr>
              <a:t>修复内存泄漏与长日志阻塞问题，新增深色主题与快捷键，提升用户体验。</a:t>
            </a:r>
            <a:endParaRPr lang="en-US" sz="1600" dirty="0"/>
          </a:p>
        </p:txBody>
      </p:sp>
      <p:sp>
        <p:nvSpPr>
          <p:cNvPr id="32" name="Text 30"/>
          <p:cNvSpPr/>
          <p:nvPr/>
        </p:nvSpPr>
        <p:spPr>
          <a:xfrm>
            <a:off x="8416991" y="1163636"/>
            <a:ext cx="695918" cy="616691"/>
          </a:xfrm>
          <a:prstGeom prst="rect">
            <a:avLst/>
          </a:prstGeom>
          <a:solidFill>
            <a:srgbClr val="004CC0"/>
          </a:solidFill>
          <a:ln/>
        </p:spPr>
        <p:txBody>
          <a:bodyPr wrap="square" lIns="91440" tIns="45720" rIns="91440" bIns="45720" rtlCol="0" anchor="t"/>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03</a:t>
            </a:r>
            <a:endParaRPr lang="en-US" sz="1600" dirty="0"/>
          </a:p>
        </p:txBody>
      </p:sp>
      <p:sp>
        <p:nvSpPr>
          <p:cNvPr id="33" name="Text 31"/>
          <p:cNvSpPr/>
          <p:nvPr/>
        </p:nvSpPr>
        <p:spPr>
          <a:xfrm>
            <a:off x="8384210" y="1801253"/>
            <a:ext cx="2857430" cy="306784"/>
          </a:xfrm>
          <a:prstGeom prst="rect">
            <a:avLst/>
          </a:prstGeom>
          <a:noFill/>
          <a:ln/>
        </p:spPr>
        <p:txBody>
          <a:bodyPr wrap="square" lIns="91440" tIns="45720" rIns="91440" bIns="45720" rtlCol="0" anchor="t">
            <a:spAutoFit/>
          </a:bodyPr>
          <a:lstStyle/>
          <a:p>
            <a:pPr algn="just">
              <a:lnSpc>
                <a:spcPct val="100000"/>
              </a:lnSpc>
            </a:pPr>
            <a:r>
              <a:rPr lang="en-US" sz="2000" dirty="0">
                <a:solidFill>
                  <a:srgbClr val="1D3EBF"/>
                </a:solidFill>
                <a:latin typeface="MiSans" pitchFamily="34" charset="0"/>
                <a:ea typeface="MiSans" pitchFamily="34" charset="-122"/>
                <a:cs typeface="MiSans" pitchFamily="34" charset="-120"/>
              </a:rPr>
              <a:t>交付成果</a:t>
            </a:r>
            <a:endParaRPr lang="en-US" sz="1600" dirty="0"/>
          </a:p>
        </p:txBody>
      </p:sp>
      <p:sp>
        <p:nvSpPr>
          <p:cNvPr id="34" name="Text 32"/>
          <p:cNvSpPr/>
          <p:nvPr/>
        </p:nvSpPr>
        <p:spPr>
          <a:xfrm>
            <a:off x="8384893" y="2633753"/>
            <a:ext cx="2856064" cy="619272"/>
          </a:xfrm>
          <a:prstGeom prst="rect">
            <a:avLst/>
          </a:prstGeom>
          <a:noFill/>
          <a:ln/>
        </p:spPr>
        <p:txBody>
          <a:bodyPr wrap="square" lIns="91440" tIns="45720" rIns="91440" bIns="45720" rtlCol="0" anchor="t">
            <a:spAutoFit/>
          </a:bodyPr>
          <a:lstStyle/>
          <a:p>
            <a:pPr algn="just">
              <a:lnSpc>
                <a:spcPct val="110000"/>
              </a:lnSpc>
            </a:pPr>
            <a:r>
              <a:rPr lang="en-US" sz="1600" dirty="0">
                <a:solidFill>
                  <a:srgbClr val="000000"/>
                </a:solidFill>
                <a:latin typeface="MiSans" pitchFamily="34" charset="0"/>
                <a:ea typeface="MiSans" pitchFamily="34" charset="-122"/>
                <a:cs typeface="MiSans" pitchFamily="34" charset="-120"/>
              </a:rPr>
              <a:t>撰写测试报告与用户手册，交付</a:t>
            </a:r>
            <a:r>
              <a:rPr lang="en-US" sz="1600">
                <a:solidFill>
                  <a:srgbClr val="000000"/>
                </a:solidFill>
                <a:latin typeface="MiSans" pitchFamily="34" charset="0"/>
                <a:ea typeface="MiSans" pitchFamily="34" charset="-122"/>
                <a:cs typeface="MiSans" pitchFamily="34" charset="-120"/>
              </a:rPr>
              <a:t>v1.0插件包。</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Text 0"/>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pic>
        <p:nvPicPr>
          <p:cNvPr id="3" name="Image 0" descr="https://kimi-img.moonshot.cn/pub/slides/slides_tmpl/image/25-10-09-17:19:39-d3jnsaos8jdo4os5dltg.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000115"/>
            <a:ext cx="12191365" cy="857885"/>
          </a:xfrm>
          <a:prstGeom prst="rect">
            <a:avLst/>
          </a:prstGeom>
        </p:spPr>
      </p:pic>
      <p:sp>
        <p:nvSpPr>
          <p:cNvPr id="4" name="Shape 1"/>
          <p:cNvSpPr/>
          <p:nvPr/>
        </p:nvSpPr>
        <p:spPr>
          <a:xfrm>
            <a:off x="11106785" y="693737"/>
            <a:ext cx="235520" cy="0"/>
          </a:xfrm>
          <a:prstGeom prst="line">
            <a:avLst/>
          </a:prstGeom>
          <a:noFill/>
          <a:ln w="31750">
            <a:solidFill>
              <a:srgbClr val="004CC0"/>
            </a:solidFill>
            <a:prstDash val="solid"/>
            <a:headEnd type="none"/>
            <a:tailEnd type="none"/>
          </a:ln>
        </p:spPr>
      </p:sp>
      <p:sp>
        <p:nvSpPr>
          <p:cNvPr id="5" name="Shape 2"/>
          <p:cNvSpPr/>
          <p:nvPr/>
        </p:nvSpPr>
        <p:spPr>
          <a:xfrm>
            <a:off x="11106785" y="754697"/>
            <a:ext cx="235520" cy="0"/>
          </a:xfrm>
          <a:prstGeom prst="line">
            <a:avLst/>
          </a:prstGeom>
          <a:noFill/>
          <a:ln w="31750">
            <a:solidFill>
              <a:srgbClr val="004CC0"/>
            </a:solidFill>
            <a:prstDash val="solid"/>
            <a:headEnd type="none"/>
            <a:tailEnd type="none"/>
          </a:ln>
        </p:spPr>
      </p:sp>
      <p:sp>
        <p:nvSpPr>
          <p:cNvPr id="6" name="Shape 3"/>
          <p:cNvSpPr/>
          <p:nvPr/>
        </p:nvSpPr>
        <p:spPr>
          <a:xfrm>
            <a:off x="11106785" y="815657"/>
            <a:ext cx="235520" cy="0"/>
          </a:xfrm>
          <a:prstGeom prst="line">
            <a:avLst/>
          </a:prstGeom>
          <a:noFill/>
          <a:ln w="31750">
            <a:solidFill>
              <a:srgbClr val="004CC0"/>
            </a:solidFill>
            <a:prstDash val="solid"/>
            <a:headEnd type="none"/>
            <a:tailEnd type="none"/>
          </a:ln>
        </p:spPr>
      </p:sp>
      <p:pic>
        <p:nvPicPr>
          <p:cNvPr id="7" name="Image 1" descr="https://kimi-img.moonshot.cn/pub/slides/25-11-15-22:36:45-d4c8vv81gem7o9i48nk0.jpg"/>
          <p:cNvPicPr>
            <a:picLocks noChangeAspect="1"/>
          </p:cNvPicPr>
          <p:nvPr/>
        </p:nvPicPr>
        <p:blipFill>
          <a:blip r:embed="rId5"/>
          <a:stretch>
            <a:fillRect/>
          </a:stretch>
        </p:blipFill>
        <p:spPr>
          <a:xfrm>
            <a:off x="4682391" y="133917"/>
            <a:ext cx="7139912" cy="5817707"/>
          </a:xfrm>
          <a:prstGeom prst="rect">
            <a:avLst/>
          </a:prstGeom>
        </p:spPr>
      </p:pic>
      <p:sp>
        <p:nvSpPr>
          <p:cNvPr id="8" name="Text 6">
            <a:extLst>
              <a:ext uri="{FF2B5EF4-FFF2-40B4-BE49-F238E27FC236}">
                <a16:creationId xmlns:a16="http://schemas.microsoft.com/office/drawing/2014/main" id="{3AFE4206-7B97-E553-27AE-502F208371BE}"/>
              </a:ext>
            </a:extLst>
          </p:cNvPr>
          <p:cNvSpPr/>
          <p:nvPr/>
        </p:nvSpPr>
        <p:spPr>
          <a:xfrm>
            <a:off x="447622" y="277502"/>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03- B</a:t>
            </a:r>
            <a:r>
              <a:rPr lang="en-US" altLang="zh-CN" sz="3000" b="1">
                <a:solidFill>
                  <a:srgbClr val="000000"/>
                </a:solidFill>
                <a:latin typeface="MiSans" pitchFamily="34" charset="0"/>
                <a:ea typeface="MiSans" pitchFamily="34" charset="-122"/>
                <a:cs typeface="MiSans" pitchFamily="34" charset="-120"/>
              </a:rPr>
              <a:t>urndown Chart</a:t>
            </a:r>
            <a:endParaRPr lang="en-US" sz="1600" dirty="0"/>
          </a:p>
        </p:txBody>
      </p:sp>
      <p:grpSp>
        <p:nvGrpSpPr>
          <p:cNvPr id="9" name="组合 8">
            <a:extLst>
              <a:ext uri="{FF2B5EF4-FFF2-40B4-BE49-F238E27FC236}">
                <a16:creationId xmlns:a16="http://schemas.microsoft.com/office/drawing/2014/main" id="{6FC50FA1-5CFE-B21B-146E-A63B39C6BDBC}"/>
              </a:ext>
            </a:extLst>
          </p:cNvPr>
          <p:cNvGrpSpPr/>
          <p:nvPr/>
        </p:nvGrpSpPr>
        <p:grpSpPr>
          <a:xfrm>
            <a:off x="369697" y="1509452"/>
            <a:ext cx="4041486" cy="4165600"/>
            <a:chOff x="793750" y="1744980"/>
            <a:chExt cx="5896610" cy="4165600"/>
          </a:xfrm>
        </p:grpSpPr>
        <p:sp>
          <p:nvSpPr>
            <p:cNvPr id="10" name="Shape 5">
              <a:extLst>
                <a:ext uri="{FF2B5EF4-FFF2-40B4-BE49-F238E27FC236}">
                  <a16:creationId xmlns:a16="http://schemas.microsoft.com/office/drawing/2014/main" id="{BEA3EAB8-013B-3400-8CF7-1AC7A45C7F32}"/>
                </a:ext>
              </a:extLst>
            </p:cNvPr>
            <p:cNvSpPr/>
            <p:nvPr/>
          </p:nvSpPr>
          <p:spPr>
            <a:xfrm>
              <a:off x="793750" y="1744980"/>
              <a:ext cx="5769610" cy="4038600"/>
            </a:xfrm>
            <a:prstGeom prst="round2DiagRect">
              <a:avLst>
                <a:gd name="adj1" fmla="val 16667"/>
                <a:gd name="adj2" fmla="val 0"/>
              </a:avLst>
            </a:prstGeom>
            <a:solidFill>
              <a:srgbClr val="004CC0"/>
            </a:solidFill>
            <a:ln w="19050">
              <a:solidFill>
                <a:srgbClr val="004CC0"/>
              </a:solidFill>
              <a:prstDash val="solid"/>
            </a:ln>
          </p:spPr>
        </p:sp>
        <p:sp>
          <p:nvSpPr>
            <p:cNvPr id="11" name="Text 6">
              <a:extLst>
                <a:ext uri="{FF2B5EF4-FFF2-40B4-BE49-F238E27FC236}">
                  <a16:creationId xmlns:a16="http://schemas.microsoft.com/office/drawing/2014/main" id="{0CA7376D-3AFF-7D00-3D52-3F1C5B224E2E}"/>
                </a:ext>
              </a:extLst>
            </p:cNvPr>
            <p:cNvSpPr/>
            <p:nvPr/>
          </p:nvSpPr>
          <p:spPr>
            <a:xfrm>
              <a:off x="793750" y="1744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7">
              <a:extLst>
                <a:ext uri="{FF2B5EF4-FFF2-40B4-BE49-F238E27FC236}">
                  <a16:creationId xmlns:a16="http://schemas.microsoft.com/office/drawing/2014/main" id="{78C690DF-A275-04A0-0371-893D50B63927}"/>
                </a:ext>
              </a:extLst>
            </p:cNvPr>
            <p:cNvSpPr/>
            <p:nvPr/>
          </p:nvSpPr>
          <p:spPr>
            <a:xfrm>
              <a:off x="920750" y="1871980"/>
              <a:ext cx="5769610" cy="4038600"/>
            </a:xfrm>
            <a:prstGeom prst="round2DiagRect">
              <a:avLst>
                <a:gd name="adj1" fmla="val 16667"/>
                <a:gd name="adj2" fmla="val 0"/>
              </a:avLst>
            </a:prstGeom>
            <a:solidFill>
              <a:srgbClr val="FFFFFF"/>
            </a:solidFill>
            <a:ln w="19050">
              <a:solidFill>
                <a:srgbClr val="004CC0"/>
              </a:solidFill>
              <a:prstDash val="solid"/>
            </a:ln>
          </p:spPr>
        </p:sp>
        <p:sp>
          <p:nvSpPr>
            <p:cNvPr id="13" name="Text 8">
              <a:extLst>
                <a:ext uri="{FF2B5EF4-FFF2-40B4-BE49-F238E27FC236}">
                  <a16:creationId xmlns:a16="http://schemas.microsoft.com/office/drawing/2014/main" id="{AAEDB906-6F3C-916C-2679-DCFAC2E5AD6A}"/>
                </a:ext>
              </a:extLst>
            </p:cNvPr>
            <p:cNvSpPr/>
            <p:nvPr/>
          </p:nvSpPr>
          <p:spPr>
            <a:xfrm>
              <a:off x="920750" y="1871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7">
              <a:extLst>
                <a:ext uri="{FF2B5EF4-FFF2-40B4-BE49-F238E27FC236}">
                  <a16:creationId xmlns:a16="http://schemas.microsoft.com/office/drawing/2014/main" id="{03EAB012-73B9-9BD7-5B86-C603E989F64F}"/>
                </a:ext>
              </a:extLst>
            </p:cNvPr>
            <p:cNvSpPr/>
            <p:nvPr/>
          </p:nvSpPr>
          <p:spPr>
            <a:xfrm>
              <a:off x="1195705" y="3183255"/>
              <a:ext cx="5215890" cy="0"/>
            </a:xfrm>
            <a:prstGeom prst="line">
              <a:avLst/>
            </a:prstGeom>
            <a:noFill/>
            <a:ln w="12700">
              <a:solidFill>
                <a:srgbClr val="004CC0"/>
              </a:solidFill>
              <a:prstDash val="solid"/>
              <a:headEnd type="none"/>
              <a:tailEnd type="none"/>
            </a:ln>
          </p:spPr>
        </p:sp>
        <p:sp>
          <p:nvSpPr>
            <p:cNvPr id="15" name="Shape 18">
              <a:extLst>
                <a:ext uri="{FF2B5EF4-FFF2-40B4-BE49-F238E27FC236}">
                  <a16:creationId xmlns:a16="http://schemas.microsoft.com/office/drawing/2014/main" id="{AB39CCAA-F7CC-5533-1396-F768FE2AC1DC}"/>
                </a:ext>
              </a:extLst>
            </p:cNvPr>
            <p:cNvSpPr/>
            <p:nvPr/>
          </p:nvSpPr>
          <p:spPr>
            <a:xfrm>
              <a:off x="1195705" y="3145155"/>
              <a:ext cx="543560" cy="76200"/>
            </a:xfrm>
            <a:prstGeom prst="rect">
              <a:avLst/>
            </a:prstGeom>
            <a:solidFill>
              <a:srgbClr val="004CC0"/>
            </a:solidFill>
            <a:ln/>
          </p:spPr>
        </p:sp>
        <p:sp>
          <p:nvSpPr>
            <p:cNvPr id="16" name="Text 19">
              <a:extLst>
                <a:ext uri="{FF2B5EF4-FFF2-40B4-BE49-F238E27FC236}">
                  <a16:creationId xmlns:a16="http://schemas.microsoft.com/office/drawing/2014/main" id="{A7987F3E-6B0B-6CCE-715E-79CE7D8F9C74}"/>
                </a:ext>
              </a:extLst>
            </p:cNvPr>
            <p:cNvSpPr/>
            <p:nvPr/>
          </p:nvSpPr>
          <p:spPr>
            <a:xfrm>
              <a:off x="1195705" y="3145155"/>
              <a:ext cx="54356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34">
              <a:extLst>
                <a:ext uri="{FF2B5EF4-FFF2-40B4-BE49-F238E27FC236}">
                  <a16:creationId xmlns:a16="http://schemas.microsoft.com/office/drawing/2014/main" id="{2A178D49-55DA-D7C0-DABA-3C76ECCD6A9D}"/>
                </a:ext>
              </a:extLst>
            </p:cNvPr>
            <p:cNvSpPr/>
            <p:nvPr/>
          </p:nvSpPr>
          <p:spPr>
            <a:xfrm>
              <a:off x="1195388" y="2172018"/>
              <a:ext cx="5216400" cy="368300"/>
            </a:xfrm>
            <a:prstGeom prst="rect">
              <a:avLst/>
            </a:prstGeom>
            <a:noFill/>
            <a:ln/>
          </p:spPr>
          <p:txBody>
            <a:bodyPr wrap="square" lIns="91440" tIns="45720" rIns="91440" bIns="45720" rtlCol="0" anchor="t">
              <a:spAutoFit/>
            </a:bodyPr>
            <a:lstStyle/>
            <a:p>
              <a:pPr algn="just">
                <a:lnSpc>
                  <a:spcPct val="100000"/>
                </a:lnSpc>
              </a:pPr>
              <a:r>
                <a:rPr lang="en-US" sz="2400" dirty="0">
                  <a:solidFill>
                    <a:srgbClr val="000000"/>
                  </a:solidFill>
                  <a:latin typeface="MiSans" pitchFamily="34" charset="0"/>
                  <a:ea typeface="MiSans" pitchFamily="34" charset="-122"/>
                  <a:cs typeface="MiSans" pitchFamily="34" charset="-120"/>
                </a:rPr>
                <a:t>燃尽图展示</a:t>
              </a:r>
              <a:endParaRPr lang="en-US" sz="1600" dirty="0"/>
            </a:p>
          </p:txBody>
        </p:sp>
        <p:sp>
          <p:nvSpPr>
            <p:cNvPr id="18" name="Text 35">
              <a:extLst>
                <a:ext uri="{FF2B5EF4-FFF2-40B4-BE49-F238E27FC236}">
                  <a16:creationId xmlns:a16="http://schemas.microsoft.com/office/drawing/2014/main" id="{73CBBC37-72C8-5669-9A9D-220D36BB676E}"/>
                </a:ext>
              </a:extLst>
            </p:cNvPr>
            <p:cNvSpPr/>
            <p:nvPr/>
          </p:nvSpPr>
          <p:spPr>
            <a:xfrm>
              <a:off x="1195705" y="3272790"/>
              <a:ext cx="5215890" cy="713184"/>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000000"/>
                  </a:solidFill>
                  <a:latin typeface="MiSans" pitchFamily="34" charset="0"/>
                  <a:ea typeface="MiSans" pitchFamily="34" charset="-122"/>
                  <a:cs typeface="MiSans" pitchFamily="34" charset="-120"/>
                </a:rPr>
                <a:t>展示Sprint1-4燃尽图，纵轴为剩余Story Point，横轴为周次，曲线呈稳步下降。</a:t>
              </a:r>
              <a:endParaRPr lang="en-US" sz="1600" dirty="0"/>
            </a:p>
          </p:txBody>
        </p:sp>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zh-CN" altLang="en-US" sz="5400">
                <a:solidFill>
                  <a:srgbClr val="000000"/>
                </a:solidFill>
                <a:latin typeface="MiSans" pitchFamily="34" charset="0"/>
                <a:ea typeface="MiSans" pitchFamily="34" charset="-122"/>
                <a:cs typeface="MiSans" pitchFamily="34" charset="-120"/>
              </a:rPr>
              <a:t>测试与实验结果</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04</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C3E6EE37-7236-3A53-DCBE-9CE6992D9771}"/>
              </a:ext>
            </a:extLst>
          </p:cNvPr>
          <p:cNvGrpSpPr/>
          <p:nvPr/>
        </p:nvGrpSpPr>
        <p:grpSpPr>
          <a:xfrm>
            <a:off x="755528" y="1111312"/>
            <a:ext cx="438785" cy="434340"/>
            <a:chOff x="736916" y="1494914"/>
            <a:chExt cx="438785" cy="434340"/>
          </a:xfrm>
        </p:grpSpPr>
        <p:sp>
          <p:nvSpPr>
            <p:cNvPr id="10" name="Shape 8"/>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4156" y="1636943"/>
              <a:ext cx="113665" cy="168910"/>
            </a:xfrm>
            <a:prstGeom prst="chevron">
              <a:avLst>
                <a:gd name="adj" fmla="val 64013"/>
              </a:avLst>
            </a:prstGeom>
            <a:solidFill>
              <a:srgbClr val="FFFFFF"/>
            </a:solidFill>
            <a:ln/>
          </p:spPr>
        </p:sp>
        <p:sp>
          <p:nvSpPr>
            <p:cNvPr id="13" name="Text 11"/>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p:cNvSpPr/>
          <p:nvPr/>
        </p:nvSpPr>
        <p:spPr>
          <a:xfrm>
            <a:off x="919480" y="4202430"/>
            <a:ext cx="113665" cy="168910"/>
          </a:xfrm>
          <a:prstGeom prst="chevron">
            <a:avLst>
              <a:gd name="adj" fmla="val 64013"/>
            </a:avLst>
          </a:prstGeom>
          <a:solidFill>
            <a:srgbClr val="FFFFFF"/>
          </a:solidFill>
          <a:ln/>
        </p:spPr>
      </p:sp>
      <p:sp>
        <p:nvSpPr>
          <p:cNvPr id="19" name="Text 17"/>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p:cNvSpPr/>
          <p:nvPr/>
        </p:nvSpPr>
        <p:spPr>
          <a:xfrm>
            <a:off x="6435725" y="1881505"/>
            <a:ext cx="113665" cy="168910"/>
          </a:xfrm>
          <a:prstGeom prst="chevron">
            <a:avLst>
              <a:gd name="adj" fmla="val 64013"/>
            </a:avLst>
          </a:prstGeom>
          <a:solidFill>
            <a:srgbClr val="FFFFFF"/>
          </a:solidFill>
          <a:ln/>
        </p:spPr>
      </p:sp>
      <p:sp>
        <p:nvSpPr>
          <p:cNvPr id="25" name="Text 23"/>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p:cNvSpPr/>
          <p:nvPr/>
        </p:nvSpPr>
        <p:spPr>
          <a:xfrm>
            <a:off x="6435725" y="4202430"/>
            <a:ext cx="113665" cy="168910"/>
          </a:xfrm>
          <a:prstGeom prst="chevron">
            <a:avLst>
              <a:gd name="adj" fmla="val 64013"/>
            </a:avLst>
          </a:prstGeom>
          <a:solidFill>
            <a:srgbClr val="FFFFFF"/>
          </a:solidFill>
          <a:ln/>
        </p:spPr>
      </p:sp>
      <p:sp>
        <p:nvSpPr>
          <p:cNvPr id="31" name="Text 29"/>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Flow- 1</a:t>
            </a:r>
            <a:endParaRPr lang="en-US" sz="1600" dirty="0"/>
          </a:p>
        </p:txBody>
      </p:sp>
      <p:sp>
        <p:nvSpPr>
          <p:cNvPr id="33" name="Shape 31"/>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Log File Upload </a:t>
            </a:r>
          </a:p>
          <a:p>
            <a:pPr algn="just">
              <a:lnSpc>
                <a:spcPct val="100000"/>
              </a:lnSpc>
            </a:pPr>
            <a:r>
              <a:rPr lang="en-US" sz="1800" b="1">
                <a:solidFill>
                  <a:srgbClr val="004CC0"/>
                </a:solidFill>
                <a:latin typeface="MiSans" pitchFamily="34" charset="0"/>
                <a:ea typeface="MiSans" pitchFamily="34" charset="-122"/>
                <a:cs typeface="MiSans" pitchFamily="34" charset="-120"/>
              </a:rPr>
              <a:t>Interface</a:t>
            </a:r>
            <a:endParaRPr lang="en-US" sz="1600" dirty="0"/>
          </a:p>
        </p:txBody>
      </p:sp>
      <p:sp>
        <p:nvSpPr>
          <p:cNvPr id="37" name="Text 35"/>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4098" name="Picture 2">
            <a:extLst>
              <a:ext uri="{FF2B5EF4-FFF2-40B4-BE49-F238E27FC236}">
                <a16:creationId xmlns:a16="http://schemas.microsoft.com/office/drawing/2014/main" id="{D9345619-96AB-5F54-E67F-0386B742B0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546" y="986089"/>
            <a:ext cx="8115274" cy="5274928"/>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0">
            <a:extLst>
              <a:ext uri="{FF2B5EF4-FFF2-40B4-BE49-F238E27FC236}">
                <a16:creationId xmlns:a16="http://schemas.microsoft.com/office/drawing/2014/main" id="{75218E13-AFBF-620E-C06C-3709017DC092}"/>
              </a:ext>
            </a:extLst>
          </p:cNvPr>
          <p:cNvSpPr/>
          <p:nvPr/>
        </p:nvSpPr>
        <p:spPr>
          <a:xfrm>
            <a:off x="912648" y="2430135"/>
            <a:ext cx="2249170" cy="908903"/>
          </a:xfrm>
          <a:prstGeom prst="rect">
            <a:avLst/>
          </a:prstGeom>
          <a:noFill/>
          <a:ln/>
        </p:spPr>
        <p:txBody>
          <a:bodyPr wrap="square" lIns="91440" tIns="45720" rIns="91440" bIns="45720" rtlCol="0" anchor="t">
            <a:spAutoFit/>
          </a:bodyPr>
          <a:lstStyle/>
          <a:p>
            <a:pPr algn="just">
              <a:lnSpc>
                <a:spcPct val="130000"/>
              </a:lnSpc>
            </a:pPr>
            <a:r>
              <a:rPr lang="en-US" sz="1400" dirty="0">
                <a:solidFill>
                  <a:srgbClr val="000000"/>
                </a:solidFill>
                <a:latin typeface="MiSans" pitchFamily="34" charset="0"/>
                <a:ea typeface="MiSans" pitchFamily="34" charset="-122"/>
                <a:cs typeface="MiSans" pitchFamily="34" charset="-120"/>
              </a:rPr>
              <a:t>展示日志文件上传界面，突出零配置上手特性，方便用户快速导入日志。</a:t>
            </a:r>
            <a:endParaRPr lang="en-US" sz="1600" dirty="0"/>
          </a:p>
        </p:txBody>
      </p:sp>
    </p:spTree>
  </p:cSld>
  <p:clrMapOvr>
    <a:masterClrMapping/>
  </p:clrMapOvr>
  <p:transition>
    <p:fade/>
  </p:transition>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990C-2336-2B1C-A440-B9A8039B15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BE1CBD-CD9D-44D0-9378-AC4AFE68E365}"/>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B1E602FC-3B75-0AFF-52D8-CA5A1EF1B8D2}"/>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0D717C36-7D99-DA16-80AB-54BD60AE6441}"/>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5CEAA8A6-E201-3281-50B6-10146016447F}"/>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F4741ADE-A32E-DD48-D6CB-F6AD2F14E36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770E8598-A208-874F-684E-2B0EF144E943}"/>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BB81DA6F-7948-A3CF-4552-9D5704ADE699}"/>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5AC03032-D8DD-A14A-8DCA-DF6267F2B98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AA27B88-83A4-FD7D-DCF7-158B52322DCD}"/>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4A025937-5373-FBA4-1540-481351468D65}"/>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003A35BA-EED2-B882-E5AA-525ED6AA35C9}"/>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CB70744-3AFD-C4DF-4551-B28AD1838E3C}"/>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7C178597-159B-F8BB-6CFA-630866308885}"/>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4E007BEC-821E-ADDE-003A-BD1BE41F5245}"/>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3A2DE9F1-CE1C-9E23-41D9-7397CBFC0E7C}"/>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D1F2E76C-EC9D-CCBE-E662-C80C8F317B0A}"/>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0D103A5-0507-B612-1A3E-3852E0DE7C13}"/>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937FB16C-EFD6-A6F0-4A4C-8BDC4EE6D579}"/>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A696FF18-1CE7-1CF5-7EC6-056AEDA4549B}"/>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A2E1FB94-368F-F1D7-B386-1177824BF351}"/>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F3D132A5-EA0F-8ACA-F9A7-D7A8FAC35E4A}"/>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D6EDBAA8-1662-F310-2EF2-14E6A377B61B}"/>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875DE607-131D-34AD-906F-E4F401597B74}"/>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BF7F7FF3-27B1-1D53-68C8-2FDA432CF578}"/>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1CB7679C-E2B1-5EEA-7D98-5DF8AECED248}"/>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2601A35F-63FA-2959-1524-CF50530A309A}"/>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Flow- 2</a:t>
            </a:r>
            <a:endParaRPr lang="en-US" sz="1600" dirty="0"/>
          </a:p>
        </p:txBody>
      </p:sp>
      <p:sp>
        <p:nvSpPr>
          <p:cNvPr id="33" name="Shape 31">
            <a:extLst>
              <a:ext uri="{FF2B5EF4-FFF2-40B4-BE49-F238E27FC236}">
                <a16:creationId xmlns:a16="http://schemas.microsoft.com/office/drawing/2014/main" id="{9C9CF411-65BF-3A1B-BDEF-0EAFCFECC806}"/>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31AA0723-6586-1357-3AE3-4C25AD9A5EFA}"/>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75459E78-249B-1A99-8D8D-FCB19E7A539D}"/>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DCB100CD-B2E6-ED1E-668F-E83A179484AB}"/>
              </a:ext>
            </a:extLst>
          </p:cNvPr>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Highlighted </a:t>
            </a:r>
          </a:p>
          <a:p>
            <a:pPr algn="just">
              <a:lnSpc>
                <a:spcPct val="100000"/>
              </a:lnSpc>
            </a:pPr>
            <a:r>
              <a:rPr lang="en-US" sz="1800" b="1">
                <a:solidFill>
                  <a:srgbClr val="004CC0"/>
                </a:solidFill>
                <a:latin typeface="MiSans" pitchFamily="34" charset="0"/>
                <a:ea typeface="MiSans" pitchFamily="34" charset="-122"/>
                <a:cs typeface="MiSans" pitchFamily="34" charset="-120"/>
              </a:rPr>
              <a:t>Abnormal Content </a:t>
            </a:r>
            <a:endParaRPr lang="en-US" sz="1600" dirty="0"/>
          </a:p>
        </p:txBody>
      </p:sp>
      <p:sp>
        <p:nvSpPr>
          <p:cNvPr id="37" name="Text 35">
            <a:extLst>
              <a:ext uri="{FF2B5EF4-FFF2-40B4-BE49-F238E27FC236}">
                <a16:creationId xmlns:a16="http://schemas.microsoft.com/office/drawing/2014/main" id="{CAE9D7E2-54AA-D831-B74C-1E38335A5CF2}"/>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0FD3BA1B-07E5-32CB-2497-FF6BAA97A707}"/>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E2A4A9D-FB9B-F63B-C90A-D2DC362A9532}"/>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CDE73760-EBD1-17CD-3E3D-0CF259DC26D1}"/>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9217" name="Picture 1">
            <a:extLst>
              <a:ext uri="{FF2B5EF4-FFF2-40B4-BE49-F238E27FC236}">
                <a16:creationId xmlns:a16="http://schemas.microsoft.com/office/drawing/2014/main" id="{ED247906-B1F5-9836-6DA1-78B1BB4FA9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5082" y="1010686"/>
            <a:ext cx="8042791" cy="5227814"/>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3">
            <a:extLst>
              <a:ext uri="{FF2B5EF4-FFF2-40B4-BE49-F238E27FC236}">
                <a16:creationId xmlns:a16="http://schemas.microsoft.com/office/drawing/2014/main" id="{1D0F8CE9-B928-D970-39AF-01BBF06F3353}"/>
              </a:ext>
            </a:extLst>
          </p:cNvPr>
          <p:cNvSpPr/>
          <p:nvPr/>
        </p:nvSpPr>
        <p:spPr>
          <a:xfrm>
            <a:off x="1075690" y="2511511"/>
            <a:ext cx="1754505" cy="1188980"/>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展示异常内容高亮效果，帮助用户快速聚焦问题，提升排查效率。</a:t>
            </a:r>
            <a:endParaRPr lang="en-US" sz="1600" dirty="0"/>
          </a:p>
        </p:txBody>
      </p:sp>
    </p:spTree>
    <p:extLst>
      <p:ext uri="{BB962C8B-B14F-4D97-AF65-F5344CB8AC3E}">
        <p14:creationId xmlns:p14="http://schemas.microsoft.com/office/powerpoint/2010/main" val="1215704504"/>
      </p:ext>
    </p:extLst>
  </p:cSld>
  <p:clrMapOvr>
    <a:masterClrMapping/>
  </p:clrMapOvr>
  <p:transition>
    <p:fade/>
  </p:transition>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5448-2683-8BD6-8AB0-6D354896B8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C74692-CC10-FDE2-1DA8-A49EF9476902}"/>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E45102FA-29C6-B14D-6E7E-D6D236288C94}"/>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5A81B649-1415-E7C1-AFD7-42A05F836076}"/>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4F2A3EEB-87D3-0350-71C8-908320C837F2}"/>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17EFF63-2851-3FE3-76FC-1A4726E5910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2013D29-4D25-53DA-7874-7FDE9F5E35C7}"/>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6BE22569-9FC9-E71A-39FC-3D5CC47E5330}"/>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877EBD60-FBA8-85FB-0EE6-02561F52AB0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70A08C1-410A-B4FD-E831-B76A834952F6}"/>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09631040-5D28-D89C-CA04-3300EFB7BFD3}"/>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1372DB8F-C73E-AB84-5B1D-F8D89056B00C}"/>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D13F1C22-5653-1997-20E0-D4C8A8416A84}"/>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D2377BC0-BD00-74DF-D7CE-B9C5C6F3D907}"/>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D5B0B748-0DFF-EBDA-D11D-E9FE1503E256}"/>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7D198BAB-D082-2DD1-F7CD-3A7043BC991D}"/>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A3C5899-77EC-786E-FFBD-D3212C52403F}"/>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2185C01-46F0-970A-8F03-5372D97A2FF9}"/>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73660717-B1CA-9F75-45EE-3FA15A71FC8A}"/>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B2184509-158A-A983-09CE-503BF2B35AC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E84E7C5B-6A0F-2416-0FE9-59559CEE99FB}"/>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480DE9B3-0EC7-28D2-6799-0B6533F05266}"/>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42790DA6-8DC2-EA2E-7175-E5C4D1EC0AFA}"/>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BF22C9A6-5F51-DCA1-160B-1115E7FDED02}"/>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3F00028E-893E-FA7A-0C45-B953AE744A8B}"/>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C7F4F100-4533-1A5B-52D6-9A932E367FA1}"/>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F8E01097-4384-68B9-7AAC-577BC260EF6F}"/>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Flow- 3</a:t>
            </a:r>
            <a:endParaRPr lang="en-US" sz="1600" dirty="0"/>
          </a:p>
        </p:txBody>
      </p:sp>
      <p:sp>
        <p:nvSpPr>
          <p:cNvPr id="33" name="Shape 31">
            <a:extLst>
              <a:ext uri="{FF2B5EF4-FFF2-40B4-BE49-F238E27FC236}">
                <a16:creationId xmlns:a16="http://schemas.microsoft.com/office/drawing/2014/main" id="{A13D941E-129B-A1A4-8D55-03D3E1D3D6E3}"/>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8BE1B9B8-3AB2-F700-6B3A-DCD04D3CBC4E}"/>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8DDD1791-288A-DCF5-83AA-98C35D9E67FF}"/>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CC92CB58-DEBD-C946-8F97-3C216B5DFF06}"/>
              </a:ext>
            </a:extLst>
          </p:cNvPr>
          <p:cNvSpPr/>
          <p:nvPr/>
        </p:nvSpPr>
        <p:spPr>
          <a:xfrm>
            <a:off x="1351005" y="1489626"/>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 AI Model’s </a:t>
            </a:r>
          </a:p>
          <a:p>
            <a:pPr algn="just">
              <a:lnSpc>
                <a:spcPct val="100000"/>
              </a:lnSpc>
            </a:pPr>
            <a:r>
              <a:rPr lang="en-US" sz="1800" b="1">
                <a:solidFill>
                  <a:srgbClr val="004CC0"/>
                </a:solidFill>
                <a:latin typeface="MiSans" pitchFamily="34" charset="0"/>
                <a:ea typeface="MiSans" pitchFamily="34" charset="-122"/>
                <a:cs typeface="MiSans" pitchFamily="34" charset="-120"/>
              </a:rPr>
              <a:t>In-depth Analysis </a:t>
            </a:r>
          </a:p>
          <a:p>
            <a:pPr algn="just">
              <a:lnSpc>
                <a:spcPct val="100000"/>
              </a:lnSpc>
            </a:pPr>
            <a:r>
              <a:rPr lang="en-US" sz="1800" b="1">
                <a:solidFill>
                  <a:srgbClr val="004CC0"/>
                </a:solidFill>
                <a:latin typeface="MiSans" pitchFamily="34" charset="0"/>
                <a:ea typeface="MiSans" pitchFamily="34" charset="-122"/>
                <a:cs typeface="MiSans" pitchFamily="34" charset="-120"/>
              </a:rPr>
              <a:t>Report on </a:t>
            </a:r>
          </a:p>
          <a:p>
            <a:pPr algn="just">
              <a:lnSpc>
                <a:spcPct val="100000"/>
              </a:lnSpc>
            </a:pPr>
            <a:r>
              <a:rPr lang="en-US" sz="1800" b="1">
                <a:solidFill>
                  <a:srgbClr val="004CC0"/>
                </a:solidFill>
                <a:latin typeface="MiSans" pitchFamily="34" charset="0"/>
                <a:ea typeface="MiSans" pitchFamily="34" charset="-122"/>
                <a:cs typeface="MiSans" pitchFamily="34" charset="-120"/>
              </a:rPr>
              <a:t>Log Anomalies</a:t>
            </a:r>
            <a:endParaRPr lang="en-US" sz="1600" dirty="0"/>
          </a:p>
        </p:txBody>
      </p:sp>
      <p:sp>
        <p:nvSpPr>
          <p:cNvPr id="37" name="Text 35">
            <a:extLst>
              <a:ext uri="{FF2B5EF4-FFF2-40B4-BE49-F238E27FC236}">
                <a16:creationId xmlns:a16="http://schemas.microsoft.com/office/drawing/2014/main" id="{3749CD5D-C08B-BE02-A4D4-827CAE6A209F}"/>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45568AE8-642B-5D26-454C-3DFE51F0BE92}"/>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D2A80FC-12FF-905D-C1F5-7985251A949D}"/>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37F4040-96F3-FB10-B658-467F9CA1BDB0}"/>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8193" name="Picture 1">
            <a:extLst>
              <a:ext uri="{FF2B5EF4-FFF2-40B4-BE49-F238E27FC236}">
                <a16:creationId xmlns:a16="http://schemas.microsoft.com/office/drawing/2014/main" id="{DCA02E22-88D8-F4D1-D773-7EE003BBE0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879" y="946150"/>
            <a:ext cx="8223981" cy="534558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26">
            <a:extLst>
              <a:ext uri="{FF2B5EF4-FFF2-40B4-BE49-F238E27FC236}">
                <a16:creationId xmlns:a16="http://schemas.microsoft.com/office/drawing/2014/main" id="{7F606DF4-E25D-440B-2FB5-90811EFE0BBF}"/>
              </a:ext>
            </a:extLst>
          </p:cNvPr>
          <p:cNvSpPr/>
          <p:nvPr/>
        </p:nvSpPr>
        <p:spPr>
          <a:xfrm>
            <a:off x="967402" y="2814123"/>
            <a:ext cx="2249805" cy="1469057"/>
          </a:xfrm>
          <a:prstGeom prst="rect">
            <a:avLst/>
          </a:prstGeom>
          <a:noFill/>
          <a:ln/>
        </p:spPr>
        <p:txBody>
          <a:bodyPr wrap="square" lIns="91440" tIns="45720" rIns="91440" bIns="45720" rtlCol="0" anchor="t">
            <a:spAutoFit/>
          </a:bodyPr>
          <a:lstStyle/>
          <a:p>
            <a:pPr algn="just">
              <a:lnSpc>
                <a:spcPct val="130000"/>
              </a:lnSpc>
            </a:pPr>
            <a:r>
              <a:rPr lang="zh-CN" altLang="en-US" sz="1400">
                <a:solidFill>
                  <a:srgbClr val="000000"/>
                </a:solidFill>
                <a:latin typeface="MiSans" pitchFamily="34" charset="0"/>
                <a:ea typeface="MiSans" pitchFamily="34" charset="-122"/>
                <a:cs typeface="MiSans" pitchFamily="34" charset="-120"/>
              </a:rPr>
              <a:t>根据问题紧急程度排序给出解决方案。</a:t>
            </a:r>
            <a:r>
              <a:rPr lang="en-US" sz="1400">
                <a:solidFill>
                  <a:srgbClr val="000000"/>
                </a:solidFill>
                <a:latin typeface="MiSans" pitchFamily="34" charset="0"/>
                <a:ea typeface="MiSans" pitchFamily="34" charset="-122"/>
                <a:cs typeface="MiSans" pitchFamily="34" charset="-120"/>
              </a:rPr>
              <a:t>展示</a:t>
            </a:r>
            <a:r>
              <a:rPr lang="en-US" sz="1400" dirty="0">
                <a:solidFill>
                  <a:srgbClr val="000000"/>
                </a:solidFill>
                <a:latin typeface="MiSans" pitchFamily="34" charset="0"/>
                <a:ea typeface="MiSans" pitchFamily="34" charset="-122"/>
                <a:cs typeface="MiSans" pitchFamily="34" charset="-120"/>
              </a:rPr>
              <a:t>AI深度分析报告，突出结论可溯源特性，为问题解决提供有力支持。</a:t>
            </a:r>
            <a:endParaRPr lang="en-US" sz="1600" dirty="0"/>
          </a:p>
        </p:txBody>
      </p:sp>
    </p:spTree>
    <p:extLst>
      <p:ext uri="{BB962C8B-B14F-4D97-AF65-F5344CB8AC3E}">
        <p14:creationId xmlns:p14="http://schemas.microsoft.com/office/powerpoint/2010/main" val="3497632674"/>
      </p:ext>
    </p:extLst>
  </p:cSld>
  <p:clrMapOvr>
    <a:masterClrMapping/>
  </p:clrMapOvr>
  <p:transition>
    <p:fade/>
  </p:transition>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14605" y="5470525"/>
            <a:ext cx="12221210" cy="1386840"/>
          </a:xfrm>
          <a:prstGeom prst="roundRect">
            <a:avLst>
              <a:gd name="adj" fmla="val 0"/>
            </a:avLst>
          </a:prstGeom>
          <a:solidFill>
            <a:srgbClr val="004CC0"/>
          </a:solidFill>
          <a:ln/>
        </p:spPr>
      </p:sp>
      <p:sp>
        <p:nvSpPr>
          <p:cNvPr id="8" name="Text 6"/>
          <p:cNvSpPr/>
          <p:nvPr/>
        </p:nvSpPr>
        <p:spPr>
          <a:xfrm>
            <a:off x="-14605" y="5470525"/>
            <a:ext cx="12221210" cy="138684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11"/>
          <p:cNvSpPr/>
          <p:nvPr/>
        </p:nvSpPr>
        <p:spPr>
          <a:xfrm>
            <a:off x="4380230" y="1472565"/>
            <a:ext cx="3170555" cy="4673600"/>
          </a:xfrm>
          <a:prstGeom prst="roundRect">
            <a:avLst>
              <a:gd name="adj" fmla="val 5503"/>
            </a:avLst>
          </a:prstGeom>
          <a:solidFill>
            <a:srgbClr val="FFFFFF"/>
          </a:solidFill>
          <a:ln w="19050">
            <a:solidFill>
              <a:srgbClr val="004CC0"/>
            </a:solidFill>
            <a:prstDash val="solid"/>
          </a:ln>
        </p:spPr>
      </p:sp>
      <p:sp>
        <p:nvSpPr>
          <p:cNvPr id="15" name="Text 12"/>
          <p:cNvSpPr/>
          <p:nvPr/>
        </p:nvSpPr>
        <p:spPr>
          <a:xfrm>
            <a:off x="4380230"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5362575" y="1701800"/>
            <a:ext cx="1206500" cy="1192530"/>
          </a:xfrm>
          <a:prstGeom prst="ellipse">
            <a:avLst/>
          </a:prstGeom>
          <a:solidFill>
            <a:srgbClr val="004CC0"/>
          </a:solidFill>
          <a:ln/>
        </p:spPr>
      </p:sp>
      <p:sp>
        <p:nvSpPr>
          <p:cNvPr id="17" name="Text 14"/>
          <p:cNvSpPr/>
          <p:nvPr/>
        </p:nvSpPr>
        <p:spPr>
          <a:xfrm>
            <a:off x="5362575" y="1701800"/>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8" name="Image 1" descr="https://kimi-img.moonshot.cn/pub/slides/slides_tmpl/image/25-09-04-15:50:53-d2sk9ne1bb2p4onbqeig.png"/>
          <p:cNvPicPr>
            <a:picLocks noChangeAspect="1"/>
          </p:cNvPicPr>
          <p:nvPr/>
        </p:nvPicPr>
        <p:blipFill>
          <a:blip r:embed="rId3"/>
          <a:srcRect l="59" t="-59" r="59" b="59"/>
          <a:stretch/>
        </p:blipFill>
        <p:spPr>
          <a:xfrm>
            <a:off x="5677255" y="2013160"/>
            <a:ext cx="577140" cy="570488"/>
          </a:xfrm>
          <a:prstGeom prst="rect">
            <a:avLst/>
          </a:prstGeom>
        </p:spPr>
      </p:pic>
      <p:sp>
        <p:nvSpPr>
          <p:cNvPr id="19" name="Shape 15"/>
          <p:cNvSpPr/>
          <p:nvPr/>
        </p:nvSpPr>
        <p:spPr>
          <a:xfrm>
            <a:off x="8000365" y="1472565"/>
            <a:ext cx="3170555" cy="4673600"/>
          </a:xfrm>
          <a:prstGeom prst="roundRect">
            <a:avLst>
              <a:gd name="adj" fmla="val 5503"/>
            </a:avLst>
          </a:prstGeom>
          <a:solidFill>
            <a:srgbClr val="FFFFFF"/>
          </a:solidFill>
          <a:ln w="19050">
            <a:solidFill>
              <a:srgbClr val="004CC0"/>
            </a:solidFill>
            <a:prstDash val="solid"/>
          </a:ln>
        </p:spPr>
      </p:sp>
      <p:sp>
        <p:nvSpPr>
          <p:cNvPr id="20" name="Text 16"/>
          <p:cNvSpPr/>
          <p:nvPr/>
        </p:nvSpPr>
        <p:spPr>
          <a:xfrm>
            <a:off x="8000365"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7"/>
          <p:cNvSpPr/>
          <p:nvPr/>
        </p:nvSpPr>
        <p:spPr>
          <a:xfrm>
            <a:off x="8982710" y="1701800"/>
            <a:ext cx="1206500" cy="1192530"/>
          </a:xfrm>
          <a:prstGeom prst="ellipse">
            <a:avLst/>
          </a:prstGeom>
          <a:solidFill>
            <a:srgbClr val="004CC0"/>
          </a:solidFill>
          <a:ln/>
        </p:spPr>
      </p:sp>
      <p:sp>
        <p:nvSpPr>
          <p:cNvPr id="22" name="Text 18"/>
          <p:cNvSpPr/>
          <p:nvPr/>
        </p:nvSpPr>
        <p:spPr>
          <a:xfrm>
            <a:off x="8982710" y="1701800"/>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3" name="Image 2" descr="https://kimi-img.moonshot.cn/pub/slides/slides_tmpl/image/25-09-04-15:50:53-d2sk9ne1bb2p4onbqej0.png"/>
          <p:cNvPicPr>
            <a:picLocks noChangeAspect="1"/>
          </p:cNvPicPr>
          <p:nvPr/>
        </p:nvPicPr>
        <p:blipFill>
          <a:blip r:embed="rId4"/>
          <a:srcRect l="59" t="-59" r="59" b="59"/>
          <a:stretch/>
        </p:blipFill>
        <p:spPr>
          <a:xfrm>
            <a:off x="9297390" y="2013160"/>
            <a:ext cx="577140" cy="570488"/>
          </a:xfrm>
          <a:prstGeom prst="rect">
            <a:avLst/>
          </a:prstGeom>
        </p:spPr>
      </p:pic>
      <p:sp>
        <p:nvSpPr>
          <p:cNvPr id="24" name="Text 19"/>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04-</a:t>
            </a:r>
            <a:r>
              <a:rPr kumimoji="0" lang="zh-CN" alt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测试</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3" name="组合 32">
            <a:extLst>
              <a:ext uri="{FF2B5EF4-FFF2-40B4-BE49-F238E27FC236}">
                <a16:creationId xmlns:a16="http://schemas.microsoft.com/office/drawing/2014/main" id="{4D1FE622-54D3-C213-FB38-D89625B7C6BA}"/>
              </a:ext>
            </a:extLst>
          </p:cNvPr>
          <p:cNvGrpSpPr/>
          <p:nvPr/>
        </p:nvGrpSpPr>
        <p:grpSpPr>
          <a:xfrm>
            <a:off x="760730" y="1472565"/>
            <a:ext cx="3170555" cy="4673600"/>
            <a:chOff x="760730" y="1472565"/>
            <a:chExt cx="3170555" cy="4673600"/>
          </a:xfrm>
        </p:grpSpPr>
        <p:sp>
          <p:nvSpPr>
            <p:cNvPr id="9" name="Shape 7"/>
            <p:cNvSpPr/>
            <p:nvPr/>
          </p:nvSpPr>
          <p:spPr>
            <a:xfrm>
              <a:off x="760730" y="1472565"/>
              <a:ext cx="3170555" cy="4673600"/>
            </a:xfrm>
            <a:prstGeom prst="roundRect">
              <a:avLst>
                <a:gd name="adj" fmla="val 5503"/>
              </a:avLst>
            </a:prstGeom>
            <a:solidFill>
              <a:srgbClr val="FFFFFF"/>
            </a:solidFill>
            <a:ln w="19050">
              <a:solidFill>
                <a:srgbClr val="004CC0"/>
              </a:solidFill>
              <a:prstDash val="solid"/>
            </a:ln>
          </p:spPr>
        </p:sp>
        <p:sp>
          <p:nvSpPr>
            <p:cNvPr id="10" name="Text 8"/>
            <p:cNvSpPr/>
            <p:nvPr/>
          </p:nvSpPr>
          <p:spPr>
            <a:xfrm>
              <a:off x="760730"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1" name="组合 30">
              <a:extLst>
                <a:ext uri="{FF2B5EF4-FFF2-40B4-BE49-F238E27FC236}">
                  <a16:creationId xmlns:a16="http://schemas.microsoft.com/office/drawing/2014/main" id="{D9996DAE-258F-F2F0-8F1E-EE41D6859E7B}"/>
                </a:ext>
              </a:extLst>
            </p:cNvPr>
            <p:cNvGrpSpPr/>
            <p:nvPr/>
          </p:nvGrpSpPr>
          <p:grpSpPr>
            <a:xfrm>
              <a:off x="947420" y="1701800"/>
              <a:ext cx="2797175" cy="2802916"/>
              <a:chOff x="947420" y="1701800"/>
              <a:chExt cx="2797175" cy="2802916"/>
            </a:xfrm>
          </p:grpSpPr>
          <p:sp>
            <p:nvSpPr>
              <p:cNvPr id="11" name="Shape 9"/>
              <p:cNvSpPr/>
              <p:nvPr/>
            </p:nvSpPr>
            <p:spPr>
              <a:xfrm>
                <a:off x="1743075" y="1701800"/>
                <a:ext cx="1206543" cy="1192530"/>
              </a:xfrm>
              <a:prstGeom prst="ellipse">
                <a:avLst/>
              </a:prstGeom>
              <a:solidFill>
                <a:srgbClr val="004CC0"/>
              </a:solidFill>
              <a:ln/>
            </p:spPr>
          </p:sp>
          <p:sp>
            <p:nvSpPr>
              <p:cNvPr id="12" name="Text 10"/>
              <p:cNvSpPr/>
              <p:nvPr/>
            </p:nvSpPr>
            <p:spPr>
              <a:xfrm>
                <a:off x="1743075" y="1701800"/>
                <a:ext cx="1206543"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3" name="Image 0" descr="https://kimi-img.moonshot.cn/pub/slides/slides_tmpl/image/25-09-04-15:50:53-d2sk9ne1bb2p4onbqei0.svg"/>
              <p:cNvPicPr>
                <a:picLocks noChangeAspect="1"/>
              </p:cNvPicPr>
              <p:nvPr/>
            </p:nvPicPr>
            <p:blipFill>
              <a:blip r:embed="rId5">
                <a:extLst>
                  <a:ext uri="{96DAC541-7B7A-43D3-8B79-37D633B846F1}">
                    <asvg:svgBlip xmlns:asvg="http://schemas.microsoft.com/office/drawing/2016/SVG/main" r:embed="rId6"/>
                  </a:ext>
                </a:extLst>
              </a:blip>
              <a:srcRect l="50" t="644" r="-50" b="644"/>
              <a:stretch/>
            </p:blipFill>
            <p:spPr>
              <a:xfrm>
                <a:off x="2057766" y="2013160"/>
                <a:ext cx="577160" cy="570488"/>
              </a:xfrm>
              <a:prstGeom prst="rect">
                <a:avLst/>
              </a:prstGeom>
            </p:spPr>
          </p:pic>
          <p:sp>
            <p:nvSpPr>
              <p:cNvPr id="25" name="Text 20"/>
              <p:cNvSpPr/>
              <p:nvPr/>
            </p:nvSpPr>
            <p:spPr>
              <a:xfrm>
                <a:off x="947420" y="3009265"/>
                <a:ext cx="2797175" cy="669925"/>
              </a:xfrm>
              <a:prstGeom prst="rect">
                <a:avLst/>
              </a:prstGeom>
              <a:noFill/>
              <a:ln/>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测试</a:t>
                </a:r>
                <a:r>
                  <a:rPr kumimoji="0" lang="zh-CN" altLang="en-US" sz="1800" b="0"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准备</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1"/>
              <p:cNvSpPr/>
              <p:nvPr/>
            </p:nvSpPr>
            <p:spPr>
              <a:xfrm>
                <a:off x="948055" y="3655060"/>
                <a:ext cx="2796540" cy="849656"/>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搭建多环境测试矩阵，准备测试数据与工具，组织测试人员培训，为全流程测试奠定基础</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grpSp>
      <p:sp>
        <p:nvSpPr>
          <p:cNvPr id="27" name="Text 22"/>
          <p:cNvSpPr/>
          <p:nvPr/>
        </p:nvSpPr>
        <p:spPr>
          <a:xfrm>
            <a:off x="4566920" y="3019425"/>
            <a:ext cx="2797175" cy="669925"/>
          </a:xfrm>
          <a:prstGeom prst="rect">
            <a:avLst/>
          </a:prstGeom>
          <a:noFill/>
          <a:ln/>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用例执行</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3"/>
          <p:cNvSpPr/>
          <p:nvPr/>
        </p:nvSpPr>
        <p:spPr>
          <a:xfrm>
            <a:off x="4567555" y="3665220"/>
            <a:ext cx="2796540" cy="1108188"/>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按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P0</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（阻断级）→</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P1</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（高优先级）→</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P2</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（中优先级）→</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P3</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（低优先级）优先级执行测试用例，详细记录执行结果与缺陷信息</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4"/>
          <p:cNvSpPr/>
          <p:nvPr/>
        </p:nvSpPr>
        <p:spPr>
          <a:xfrm>
            <a:off x="8187055" y="3019425"/>
            <a:ext cx="2797175" cy="669925"/>
          </a:xfrm>
          <a:prstGeom prst="rect">
            <a:avLst/>
          </a:prstGeom>
          <a:noFill/>
          <a:ln/>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4CC0"/>
                </a:solidFill>
                <a:effectLst/>
                <a:uLnTx/>
                <a:uFillTx/>
                <a:latin typeface="MiSans" pitchFamily="34" charset="0"/>
                <a:ea typeface="MiSans" pitchFamily="34" charset="-122"/>
                <a:cs typeface="MiSans" pitchFamily="34" charset="-120"/>
              </a:rPr>
              <a:t>缺陷管理</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5"/>
          <p:cNvSpPr/>
          <p:nvPr/>
        </p:nvSpPr>
        <p:spPr>
          <a:xfrm>
            <a:off x="8187690" y="3665220"/>
            <a:ext cx="2796540" cy="1108188"/>
          </a:xfrm>
          <a:prstGeom prst="rect">
            <a:avLst/>
          </a:prstGeom>
          <a:noFill/>
          <a:ln/>
        </p:spPr>
        <p:txBody>
          <a:bodyPr wrap="square" lIns="91440" tIns="45720" rIns="91440" bIns="45720" rtlCol="0" anchor="t">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通过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Jira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记录缺陷（含复现步骤、预期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实际结果、截图），跟踪修复进度，并对已修复缺陷开展回归测试</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AEA4F-CA12-F3D7-DE97-02B3A78EF7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25BEF0-0C2C-4C95-D2E8-81CC4015C550}"/>
              </a:ext>
            </a:extLst>
          </p:cNvPr>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a:extLst>
              <a:ext uri="{FF2B5EF4-FFF2-40B4-BE49-F238E27FC236}">
                <a16:creationId xmlns:a16="http://schemas.microsoft.com/office/drawing/2014/main" id="{A80B258D-A611-3113-E70C-423A3C3EC716}"/>
              </a:ext>
            </a:extLst>
          </p:cNvPr>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2E4318BC-65F5-7CE4-FA23-399E99FA785F}"/>
              </a:ext>
            </a:extLst>
          </p:cNvPr>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a:extLst>
              <a:ext uri="{FF2B5EF4-FFF2-40B4-BE49-F238E27FC236}">
                <a16:creationId xmlns:a16="http://schemas.microsoft.com/office/drawing/2014/main" id="{006C6FB1-7A82-AAD2-84D8-5C201E869FFF}"/>
              </a:ext>
            </a:extLst>
          </p:cNvPr>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FF9E9EA0-4CA5-E5D6-3748-D01101057DC6}"/>
              </a:ext>
            </a:extLst>
          </p:cNvPr>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a:extLst>
              <a:ext uri="{FF2B5EF4-FFF2-40B4-BE49-F238E27FC236}">
                <a16:creationId xmlns:a16="http://schemas.microsoft.com/office/drawing/2014/main" id="{EF254216-ADF2-A479-748D-77FA7AE83C04}"/>
              </a:ext>
            </a:extLst>
          </p:cNvPr>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a:extLst>
              <a:ext uri="{FF2B5EF4-FFF2-40B4-BE49-F238E27FC236}">
                <a16:creationId xmlns:a16="http://schemas.microsoft.com/office/drawing/2014/main" id="{D63E4F1F-B5F8-504A-C74F-DD16DB0727EA}"/>
              </a:ext>
            </a:extLst>
          </p:cNvPr>
          <p:cNvPicPr>
            <a:picLocks noChangeAspect="1"/>
          </p:cNvPicPr>
          <p:nvPr/>
        </p:nvPicPr>
        <p:blipFill>
          <a:blip r:embed="rId3"/>
          <a:stretch>
            <a:fillRect/>
          </a:stretch>
        </p:blipFill>
        <p:spPr>
          <a:xfrm>
            <a:off x="2904490" y="962025"/>
            <a:ext cx="6382385" cy="6108065"/>
          </a:xfrm>
          <a:prstGeom prst="rect">
            <a:avLst/>
          </a:prstGeom>
        </p:spPr>
      </p:pic>
      <p:sp>
        <p:nvSpPr>
          <p:cNvPr id="9" name="Text 6">
            <a:extLst>
              <a:ext uri="{FF2B5EF4-FFF2-40B4-BE49-F238E27FC236}">
                <a16:creationId xmlns:a16="http://schemas.microsoft.com/office/drawing/2014/main" id="{35D193DD-0F1E-CA52-BEB6-455BDC5ECAB3}"/>
              </a:ext>
            </a:extLst>
          </p:cNvPr>
          <p:cNvSpPr/>
          <p:nvPr/>
        </p:nvSpPr>
        <p:spPr>
          <a:xfrm>
            <a:off x="2725420" y="2994025"/>
            <a:ext cx="6598920" cy="1807845"/>
          </a:xfrm>
          <a:prstGeom prst="rect">
            <a:avLst/>
          </a:prstGeom>
          <a:noFill/>
          <a:ln/>
        </p:spPr>
        <p:txBody>
          <a:bodyPr wrap="square" lIns="91440" tIns="45720" rIns="91440" bIns="45720" rtlCol="0" anchor="t"/>
          <a:lstStyle/>
          <a:p>
            <a:pPr algn="ctr">
              <a:lnSpc>
                <a:spcPct val="100000"/>
              </a:lnSpc>
            </a:pPr>
            <a:r>
              <a:rPr lang="zh-CN" altLang="en-US" sz="5400">
                <a:solidFill>
                  <a:srgbClr val="000000"/>
                </a:solidFill>
                <a:latin typeface="MiSans" pitchFamily="34" charset="0"/>
                <a:ea typeface="MiSans" pitchFamily="34" charset="-122"/>
                <a:cs typeface="MiSans" pitchFamily="34" charset="-120"/>
              </a:rPr>
              <a:t>项目成果与未来工作</a:t>
            </a:r>
            <a:endParaRPr lang="en-US" sz="1600" dirty="0"/>
          </a:p>
        </p:txBody>
      </p:sp>
      <p:sp>
        <p:nvSpPr>
          <p:cNvPr id="10" name="Shape 7">
            <a:extLst>
              <a:ext uri="{FF2B5EF4-FFF2-40B4-BE49-F238E27FC236}">
                <a16:creationId xmlns:a16="http://schemas.microsoft.com/office/drawing/2014/main" id="{B62BC379-8A9A-80D1-54AC-3EC55DEA1ADB}"/>
              </a:ext>
            </a:extLst>
          </p:cNvPr>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a:extLst>
              <a:ext uri="{FF2B5EF4-FFF2-40B4-BE49-F238E27FC236}">
                <a16:creationId xmlns:a16="http://schemas.microsoft.com/office/drawing/2014/main" id="{7DDD1D00-1AD6-416C-4E88-EAE438A44F80}"/>
              </a:ext>
            </a:extLst>
          </p:cNvPr>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a:extLst>
              <a:ext uri="{FF2B5EF4-FFF2-40B4-BE49-F238E27FC236}">
                <a16:creationId xmlns:a16="http://schemas.microsoft.com/office/drawing/2014/main" id="{57B1DFF5-98C9-63BF-981D-33A213F3D0EF}"/>
              </a:ext>
            </a:extLst>
          </p:cNvPr>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a:extLst>
              <a:ext uri="{FF2B5EF4-FFF2-40B4-BE49-F238E27FC236}">
                <a16:creationId xmlns:a16="http://schemas.microsoft.com/office/drawing/2014/main" id="{687D33B8-5A12-DB5F-EDE2-D67A78C563EE}"/>
              </a:ext>
            </a:extLst>
          </p:cNvPr>
          <p:cNvSpPr/>
          <p:nvPr/>
        </p:nvSpPr>
        <p:spPr>
          <a:xfrm>
            <a:off x="2725420" y="1268730"/>
            <a:ext cx="6598920" cy="1807845"/>
          </a:xfrm>
          <a:prstGeom prst="rect">
            <a:avLst/>
          </a:prstGeom>
          <a:solidFill>
            <a:srgbClr val="000000">
              <a:alpha val="0"/>
            </a:srgbClr>
          </a:solidFill>
          <a:ln/>
        </p:spPr>
      </p:sp>
      <p:sp>
        <p:nvSpPr>
          <p:cNvPr id="14" name="Text 11">
            <a:extLst>
              <a:ext uri="{FF2B5EF4-FFF2-40B4-BE49-F238E27FC236}">
                <a16:creationId xmlns:a16="http://schemas.microsoft.com/office/drawing/2014/main" id="{A2824A2D-3174-504E-8583-65966BB08401}"/>
              </a:ext>
            </a:extLst>
          </p:cNvPr>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05</a:t>
            </a:r>
            <a:endParaRPr lang="en-US" sz="1600" dirty="0"/>
          </a:p>
        </p:txBody>
      </p:sp>
    </p:spTree>
    <p:extLst>
      <p:ext uri="{BB962C8B-B14F-4D97-AF65-F5344CB8AC3E}">
        <p14:creationId xmlns:p14="http://schemas.microsoft.com/office/powerpoint/2010/main" val="120475348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848360" y="6346190"/>
            <a:ext cx="163338" cy="153035"/>
          </a:xfrm>
          <a:prstGeom prst="rect">
            <a:avLst/>
          </a:prstGeom>
          <a:solidFill>
            <a:srgbClr val="004CC0"/>
          </a:solidFill>
          <a:ln/>
        </p:spPr>
      </p:sp>
      <p:sp>
        <p:nvSpPr>
          <p:cNvPr id="8" name="Text 6"/>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1122291" y="6346190"/>
            <a:ext cx="163338" cy="153035"/>
          </a:xfrm>
          <a:prstGeom prst="rect">
            <a:avLst/>
          </a:prstGeom>
          <a:solidFill>
            <a:srgbClr val="004CC0"/>
          </a:solidFill>
          <a:ln/>
        </p:spPr>
      </p:sp>
      <p:sp>
        <p:nvSpPr>
          <p:cNvPr id="10" name="Text 8"/>
          <p:cNvSpPr/>
          <p:nvPr/>
        </p:nvSpPr>
        <p:spPr>
          <a:xfrm>
            <a:off x="1122291"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9"/>
          <p:cNvSpPr/>
          <p:nvPr/>
        </p:nvSpPr>
        <p:spPr>
          <a:xfrm>
            <a:off x="1396222" y="6346190"/>
            <a:ext cx="163338" cy="153035"/>
          </a:xfrm>
          <a:prstGeom prst="rect">
            <a:avLst/>
          </a:prstGeom>
          <a:solidFill>
            <a:srgbClr val="004CC0"/>
          </a:solidFill>
          <a:ln/>
        </p:spPr>
      </p:sp>
      <p:sp>
        <p:nvSpPr>
          <p:cNvPr id="12" name="Text 10"/>
          <p:cNvSpPr/>
          <p:nvPr/>
        </p:nvSpPr>
        <p:spPr>
          <a:xfrm>
            <a:off x="1396222"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1"/>
          <p:cNvSpPr/>
          <p:nvPr/>
        </p:nvSpPr>
        <p:spPr>
          <a:xfrm>
            <a:off x="663575" y="1241743"/>
            <a:ext cx="2590777" cy="4768850"/>
          </a:xfrm>
          <a:prstGeom prst="roundRect">
            <a:avLst>
              <a:gd name="adj" fmla="val 50000"/>
            </a:avLst>
          </a:prstGeom>
          <a:solidFill>
            <a:srgbClr val="000000">
              <a:alpha val="0"/>
            </a:srgbClr>
          </a:solidFill>
          <a:ln w="12700">
            <a:solidFill>
              <a:srgbClr val="004CC0"/>
            </a:solidFill>
            <a:prstDash val="solid"/>
          </a:ln>
        </p:spPr>
      </p:sp>
      <p:sp>
        <p:nvSpPr>
          <p:cNvPr id="14" name="Text 12"/>
          <p:cNvSpPr/>
          <p:nvPr/>
        </p:nvSpPr>
        <p:spPr>
          <a:xfrm>
            <a:off x="663575" y="1241743"/>
            <a:ext cx="2590777"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3421992" y="1241743"/>
            <a:ext cx="2590165" cy="4768850"/>
          </a:xfrm>
          <a:prstGeom prst="roundRect">
            <a:avLst>
              <a:gd name="adj" fmla="val 50000"/>
            </a:avLst>
          </a:prstGeom>
          <a:solidFill>
            <a:srgbClr val="004CC0"/>
          </a:solidFill>
          <a:ln w="12700">
            <a:solidFill>
              <a:srgbClr val="004CC0"/>
            </a:solidFill>
            <a:prstDash val="solid"/>
          </a:ln>
        </p:spPr>
      </p:sp>
      <p:sp>
        <p:nvSpPr>
          <p:cNvPr id="16" name="Text 14"/>
          <p:cNvSpPr/>
          <p:nvPr/>
        </p:nvSpPr>
        <p:spPr>
          <a:xfrm>
            <a:off x="3421992"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5"/>
          <p:cNvSpPr/>
          <p:nvPr/>
        </p:nvSpPr>
        <p:spPr>
          <a:xfrm>
            <a:off x="6179797" y="1241743"/>
            <a:ext cx="2590165" cy="4768850"/>
          </a:xfrm>
          <a:prstGeom prst="roundRect">
            <a:avLst>
              <a:gd name="adj" fmla="val 50000"/>
            </a:avLst>
          </a:prstGeom>
          <a:solidFill>
            <a:srgbClr val="000000">
              <a:alpha val="0"/>
            </a:srgbClr>
          </a:solidFill>
          <a:ln w="12700">
            <a:solidFill>
              <a:srgbClr val="004CC0"/>
            </a:solidFill>
            <a:prstDash val="solid"/>
          </a:ln>
        </p:spPr>
      </p:sp>
      <p:sp>
        <p:nvSpPr>
          <p:cNvPr id="18" name="Text 16"/>
          <p:cNvSpPr/>
          <p:nvPr/>
        </p:nvSpPr>
        <p:spPr>
          <a:xfrm>
            <a:off x="6179797"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8937602" y="1241743"/>
            <a:ext cx="2590165" cy="4768850"/>
          </a:xfrm>
          <a:prstGeom prst="roundRect">
            <a:avLst>
              <a:gd name="adj" fmla="val 50000"/>
            </a:avLst>
          </a:prstGeom>
          <a:solidFill>
            <a:srgbClr val="004CC0"/>
          </a:solidFill>
          <a:ln w="12700">
            <a:solidFill>
              <a:srgbClr val="004CC0"/>
            </a:solidFill>
            <a:prstDash val="solid"/>
          </a:ln>
        </p:spPr>
      </p:sp>
      <p:sp>
        <p:nvSpPr>
          <p:cNvPr id="20" name="Text 18"/>
          <p:cNvSpPr/>
          <p:nvPr/>
        </p:nvSpPr>
        <p:spPr>
          <a:xfrm>
            <a:off x="8937602" y="1241743"/>
            <a:ext cx="2590165" cy="476885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Text 19"/>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05- 过程技术工具与团队多维成果</a:t>
            </a:r>
            <a:r>
              <a:rPr kumimoji="0" lang="zh-CN" altLang="en-US" sz="3200" b="1" i="0" u="none" strike="noStrike" kern="1200" cap="none" spc="0" normalizeH="0" baseline="0" noProof="0">
                <a:ln>
                  <a:noFill/>
                </a:ln>
                <a:solidFill>
                  <a:srgbClr val="FF0000"/>
                </a:solidFill>
                <a:effectLst/>
                <a:uLnTx/>
                <a:uFillTx/>
                <a:latin typeface="MiSans" pitchFamily="34" charset="0"/>
                <a:ea typeface="MiSans" pitchFamily="34" charset="-122"/>
                <a:cs typeface="MiSans" pitchFamily="34" charset="-120"/>
              </a:rPr>
              <a:t>（待修改）</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2" name="Text 20"/>
          <p:cNvSpPr/>
          <p:nvPr/>
        </p:nvSpPr>
        <p:spPr>
          <a:xfrm>
            <a:off x="921245" y="1770698"/>
            <a:ext cx="2092574"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CC0"/>
                </a:solidFill>
                <a:effectLst/>
                <a:uLnTx/>
                <a:uFillTx/>
                <a:latin typeface="MiSans" pitchFamily="34" charset="0"/>
                <a:ea typeface="MiSans" pitchFamily="34" charset="-122"/>
                <a:cs typeface="MiSans" pitchFamily="34" charset="-120"/>
              </a:rPr>
              <a:t>过程成果</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21"/>
          <p:cNvSpPr/>
          <p:nvPr/>
        </p:nvSpPr>
        <p:spPr>
          <a:xfrm>
            <a:off x="921245" y="2481263"/>
            <a:ext cx="2092574" cy="2643505"/>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该项目采用敏捷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Scrum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框架，包含为期十二周的三个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Sprint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迭代周期，为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VS Code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插件工程建立了一套可重复的开发流程。该流程规范了需求收集、技术原型设计、增量交付和迭代优化，所有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Sprint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的任务完成率均超过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90%</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，并与燃尽图里程碑保持一致，确保按时交付。</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22"/>
          <p:cNvSpPr/>
          <p:nvPr/>
        </p:nvSpPr>
        <p:spPr>
          <a:xfrm>
            <a:off x="3679601" y="1770698"/>
            <a:ext cx="2092080"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技术成果</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3679601" y="2481263"/>
            <a:ext cx="2092080" cy="2643505"/>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实现了两项核心技术创新：（</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1</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）本地部署 </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LogLLM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模型消除对第三方 </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LLM API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的依赖，避免数据域外风险； </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(2)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基于正则表达式的动态隐私掩码机制，在保持日志语义完整性的同时，实现对敏感信息</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100%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的准确率；（</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3</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）对问题的紧急程度做排序，并给出解决方法。</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p:cNvSpPr/>
          <p:nvPr/>
        </p:nvSpPr>
        <p:spPr>
          <a:xfrm>
            <a:off x="6437406" y="1770698"/>
            <a:ext cx="2092080"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CC0"/>
                </a:solidFill>
                <a:effectLst/>
                <a:uLnTx/>
                <a:uFillTx/>
                <a:latin typeface="MiSans" pitchFamily="34" charset="0"/>
                <a:ea typeface="MiSans" pitchFamily="34" charset="-122"/>
                <a:cs typeface="MiSans" pitchFamily="34" charset="-120"/>
              </a:rPr>
              <a:t>工具成果</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5"/>
          <p:cNvSpPr/>
          <p:nvPr/>
        </p:nvSpPr>
        <p:spPr>
          <a:xfrm>
            <a:off x="6437406" y="2481263"/>
            <a:ext cx="2092080" cy="2643505"/>
          </a:xfrm>
          <a:prstGeom prst="rect">
            <a:avLst/>
          </a:prstGeom>
          <a:noFill/>
          <a:ln/>
        </p:spPr>
        <p:txBody>
          <a:bodyPr wrap="square" lIns="0" tIns="0" rIns="0" bIns="0" rtlCol="0" anchor="t"/>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VS Code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插件 已完成，其特点包括：支持无限制的日志长度处理（通过流式和分块策略）、支持解析</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Loghub</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数据集中八种常见类型的异常日志以及可自定义的隐私掩码规则。在日志解析任务中实现了 </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92.3%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的识别准确率，与</a:t>
            </a:r>
            <a:r>
              <a:rPr kumimoji="0" lang="en-US" altLang="zh-CN"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SigLLM </a:t>
            </a:r>
            <a:r>
              <a:rPr kumimoji="0" lang="zh-CN" altLang="en-US" sz="1400" b="0"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等主流工具相比，响应速度大大提升。</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6"/>
          <p:cNvSpPr/>
          <p:nvPr/>
        </p:nvSpPr>
        <p:spPr>
          <a:xfrm>
            <a:off x="9195211" y="1770698"/>
            <a:ext cx="2092080" cy="771525"/>
          </a:xfrm>
          <a:prstGeom prst="rect">
            <a:avLst/>
          </a:prstGeom>
          <a:noFill/>
          <a:ln/>
        </p:spPr>
        <p:txBody>
          <a:bodyPr wrap="square" lIns="90043" tIns="46863" rIns="90043" bIns="0"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团队成果</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7"/>
          <p:cNvSpPr/>
          <p:nvPr/>
        </p:nvSpPr>
        <p:spPr>
          <a:xfrm>
            <a:off x="9195211" y="2481263"/>
            <a:ext cx="2092080" cy="2643505"/>
          </a:xfrm>
          <a:prstGeom prst="rect">
            <a:avLst/>
          </a:prstGeom>
          <a:noFill/>
          <a:ln/>
        </p:spPr>
        <p:txBody>
          <a:bodyPr wrap="square" lIns="0" tIns="0" rIns="0" bIns="0" rtlCol="0" anchor="t"/>
          <a:lstStyle/>
          <a:p>
            <a:pPr marL="0" marR="0" lvl="0" indent="0" algn="just" defTabSz="914400" rtl="0" eaLnBrk="0" fontAlgn="auto" latinLnBrk="1"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建立一个跨职能协作模式，整合前端（</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TypeScript/Vue.js</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）、后端（</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Node.js/Python</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）和算法模型（</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LLM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微调）。该模式总结出了三项最佳实践：模块化架构设计以实现低耦合</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高内聚；前后端之间标准化的 </a:t>
            </a:r>
            <a:r>
              <a:rPr kumimoji="0" lang="en-US" altLang="zh-CN"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API </a:t>
            </a:r>
            <a:r>
              <a:rPr kumimoji="0" lang="zh-CN" altLang="en-US" sz="1400" b="0" i="0" u="none" strike="noStrike" kern="1200" cap="none" spc="0" normalizeH="0" baseline="0" noProof="0">
                <a:ln>
                  <a:noFill/>
                </a:ln>
                <a:solidFill>
                  <a:srgbClr val="FFFFFF"/>
                </a:solidFill>
                <a:effectLst/>
                <a:uLnTx/>
                <a:uFillTx/>
                <a:latin typeface="MiSans" pitchFamily="34" charset="0"/>
                <a:ea typeface="MiSans" pitchFamily="34" charset="-122"/>
                <a:cs typeface="MiSans" pitchFamily="34" charset="-120"/>
              </a:rPr>
              <a:t>通信协议；以及针对日志处理边缘场景的边界测试用例设计。</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19">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42-d3jnsbgs8jdo4os5dm10.png"/>
          <p:cNvPicPr>
            <a:picLocks noChangeAspect="1"/>
          </p:cNvPicPr>
          <p:nvPr/>
        </p:nvPicPr>
        <p:blipFill>
          <a:blip r:embed="rId3"/>
          <a:srcRect t="84" b="84"/>
          <a:stretch/>
        </p:blipFill>
        <p:spPr>
          <a:xfrm>
            <a:off x="-7620" y="1355090"/>
            <a:ext cx="12192000" cy="2270125"/>
          </a:xfrm>
          <a:prstGeom prst="rect">
            <a:avLst/>
          </a:prstGeom>
        </p:spPr>
      </p:pic>
      <p:sp>
        <p:nvSpPr>
          <p:cNvPr id="3" name="Shape 0"/>
          <p:cNvSpPr/>
          <p:nvPr/>
        </p:nvSpPr>
        <p:spPr>
          <a:xfrm flipV="1">
            <a:off x="-7620" y="1355090"/>
            <a:ext cx="6114412" cy="2271395"/>
          </a:xfrm>
          <a:prstGeom prst="round1Rect">
            <a:avLst>
              <a:gd name="adj" fmla="val 31325"/>
            </a:avLst>
          </a:prstGeom>
          <a:gradFill flip="none" rotWithShape="1">
            <a:gsLst>
              <a:gs pos="0">
                <a:srgbClr val="004CC0">
                  <a:alpha val="62000"/>
                </a:srgbClr>
              </a:gs>
              <a:gs pos="29000">
                <a:srgbClr val="004CC0">
                  <a:alpha val="62000"/>
                </a:srgbClr>
              </a:gs>
              <a:gs pos="75000">
                <a:srgbClr val="004CC0">
                  <a:alpha val="80000"/>
                </a:srgbClr>
              </a:gs>
              <a:gs pos="100000">
                <a:srgbClr val="004CC0"/>
              </a:gs>
            </a:gsLst>
            <a:lin ang="16200000" scaled="1"/>
          </a:gradFill>
          <a:ln/>
        </p:spPr>
      </p:sp>
      <p:sp>
        <p:nvSpPr>
          <p:cNvPr id="4" name="Text 1"/>
          <p:cNvSpPr/>
          <p:nvPr/>
        </p:nvSpPr>
        <p:spPr>
          <a:xfrm>
            <a:off x="-7620" y="1355090"/>
            <a:ext cx="6114412" cy="227139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flipH="1" flipV="1">
            <a:off x="6093390" y="1355090"/>
            <a:ext cx="6114412" cy="2271395"/>
          </a:xfrm>
          <a:prstGeom prst="round1Rect">
            <a:avLst>
              <a:gd name="adj" fmla="val 31325"/>
            </a:avLst>
          </a:prstGeom>
          <a:gradFill flip="none" rotWithShape="1">
            <a:gsLst>
              <a:gs pos="0">
                <a:srgbClr val="004CC0">
                  <a:alpha val="62000"/>
                </a:srgbClr>
              </a:gs>
              <a:gs pos="29000">
                <a:srgbClr val="004CC0">
                  <a:alpha val="62000"/>
                </a:srgbClr>
              </a:gs>
              <a:gs pos="75000">
                <a:srgbClr val="004CC0">
                  <a:alpha val="80000"/>
                </a:srgbClr>
              </a:gs>
              <a:gs pos="100000">
                <a:srgbClr val="004CC0"/>
              </a:gs>
            </a:gsLst>
            <a:lin ang="16200000" scaled="1"/>
          </a:gradFill>
          <a:ln/>
        </p:spPr>
      </p:sp>
      <p:sp>
        <p:nvSpPr>
          <p:cNvPr id="6" name="Text 3"/>
          <p:cNvSpPr/>
          <p:nvPr/>
        </p:nvSpPr>
        <p:spPr>
          <a:xfrm>
            <a:off x="6093390" y="1355090"/>
            <a:ext cx="6114412" cy="227139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a:off x="680720" y="6346190"/>
            <a:ext cx="163338" cy="153035"/>
          </a:xfrm>
          <a:prstGeom prst="rect">
            <a:avLst/>
          </a:prstGeom>
          <a:solidFill>
            <a:srgbClr val="004CC0"/>
          </a:solidFill>
          <a:ln/>
        </p:spPr>
      </p:sp>
      <p:sp>
        <p:nvSpPr>
          <p:cNvPr id="8" name="Text 5"/>
          <p:cNvSpPr/>
          <p:nvPr/>
        </p:nvSpPr>
        <p:spPr>
          <a:xfrm>
            <a:off x="68072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a:off x="954651" y="6346190"/>
            <a:ext cx="163338" cy="153035"/>
          </a:xfrm>
          <a:prstGeom prst="rect">
            <a:avLst/>
          </a:prstGeom>
          <a:solidFill>
            <a:srgbClr val="004CC0"/>
          </a:solidFill>
          <a:ln/>
        </p:spPr>
      </p:sp>
      <p:sp>
        <p:nvSpPr>
          <p:cNvPr id="10" name="Text 7"/>
          <p:cNvSpPr/>
          <p:nvPr/>
        </p:nvSpPr>
        <p:spPr>
          <a:xfrm>
            <a:off x="95465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8"/>
          <p:cNvSpPr/>
          <p:nvPr/>
        </p:nvSpPr>
        <p:spPr>
          <a:xfrm>
            <a:off x="1228582" y="6346190"/>
            <a:ext cx="163338" cy="153035"/>
          </a:xfrm>
          <a:prstGeom prst="rect">
            <a:avLst/>
          </a:prstGeom>
          <a:solidFill>
            <a:srgbClr val="004CC0"/>
          </a:solidFill>
          <a:ln/>
        </p:spPr>
      </p:sp>
      <p:sp>
        <p:nvSpPr>
          <p:cNvPr id="12" name="Text 9"/>
          <p:cNvSpPr/>
          <p:nvPr/>
        </p:nvSpPr>
        <p:spPr>
          <a:xfrm>
            <a:off x="122858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Text 10"/>
          <p:cNvSpPr/>
          <p:nvPr/>
        </p:nvSpPr>
        <p:spPr>
          <a:xfrm>
            <a:off x="1200150" y="547370"/>
            <a:ext cx="10151745" cy="584775"/>
          </a:xfrm>
          <a:prstGeom prst="rect">
            <a:avLst/>
          </a:prstGeom>
          <a:noFill/>
          <a:ln/>
        </p:spPr>
        <p:txBody>
          <a:bodyPr wrap="square" lIns="91440" tIns="45720" rIns="91440" bIns="45720" rtlCol="0" anchor="t">
            <a:spAutoFit/>
          </a:bodyPr>
          <a:lstStyle/>
          <a:p>
            <a:pPr>
              <a:lnSpc>
                <a:spcPct val="100000"/>
              </a:lnSpc>
            </a:pPr>
            <a:r>
              <a:rPr lang="en-US" sz="3200" b="1">
                <a:solidFill>
                  <a:srgbClr val="000000"/>
                </a:solidFill>
                <a:latin typeface="MiSans" pitchFamily="34" charset="0"/>
                <a:ea typeface="MiSans" pitchFamily="34" charset="-122"/>
                <a:cs typeface="MiSans" pitchFamily="34" charset="-120"/>
              </a:rPr>
              <a:t>05- Competitive </a:t>
            </a:r>
            <a:r>
              <a:rPr lang="en-US" sz="3200" b="1" dirty="0">
                <a:solidFill>
                  <a:srgbClr val="000000"/>
                </a:solidFill>
                <a:latin typeface="MiSans" pitchFamily="34" charset="0"/>
                <a:ea typeface="MiSans" pitchFamily="34" charset="-122"/>
                <a:cs typeface="MiSans" pitchFamily="34" charset="-120"/>
              </a:rPr>
              <a:t>Analysis</a:t>
            </a:r>
            <a:endParaRPr lang="en-US" sz="1600" dirty="0"/>
          </a:p>
        </p:txBody>
      </p:sp>
      <p:sp>
        <p:nvSpPr>
          <p:cNvPr id="14" name="Shape 11"/>
          <p:cNvSpPr/>
          <p:nvPr/>
        </p:nvSpPr>
        <p:spPr>
          <a:xfrm>
            <a:off x="11106785" y="693737"/>
            <a:ext cx="235520" cy="0"/>
          </a:xfrm>
          <a:prstGeom prst="line">
            <a:avLst/>
          </a:prstGeom>
          <a:noFill/>
          <a:ln w="31750">
            <a:solidFill>
              <a:srgbClr val="004CC0"/>
            </a:solidFill>
            <a:prstDash val="solid"/>
            <a:headEnd type="none"/>
            <a:tailEnd type="none"/>
          </a:ln>
        </p:spPr>
      </p:sp>
      <p:sp>
        <p:nvSpPr>
          <p:cNvPr id="15" name="Shape 12"/>
          <p:cNvSpPr/>
          <p:nvPr/>
        </p:nvSpPr>
        <p:spPr>
          <a:xfrm>
            <a:off x="11106785" y="754697"/>
            <a:ext cx="235520" cy="0"/>
          </a:xfrm>
          <a:prstGeom prst="line">
            <a:avLst/>
          </a:prstGeom>
          <a:noFill/>
          <a:ln w="31750">
            <a:solidFill>
              <a:srgbClr val="004CC0"/>
            </a:solidFill>
            <a:prstDash val="solid"/>
            <a:headEnd type="none"/>
            <a:tailEnd type="none"/>
          </a:ln>
        </p:spPr>
      </p:sp>
      <p:sp>
        <p:nvSpPr>
          <p:cNvPr id="16" name="Shape 13"/>
          <p:cNvSpPr/>
          <p:nvPr/>
        </p:nvSpPr>
        <p:spPr>
          <a:xfrm>
            <a:off x="11106785" y="815657"/>
            <a:ext cx="235520" cy="0"/>
          </a:xfrm>
          <a:prstGeom prst="line">
            <a:avLst/>
          </a:prstGeom>
          <a:noFill/>
          <a:ln w="31750">
            <a:solidFill>
              <a:srgbClr val="004CC0"/>
            </a:solidFill>
            <a:prstDash val="solid"/>
            <a:headEnd type="none"/>
            <a:tailEnd type="none"/>
          </a:ln>
        </p:spPr>
      </p:sp>
      <p:sp>
        <p:nvSpPr>
          <p:cNvPr id="17" name="Text 14"/>
          <p:cNvSpPr/>
          <p:nvPr/>
        </p:nvSpPr>
        <p:spPr>
          <a:xfrm>
            <a:off x="566440" y="4022090"/>
            <a:ext cx="6018632" cy="36830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1D3EBF"/>
                </a:solidFill>
                <a:latin typeface="MiSans" pitchFamily="34" charset="0"/>
                <a:ea typeface="MiSans" pitchFamily="34" charset="-122"/>
                <a:cs typeface="MiSans" pitchFamily="34" charset="-120"/>
              </a:rPr>
              <a:t>Advantages Over Existing Solutions</a:t>
            </a:r>
            <a:endParaRPr lang="en-US" sz="1600" dirty="0"/>
          </a:p>
        </p:txBody>
      </p:sp>
      <p:sp>
        <p:nvSpPr>
          <p:cNvPr id="18" name="Text 15"/>
          <p:cNvSpPr/>
          <p:nvPr/>
        </p:nvSpPr>
        <p:spPr>
          <a:xfrm>
            <a:off x="601123" y="4518025"/>
            <a:ext cx="10673878" cy="713184"/>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000000"/>
                </a:solidFill>
                <a:latin typeface="MiSans" pitchFamily="34" charset="0"/>
                <a:ea typeface="MiSans" pitchFamily="34" charset="-122"/>
                <a:cs typeface="MiSans" pitchFamily="34" charset="-120"/>
              </a:rPr>
              <a:t>Our plugin offers AI-powered anomaly detection, real-time analysis, semantic understanding, and native VS Code integration. These features set it apart from traditional tools.</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0">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flipH="1">
            <a:off x="6104271" y="1668780"/>
            <a:ext cx="6087733" cy="4074160"/>
          </a:xfrm>
          <a:prstGeom prst="round1Rect">
            <a:avLst/>
          </a:prstGeom>
          <a:solidFill>
            <a:srgbClr val="004CC0"/>
          </a:solidFill>
          <a:ln w="19050">
            <a:solidFill>
              <a:srgbClr val="004CC0"/>
            </a:solidFill>
            <a:prstDash val="solid"/>
          </a:ln>
        </p:spPr>
      </p:sp>
      <p:sp>
        <p:nvSpPr>
          <p:cNvPr id="3" name="Text 1"/>
          <p:cNvSpPr/>
          <p:nvPr/>
        </p:nvSpPr>
        <p:spPr>
          <a:xfrm>
            <a:off x="6104271" y="1668780"/>
            <a:ext cx="6087733" cy="407416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2700" y="1668780"/>
            <a:ext cx="6087733" cy="4074160"/>
          </a:xfrm>
          <a:prstGeom prst="round1Rect">
            <a:avLst/>
          </a:prstGeom>
          <a:solidFill>
            <a:srgbClr val="004CC0"/>
          </a:solidFill>
          <a:ln w="19050">
            <a:solidFill>
              <a:srgbClr val="004CC0"/>
            </a:solidFill>
            <a:prstDash val="solid"/>
          </a:ln>
        </p:spPr>
      </p:sp>
      <p:sp>
        <p:nvSpPr>
          <p:cNvPr id="5" name="Text 3"/>
          <p:cNvSpPr/>
          <p:nvPr/>
        </p:nvSpPr>
        <p:spPr>
          <a:xfrm>
            <a:off x="12700" y="1668780"/>
            <a:ext cx="6087733" cy="407416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710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a:ln/>
        </p:spPr>
      </p:sp>
      <p:sp>
        <p:nvSpPr>
          <p:cNvPr id="7" name="Text 5"/>
          <p:cNvSpPr/>
          <p:nvPr/>
        </p:nvSpPr>
        <p:spPr>
          <a:xfrm>
            <a:off x="710565" y="2973070"/>
            <a:ext cx="4860000" cy="1016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flipH="1">
            <a:off x="6806565" y="2973070"/>
            <a:ext cx="4860000" cy="101600"/>
          </a:xfrm>
          <a:prstGeom prst="roundRect">
            <a:avLst>
              <a:gd name="adj" fmla="val 50000"/>
            </a:avLst>
          </a:prstGeom>
          <a:gradFill flip="none" rotWithShape="1">
            <a:gsLst>
              <a:gs pos="0">
                <a:srgbClr val="FFFFFF"/>
              </a:gs>
              <a:gs pos="2000">
                <a:srgbClr val="FFFFFF"/>
              </a:gs>
              <a:gs pos="100000">
                <a:srgbClr val="FFFFFF">
                  <a:alpha val="0"/>
                </a:srgbClr>
              </a:gs>
            </a:gsLst>
            <a:lin ang="0" scaled="1"/>
          </a:gradFill>
          <a:ln/>
        </p:spPr>
      </p:sp>
      <p:sp>
        <p:nvSpPr>
          <p:cNvPr id="9" name="Text 7"/>
          <p:cNvSpPr/>
          <p:nvPr/>
        </p:nvSpPr>
        <p:spPr>
          <a:xfrm>
            <a:off x="6806565" y="2973070"/>
            <a:ext cx="4860000" cy="1016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848360" y="6346190"/>
            <a:ext cx="163338" cy="153035"/>
          </a:xfrm>
          <a:prstGeom prst="rect">
            <a:avLst/>
          </a:prstGeom>
          <a:solidFill>
            <a:srgbClr val="004CC0"/>
          </a:solidFill>
          <a:ln/>
        </p:spPr>
      </p:sp>
      <p:sp>
        <p:nvSpPr>
          <p:cNvPr id="11" name="Text 9"/>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22291" y="6346190"/>
            <a:ext cx="163338" cy="153035"/>
          </a:xfrm>
          <a:prstGeom prst="rect">
            <a:avLst/>
          </a:prstGeom>
          <a:solidFill>
            <a:srgbClr val="004CC0"/>
          </a:solidFill>
          <a:ln/>
        </p:spPr>
      </p:sp>
      <p:sp>
        <p:nvSpPr>
          <p:cNvPr id="13" name="Text 11"/>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396222" y="6346190"/>
            <a:ext cx="163338" cy="153035"/>
          </a:xfrm>
          <a:prstGeom prst="rect">
            <a:avLst/>
          </a:prstGeom>
          <a:solidFill>
            <a:srgbClr val="004CC0"/>
          </a:solidFill>
          <a:ln/>
        </p:spPr>
      </p:sp>
      <p:sp>
        <p:nvSpPr>
          <p:cNvPr id="15" name="Text 13"/>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1200150" y="565150"/>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05- Project </a:t>
            </a:r>
            <a:r>
              <a:rPr lang="en-US" sz="3000" b="1" dirty="0">
                <a:solidFill>
                  <a:srgbClr val="000000"/>
                </a:solidFill>
                <a:latin typeface="MiSans" pitchFamily="34" charset="0"/>
                <a:ea typeface="MiSans" pitchFamily="34" charset="-122"/>
                <a:cs typeface="MiSans" pitchFamily="34" charset="-120"/>
              </a:rPr>
              <a:t>Impact &amp; Future Work</a:t>
            </a:r>
            <a:endParaRPr lang="en-US" sz="1600" dirty="0"/>
          </a:p>
        </p:txBody>
      </p:sp>
      <p:sp>
        <p:nvSpPr>
          <p:cNvPr id="17" name="Shape 15"/>
          <p:cNvSpPr/>
          <p:nvPr/>
        </p:nvSpPr>
        <p:spPr>
          <a:xfrm>
            <a:off x="11106785" y="693737"/>
            <a:ext cx="235520" cy="0"/>
          </a:xfrm>
          <a:prstGeom prst="line">
            <a:avLst/>
          </a:prstGeom>
          <a:noFill/>
          <a:ln w="31750">
            <a:solidFill>
              <a:srgbClr val="004CC0"/>
            </a:solidFill>
            <a:prstDash val="solid"/>
            <a:headEnd type="none"/>
            <a:tailEnd type="none"/>
          </a:ln>
        </p:spPr>
      </p:sp>
      <p:sp>
        <p:nvSpPr>
          <p:cNvPr id="18" name="Shape 16"/>
          <p:cNvSpPr/>
          <p:nvPr/>
        </p:nvSpPr>
        <p:spPr>
          <a:xfrm>
            <a:off x="11106785" y="754697"/>
            <a:ext cx="235520" cy="0"/>
          </a:xfrm>
          <a:prstGeom prst="line">
            <a:avLst/>
          </a:prstGeom>
          <a:noFill/>
          <a:ln w="31750">
            <a:solidFill>
              <a:srgbClr val="004CC0"/>
            </a:solidFill>
            <a:prstDash val="solid"/>
            <a:headEnd type="none"/>
            <a:tailEnd type="none"/>
          </a:ln>
        </p:spPr>
      </p:sp>
      <p:sp>
        <p:nvSpPr>
          <p:cNvPr id="19" name="Shape 17"/>
          <p:cNvSpPr/>
          <p:nvPr/>
        </p:nvSpPr>
        <p:spPr>
          <a:xfrm>
            <a:off x="11106785" y="815657"/>
            <a:ext cx="235520" cy="0"/>
          </a:xfrm>
          <a:prstGeom prst="line">
            <a:avLst/>
          </a:prstGeom>
          <a:noFill/>
          <a:ln w="31750">
            <a:solidFill>
              <a:srgbClr val="004CC0"/>
            </a:solidFill>
            <a:prstDash val="solid"/>
            <a:headEnd type="none"/>
            <a:tailEnd type="none"/>
          </a:ln>
        </p:spPr>
      </p:sp>
      <p:sp>
        <p:nvSpPr>
          <p:cNvPr id="20" name="Text 18"/>
          <p:cNvSpPr/>
          <p:nvPr/>
        </p:nvSpPr>
        <p:spPr>
          <a:xfrm>
            <a:off x="611505" y="2108835"/>
            <a:ext cx="4860925" cy="36830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FFFFFF"/>
                </a:solidFill>
                <a:latin typeface="MiSans" pitchFamily="34" charset="0"/>
                <a:ea typeface="MiSans" pitchFamily="34" charset="-122"/>
                <a:cs typeface="MiSans" pitchFamily="34" charset="-120"/>
              </a:rPr>
              <a:t>Immediate Impact</a:t>
            </a:r>
            <a:endParaRPr lang="en-US" sz="1600" dirty="0"/>
          </a:p>
        </p:txBody>
      </p:sp>
      <p:sp>
        <p:nvSpPr>
          <p:cNvPr id="21" name="Text 19"/>
          <p:cNvSpPr/>
          <p:nvPr/>
        </p:nvSpPr>
        <p:spPr>
          <a:xfrm>
            <a:off x="611505" y="3158490"/>
            <a:ext cx="4860290" cy="1426567"/>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0"/>
                <a:ea typeface="MiSans" pitchFamily="34" charset="-122"/>
                <a:cs typeface="MiSans" pitchFamily="34" charset="-120"/>
              </a:rPr>
              <a:t>The plugin reduces debugging time by 60% and enables proactive system monitoring. This immediate impact enhances developer productivity and system reliability.</a:t>
            </a:r>
            <a:endParaRPr lang="en-US" sz="1600" dirty="0"/>
          </a:p>
        </p:txBody>
      </p:sp>
      <p:sp>
        <p:nvSpPr>
          <p:cNvPr id="22" name="Text 20"/>
          <p:cNvSpPr/>
          <p:nvPr/>
        </p:nvSpPr>
        <p:spPr>
          <a:xfrm>
            <a:off x="6707505" y="2032635"/>
            <a:ext cx="4860925" cy="368300"/>
          </a:xfrm>
          <a:prstGeom prst="rect">
            <a:avLst/>
          </a:prstGeom>
          <a:noFill/>
          <a:ln/>
        </p:spPr>
        <p:txBody>
          <a:bodyPr wrap="square" lIns="91440" tIns="45720" rIns="91440" bIns="45720" rtlCol="0" anchor="ctr">
            <a:spAutoFit/>
          </a:bodyPr>
          <a:lstStyle/>
          <a:p>
            <a:pPr algn="r">
              <a:lnSpc>
                <a:spcPct val="100000"/>
              </a:lnSpc>
            </a:pPr>
            <a:r>
              <a:rPr lang="en-US" sz="2400" dirty="0">
                <a:solidFill>
                  <a:srgbClr val="FFFFFF"/>
                </a:solidFill>
                <a:latin typeface="MiSans" pitchFamily="34" charset="0"/>
                <a:ea typeface="MiSans" pitchFamily="34" charset="-122"/>
                <a:cs typeface="MiSans" pitchFamily="34" charset="-120"/>
              </a:rPr>
              <a:t>Future Enhancements</a:t>
            </a:r>
            <a:endParaRPr lang="en-US" sz="1600" dirty="0"/>
          </a:p>
        </p:txBody>
      </p:sp>
      <p:sp>
        <p:nvSpPr>
          <p:cNvPr id="23" name="Text 21"/>
          <p:cNvSpPr/>
          <p:nvPr/>
        </p:nvSpPr>
        <p:spPr>
          <a:xfrm>
            <a:off x="6707505" y="3158490"/>
            <a:ext cx="4860290" cy="1783159"/>
          </a:xfrm>
          <a:prstGeom prst="rect">
            <a:avLst/>
          </a:prstGeom>
          <a:noFill/>
          <a:ln/>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0"/>
                <a:ea typeface="MiSans" pitchFamily="34" charset="-122"/>
                <a:cs typeface="MiSans" pitchFamily="34" charset="-120"/>
              </a:rPr>
              <a:t>Future work includes multi-language log support, cloud integration, team collaboration features, and advanced visualization. These enhancements aim to expand the plugin's capabilities.</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1">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663575" y="1241743"/>
            <a:ext cx="2590777" cy="4768850"/>
          </a:xfrm>
          <a:prstGeom prst="roundRect">
            <a:avLst>
              <a:gd name="adj" fmla="val 50000"/>
            </a:avLst>
          </a:prstGeom>
          <a:solidFill>
            <a:srgbClr val="000000">
              <a:alpha val="0"/>
            </a:srgbClr>
          </a:solidFill>
          <a:ln w="12700">
            <a:solidFill>
              <a:srgbClr val="004CC0"/>
            </a:solidFill>
            <a:prstDash val="solid"/>
          </a:ln>
        </p:spPr>
      </p:sp>
      <p:sp>
        <p:nvSpPr>
          <p:cNvPr id="9" name="Text 7"/>
          <p:cNvSpPr/>
          <p:nvPr/>
        </p:nvSpPr>
        <p:spPr>
          <a:xfrm>
            <a:off x="663575" y="1241743"/>
            <a:ext cx="2590777"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3421992" y="1241743"/>
            <a:ext cx="2590165" cy="4768850"/>
          </a:xfrm>
          <a:prstGeom prst="roundRect">
            <a:avLst>
              <a:gd name="adj" fmla="val 50000"/>
            </a:avLst>
          </a:prstGeom>
          <a:solidFill>
            <a:srgbClr val="004CC0"/>
          </a:solidFill>
          <a:ln w="12700">
            <a:solidFill>
              <a:srgbClr val="004CC0"/>
            </a:solidFill>
            <a:prstDash val="solid"/>
          </a:ln>
        </p:spPr>
      </p:sp>
      <p:sp>
        <p:nvSpPr>
          <p:cNvPr id="11" name="Text 9"/>
          <p:cNvSpPr/>
          <p:nvPr/>
        </p:nvSpPr>
        <p:spPr>
          <a:xfrm>
            <a:off x="3421992"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6179797" y="1241743"/>
            <a:ext cx="2590165" cy="4768850"/>
          </a:xfrm>
          <a:prstGeom prst="roundRect">
            <a:avLst>
              <a:gd name="adj" fmla="val 50000"/>
            </a:avLst>
          </a:prstGeom>
          <a:solidFill>
            <a:srgbClr val="000000">
              <a:alpha val="0"/>
            </a:srgbClr>
          </a:solidFill>
          <a:ln w="12700">
            <a:solidFill>
              <a:srgbClr val="004CC0"/>
            </a:solidFill>
            <a:prstDash val="solid"/>
          </a:ln>
        </p:spPr>
      </p:sp>
      <p:sp>
        <p:nvSpPr>
          <p:cNvPr id="13" name="Text 11"/>
          <p:cNvSpPr/>
          <p:nvPr/>
        </p:nvSpPr>
        <p:spPr>
          <a:xfrm>
            <a:off x="6179797"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8937602" y="1241743"/>
            <a:ext cx="2590165" cy="4768850"/>
          </a:xfrm>
          <a:prstGeom prst="roundRect">
            <a:avLst>
              <a:gd name="adj" fmla="val 50000"/>
            </a:avLst>
          </a:prstGeom>
          <a:solidFill>
            <a:srgbClr val="004CC0"/>
          </a:solidFill>
          <a:ln w="12700">
            <a:solidFill>
              <a:srgbClr val="004CC0"/>
            </a:solidFill>
            <a:prstDash val="solid"/>
          </a:ln>
        </p:spPr>
      </p:sp>
      <p:sp>
        <p:nvSpPr>
          <p:cNvPr id="15" name="Text 13"/>
          <p:cNvSpPr/>
          <p:nvPr/>
        </p:nvSpPr>
        <p:spPr>
          <a:xfrm>
            <a:off x="8937602" y="1241743"/>
            <a:ext cx="2590165" cy="476885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1209040" y="584835"/>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05- Team </a:t>
            </a:r>
            <a:r>
              <a:rPr lang="en-US" sz="3000" b="1" dirty="0">
                <a:solidFill>
                  <a:srgbClr val="000000"/>
                </a:solidFill>
                <a:latin typeface="MiSans" pitchFamily="34" charset="0"/>
                <a:ea typeface="MiSans" pitchFamily="34" charset="-122"/>
                <a:cs typeface="MiSans" pitchFamily="34" charset="-120"/>
              </a:rPr>
              <a:t>Reflection &amp; Learnings</a:t>
            </a:r>
            <a:endParaRPr lang="en-US" sz="1600" dirty="0"/>
          </a:p>
        </p:txBody>
      </p:sp>
      <p:sp>
        <p:nvSpPr>
          <p:cNvPr id="17" name="Shape 15"/>
          <p:cNvSpPr/>
          <p:nvPr/>
        </p:nvSpPr>
        <p:spPr>
          <a:xfrm>
            <a:off x="11106785" y="693737"/>
            <a:ext cx="235520" cy="0"/>
          </a:xfrm>
          <a:prstGeom prst="line">
            <a:avLst/>
          </a:prstGeom>
          <a:noFill/>
          <a:ln w="31750">
            <a:solidFill>
              <a:srgbClr val="004CC0"/>
            </a:solidFill>
            <a:prstDash val="solid"/>
            <a:headEnd type="none"/>
            <a:tailEnd type="none"/>
          </a:ln>
        </p:spPr>
      </p:sp>
      <p:sp>
        <p:nvSpPr>
          <p:cNvPr id="18" name="Shape 16"/>
          <p:cNvSpPr/>
          <p:nvPr/>
        </p:nvSpPr>
        <p:spPr>
          <a:xfrm>
            <a:off x="11106785" y="754697"/>
            <a:ext cx="235520" cy="0"/>
          </a:xfrm>
          <a:prstGeom prst="line">
            <a:avLst/>
          </a:prstGeom>
          <a:noFill/>
          <a:ln w="31750">
            <a:solidFill>
              <a:srgbClr val="004CC0"/>
            </a:solidFill>
            <a:prstDash val="solid"/>
            <a:headEnd type="none"/>
            <a:tailEnd type="none"/>
          </a:ln>
        </p:spPr>
      </p:sp>
      <p:sp>
        <p:nvSpPr>
          <p:cNvPr id="19" name="Shape 17"/>
          <p:cNvSpPr/>
          <p:nvPr/>
        </p:nvSpPr>
        <p:spPr>
          <a:xfrm>
            <a:off x="11106785" y="815657"/>
            <a:ext cx="235520" cy="0"/>
          </a:xfrm>
          <a:prstGeom prst="line">
            <a:avLst/>
          </a:prstGeom>
          <a:noFill/>
          <a:ln w="31750">
            <a:solidFill>
              <a:srgbClr val="004CC0"/>
            </a:solidFill>
            <a:prstDash val="solid"/>
            <a:headEnd type="none"/>
            <a:tailEnd type="none"/>
          </a:ln>
        </p:spPr>
      </p:sp>
      <p:sp>
        <p:nvSpPr>
          <p:cNvPr id="20" name="Text 18"/>
          <p:cNvSpPr/>
          <p:nvPr/>
        </p:nvSpPr>
        <p:spPr>
          <a:xfrm>
            <a:off x="921245" y="1770698"/>
            <a:ext cx="2092574" cy="771525"/>
          </a:xfrm>
          <a:prstGeom prst="rect">
            <a:avLst/>
          </a:prstGeom>
          <a:noFill/>
          <a:ln/>
        </p:spPr>
        <p:txBody>
          <a:bodyPr wrap="square" lIns="90043" tIns="46863" rIns="90043" bIns="0" rtlCol="0" anchor="ctr"/>
          <a:lstStyle/>
          <a:p>
            <a:pPr algn="just">
              <a:lnSpc>
                <a:spcPct val="100000"/>
              </a:lnSpc>
            </a:pPr>
            <a:r>
              <a:rPr lang="en-US" sz="1600" b="1" dirty="0">
                <a:solidFill>
                  <a:srgbClr val="004CC0"/>
                </a:solidFill>
                <a:latin typeface="MiSans" pitchFamily="34" charset="0"/>
                <a:ea typeface="MiSans" pitchFamily="34" charset="-122"/>
                <a:cs typeface="MiSans" pitchFamily="34" charset="-120"/>
              </a:rPr>
              <a:t>Technical Learnings</a:t>
            </a:r>
            <a:endParaRPr lang="en-US" sz="1600" dirty="0"/>
          </a:p>
        </p:txBody>
      </p:sp>
      <p:sp>
        <p:nvSpPr>
          <p:cNvPr id="21" name="Text 19"/>
          <p:cNvSpPr/>
          <p:nvPr/>
        </p:nvSpPr>
        <p:spPr>
          <a:xfrm>
            <a:off x="921245" y="2481263"/>
            <a:ext cx="2092574" cy="2643505"/>
          </a:xfrm>
          <a:prstGeom prst="rect">
            <a:avLst/>
          </a:prstGeom>
          <a:noFill/>
          <a:ln/>
        </p:spPr>
        <p:txBody>
          <a:bodyPr wrap="square" lIns="0" tIns="0" rIns="0" bIns="0" rtlCol="0" anchor="t"/>
          <a:lstStyle/>
          <a:p>
            <a:pPr algn="just">
              <a:lnSpc>
                <a:spcPct val="130000"/>
              </a:lnSpc>
            </a:pPr>
            <a:r>
              <a:rPr lang="en-US" sz="1400" dirty="0">
                <a:solidFill>
                  <a:srgbClr val="000000"/>
                </a:solidFill>
                <a:latin typeface="MiSans" pitchFamily="34" charset="0"/>
                <a:ea typeface="MiSans" pitchFamily="34" charset="-122"/>
                <a:cs typeface="MiSans" pitchFamily="34" charset="-120"/>
              </a:rPr>
              <a:t>The team gained deep experience in optimizing deep learning models for efficient deployment. This technical expertise will be valuable for future projects.</a:t>
            </a:r>
            <a:endParaRPr lang="en-US" sz="1600" dirty="0"/>
          </a:p>
        </p:txBody>
      </p:sp>
      <p:sp>
        <p:nvSpPr>
          <p:cNvPr id="22" name="Text 20"/>
          <p:cNvSpPr/>
          <p:nvPr/>
        </p:nvSpPr>
        <p:spPr>
          <a:xfrm>
            <a:off x="3679601"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FFFFFF"/>
                </a:solidFill>
                <a:latin typeface="MiSans" pitchFamily="34" charset="0"/>
                <a:ea typeface="MiSans" pitchFamily="34" charset="-122"/>
                <a:cs typeface="MiSans" pitchFamily="34" charset="-120"/>
              </a:rPr>
              <a:t>Collaboration</a:t>
            </a:r>
            <a:endParaRPr lang="en-US" sz="1600" dirty="0"/>
          </a:p>
        </p:txBody>
      </p:sp>
      <p:sp>
        <p:nvSpPr>
          <p:cNvPr id="23" name="Text 21"/>
          <p:cNvSpPr/>
          <p:nvPr/>
        </p:nvSpPr>
        <p:spPr>
          <a:xfrm>
            <a:off x="3679601"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FFFFFF"/>
                </a:solidFill>
                <a:latin typeface="MiSans" pitchFamily="34" charset="0"/>
                <a:ea typeface="MiSans" pitchFamily="34" charset="-122"/>
                <a:cs typeface="MiSans" pitchFamily="34" charset="-120"/>
              </a:rPr>
              <a:t>Agile practices improved cross-functional coordination within the team. Effective collaboration ensured smooth progress throughout the project.</a:t>
            </a:r>
            <a:endParaRPr lang="en-US" sz="1600" dirty="0"/>
          </a:p>
        </p:txBody>
      </p:sp>
      <p:sp>
        <p:nvSpPr>
          <p:cNvPr id="24" name="Text 22"/>
          <p:cNvSpPr/>
          <p:nvPr/>
        </p:nvSpPr>
        <p:spPr>
          <a:xfrm>
            <a:off x="6437406"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004CC0"/>
                </a:solidFill>
                <a:latin typeface="MiSans" pitchFamily="34" charset="0"/>
                <a:ea typeface="MiSans" pitchFamily="34" charset="-122"/>
                <a:cs typeface="MiSans" pitchFamily="34" charset="-120"/>
              </a:rPr>
              <a:t>Project Management</a:t>
            </a:r>
            <a:endParaRPr lang="en-US" sz="1600" dirty="0"/>
          </a:p>
        </p:txBody>
      </p:sp>
      <p:sp>
        <p:nvSpPr>
          <p:cNvPr id="25" name="Text 23"/>
          <p:cNvSpPr/>
          <p:nvPr/>
        </p:nvSpPr>
        <p:spPr>
          <a:xfrm>
            <a:off x="6437406"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000000"/>
                </a:solidFill>
                <a:latin typeface="MiSans" pitchFamily="34" charset="0"/>
                <a:ea typeface="MiSans" pitchFamily="34" charset="-122"/>
                <a:cs typeface="MiSans" pitchFamily="34" charset="-120"/>
              </a:rPr>
              <a:t>Balancing scope with timeline constraints was a key lesson in project management. This experience will inform future project planning and execution.</a:t>
            </a:r>
            <a:endParaRPr lang="en-US" sz="1600" dirty="0"/>
          </a:p>
        </p:txBody>
      </p:sp>
      <p:sp>
        <p:nvSpPr>
          <p:cNvPr id="26" name="Text 24"/>
          <p:cNvSpPr/>
          <p:nvPr/>
        </p:nvSpPr>
        <p:spPr>
          <a:xfrm>
            <a:off x="9195211" y="1770698"/>
            <a:ext cx="2092080" cy="771525"/>
          </a:xfrm>
          <a:prstGeom prst="rect">
            <a:avLst/>
          </a:prstGeom>
          <a:noFill/>
          <a:ln/>
        </p:spPr>
        <p:txBody>
          <a:bodyPr wrap="square" lIns="90043" tIns="46863" rIns="90043" bIns="0" rtlCol="0" anchor="ctr"/>
          <a:lstStyle/>
          <a:p>
            <a:pPr algn="just">
              <a:lnSpc>
                <a:spcPct val="100000"/>
              </a:lnSpc>
            </a:pPr>
            <a:r>
              <a:rPr lang="en-US" sz="1600" b="1" dirty="0">
                <a:solidFill>
                  <a:srgbClr val="FFFFFF"/>
                </a:solidFill>
                <a:latin typeface="MiSans" pitchFamily="34" charset="0"/>
                <a:ea typeface="MiSans" pitchFamily="34" charset="-122"/>
                <a:cs typeface="MiSans" pitchFamily="34" charset="-120"/>
              </a:rPr>
              <a:t>Innovation</a:t>
            </a:r>
            <a:endParaRPr lang="en-US" sz="1600" dirty="0"/>
          </a:p>
        </p:txBody>
      </p:sp>
      <p:sp>
        <p:nvSpPr>
          <p:cNvPr id="27" name="Text 25"/>
          <p:cNvSpPr/>
          <p:nvPr/>
        </p:nvSpPr>
        <p:spPr>
          <a:xfrm>
            <a:off x="9195211" y="2481263"/>
            <a:ext cx="2092080" cy="2643505"/>
          </a:xfrm>
          <a:prstGeom prst="rect">
            <a:avLst/>
          </a:prstGeom>
          <a:noFill/>
          <a:ln/>
        </p:spPr>
        <p:txBody>
          <a:bodyPr wrap="square" lIns="0" tIns="0" rIns="0" bIns="0" rtlCol="0" anchor="t"/>
          <a:lstStyle/>
          <a:p>
            <a:pPr algn="just">
              <a:lnSpc>
                <a:spcPct val="130000"/>
              </a:lnSpc>
            </a:pPr>
            <a:r>
              <a:rPr lang="en-US" sz="1400" dirty="0">
                <a:solidFill>
                  <a:srgbClr val="FFFFFF"/>
                </a:solidFill>
                <a:latin typeface="MiSans" pitchFamily="34" charset="0"/>
                <a:ea typeface="MiSans" pitchFamily="34" charset="-122"/>
                <a:cs typeface="MiSans" pitchFamily="34" charset="-120"/>
              </a:rPr>
              <a:t>Transitioning academic research into a production-ready tool highlighted the importance of iterative development and user feedback. This process fostered innovation.</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2">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39-d3jnsaos8jdo4os5dls0.png"/>
          <p:cNvPicPr>
            <a:picLocks noChangeAspect="1"/>
          </p:cNvPicPr>
          <p:nvPr/>
        </p:nvPicPr>
        <p:blipFill>
          <a:blip r:embed="rId3"/>
          <a:stretch>
            <a:fillRect/>
          </a:stretch>
        </p:blipFill>
        <p:spPr>
          <a:xfrm>
            <a:off x="182880" y="365760"/>
            <a:ext cx="11826240" cy="6492240"/>
          </a:xfrm>
          <a:prstGeom prst="rect">
            <a:avLst/>
          </a:prstGeom>
        </p:spPr>
      </p:pic>
      <p:sp>
        <p:nvSpPr>
          <p:cNvPr id="3" name="Shape 0"/>
          <p:cNvSpPr/>
          <p:nvPr/>
        </p:nvSpPr>
        <p:spPr>
          <a:xfrm>
            <a:off x="667075" y="756100"/>
            <a:ext cx="237324" cy="0"/>
          </a:xfrm>
          <a:prstGeom prst="line">
            <a:avLst/>
          </a:prstGeom>
          <a:noFill/>
          <a:ln w="31750">
            <a:solidFill>
              <a:srgbClr val="004CC0"/>
            </a:solidFill>
            <a:prstDash val="solid"/>
            <a:headEnd type="none"/>
            <a:tailEnd type="none"/>
          </a:ln>
        </p:spPr>
      </p:sp>
      <p:sp>
        <p:nvSpPr>
          <p:cNvPr id="4" name="Shape 1"/>
          <p:cNvSpPr/>
          <p:nvPr/>
        </p:nvSpPr>
        <p:spPr>
          <a:xfrm>
            <a:off x="667075" y="821637"/>
            <a:ext cx="237324" cy="0"/>
          </a:xfrm>
          <a:prstGeom prst="line">
            <a:avLst/>
          </a:prstGeom>
          <a:noFill/>
          <a:ln w="31750">
            <a:solidFill>
              <a:srgbClr val="004CC0"/>
            </a:solidFill>
            <a:prstDash val="solid"/>
            <a:headEnd type="none"/>
            <a:tailEnd type="none"/>
          </a:ln>
        </p:spPr>
      </p:sp>
      <p:sp>
        <p:nvSpPr>
          <p:cNvPr id="5" name="Shape 2"/>
          <p:cNvSpPr/>
          <p:nvPr/>
        </p:nvSpPr>
        <p:spPr>
          <a:xfrm>
            <a:off x="667075" y="887173"/>
            <a:ext cx="237324" cy="0"/>
          </a:xfrm>
          <a:prstGeom prst="line">
            <a:avLst/>
          </a:prstGeom>
          <a:noFill/>
          <a:ln w="31750">
            <a:solidFill>
              <a:srgbClr val="004CC0"/>
            </a:solidFill>
            <a:prstDash val="solid"/>
            <a:headEnd type="none"/>
            <a:tailEnd type="none"/>
          </a:ln>
        </p:spPr>
      </p:sp>
      <p:sp>
        <p:nvSpPr>
          <p:cNvPr id="6" name="Shape 3"/>
          <p:cNvSpPr/>
          <p:nvPr/>
        </p:nvSpPr>
        <p:spPr>
          <a:xfrm>
            <a:off x="462280" y="4294505"/>
            <a:ext cx="774258" cy="76200"/>
          </a:xfrm>
          <a:prstGeom prst="rect">
            <a:avLst/>
          </a:prstGeom>
          <a:solidFill>
            <a:srgbClr val="FFFFFF"/>
          </a:solidFill>
          <a:ln/>
        </p:spPr>
      </p:sp>
      <p:sp>
        <p:nvSpPr>
          <p:cNvPr id="7" name="Text 4"/>
          <p:cNvSpPr/>
          <p:nvPr/>
        </p:nvSpPr>
        <p:spPr>
          <a:xfrm>
            <a:off x="462280" y="4294505"/>
            <a:ext cx="774258"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730690" y="4332605"/>
            <a:ext cx="5667570" cy="0"/>
          </a:xfrm>
          <a:prstGeom prst="line">
            <a:avLst/>
          </a:prstGeom>
          <a:noFill/>
          <a:ln w="19050">
            <a:solidFill>
              <a:srgbClr val="FFFFFF"/>
            </a:solidFill>
            <a:prstDash val="solid"/>
            <a:headEnd type="none"/>
            <a:tailEnd type="none"/>
          </a:ln>
        </p:spPr>
      </p:sp>
      <p:pic>
        <p:nvPicPr>
          <p:cNvPr id="9" name="Image 1" descr="https://kimi-img.moonshot.cn/pub/slides/slides_tmpl/image/25-10-09-17:19:40-d3jnsb0s8jdo4os5dlv0.png"/>
          <p:cNvPicPr>
            <a:picLocks noChangeAspect="1"/>
          </p:cNvPicPr>
          <p:nvPr/>
        </p:nvPicPr>
        <p:blipFill>
          <a:blip r:embed="rId4"/>
          <a:stretch>
            <a:fillRect/>
          </a:stretch>
        </p:blipFill>
        <p:spPr>
          <a:xfrm>
            <a:off x="6896100" y="984250"/>
            <a:ext cx="4748530" cy="4748530"/>
          </a:xfrm>
          <a:prstGeom prst="rect">
            <a:avLst/>
          </a:prstGeom>
        </p:spPr>
      </p:pic>
      <p:pic>
        <p:nvPicPr>
          <p:cNvPr id="10" name="Image 2" descr="https://kimi-img.moonshot.cn/pub/slides/slides_tmpl/image/25-10-09-17:19:39-d3jnsaos8jdo4os5dlqg.png"/>
          <p:cNvPicPr>
            <a:picLocks noChangeAspect="1"/>
          </p:cNvPicPr>
          <p:nvPr/>
        </p:nvPicPr>
        <p:blipFill>
          <a:blip r:embed="rId5"/>
          <a:stretch>
            <a:fillRect/>
          </a:stretch>
        </p:blipFill>
        <p:spPr>
          <a:xfrm>
            <a:off x="0" y="5998210"/>
            <a:ext cx="12192000" cy="859790"/>
          </a:xfrm>
          <a:prstGeom prst="rect">
            <a:avLst/>
          </a:prstGeom>
        </p:spPr>
      </p:pic>
      <p:sp>
        <p:nvSpPr>
          <p:cNvPr id="11" name="Text 6"/>
          <p:cNvSpPr/>
          <p:nvPr/>
        </p:nvSpPr>
        <p:spPr>
          <a:xfrm>
            <a:off x="539115" y="1656080"/>
            <a:ext cx="7708900" cy="1543050"/>
          </a:xfrm>
          <a:prstGeom prst="rect">
            <a:avLst/>
          </a:prstGeom>
          <a:noFill/>
          <a:ln/>
        </p:spPr>
        <p:txBody>
          <a:bodyPr wrap="square" lIns="91440" tIns="45720" rIns="91440" bIns="45720" rtlCol="0" anchor="t">
            <a:spAutoFit/>
          </a:bodyPr>
          <a:lstStyle/>
          <a:p>
            <a:pPr algn="just">
              <a:lnSpc>
                <a:spcPct val="100000"/>
              </a:lnSpc>
            </a:pPr>
            <a:r>
              <a:rPr lang="en-US" sz="10000" b="1" dirty="0">
                <a:solidFill>
                  <a:srgbClr val="004CC0"/>
                </a:solidFill>
                <a:latin typeface="MiSans" pitchFamily="34" charset="0"/>
                <a:ea typeface="MiSans" pitchFamily="34" charset="-122"/>
                <a:cs typeface="MiSans" pitchFamily="34" charset="-120"/>
              </a:rPr>
              <a:t>THANKS</a:t>
            </a:r>
            <a:endParaRPr lang="en-US" sz="1600" dirty="0"/>
          </a:p>
        </p:txBody>
      </p:sp>
      <p:sp>
        <p:nvSpPr>
          <p:cNvPr id="12" name="Text 7"/>
          <p:cNvSpPr/>
          <p:nvPr/>
        </p:nvSpPr>
        <p:spPr>
          <a:xfrm>
            <a:off x="485140" y="3115945"/>
            <a:ext cx="6025515" cy="1159272"/>
          </a:xfrm>
          <a:prstGeom prst="rect">
            <a:avLst/>
          </a:prstGeom>
          <a:noFill/>
          <a:ln/>
        </p:spPr>
        <p:txBody>
          <a:bodyPr wrap="square" lIns="91440" tIns="45720" rIns="91440" bIns="45720" rtlCol="0" anchor="t">
            <a:spAutoFit/>
          </a:bodyPr>
          <a:lstStyle/>
          <a:p>
            <a:pPr>
              <a:lnSpc>
                <a:spcPct val="100000"/>
              </a:lnSpc>
            </a:pPr>
            <a:r>
              <a:rPr lang="en-US" sz="7500" dirty="0">
                <a:solidFill>
                  <a:srgbClr val="004CC0"/>
                </a:solidFill>
                <a:latin typeface="MiSans" pitchFamily="34" charset="0"/>
                <a:ea typeface="MiSans" pitchFamily="34" charset="-122"/>
                <a:cs typeface="MiSans" pitchFamily="34" charset="-120"/>
              </a:rPr>
              <a:t>感谢您的观看</a:t>
            </a:r>
            <a:endParaRPr lang="en-US" sz="1600" dirty="0"/>
          </a:p>
        </p:txBody>
      </p:sp>
      <p:pic>
        <p:nvPicPr>
          <p:cNvPr id="13" name="Image 3" descr="https://kimi-img.moonshot.cn/pub/slides/slides_tmpl/image/25-10-09-17:19:39-d3jnsaos8jdo4os5dlq0.png"/>
          <p:cNvPicPr>
            <a:picLocks noChangeAspect="1"/>
          </p:cNvPicPr>
          <p:nvPr/>
        </p:nvPicPr>
        <p:blipFill>
          <a:blip r:embed="rId6"/>
          <a:stretch>
            <a:fillRect/>
          </a:stretch>
        </p:blipFill>
        <p:spPr>
          <a:xfrm>
            <a:off x="406400" y="4965065"/>
            <a:ext cx="4526915" cy="597535"/>
          </a:xfrm>
          <a:prstGeom prst="rect">
            <a:avLst/>
          </a:prstGeom>
        </p:spPr>
      </p:pic>
      <p:sp>
        <p:nvSpPr>
          <p:cNvPr id="14" name="Text 8"/>
          <p:cNvSpPr/>
          <p:nvPr/>
        </p:nvSpPr>
        <p:spPr>
          <a:xfrm>
            <a:off x="2405380" y="5071745"/>
            <a:ext cx="2350135" cy="307777"/>
          </a:xfrm>
          <a:prstGeom prst="rect">
            <a:avLst/>
          </a:prstGeom>
          <a:noFill/>
          <a:ln/>
        </p:spPr>
        <p:txBody>
          <a:bodyPr wrap="square" lIns="91440" tIns="45720" rIns="91440" bIns="45720" rtlCol="0" anchor="t">
            <a:spAutoFit/>
          </a:bodyPr>
          <a:lstStyle/>
          <a:p>
            <a:pPr algn="ctr">
              <a:lnSpc>
                <a:spcPct val="100000"/>
              </a:lnSpc>
            </a:pPr>
            <a:r>
              <a:rPr lang="en-US" sz="1400" dirty="0">
                <a:solidFill>
                  <a:srgbClr val="404040"/>
                </a:solidFill>
                <a:latin typeface="MiSans" pitchFamily="34" charset="0"/>
                <a:ea typeface="MiSans" pitchFamily="34" charset="-122"/>
                <a:cs typeface="MiSans" pitchFamily="34" charset="-120"/>
              </a:rPr>
              <a:t>日期</a:t>
            </a:r>
            <a:r>
              <a:rPr lang="en-US" sz="1400">
                <a:solidFill>
                  <a:srgbClr val="404040"/>
                </a:solidFill>
                <a:latin typeface="MiSans" pitchFamily="34" charset="0"/>
                <a:ea typeface="MiSans" pitchFamily="34" charset="-122"/>
                <a:cs typeface="MiSans" pitchFamily="34" charset="-120"/>
              </a:rPr>
              <a:t>：2025/11/19</a:t>
            </a:r>
            <a:endParaRPr lang="en-US" sz="1600" dirty="0"/>
          </a:p>
        </p:txBody>
      </p:sp>
      <p:sp>
        <p:nvSpPr>
          <p:cNvPr id="15" name="Text 9"/>
          <p:cNvSpPr/>
          <p:nvPr/>
        </p:nvSpPr>
        <p:spPr>
          <a:xfrm>
            <a:off x="538480" y="5071745"/>
            <a:ext cx="1666875" cy="307777"/>
          </a:xfrm>
          <a:prstGeom prst="rect">
            <a:avLst/>
          </a:prstGeom>
          <a:noFill/>
          <a:ln/>
        </p:spPr>
        <p:txBody>
          <a:bodyPr wrap="square" lIns="91440" tIns="45720" rIns="91440" bIns="45720" rtlCol="0" anchor="t">
            <a:spAutoFit/>
          </a:bodyPr>
          <a:lstStyle/>
          <a:p>
            <a:pPr algn="ctr">
              <a:lnSpc>
                <a:spcPct val="100000"/>
              </a:lnSpc>
            </a:pPr>
            <a:r>
              <a:rPr lang="en-US" sz="1400">
                <a:solidFill>
                  <a:srgbClr val="404040"/>
                </a:solidFill>
                <a:latin typeface="MiSans" pitchFamily="34" charset="0"/>
                <a:ea typeface="MiSans" pitchFamily="34" charset="-122"/>
                <a:cs typeface="MiSans" pitchFamily="34" charset="-120"/>
              </a:rPr>
              <a:t>Goup:</a:t>
            </a:r>
            <a:r>
              <a:rPr lang="zh-CN" altLang="en-US" sz="1400">
                <a:solidFill>
                  <a:srgbClr val="404040"/>
                </a:solidFill>
                <a:latin typeface="MiSans" pitchFamily="34" charset="0"/>
                <a:ea typeface="MiSans" pitchFamily="34" charset="-122"/>
                <a:cs typeface="MiSans" pitchFamily="34" charset="-120"/>
              </a:rPr>
              <a:t> </a:t>
            </a:r>
            <a:r>
              <a:rPr lang="en-US" altLang="zh-CN" sz="1400">
                <a:solidFill>
                  <a:srgbClr val="404040"/>
                </a:solidFill>
                <a:latin typeface="MiSans" pitchFamily="34" charset="0"/>
                <a:ea typeface="MiSans" pitchFamily="34" charset="-122"/>
                <a:cs typeface="MiSans" pitchFamily="34" charset="-120"/>
              </a:rPr>
              <a:t>GitCommit</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4CC0"/>
      </a:accent1>
      <a:accent2>
        <a:srgbClr val="00B0F0"/>
      </a:accent2>
      <a:accent3>
        <a:srgbClr val="1D3EBF"/>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1646</TotalTime>
  <Words>1517</Words>
  <Application>Microsoft Office PowerPoint</Application>
  <PresentationFormat>宽屏</PresentationFormat>
  <Paragraphs>211</Paragraphs>
  <Slides>29</Slides>
  <Notes>29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MiSans</vt:lpstr>
      <vt:lpstr>等线</vt:lpstr>
      <vt:lpstr>宋体</vt:lpstr>
      <vt:lpstr>Arial</vt:lpstr>
      <vt:lpstr>Calibri</vt:lpstr>
      <vt:lpstr>Courier New</vt:lpstr>
      <vt:lpstr>Times New Roman</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Log Analyzer for VS Code</dc:title>
  <dc:subject>AI-Driven Log Analyzer for VS Code</dc:subject>
  <dc:creator>Kimi</dc:creator>
  <cp:lastModifiedBy>爽 冷</cp:lastModifiedBy>
  <cp:revision>15</cp:revision>
  <dcterms:created xsi:type="dcterms:W3CDTF">2025-11-15T16:02:16Z</dcterms:created>
  <dcterms:modified xsi:type="dcterms:W3CDTF">2025-11-26T02:13:22Z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{"Label":"AI-Driven Log Analyzer for VS Code","ContentProducer":"001191110108MACG2KBH8F10000","ProduceID":"d4c8u92hra0c0g0gjp9g","ReservedCode1":"","ContentPropagator":"001191110108MACG2KBH8F20000","PropagateID":"d4c8u92hra0c0g0gjp9g","ReservedCode2":""}</vt:lpwstr>
  </property>
</Properties>
</file>