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0.svg" ContentType="image/svg+xml"/>
  <Override PartName="/ppt/media/image2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95" r:id="rId7"/>
    <p:sldId id="261" r:id="rId8"/>
    <p:sldId id="278" r:id="rId9"/>
    <p:sldId id="281" r:id="rId10"/>
    <p:sldId id="283" r:id="rId11"/>
    <p:sldId id="263" r:id="rId12"/>
    <p:sldId id="270" r:id="rId13"/>
    <p:sldId id="288" r:id="rId14"/>
    <p:sldId id="291" r:id="rId15"/>
    <p:sldId id="292" r:id="rId16"/>
    <p:sldId id="258" r:id="rId17"/>
    <p:sldId id="266" r:id="rId18"/>
    <p:sldId id="268" r:id="rId19"/>
    <p:sldId id="279" r:id="rId20"/>
    <p:sldId id="280" r:id="rId21"/>
    <p:sldId id="286" r:id="rId22"/>
    <p:sldId id="296" r:id="rId23"/>
    <p:sldId id="297" r:id="rId24"/>
    <p:sldId id="277" r:id="rId25"/>
  </p:sldIdLst>
  <p:sldSz cx="12192000" cy="6858000"/>
  <p:notesSz cx="6858000" cy="12192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85999"/>
    <a:srgbClr val="1D3EBF"/>
    <a:srgbClr val="004C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75594" autoAdjust="0"/>
  </p:normalViewPr>
  <p:slideViewPr>
    <p:cSldViewPr snapToGrid="0" snapToObjects="1">
      <p:cViewPr>
        <p:scale>
          <a:sx n="75" d="100"/>
          <a:sy n="75" d="100"/>
        </p:scale>
        <p:origin x="1308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Good morning, everyone! We are 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GitCommit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Group 8. Today, we will share you a VS Code Plugin for log anomaly detection based on 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LogLLM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Current log anomaly detection methods face a triple dilemma: privacy leakage, lack of a unified analysis interface in IDEs, and low parsing efficiency. Our research will propose a localized solution based on 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LogLLM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achieve high performance, zero privacy leakage, and native IDE integration.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figure illustrates the system architecture of the VS Code plugin for anomaly log parsing based on 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LogLLM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which consists of three core components: left-side External Services (LLM APIs, Log Processing Server), middle VS Code Plugin System backend (Node.js-based for core logic/communication), and right front-end WebView.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That talk about the architecture about the front-end. In this project, we choose WebView and Node.js as our main technologies, because VS code itself is also a editor based on this two technologies, this bring certain convenience. Because we can use the original </a:t>
            </a:r>
            <a:r>
              <a:rPr lang="en-US" dirty="0" err="1">
                <a:sym typeface="+mn-ea"/>
              </a:rPr>
              <a:t>vscode</a:t>
            </a:r>
            <a:r>
              <a:rPr lang="en-US" dirty="0">
                <a:sym typeface="+mn-ea"/>
              </a:rPr>
              <a:t> </a:t>
            </a:r>
            <a:r>
              <a:rPr lang="en-US" dirty="0" err="1">
                <a:sym typeface="+mn-ea"/>
              </a:rPr>
              <a:t>api</a:t>
            </a:r>
            <a:r>
              <a:rPr lang="en-US" dirty="0">
                <a:sym typeface="+mn-ea"/>
              </a:rPr>
              <a:t> to construct our process communication without the third libraries. In the front-end architecture design, we have two main part, first is the user interface based on the Vue.js framework, then we use the </a:t>
            </a:r>
            <a:r>
              <a:rPr lang="en-US" dirty="0" err="1">
                <a:sym typeface="+mn-ea"/>
              </a:rPr>
              <a:t>webview</a:t>
            </a:r>
            <a:r>
              <a:rPr lang="en-US" dirty="0">
                <a:sym typeface="+mn-ea"/>
              </a:rPr>
              <a:t> technology to render it on the VS Code page, and we use Node.js to communicate with the whole web page and external interface.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collect various types of logs, we used the public </a:t>
            </a:r>
            <a:r>
              <a:rPr lang="en-US" dirty="0" err="1"/>
              <a:t>dataset，LogHub</a:t>
            </a:r>
            <a:r>
              <a:rPr lang="en-US" dirty="0"/>
              <a:t>, which contains records from distributed systems, super computers, operating systems and server applications.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logs differ in size. We applied different preprocessing strategies. First, we used predefined regular expressions to filter out IP addresses, MAC addresses and timestamps that are irrelevant to anomalies; they were replaced with asterisks. This helps the model focus on semantic content and understand system behavior.</a:t>
            </a:r>
            <a:endParaRPr lang="en-US" dirty="0"/>
          </a:p>
          <a:p>
            <a:endParaRPr lang="en-US" dirty="0"/>
          </a:p>
          <a:p>
            <a:r>
              <a:rPr lang="en-US" dirty="0"/>
              <a:t>For log partitioning, on HDFS logs we used a session-window strategy that aggregates messages into sequences by block ID; for other logs we used a sliding-window protocol. Examples are shown in the figure.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We adopted a model architecture called </a:t>
            </a:r>
            <a:r>
              <a:rPr lang="en-US" altLang="zh-CN" dirty="0" err="1"/>
              <a:t>LogLLM</a:t>
            </a:r>
            <a:r>
              <a:rPr lang="en-US" altLang="zh-CN" dirty="0"/>
              <a:t>: BERT extracts dense semantic representations from single log messages, and </a:t>
            </a:r>
            <a:r>
              <a:rPr lang="en-US" altLang="zh-CN" dirty="0" err="1"/>
              <a:t>LLaMA</a:t>
            </a:r>
            <a:r>
              <a:rPr lang="en-US" altLang="zh-CN" dirty="0"/>
              <a:t> performs sequence-level anomaly classification. A projector aligns the vector spaces between the two modules.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We evaluate with precision, recall and F1-score for the binary classification task.</a:t>
            </a:r>
            <a:endParaRPr lang="en-US" altLang="zh-C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sprint, we focused on three key tasks: first, requirement clarification, emphasizing requirements analysis and architecture design; second, conducting workshops to define user stories and validate feasibility through technical research; and finally, configuring the development environment to produce the requirements specification document and system architecture diagram. This laid the foundation for the project.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phase had two parts: frontend and backend development, </a:t>
            </a:r>
            <a:r>
              <a:rPr lang="en-US" dirty="0" err="1"/>
              <a:t>LogLLM</a:t>
            </a:r>
            <a:r>
              <a:rPr lang="en-US" dirty="0"/>
              <a:t> model integration and data communication; and model integration and delivery.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finally delivered compiled test reports, user manuals, and the v1.0 plugin package.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final one is the "Burndown Chart", displaying progress from Sprint 1 to 3. The vertical axis shows remaining story points, the horizontal axis represents weeks, and the curve declines steadily, indicating we stayed on track.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set up a  **multi-environment testing matrix** , prepared data and tools, and trained testers for end-to-end testing.</a:t>
            </a:r>
            <a:endParaRPr lang="en-US" dirty="0"/>
          </a:p>
          <a:p>
            <a:endParaRPr lang="en-US" dirty="0"/>
          </a:p>
          <a:p>
            <a:r>
              <a:rPr lang="en-US" dirty="0"/>
              <a:t>Tests followed  **priority order: P0 → P1 → P2 → P3** , with all results and logs recorded.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All defects were recorded in an internal tracking system, including reproduction steps, expected vs. actual behavior, screenshots or logs, and impact assessment.</a:t>
            </a:r>
            <a:endParaRPr lang="en-US" dirty="0"/>
          </a:p>
          <a:p>
            <a:endParaRPr lang="en-US" dirty="0"/>
          </a:p>
          <a:p>
            <a:r>
              <a:rPr lang="en-US" dirty="0"/>
              <a:t>We continuously tracked resolution progress and performed **regression testing** after each fix to ensure issues were fully resolved without introducing new problems.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We tested the system under 0 to 200 concurrent users.</a:t>
            </a:r>
            <a:endParaRPr lang="en-US" dirty="0"/>
          </a:p>
          <a:p>
            <a:endParaRPr lang="en-US" dirty="0"/>
          </a:p>
          <a:p>
            <a:r>
              <a:rPr lang="en-US" dirty="0"/>
              <a:t>Latency increased with concurrency but remained acceptable,  **request success rate stayed above 97%** , and GPU/memory usage grew reasonably without resource exhaustion.</a:t>
            </a:r>
            <a:endParaRPr lang="en-US" dirty="0"/>
          </a:p>
          <a:p>
            <a:endParaRPr lang="en-US" dirty="0"/>
          </a:p>
          <a:p>
            <a:r>
              <a:rPr lang="en-US" dirty="0"/>
              <a:t>Overall, the system remained  **stable and responsive under high load**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Finally, the F1-score comparison chart shows the accuracy of various log anomaly detection methods such as </a:t>
            </a:r>
            <a:r>
              <a:rPr lang="en-US" dirty="0" err="1"/>
              <a:t>FastLogAD</a:t>
            </a:r>
            <a:r>
              <a:rPr lang="en-US" dirty="0"/>
              <a:t> and </a:t>
            </a:r>
            <a:r>
              <a:rPr lang="en-US" dirty="0" err="1"/>
              <a:t>LogLLM</a:t>
            </a:r>
            <a:r>
              <a:rPr lang="en-US" dirty="0"/>
              <a:t>.</a:t>
            </a:r>
            <a:endParaRPr lang="en-US" dirty="0"/>
          </a:p>
          <a:p>
            <a:endParaRPr lang="en-US" dirty="0"/>
          </a:p>
          <a:p>
            <a:r>
              <a:rPr lang="en-US" dirty="0"/>
              <a:t>From the chart, we can see that **</a:t>
            </a:r>
            <a:r>
              <a:rPr lang="en-US" dirty="0" err="1"/>
              <a:t>LogLLM</a:t>
            </a:r>
            <a:r>
              <a:rPr lang="en-US" dirty="0"/>
              <a:t> (rightmost bar) achieves the highest F1 score, nearly 1.0**, significantly better than the other methods.</a:t>
            </a:r>
            <a:endParaRPr lang="en-US" dirty="0"/>
          </a:p>
          <a:p>
            <a:endParaRPr lang="en-US" dirty="0"/>
          </a:p>
          <a:p>
            <a:r>
              <a:rPr lang="en-US" dirty="0"/>
              <a:t>This confirms that our model achieves **state-of-the-art accuracy** in log anomaly detection.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8.sv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EFF6FC"/>
            </a:gs>
            <a:gs pos="100000">
              <a:srgbClr val="BED7E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3" descr="https://kimi-img.moonshot.cn/pub/slides/slides_tmpl/image/25-10-09-17:19:39-d3jnsaos8jdo4os5dlq0.png"/>
          <p:cNvPicPr>
            <a:picLocks noChangeAspect="1"/>
          </p:cNvPicPr>
          <p:nvPr/>
        </p:nvPicPr>
        <p:blipFill>
          <a:blip r:embed="rId1"/>
          <a:srcRect l="41755"/>
          <a:stretch>
            <a:fillRect/>
          </a:stretch>
        </p:blipFill>
        <p:spPr>
          <a:xfrm>
            <a:off x="6771995" y="3055020"/>
            <a:ext cx="4725738" cy="245979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435179" y="1163656"/>
            <a:ext cx="8489531" cy="28623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004CC0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Log Analyzer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b="1" dirty="0">
                <a:solidFill>
                  <a:srgbClr val="004CC0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based </a:t>
            </a:r>
            <a:r>
              <a:rPr lang="en-US" altLang="zh-CN" sz="6000" b="1" dirty="0">
                <a:solidFill>
                  <a:srgbClr val="004CC0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on </a:t>
            </a:r>
            <a:r>
              <a:rPr lang="en-US" sz="6000" b="1" dirty="0" err="1">
                <a:solidFill>
                  <a:srgbClr val="004CC0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LogLLM</a:t>
            </a:r>
            <a:r>
              <a:rPr lang="en-US" sz="6000" b="1" dirty="0">
                <a:solidFill>
                  <a:srgbClr val="004CC0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  for </a:t>
            </a:r>
            <a:endParaRPr lang="en-US" sz="6000" b="1" dirty="0">
              <a:solidFill>
                <a:srgbClr val="004CC0"/>
              </a:solidFill>
              <a:latin typeface="Times New Roman" panose="02020603050405020304" pitchFamily="18" charset="0"/>
              <a:ea typeface="MiSans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004CC0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VS Code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1"/>
          <p:cNvSpPr/>
          <p:nvPr/>
        </p:nvSpPr>
        <p:spPr>
          <a:xfrm>
            <a:off x="667075" y="756100"/>
            <a:ext cx="237324" cy="0"/>
          </a:xfrm>
          <a:prstGeom prst="line">
            <a:avLst/>
          </a:prstGeom>
          <a:noFill/>
          <a:ln w="31750">
            <a:solidFill>
              <a:srgbClr val="004CC0"/>
            </a:solidFill>
            <a:prstDash val="solid"/>
            <a:headEnd type="none"/>
            <a:tailEnd type="none"/>
          </a:ln>
        </p:spPr>
      </p:sp>
      <p:sp>
        <p:nvSpPr>
          <p:cNvPr id="6" name="Shape 2"/>
          <p:cNvSpPr/>
          <p:nvPr/>
        </p:nvSpPr>
        <p:spPr>
          <a:xfrm>
            <a:off x="667075" y="821637"/>
            <a:ext cx="237324" cy="0"/>
          </a:xfrm>
          <a:prstGeom prst="line">
            <a:avLst/>
          </a:prstGeom>
          <a:noFill/>
          <a:ln w="31750">
            <a:solidFill>
              <a:srgbClr val="004CC0"/>
            </a:solidFill>
            <a:prstDash val="solid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667075" y="887173"/>
            <a:ext cx="237324" cy="0"/>
          </a:xfrm>
          <a:prstGeom prst="line">
            <a:avLst/>
          </a:prstGeom>
          <a:noFill/>
          <a:ln w="31750">
            <a:solidFill>
              <a:srgbClr val="004CC0"/>
            </a:solidFill>
            <a:prstDash val="solid"/>
            <a:headEnd type="none"/>
            <a:tailEnd type="none"/>
          </a:ln>
        </p:spPr>
      </p:sp>
      <p:pic>
        <p:nvPicPr>
          <p:cNvPr id="10" name="Image 3" descr="https://kimi-img.moonshot.cn/pub/slides/slides_tmpl/image/25-10-09-17:19:39-d3jnsaos8jdo4os5dlq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1551" y="5043235"/>
            <a:ext cx="5060449" cy="6855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397999" y="5176265"/>
            <a:ext cx="2332330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</a:t>
            </a:r>
            <a:r>
              <a:rPr lang="en-US" altLang="zh-CN" sz="1600" b="1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ate</a:t>
            </a:r>
            <a:r>
              <a:rPr lang="en-US" sz="1600" b="1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r>
              <a:rPr lang="en-US" sz="1600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2025/12/10</a:t>
            </a: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7046885" y="5150141"/>
            <a:ext cx="2266448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</a:t>
            </a:r>
            <a:r>
              <a:rPr lang="en-US" altLang="zh-CN" sz="1600" b="1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roup:</a:t>
            </a:r>
            <a:r>
              <a:rPr lang="zh-CN" altLang="en-US" sz="1600" b="1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600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</a:t>
            </a:r>
            <a:r>
              <a:rPr lang="en-US" altLang="zh-CN" sz="1600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it Commit</a:t>
            </a:r>
            <a:endParaRPr lang="en-US" sz="1600" dirty="0">
              <a:solidFill>
                <a:srgbClr val="40404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7282128" y="5488695"/>
            <a:ext cx="774258" cy="76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4" name="Image 3" descr="https://kimi-img.moonshot.cn/pub/slides/slides_tmpl/image/25-10-09-17:19:39-d3jnsaos8jdo4os5dlq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98210"/>
            <a:ext cx="12192000" cy="85979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7375262" y="3469774"/>
            <a:ext cx="338155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Members:</a:t>
            </a:r>
            <a:br>
              <a:rPr lang="en-US" altLang="zh-CN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</a:rPr>
              <a:t>Zhihong Zhang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</a:rPr>
              <a:t>,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</a:rPr>
              <a:t> Yu Fu </a:t>
            </a:r>
            <a:endParaRPr lang="en-US" altLang="zh-CN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accent1">
                    <a:lumMod val="50000"/>
                  </a:schemeClr>
                </a:solidFill>
              </a:rPr>
              <a:t>Simin Xian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</a:rPr>
              <a:t>Wenhao Li </a:t>
            </a:r>
            <a:endParaRPr lang="en-US" altLang="zh-CN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accent1">
                    <a:lumMod val="50000"/>
                  </a:schemeClr>
                </a:solidFill>
              </a:rPr>
              <a:t>Jiajun Zhang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</a:rPr>
              <a:t>Shuang Leng </a:t>
            </a:r>
            <a:endParaRPr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81000">
                <a:srgbClr val="F0F8FF"/>
              </a:gs>
              <a:gs pos="100000">
                <a:srgbClr val="F0F8FF"/>
              </a:gs>
            </a:gsLst>
            <a:lin ang="5400000" scaled="1"/>
          </a:gradFill>
        </p:spPr>
      </p:sp>
      <p:pic>
        <p:nvPicPr>
          <p:cNvPr id="25" name="Image 0" descr="https://kimi-img.moonshot.cn/pub/slides/slides_tmpl/image/25-10-09-17:19:39-d3jnsaos8jdo4os5dlu0.png"/>
          <p:cNvPicPr/>
          <p:nvPr/>
        </p:nvPicPr>
        <p:blipFill>
          <a:blip r:embed="rId1"/>
          <a:srcRect t="16500" b="19906"/>
          <a:stretch>
            <a:fillRect/>
          </a:stretch>
        </p:blipFill>
        <p:spPr>
          <a:xfrm>
            <a:off x="5463777" y="1884771"/>
            <a:ext cx="5989804" cy="3345734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699895" y="2041906"/>
            <a:ext cx="2643505" cy="2643505"/>
          </a:xfrm>
          <a:prstGeom prst="ellipse">
            <a:avLst/>
          </a:prstGeom>
          <a:gradFill flip="none" rotWithShape="1">
            <a:gsLst>
              <a:gs pos="0">
                <a:srgbClr val="C8E2FE"/>
              </a:gs>
              <a:gs pos="30000">
                <a:srgbClr val="C8E2FE">
                  <a:alpha val="0"/>
                </a:srgbClr>
              </a:gs>
              <a:gs pos="100000">
                <a:srgbClr val="C8E2FE">
                  <a:alpha val="0"/>
                </a:srgbClr>
              </a:gs>
            </a:gsLst>
            <a:lin ang="5400000" scaled="1"/>
          </a:gradFill>
        </p:spPr>
      </p:sp>
      <p:sp>
        <p:nvSpPr>
          <p:cNvPr id="5" name="Text 3"/>
          <p:cNvSpPr/>
          <p:nvPr/>
        </p:nvSpPr>
        <p:spPr>
          <a:xfrm>
            <a:off x="1699895" y="2041906"/>
            <a:ext cx="2643505" cy="264350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5880272"/>
            <a:ext cx="7802117" cy="742416"/>
          </a:xfrm>
          <a:custGeom>
            <a:avLst/>
            <a:gdLst/>
            <a:ahLst/>
            <a:cxnLst/>
            <a:rect l="l" t="t" r="r" b="b"/>
            <a:pathLst>
              <a:path w="7802117" h="998185">
                <a:moveTo>
                  <a:pt x="7802117" y="998185"/>
                </a:moveTo>
                <a:lnTo>
                  <a:pt x="0" y="998185"/>
                </a:lnTo>
                <a:lnTo>
                  <a:pt x="0" y="323839"/>
                </a:lnTo>
                <a:lnTo>
                  <a:pt x="52704" y="306059"/>
                </a:lnTo>
                <a:lnTo>
                  <a:pt x="281935" y="240022"/>
                </a:lnTo>
                <a:lnTo>
                  <a:pt x="511167" y="182874"/>
                </a:lnTo>
                <a:lnTo>
                  <a:pt x="740398" y="133980"/>
                </a:lnTo>
                <a:lnTo>
                  <a:pt x="968994" y="93342"/>
                </a:lnTo>
                <a:lnTo>
                  <a:pt x="1198225" y="60323"/>
                </a:lnTo>
                <a:lnTo>
                  <a:pt x="1427457" y="34924"/>
                </a:lnTo>
                <a:lnTo>
                  <a:pt x="1656688" y="16509"/>
                </a:lnTo>
                <a:lnTo>
                  <a:pt x="1885919" y="5080"/>
                </a:lnTo>
                <a:lnTo>
                  <a:pt x="2115150" y="0"/>
                </a:lnTo>
                <a:lnTo>
                  <a:pt x="2344382" y="1270"/>
                </a:lnTo>
                <a:lnTo>
                  <a:pt x="2573613" y="8255"/>
                </a:lnTo>
                <a:lnTo>
                  <a:pt x="2802844" y="20319"/>
                </a:lnTo>
                <a:lnTo>
                  <a:pt x="3032075" y="38099"/>
                </a:lnTo>
                <a:lnTo>
                  <a:pt x="3261306" y="60323"/>
                </a:lnTo>
                <a:lnTo>
                  <a:pt x="3490538" y="86992"/>
                </a:lnTo>
                <a:lnTo>
                  <a:pt x="3719769" y="118106"/>
                </a:lnTo>
                <a:lnTo>
                  <a:pt x="3949000" y="153030"/>
                </a:lnTo>
                <a:lnTo>
                  <a:pt x="4178231" y="191128"/>
                </a:lnTo>
                <a:lnTo>
                  <a:pt x="4407463" y="233037"/>
                </a:lnTo>
                <a:lnTo>
                  <a:pt x="4636059" y="276850"/>
                </a:lnTo>
                <a:lnTo>
                  <a:pt x="4865290" y="323839"/>
                </a:lnTo>
                <a:lnTo>
                  <a:pt x="5094521" y="372732"/>
                </a:lnTo>
                <a:lnTo>
                  <a:pt x="5323753" y="423530"/>
                </a:lnTo>
                <a:lnTo>
                  <a:pt x="5552984" y="475598"/>
                </a:lnTo>
                <a:lnTo>
                  <a:pt x="5782215" y="528936"/>
                </a:lnTo>
                <a:lnTo>
                  <a:pt x="6011446" y="583545"/>
                </a:lnTo>
                <a:lnTo>
                  <a:pt x="6240678" y="638153"/>
                </a:lnTo>
                <a:lnTo>
                  <a:pt x="6469909" y="692761"/>
                </a:lnTo>
                <a:lnTo>
                  <a:pt x="6699140" y="748004"/>
                </a:lnTo>
                <a:lnTo>
                  <a:pt x="6928371" y="801977"/>
                </a:lnTo>
                <a:lnTo>
                  <a:pt x="7157603" y="855315"/>
                </a:lnTo>
                <a:lnTo>
                  <a:pt x="7386834" y="907383"/>
                </a:lnTo>
                <a:lnTo>
                  <a:pt x="7616065" y="958181"/>
                </a:lnTo>
                <a:lnTo>
                  <a:pt x="7802117" y="998185"/>
                </a:lnTo>
                <a:close/>
              </a:path>
            </a:pathLst>
          </a:custGeom>
          <a:gradFill flip="none" rotWithShape="1">
            <a:gsLst>
              <a:gs pos="0">
                <a:srgbClr val="F8AA5C"/>
              </a:gs>
              <a:gs pos="26000">
                <a:srgbClr val="F8AA5C"/>
              </a:gs>
              <a:gs pos="63000">
                <a:srgbClr val="FBCC9D"/>
              </a:gs>
              <a:gs pos="99000">
                <a:srgbClr val="FDEEDE"/>
              </a:gs>
              <a:gs pos="100000">
                <a:srgbClr val="FDEEDE"/>
              </a:gs>
            </a:gsLst>
            <a:lin ang="0" scaled="1"/>
          </a:gradFill>
        </p:spPr>
      </p:sp>
      <p:sp>
        <p:nvSpPr>
          <p:cNvPr id="7" name="Text 5"/>
          <p:cNvSpPr/>
          <p:nvPr/>
        </p:nvSpPr>
        <p:spPr>
          <a:xfrm>
            <a:off x="0" y="5624503"/>
            <a:ext cx="7802117" cy="99818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6164262"/>
            <a:ext cx="12192000" cy="693737"/>
          </a:xfrm>
          <a:custGeom>
            <a:avLst/>
            <a:gdLst/>
            <a:ahLst/>
            <a:cxnLst/>
            <a:rect l="l" t="t" r="r" b="b"/>
            <a:pathLst>
              <a:path w="12192000" h="1071880">
                <a:moveTo>
                  <a:pt x="12192000" y="65405"/>
                </a:moveTo>
                <a:lnTo>
                  <a:pt x="12192000" y="1071880"/>
                </a:lnTo>
                <a:lnTo>
                  <a:pt x="0" y="1071880"/>
                </a:lnTo>
                <a:lnTo>
                  <a:pt x="0" y="69215"/>
                </a:lnTo>
                <a:lnTo>
                  <a:pt x="136525" y="48895"/>
                </a:lnTo>
                <a:lnTo>
                  <a:pt x="278130" y="31750"/>
                </a:lnTo>
                <a:lnTo>
                  <a:pt x="420370" y="17780"/>
                </a:lnTo>
                <a:lnTo>
                  <a:pt x="561975" y="8255"/>
                </a:lnTo>
                <a:lnTo>
                  <a:pt x="703580" y="2540"/>
                </a:lnTo>
                <a:lnTo>
                  <a:pt x="845185" y="0"/>
                </a:lnTo>
                <a:lnTo>
                  <a:pt x="986790" y="635"/>
                </a:lnTo>
                <a:lnTo>
                  <a:pt x="1128395" y="3810"/>
                </a:lnTo>
                <a:lnTo>
                  <a:pt x="1270635" y="10795"/>
                </a:lnTo>
                <a:lnTo>
                  <a:pt x="1412240" y="19685"/>
                </a:lnTo>
                <a:lnTo>
                  <a:pt x="1553845" y="31750"/>
                </a:lnTo>
                <a:lnTo>
                  <a:pt x="1695450" y="45720"/>
                </a:lnTo>
                <a:lnTo>
                  <a:pt x="1837055" y="61595"/>
                </a:lnTo>
                <a:lnTo>
                  <a:pt x="1978660" y="80010"/>
                </a:lnTo>
                <a:lnTo>
                  <a:pt x="2120265" y="99695"/>
                </a:lnTo>
                <a:lnTo>
                  <a:pt x="2262505" y="121285"/>
                </a:lnTo>
                <a:lnTo>
                  <a:pt x="2404110" y="144145"/>
                </a:lnTo>
                <a:lnTo>
                  <a:pt x="2545715" y="168275"/>
                </a:lnTo>
                <a:lnTo>
                  <a:pt x="2687320" y="194310"/>
                </a:lnTo>
                <a:lnTo>
                  <a:pt x="2828925" y="220980"/>
                </a:lnTo>
                <a:lnTo>
                  <a:pt x="2970530" y="247650"/>
                </a:lnTo>
                <a:lnTo>
                  <a:pt x="3112770" y="275590"/>
                </a:lnTo>
                <a:lnTo>
                  <a:pt x="3254375" y="303530"/>
                </a:lnTo>
                <a:lnTo>
                  <a:pt x="3395980" y="332740"/>
                </a:lnTo>
                <a:lnTo>
                  <a:pt x="3537585" y="361315"/>
                </a:lnTo>
                <a:lnTo>
                  <a:pt x="3679190" y="389255"/>
                </a:lnTo>
                <a:lnTo>
                  <a:pt x="3820795" y="417830"/>
                </a:lnTo>
                <a:lnTo>
                  <a:pt x="3963035" y="445770"/>
                </a:lnTo>
                <a:lnTo>
                  <a:pt x="4104640" y="473075"/>
                </a:lnTo>
                <a:lnTo>
                  <a:pt x="4246245" y="499110"/>
                </a:lnTo>
                <a:lnTo>
                  <a:pt x="4387850" y="525145"/>
                </a:lnTo>
                <a:lnTo>
                  <a:pt x="4529455" y="549275"/>
                </a:lnTo>
                <a:lnTo>
                  <a:pt x="4671060" y="572135"/>
                </a:lnTo>
                <a:lnTo>
                  <a:pt x="4813300" y="594360"/>
                </a:lnTo>
                <a:lnTo>
                  <a:pt x="4954905" y="614045"/>
                </a:lnTo>
                <a:lnTo>
                  <a:pt x="5096510" y="631825"/>
                </a:lnTo>
                <a:lnTo>
                  <a:pt x="5238115" y="648335"/>
                </a:lnTo>
                <a:lnTo>
                  <a:pt x="5379720" y="662305"/>
                </a:lnTo>
                <a:lnTo>
                  <a:pt x="5521325" y="673735"/>
                </a:lnTo>
                <a:lnTo>
                  <a:pt x="5662930" y="682625"/>
                </a:lnTo>
                <a:lnTo>
                  <a:pt x="5805170" y="689610"/>
                </a:lnTo>
                <a:lnTo>
                  <a:pt x="5946775" y="693420"/>
                </a:lnTo>
                <a:lnTo>
                  <a:pt x="6088380" y="693420"/>
                </a:lnTo>
                <a:lnTo>
                  <a:pt x="6108065" y="693420"/>
                </a:lnTo>
                <a:lnTo>
                  <a:pt x="6128385" y="693420"/>
                </a:lnTo>
                <a:lnTo>
                  <a:pt x="6269990" y="693420"/>
                </a:lnTo>
                <a:lnTo>
                  <a:pt x="6411595" y="689610"/>
                </a:lnTo>
                <a:lnTo>
                  <a:pt x="6553835" y="682625"/>
                </a:lnTo>
                <a:lnTo>
                  <a:pt x="6695440" y="673735"/>
                </a:lnTo>
                <a:lnTo>
                  <a:pt x="6837045" y="662305"/>
                </a:lnTo>
                <a:lnTo>
                  <a:pt x="6978650" y="648335"/>
                </a:lnTo>
                <a:lnTo>
                  <a:pt x="7120255" y="631825"/>
                </a:lnTo>
                <a:lnTo>
                  <a:pt x="7261860" y="614045"/>
                </a:lnTo>
                <a:lnTo>
                  <a:pt x="7403465" y="594360"/>
                </a:lnTo>
                <a:lnTo>
                  <a:pt x="7545705" y="572135"/>
                </a:lnTo>
                <a:lnTo>
                  <a:pt x="7687310" y="549275"/>
                </a:lnTo>
                <a:lnTo>
                  <a:pt x="7828915" y="525145"/>
                </a:lnTo>
                <a:lnTo>
                  <a:pt x="7970520" y="499110"/>
                </a:lnTo>
                <a:lnTo>
                  <a:pt x="8112125" y="473075"/>
                </a:lnTo>
                <a:lnTo>
                  <a:pt x="8253730" y="445770"/>
                </a:lnTo>
                <a:lnTo>
                  <a:pt x="8395970" y="417830"/>
                </a:lnTo>
                <a:lnTo>
                  <a:pt x="8537575" y="389255"/>
                </a:lnTo>
                <a:lnTo>
                  <a:pt x="8679180" y="361315"/>
                </a:lnTo>
                <a:lnTo>
                  <a:pt x="8820785" y="332740"/>
                </a:lnTo>
                <a:lnTo>
                  <a:pt x="8962390" y="303530"/>
                </a:lnTo>
                <a:lnTo>
                  <a:pt x="9103995" y="275590"/>
                </a:lnTo>
                <a:lnTo>
                  <a:pt x="9246235" y="247650"/>
                </a:lnTo>
                <a:lnTo>
                  <a:pt x="9387840" y="220980"/>
                </a:lnTo>
                <a:lnTo>
                  <a:pt x="9529445" y="194310"/>
                </a:lnTo>
                <a:lnTo>
                  <a:pt x="9671050" y="168275"/>
                </a:lnTo>
                <a:lnTo>
                  <a:pt x="9812655" y="144145"/>
                </a:lnTo>
                <a:lnTo>
                  <a:pt x="9954260" y="121285"/>
                </a:lnTo>
                <a:lnTo>
                  <a:pt x="10096500" y="99695"/>
                </a:lnTo>
                <a:lnTo>
                  <a:pt x="10238105" y="80010"/>
                </a:lnTo>
                <a:lnTo>
                  <a:pt x="10379710" y="61595"/>
                </a:lnTo>
                <a:lnTo>
                  <a:pt x="10521315" y="45720"/>
                </a:lnTo>
                <a:lnTo>
                  <a:pt x="10662920" y="31750"/>
                </a:lnTo>
                <a:lnTo>
                  <a:pt x="10804525" y="19685"/>
                </a:lnTo>
                <a:lnTo>
                  <a:pt x="10946130" y="10795"/>
                </a:lnTo>
                <a:lnTo>
                  <a:pt x="11088370" y="3810"/>
                </a:lnTo>
                <a:lnTo>
                  <a:pt x="11229975" y="635"/>
                </a:lnTo>
                <a:lnTo>
                  <a:pt x="11371580" y="0"/>
                </a:lnTo>
                <a:lnTo>
                  <a:pt x="11513185" y="2540"/>
                </a:lnTo>
                <a:lnTo>
                  <a:pt x="11654790" y="8255"/>
                </a:lnTo>
                <a:lnTo>
                  <a:pt x="11796395" y="17780"/>
                </a:lnTo>
                <a:lnTo>
                  <a:pt x="11938635" y="31750"/>
                </a:lnTo>
                <a:lnTo>
                  <a:pt x="12080240" y="48895"/>
                </a:lnTo>
                <a:lnTo>
                  <a:pt x="12192000" y="65405"/>
                </a:lnTo>
                <a:close/>
              </a:path>
            </a:pathLst>
          </a:custGeom>
          <a:solidFill>
            <a:srgbClr val="056EE1"/>
          </a:solidFill>
        </p:spPr>
      </p:sp>
      <p:sp>
        <p:nvSpPr>
          <p:cNvPr id="9" name="Text 7"/>
          <p:cNvSpPr/>
          <p:nvPr/>
        </p:nvSpPr>
        <p:spPr>
          <a:xfrm>
            <a:off x="0" y="5786120"/>
            <a:ext cx="12192000" cy="10718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106785" y="1169329"/>
            <a:ext cx="235520" cy="0"/>
          </a:xfrm>
          <a:prstGeom prst="line">
            <a:avLst/>
          </a:prstGeom>
          <a:noFill/>
          <a:ln w="31750">
            <a:solidFill>
              <a:srgbClr val="056EE1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1106785" y="1230289"/>
            <a:ext cx="235520" cy="0"/>
          </a:xfrm>
          <a:prstGeom prst="line">
            <a:avLst/>
          </a:prstGeom>
          <a:noFill/>
          <a:ln w="31750">
            <a:solidFill>
              <a:srgbClr val="056EE1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1106785" y="1291249"/>
            <a:ext cx="235520" cy="0"/>
          </a:xfrm>
          <a:prstGeom prst="line">
            <a:avLst/>
          </a:prstGeom>
          <a:noFill/>
          <a:ln w="31750">
            <a:solidFill>
              <a:srgbClr val="056EE1"/>
            </a:solidFill>
            <a:prstDash val="solid"/>
            <a:headEnd type="none"/>
            <a:tailEnd type="none"/>
          </a:ln>
        </p:spPr>
      </p:sp>
      <p:pic>
        <p:nvPicPr>
          <p:cNvPr id="14" name="Image 1" descr="https://kimi-img.moonshot.cn/pub/slides/slides_tmpl/image/25-10-09-17:19:39-d3jnsaos8jdo4os5dlrg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07235" y="3430905"/>
            <a:ext cx="2084070" cy="30353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34429" y="2476550"/>
            <a:ext cx="3634730" cy="1081088"/>
          </a:xfrm>
          <a:prstGeom prst="rect">
            <a:avLst/>
          </a:prstGeom>
          <a:noFill/>
        </p:spPr>
        <p:txBody>
          <a:bodyPr wrap="square" lIns="91440" tIns="45720" rIns="91440" bIns="45720" rtlCol="0" anchor="b"/>
          <a:lstStyle/>
          <a:p>
            <a:pPr algn="ctr">
              <a:lnSpc>
                <a:spcPct val="100000"/>
              </a:lnSpc>
            </a:pPr>
            <a:r>
              <a:rPr lang="en-US" altLang="zh-CN" sz="6600" b="1" dirty="0">
                <a:solidFill>
                  <a:schemeClr val="accent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</a:t>
            </a:r>
            <a:endParaRPr lang="en-US" sz="2000" b="1" dirty="0">
              <a:solidFill>
                <a:schemeClr val="accent1"/>
              </a:solidFill>
            </a:endParaRPr>
          </a:p>
        </p:txBody>
      </p:sp>
      <p:sp>
        <p:nvSpPr>
          <p:cNvPr id="16" name="Text 12"/>
          <p:cNvSpPr/>
          <p:nvPr/>
        </p:nvSpPr>
        <p:spPr>
          <a:xfrm>
            <a:off x="5656524" y="2051351"/>
            <a:ext cx="832600" cy="504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056E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486525" y="2074680"/>
            <a:ext cx="5036608" cy="50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altLang="zh-CN" sz="2000" b="1" dirty="0">
                <a:solidFill>
                  <a:srgbClr val="0221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Project Background and Objectives</a:t>
            </a:r>
            <a:endParaRPr lang="en-US" b="1" dirty="0"/>
          </a:p>
        </p:txBody>
      </p:sp>
      <p:sp>
        <p:nvSpPr>
          <p:cNvPr id="18" name="Text 14"/>
          <p:cNvSpPr/>
          <p:nvPr/>
        </p:nvSpPr>
        <p:spPr>
          <a:xfrm>
            <a:off x="5656524" y="2888440"/>
            <a:ext cx="832600" cy="504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056E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486525" y="2899971"/>
            <a:ext cx="4317365" cy="50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altLang="zh-CN" sz="2000" b="1" dirty="0">
                <a:solidFill>
                  <a:srgbClr val="0221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Core Technical Solution</a:t>
            </a:r>
            <a:endParaRPr lang="en-US" b="1" dirty="0"/>
          </a:p>
        </p:txBody>
      </p:sp>
      <p:sp>
        <p:nvSpPr>
          <p:cNvPr id="20" name="Text 16"/>
          <p:cNvSpPr/>
          <p:nvPr/>
        </p:nvSpPr>
        <p:spPr>
          <a:xfrm>
            <a:off x="5653925" y="3729030"/>
            <a:ext cx="832600" cy="504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056E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486524" y="3745492"/>
            <a:ext cx="4317365" cy="50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altLang="zh-CN" sz="2000" b="1" dirty="0">
                <a:solidFill>
                  <a:srgbClr val="02214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Agile Development Process</a:t>
            </a:r>
            <a:endParaRPr lang="en-US" b="1" dirty="0"/>
          </a:p>
        </p:txBody>
      </p:sp>
      <p:sp>
        <p:nvSpPr>
          <p:cNvPr id="22" name="Text 18"/>
          <p:cNvSpPr/>
          <p:nvPr/>
        </p:nvSpPr>
        <p:spPr>
          <a:xfrm>
            <a:off x="5656524" y="4598547"/>
            <a:ext cx="832600" cy="504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056E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6484044" y="4623709"/>
            <a:ext cx="4317365" cy="50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altLang="zh-CN" sz="2000" b="1" dirty="0">
                <a:solidFill>
                  <a:srgbClr val="022144"/>
                </a:solidFill>
                <a:latin typeface="MiSans" pitchFamily="34" charset="0"/>
                <a:ea typeface="MiSans" pitchFamily="34" charset="-122"/>
              </a:rPr>
              <a:t>Testing and Experimental Results</a:t>
            </a:r>
            <a:endParaRPr lang="en-US" b="1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81000">
                <a:srgbClr val="F0F8FF"/>
              </a:gs>
              <a:gs pos="100000">
                <a:srgbClr val="F0F8FF"/>
              </a:gs>
            </a:gsLst>
            <a:lin ang="5400000" scaled="1"/>
          </a:gradFill>
        </p:spPr>
      </p:sp>
      <p:sp>
        <p:nvSpPr>
          <p:cNvPr id="3" name="Text 1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5432425"/>
            <a:ext cx="12192000" cy="864870"/>
          </a:xfrm>
          <a:custGeom>
            <a:avLst/>
            <a:gdLst/>
            <a:ahLst/>
            <a:cxnLst/>
            <a:rect l="l" t="t" r="r" b="b"/>
            <a:pathLst>
              <a:path w="12192000" h="864870">
                <a:moveTo>
                  <a:pt x="12192000" y="61685"/>
                </a:moveTo>
                <a:lnTo>
                  <a:pt x="12192000" y="864870"/>
                </a:lnTo>
                <a:lnTo>
                  <a:pt x="0" y="864870"/>
                </a:lnTo>
                <a:lnTo>
                  <a:pt x="0" y="65089"/>
                </a:lnTo>
                <a:lnTo>
                  <a:pt x="136525" y="45945"/>
                </a:lnTo>
                <a:lnTo>
                  <a:pt x="278130" y="29779"/>
                </a:lnTo>
                <a:lnTo>
                  <a:pt x="420370" y="17017"/>
                </a:lnTo>
                <a:lnTo>
                  <a:pt x="561975" y="8083"/>
                </a:lnTo>
                <a:lnTo>
                  <a:pt x="703580" y="2552"/>
                </a:lnTo>
                <a:lnTo>
                  <a:pt x="845185" y="0"/>
                </a:lnTo>
                <a:lnTo>
                  <a:pt x="986790" y="425"/>
                </a:lnTo>
                <a:lnTo>
                  <a:pt x="1128395" y="3829"/>
                </a:lnTo>
                <a:lnTo>
                  <a:pt x="1270635" y="10210"/>
                </a:lnTo>
                <a:lnTo>
                  <a:pt x="1412240" y="18718"/>
                </a:lnTo>
                <a:lnTo>
                  <a:pt x="1553845" y="29779"/>
                </a:lnTo>
                <a:lnTo>
                  <a:pt x="1695450" y="42967"/>
                </a:lnTo>
                <a:lnTo>
                  <a:pt x="1837055" y="58282"/>
                </a:lnTo>
                <a:lnTo>
                  <a:pt x="1978660" y="75299"/>
                </a:lnTo>
                <a:lnTo>
                  <a:pt x="2120265" y="94017"/>
                </a:lnTo>
                <a:lnTo>
                  <a:pt x="2262505" y="114437"/>
                </a:lnTo>
                <a:lnTo>
                  <a:pt x="2404110" y="136133"/>
                </a:lnTo>
                <a:lnTo>
                  <a:pt x="2545715" y="159105"/>
                </a:lnTo>
                <a:lnTo>
                  <a:pt x="2687320" y="183354"/>
                </a:lnTo>
                <a:lnTo>
                  <a:pt x="2828925" y="208454"/>
                </a:lnTo>
                <a:lnTo>
                  <a:pt x="2970530" y="233979"/>
                </a:lnTo>
                <a:lnTo>
                  <a:pt x="3112770" y="260354"/>
                </a:lnTo>
                <a:lnTo>
                  <a:pt x="3254375" y="286730"/>
                </a:lnTo>
                <a:lnTo>
                  <a:pt x="3395980" y="313957"/>
                </a:lnTo>
                <a:lnTo>
                  <a:pt x="3537585" y="340758"/>
                </a:lnTo>
                <a:lnTo>
                  <a:pt x="3679190" y="367559"/>
                </a:lnTo>
                <a:lnTo>
                  <a:pt x="3820795" y="394360"/>
                </a:lnTo>
                <a:lnTo>
                  <a:pt x="3963035" y="420736"/>
                </a:lnTo>
                <a:lnTo>
                  <a:pt x="4104640" y="446261"/>
                </a:lnTo>
                <a:lnTo>
                  <a:pt x="4246245" y="471361"/>
                </a:lnTo>
                <a:lnTo>
                  <a:pt x="4387850" y="495609"/>
                </a:lnTo>
                <a:lnTo>
                  <a:pt x="4529455" y="518582"/>
                </a:lnTo>
                <a:lnTo>
                  <a:pt x="4671060" y="540278"/>
                </a:lnTo>
                <a:lnTo>
                  <a:pt x="4813300" y="560698"/>
                </a:lnTo>
                <a:lnTo>
                  <a:pt x="4954905" y="579416"/>
                </a:lnTo>
                <a:lnTo>
                  <a:pt x="5096510" y="596433"/>
                </a:lnTo>
                <a:lnTo>
                  <a:pt x="5238115" y="611748"/>
                </a:lnTo>
                <a:lnTo>
                  <a:pt x="5379720" y="624936"/>
                </a:lnTo>
                <a:lnTo>
                  <a:pt x="5521325" y="635996"/>
                </a:lnTo>
                <a:lnTo>
                  <a:pt x="5662930" y="644505"/>
                </a:lnTo>
                <a:lnTo>
                  <a:pt x="5805170" y="650886"/>
                </a:lnTo>
                <a:lnTo>
                  <a:pt x="5946775" y="654289"/>
                </a:lnTo>
                <a:lnTo>
                  <a:pt x="6088380" y="654715"/>
                </a:lnTo>
                <a:lnTo>
                  <a:pt x="6108065" y="654289"/>
                </a:lnTo>
                <a:lnTo>
                  <a:pt x="6128385" y="654715"/>
                </a:lnTo>
                <a:lnTo>
                  <a:pt x="6269990" y="654289"/>
                </a:lnTo>
                <a:lnTo>
                  <a:pt x="6411595" y="650886"/>
                </a:lnTo>
                <a:lnTo>
                  <a:pt x="6553835" y="644505"/>
                </a:lnTo>
                <a:lnTo>
                  <a:pt x="6695440" y="635996"/>
                </a:lnTo>
                <a:lnTo>
                  <a:pt x="6837045" y="624936"/>
                </a:lnTo>
                <a:lnTo>
                  <a:pt x="6978650" y="611748"/>
                </a:lnTo>
                <a:lnTo>
                  <a:pt x="7120255" y="596433"/>
                </a:lnTo>
                <a:lnTo>
                  <a:pt x="7261860" y="579416"/>
                </a:lnTo>
                <a:lnTo>
                  <a:pt x="7403465" y="560698"/>
                </a:lnTo>
                <a:lnTo>
                  <a:pt x="7545705" y="540278"/>
                </a:lnTo>
                <a:lnTo>
                  <a:pt x="7687310" y="518582"/>
                </a:lnTo>
                <a:lnTo>
                  <a:pt x="7828915" y="495609"/>
                </a:lnTo>
                <a:lnTo>
                  <a:pt x="7970520" y="471361"/>
                </a:lnTo>
                <a:lnTo>
                  <a:pt x="8112125" y="446261"/>
                </a:lnTo>
                <a:lnTo>
                  <a:pt x="8253730" y="420736"/>
                </a:lnTo>
                <a:lnTo>
                  <a:pt x="8395970" y="394360"/>
                </a:lnTo>
                <a:lnTo>
                  <a:pt x="8537575" y="367559"/>
                </a:lnTo>
                <a:lnTo>
                  <a:pt x="8679180" y="340758"/>
                </a:lnTo>
                <a:lnTo>
                  <a:pt x="8820785" y="313957"/>
                </a:lnTo>
                <a:lnTo>
                  <a:pt x="8962390" y="286730"/>
                </a:lnTo>
                <a:lnTo>
                  <a:pt x="9103995" y="260354"/>
                </a:lnTo>
                <a:lnTo>
                  <a:pt x="9246235" y="233979"/>
                </a:lnTo>
                <a:lnTo>
                  <a:pt x="9387840" y="208454"/>
                </a:lnTo>
                <a:lnTo>
                  <a:pt x="9529445" y="183354"/>
                </a:lnTo>
                <a:lnTo>
                  <a:pt x="9671050" y="159105"/>
                </a:lnTo>
                <a:lnTo>
                  <a:pt x="9812655" y="136133"/>
                </a:lnTo>
                <a:lnTo>
                  <a:pt x="9954260" y="114437"/>
                </a:lnTo>
                <a:lnTo>
                  <a:pt x="10096500" y="94017"/>
                </a:lnTo>
                <a:lnTo>
                  <a:pt x="10238105" y="75299"/>
                </a:lnTo>
                <a:lnTo>
                  <a:pt x="10379710" y="58282"/>
                </a:lnTo>
                <a:lnTo>
                  <a:pt x="10521315" y="42967"/>
                </a:lnTo>
                <a:lnTo>
                  <a:pt x="10662920" y="29779"/>
                </a:lnTo>
                <a:lnTo>
                  <a:pt x="10804525" y="18718"/>
                </a:lnTo>
                <a:lnTo>
                  <a:pt x="10946130" y="10210"/>
                </a:lnTo>
                <a:lnTo>
                  <a:pt x="11088370" y="3829"/>
                </a:lnTo>
                <a:lnTo>
                  <a:pt x="11229975" y="425"/>
                </a:lnTo>
                <a:lnTo>
                  <a:pt x="11371580" y="0"/>
                </a:lnTo>
                <a:lnTo>
                  <a:pt x="11513185" y="2552"/>
                </a:lnTo>
                <a:lnTo>
                  <a:pt x="11654790" y="8083"/>
                </a:lnTo>
                <a:lnTo>
                  <a:pt x="11796395" y="17017"/>
                </a:lnTo>
                <a:lnTo>
                  <a:pt x="11938635" y="29779"/>
                </a:lnTo>
                <a:lnTo>
                  <a:pt x="12080240" y="45945"/>
                </a:lnTo>
                <a:lnTo>
                  <a:pt x="12192000" y="61685"/>
                </a:lnTo>
                <a:close/>
              </a:path>
            </a:pathLst>
          </a:custGeom>
          <a:gradFill flip="none" rotWithShape="1">
            <a:gsLst>
              <a:gs pos="0">
                <a:srgbClr val="F8AA5C"/>
              </a:gs>
              <a:gs pos="58000">
                <a:srgbClr val="FBCC9D"/>
              </a:gs>
              <a:gs pos="99000">
                <a:srgbClr val="FDEEDE"/>
              </a:gs>
              <a:gs pos="100000">
                <a:srgbClr val="FDEEDE"/>
              </a:gs>
            </a:gsLst>
            <a:lin ang="0" scaled="1"/>
          </a:gradFill>
        </p:spPr>
      </p:sp>
      <p:sp>
        <p:nvSpPr>
          <p:cNvPr id="5" name="Text 3"/>
          <p:cNvSpPr/>
          <p:nvPr/>
        </p:nvSpPr>
        <p:spPr>
          <a:xfrm>
            <a:off x="0" y="5432425"/>
            <a:ext cx="12192000" cy="8648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5594985"/>
            <a:ext cx="12192000" cy="1263015"/>
          </a:xfrm>
          <a:custGeom>
            <a:avLst/>
            <a:gdLst/>
            <a:ahLst/>
            <a:cxnLst/>
            <a:rect l="l" t="t" r="r" b="b"/>
            <a:pathLst>
              <a:path w="12192000" h="1263015">
                <a:moveTo>
                  <a:pt x="12192000" y="882546"/>
                </a:moveTo>
                <a:lnTo>
                  <a:pt x="12192000" y="1263015"/>
                </a:lnTo>
                <a:lnTo>
                  <a:pt x="0" y="1263015"/>
                </a:lnTo>
                <a:lnTo>
                  <a:pt x="0" y="65426"/>
                </a:lnTo>
                <a:lnTo>
                  <a:pt x="136525" y="46225"/>
                </a:lnTo>
                <a:lnTo>
                  <a:pt x="278130" y="29869"/>
                </a:lnTo>
                <a:lnTo>
                  <a:pt x="420370" y="17068"/>
                </a:lnTo>
                <a:lnTo>
                  <a:pt x="561975" y="7823"/>
                </a:lnTo>
                <a:lnTo>
                  <a:pt x="703580" y="2845"/>
                </a:lnTo>
                <a:lnTo>
                  <a:pt x="845185" y="0"/>
                </a:lnTo>
                <a:lnTo>
                  <a:pt x="986790" y="711"/>
                </a:lnTo>
                <a:lnTo>
                  <a:pt x="1128395" y="3556"/>
                </a:lnTo>
                <a:lnTo>
                  <a:pt x="1270635" y="9956"/>
                </a:lnTo>
                <a:lnTo>
                  <a:pt x="1412240" y="18490"/>
                </a:lnTo>
                <a:lnTo>
                  <a:pt x="1553845" y="29869"/>
                </a:lnTo>
                <a:lnTo>
                  <a:pt x="1695450" y="42669"/>
                </a:lnTo>
                <a:lnTo>
                  <a:pt x="1837055" y="58315"/>
                </a:lnTo>
                <a:lnTo>
                  <a:pt x="1978660" y="75383"/>
                </a:lnTo>
                <a:lnTo>
                  <a:pt x="2120265" y="93873"/>
                </a:lnTo>
                <a:lnTo>
                  <a:pt x="2262505" y="114496"/>
                </a:lnTo>
                <a:lnTo>
                  <a:pt x="2404110" y="135831"/>
                </a:lnTo>
                <a:lnTo>
                  <a:pt x="2545715" y="159299"/>
                </a:lnTo>
                <a:lnTo>
                  <a:pt x="2687320" y="183479"/>
                </a:lnTo>
                <a:lnTo>
                  <a:pt x="2828925" y="208369"/>
                </a:lnTo>
                <a:lnTo>
                  <a:pt x="2970530" y="233971"/>
                </a:lnTo>
                <a:lnTo>
                  <a:pt x="3112770" y="260283"/>
                </a:lnTo>
                <a:lnTo>
                  <a:pt x="3254375" y="286596"/>
                </a:lnTo>
                <a:lnTo>
                  <a:pt x="3395980" y="314331"/>
                </a:lnTo>
                <a:lnTo>
                  <a:pt x="3537585" y="340644"/>
                </a:lnTo>
                <a:lnTo>
                  <a:pt x="3679190" y="367668"/>
                </a:lnTo>
                <a:lnTo>
                  <a:pt x="3820795" y="394692"/>
                </a:lnTo>
                <a:lnTo>
                  <a:pt x="3963035" y="421005"/>
                </a:lnTo>
                <a:lnTo>
                  <a:pt x="4104640" y="446607"/>
                </a:lnTo>
                <a:lnTo>
                  <a:pt x="4246245" y="471497"/>
                </a:lnTo>
                <a:lnTo>
                  <a:pt x="4387850" y="495676"/>
                </a:lnTo>
                <a:lnTo>
                  <a:pt x="4529455" y="518434"/>
                </a:lnTo>
                <a:lnTo>
                  <a:pt x="4671060" y="540479"/>
                </a:lnTo>
                <a:lnTo>
                  <a:pt x="4813300" y="561103"/>
                </a:lnTo>
                <a:lnTo>
                  <a:pt x="4954905" y="579593"/>
                </a:lnTo>
                <a:lnTo>
                  <a:pt x="5096510" y="596661"/>
                </a:lnTo>
                <a:lnTo>
                  <a:pt x="5238115" y="611595"/>
                </a:lnTo>
                <a:lnTo>
                  <a:pt x="5379720" y="625107"/>
                </a:lnTo>
                <a:lnTo>
                  <a:pt x="5521325" y="636486"/>
                </a:lnTo>
                <a:lnTo>
                  <a:pt x="5662930" y="645019"/>
                </a:lnTo>
                <a:lnTo>
                  <a:pt x="5805170" y="650709"/>
                </a:lnTo>
                <a:lnTo>
                  <a:pt x="5946775" y="654265"/>
                </a:lnTo>
                <a:lnTo>
                  <a:pt x="6088380" y="654976"/>
                </a:lnTo>
                <a:lnTo>
                  <a:pt x="6108065" y="654265"/>
                </a:lnTo>
                <a:lnTo>
                  <a:pt x="6128385" y="654976"/>
                </a:lnTo>
                <a:lnTo>
                  <a:pt x="6269990" y="654265"/>
                </a:lnTo>
                <a:lnTo>
                  <a:pt x="6411595" y="650709"/>
                </a:lnTo>
                <a:lnTo>
                  <a:pt x="6553835" y="645019"/>
                </a:lnTo>
                <a:lnTo>
                  <a:pt x="6695440" y="636486"/>
                </a:lnTo>
                <a:lnTo>
                  <a:pt x="6837045" y="625107"/>
                </a:lnTo>
                <a:lnTo>
                  <a:pt x="6978650" y="611595"/>
                </a:lnTo>
                <a:lnTo>
                  <a:pt x="7120255" y="596661"/>
                </a:lnTo>
                <a:lnTo>
                  <a:pt x="7261860" y="579593"/>
                </a:lnTo>
                <a:lnTo>
                  <a:pt x="7403465" y="561103"/>
                </a:lnTo>
                <a:lnTo>
                  <a:pt x="7545705" y="540479"/>
                </a:lnTo>
                <a:lnTo>
                  <a:pt x="7687310" y="518434"/>
                </a:lnTo>
                <a:lnTo>
                  <a:pt x="7828915" y="495676"/>
                </a:lnTo>
                <a:lnTo>
                  <a:pt x="7970520" y="471497"/>
                </a:lnTo>
                <a:lnTo>
                  <a:pt x="8112125" y="446607"/>
                </a:lnTo>
                <a:lnTo>
                  <a:pt x="8253730" y="421005"/>
                </a:lnTo>
                <a:lnTo>
                  <a:pt x="8395970" y="394692"/>
                </a:lnTo>
                <a:lnTo>
                  <a:pt x="8537575" y="367668"/>
                </a:lnTo>
                <a:lnTo>
                  <a:pt x="8679180" y="340644"/>
                </a:lnTo>
                <a:lnTo>
                  <a:pt x="8820785" y="314331"/>
                </a:lnTo>
                <a:lnTo>
                  <a:pt x="8962390" y="286596"/>
                </a:lnTo>
                <a:lnTo>
                  <a:pt x="9103995" y="260283"/>
                </a:lnTo>
                <a:lnTo>
                  <a:pt x="9246235" y="233971"/>
                </a:lnTo>
                <a:lnTo>
                  <a:pt x="9387840" y="208369"/>
                </a:lnTo>
                <a:lnTo>
                  <a:pt x="9529445" y="183479"/>
                </a:lnTo>
                <a:lnTo>
                  <a:pt x="9671050" y="159299"/>
                </a:lnTo>
                <a:lnTo>
                  <a:pt x="9812655" y="135831"/>
                </a:lnTo>
                <a:lnTo>
                  <a:pt x="9954260" y="114496"/>
                </a:lnTo>
                <a:lnTo>
                  <a:pt x="10096500" y="93873"/>
                </a:lnTo>
                <a:lnTo>
                  <a:pt x="10238105" y="75383"/>
                </a:lnTo>
                <a:lnTo>
                  <a:pt x="10379710" y="58315"/>
                </a:lnTo>
                <a:lnTo>
                  <a:pt x="10521315" y="42669"/>
                </a:lnTo>
                <a:lnTo>
                  <a:pt x="10662920" y="29869"/>
                </a:lnTo>
                <a:lnTo>
                  <a:pt x="10804525" y="18490"/>
                </a:lnTo>
                <a:lnTo>
                  <a:pt x="10946130" y="9956"/>
                </a:lnTo>
                <a:lnTo>
                  <a:pt x="11088370" y="3556"/>
                </a:lnTo>
                <a:lnTo>
                  <a:pt x="11229975" y="711"/>
                </a:lnTo>
                <a:lnTo>
                  <a:pt x="11371580" y="0"/>
                </a:lnTo>
                <a:lnTo>
                  <a:pt x="11513185" y="2845"/>
                </a:lnTo>
                <a:lnTo>
                  <a:pt x="11654790" y="7823"/>
                </a:lnTo>
                <a:lnTo>
                  <a:pt x="11796395" y="17068"/>
                </a:lnTo>
                <a:lnTo>
                  <a:pt x="11938635" y="29869"/>
                </a:lnTo>
                <a:lnTo>
                  <a:pt x="12080240" y="46225"/>
                </a:lnTo>
                <a:lnTo>
                  <a:pt x="12192000" y="61871"/>
                </a:lnTo>
                <a:lnTo>
                  <a:pt x="12192000" y="882546"/>
                </a:lnTo>
                <a:close/>
              </a:path>
            </a:pathLst>
          </a:custGeom>
          <a:solidFill>
            <a:srgbClr val="056EE1"/>
          </a:solidFill>
        </p:spPr>
      </p:sp>
      <p:sp>
        <p:nvSpPr>
          <p:cNvPr id="7" name="Text 5"/>
          <p:cNvSpPr/>
          <p:nvPr/>
        </p:nvSpPr>
        <p:spPr>
          <a:xfrm>
            <a:off x="0" y="5594985"/>
            <a:ext cx="12192000" cy="126301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8" name="Image 0" descr="https://kimi-img.moonshot.cn/pub/slides/slides_tmpl/image/25-10-09-17:19:39-d3jnsaos8jdo4os5dlu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4490" y="962025"/>
            <a:ext cx="6382385" cy="610806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03152" y="3143568"/>
            <a:ext cx="7986493" cy="180784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altLang="zh-CN" sz="5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Project Background and Objectives</a:t>
            </a:r>
            <a:endParaRPr lang="en-US" sz="1600" b="1" dirty="0"/>
          </a:p>
        </p:txBody>
      </p:sp>
      <p:sp>
        <p:nvSpPr>
          <p:cNvPr id="10" name="Shape 7"/>
          <p:cNvSpPr/>
          <p:nvPr/>
        </p:nvSpPr>
        <p:spPr>
          <a:xfrm>
            <a:off x="11106785" y="693737"/>
            <a:ext cx="235520" cy="0"/>
          </a:xfrm>
          <a:prstGeom prst="line">
            <a:avLst/>
          </a:prstGeom>
          <a:noFill/>
          <a:ln w="31750">
            <a:solidFill>
              <a:srgbClr val="056EE1"/>
            </a:solidFill>
            <a:prstDash val="solid"/>
            <a:headEnd type="none"/>
            <a:tailEnd type="none"/>
          </a:ln>
        </p:spPr>
      </p:sp>
      <p:sp>
        <p:nvSpPr>
          <p:cNvPr id="11" name="Shape 8"/>
          <p:cNvSpPr/>
          <p:nvPr/>
        </p:nvSpPr>
        <p:spPr>
          <a:xfrm>
            <a:off x="11106785" y="754697"/>
            <a:ext cx="235520" cy="0"/>
          </a:xfrm>
          <a:prstGeom prst="line">
            <a:avLst/>
          </a:prstGeom>
          <a:noFill/>
          <a:ln w="31750">
            <a:solidFill>
              <a:srgbClr val="056EE1"/>
            </a:solidFill>
            <a:prstDash val="solid"/>
            <a:headEnd type="none"/>
            <a:tailEnd type="none"/>
          </a:ln>
        </p:spPr>
      </p:sp>
      <p:sp>
        <p:nvSpPr>
          <p:cNvPr id="12" name="Shape 9"/>
          <p:cNvSpPr/>
          <p:nvPr/>
        </p:nvSpPr>
        <p:spPr>
          <a:xfrm>
            <a:off x="11106785" y="815657"/>
            <a:ext cx="235520" cy="0"/>
          </a:xfrm>
          <a:prstGeom prst="line">
            <a:avLst/>
          </a:prstGeom>
          <a:noFill/>
          <a:ln w="31750">
            <a:solidFill>
              <a:srgbClr val="056EE1"/>
            </a:solidFill>
            <a:prstDash val="solid"/>
            <a:headEnd type="none"/>
            <a:tailEnd type="none"/>
          </a:ln>
        </p:spPr>
      </p:sp>
      <p:sp>
        <p:nvSpPr>
          <p:cNvPr id="13" name="Shape 10"/>
          <p:cNvSpPr/>
          <p:nvPr/>
        </p:nvSpPr>
        <p:spPr>
          <a:xfrm>
            <a:off x="2725420" y="1268730"/>
            <a:ext cx="6598920" cy="180784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4" name="Text 11"/>
          <p:cNvSpPr/>
          <p:nvPr/>
        </p:nvSpPr>
        <p:spPr>
          <a:xfrm>
            <a:off x="2725420" y="1268730"/>
            <a:ext cx="6598920" cy="18078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2000" dirty="0">
                <a:solidFill>
                  <a:srgbClr val="056E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 rot="16200000">
            <a:off x="9305290" y="2005648"/>
            <a:ext cx="2637155" cy="11131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 rot="5400000">
            <a:off x="9305290" y="4632008"/>
            <a:ext cx="2637155" cy="11131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07009" y="879420"/>
            <a:ext cx="11874923" cy="526320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004C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7010" y="879420"/>
            <a:ext cx="8854440" cy="5263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2770" y="2666153"/>
            <a:ext cx="167640" cy="167640"/>
          </a:xfrm>
          <a:prstGeom prst="rect">
            <a:avLst/>
          </a:prstGeom>
          <a:solidFill>
            <a:srgbClr val="004CC0"/>
          </a:solidFill>
        </p:spPr>
      </p:sp>
      <p:sp>
        <p:nvSpPr>
          <p:cNvPr id="9" name="Text 7"/>
          <p:cNvSpPr/>
          <p:nvPr/>
        </p:nvSpPr>
        <p:spPr>
          <a:xfrm>
            <a:off x="572770" y="2666153"/>
            <a:ext cx="167640" cy="1676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8970" y="2749973"/>
            <a:ext cx="7992110" cy="0"/>
          </a:xfrm>
          <a:prstGeom prst="line">
            <a:avLst/>
          </a:prstGeom>
          <a:noFill/>
          <a:ln w="12700">
            <a:solidFill>
              <a:srgbClr val="004CC0"/>
            </a:solidFill>
            <a:prstDash val="dash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638810" y="4301913"/>
            <a:ext cx="167640" cy="167640"/>
          </a:xfrm>
          <a:prstGeom prst="rect">
            <a:avLst/>
          </a:prstGeom>
          <a:solidFill>
            <a:srgbClr val="004CC0"/>
          </a:solidFill>
        </p:spPr>
      </p:sp>
      <p:sp>
        <p:nvSpPr>
          <p:cNvPr id="12" name="Text 10"/>
          <p:cNvSpPr/>
          <p:nvPr/>
        </p:nvSpPr>
        <p:spPr>
          <a:xfrm>
            <a:off x="638810" y="4301913"/>
            <a:ext cx="167640" cy="1676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15010" y="4385733"/>
            <a:ext cx="7992110" cy="0"/>
          </a:xfrm>
          <a:prstGeom prst="line">
            <a:avLst/>
          </a:prstGeom>
          <a:noFill/>
          <a:ln w="12700">
            <a:solidFill>
              <a:srgbClr val="004CC0"/>
            </a:solidFill>
            <a:prstDash val="dash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135475" y="74740"/>
            <a:ext cx="12689089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01-Academic Evolution and Bottlenecks in Log </a:t>
            </a:r>
            <a:r>
              <a:rPr lang="en-US" sz="2400" b="1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AnomalyDetection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5135" y="1158673"/>
            <a:ext cx="8560435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1D3E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Importance of Logs</a:t>
            </a:r>
            <a:endParaRPr lang="en-US" b="1" dirty="0"/>
          </a:p>
        </p:txBody>
      </p:sp>
      <p:sp>
        <p:nvSpPr>
          <p:cNvPr id="19" name="Text 17"/>
          <p:cNvSpPr/>
          <p:nvPr/>
        </p:nvSpPr>
        <p:spPr>
          <a:xfrm>
            <a:off x="483235" y="1558078"/>
            <a:ext cx="8192770" cy="9089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System logs serve as the core observational medium for software reliability research, documenting </a:t>
            </a:r>
            <a:r>
              <a:rPr lang="en-US" sz="1400" b="1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runtimedocumenting</a:t>
            </a:r>
            <a:r>
              <a:rPr lang="en-US" sz="1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runtime states and events to provide critical information for debugging, </a:t>
            </a:r>
            <a:r>
              <a:rPr lang="en-US" sz="1400" b="1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performanceperformance</a:t>
            </a:r>
            <a:r>
              <a:rPr lang="en-US" sz="1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monitoring, and reliability assurance.</a:t>
            </a:r>
            <a:endParaRPr lang="en-US" sz="1600" b="1" dirty="0"/>
          </a:p>
        </p:txBody>
      </p:sp>
      <p:sp>
        <p:nvSpPr>
          <p:cNvPr id="20" name="Text 18"/>
          <p:cNvSpPr/>
          <p:nvPr/>
        </p:nvSpPr>
        <p:spPr>
          <a:xfrm>
            <a:off x="445135" y="2870633"/>
            <a:ext cx="8560435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>
                <a:solidFill>
                  <a:srgbClr val="1D3E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Limitations of Existing Methods</a:t>
            </a:r>
            <a:endParaRPr lang="en-US" b="1" dirty="0"/>
          </a:p>
        </p:txBody>
      </p:sp>
      <p:sp>
        <p:nvSpPr>
          <p:cNvPr id="21" name="Text 19"/>
          <p:cNvSpPr/>
          <p:nvPr/>
        </p:nvSpPr>
        <p:spPr>
          <a:xfrm>
            <a:off x="483235" y="3270038"/>
            <a:ext cx="8192770" cy="9099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Current log anomaly detection methods face a triple dilemma: cloud-based large models compromise </a:t>
            </a:r>
            <a:r>
              <a:rPr lang="en-US" sz="1400" b="1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privacycontrol</a:t>
            </a:r>
            <a:r>
              <a:rPr lang="en-US" sz="1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IDEs lack unified analysis interfaces, and traditional tools struggle with complex </a:t>
            </a:r>
            <a:r>
              <a:rPr lang="en-US" sz="1400" b="1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logs,making</a:t>
            </a:r>
            <a:r>
              <a:rPr lang="en-US" sz="1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itdifficuttobalanceparsingaccuracanefficnc</a:t>
            </a:r>
            <a:r>
              <a:rPr lang="en-US" sz="1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b="1" dirty="0"/>
          </a:p>
        </p:txBody>
      </p:sp>
      <p:sp>
        <p:nvSpPr>
          <p:cNvPr id="22" name="Text 20"/>
          <p:cNvSpPr/>
          <p:nvPr/>
        </p:nvSpPr>
        <p:spPr>
          <a:xfrm>
            <a:off x="445135" y="4552113"/>
            <a:ext cx="8560435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>
                <a:solidFill>
                  <a:srgbClr val="1D3E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Research Objectives</a:t>
            </a:r>
            <a:endParaRPr lang="en-US" b="1" dirty="0"/>
          </a:p>
        </p:txBody>
      </p:sp>
      <p:sp>
        <p:nvSpPr>
          <p:cNvPr id="23" name="Text 21"/>
          <p:cNvSpPr/>
          <p:nvPr/>
        </p:nvSpPr>
        <p:spPr>
          <a:xfrm>
            <a:off x="483235" y="4951518"/>
            <a:ext cx="8192770" cy="9099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This research proposes a localized large-model solution based on </a:t>
            </a:r>
            <a:r>
              <a:rPr lang="en-US" sz="1400" b="1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LogLLM</a:t>
            </a:r>
            <a:r>
              <a:rPr lang="en-US" sz="1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meeting three stringent </a:t>
            </a:r>
            <a:r>
              <a:rPr lang="en-US" sz="1400" b="1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criteria:stringent</a:t>
            </a:r>
            <a:r>
              <a:rPr lang="en-US" sz="1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criteria: high parsing performance, zero privacy leakage, and native IDE integration. It establishes </a:t>
            </a:r>
            <a:r>
              <a:rPr lang="en-US" sz="1400" b="1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aIt</a:t>
            </a:r>
            <a:r>
              <a:rPr lang="en-US" sz="1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establishes a new engineering paradigm for log anomaly detection.</a:t>
            </a:r>
            <a:endParaRPr lang="en-US" sz="1600" b="1" dirty="0"/>
          </a:p>
        </p:txBody>
      </p:sp>
      <p:pic>
        <p:nvPicPr>
          <p:cNvPr id="25" name="Image 1" descr="https://kimi-img.moonshot.cn/pub/slides/25-11-15-23:06:28-d4c9dt6c8f21d3nhn5a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4105" y="1080690"/>
            <a:ext cx="3319966" cy="2689388"/>
          </a:xfrm>
          <a:prstGeom prst="rect">
            <a:avLst/>
          </a:prstGeom>
        </p:spPr>
      </p:pic>
      <p:pic>
        <p:nvPicPr>
          <p:cNvPr id="26" name="Image 2" descr="https://kimi-img.moonshot.cn/pub/slides/25-11-15-23:54:29-d4ca4d87dlc2qipot92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6005" y="3670148"/>
            <a:ext cx="3351081" cy="239907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81000">
                <a:srgbClr val="F0F8FF"/>
              </a:gs>
              <a:gs pos="100000">
                <a:srgbClr val="F0F8FF"/>
              </a:gs>
            </a:gsLst>
            <a:lin ang="5400000" scaled="1"/>
          </a:gradFill>
        </p:spPr>
      </p:sp>
      <p:sp>
        <p:nvSpPr>
          <p:cNvPr id="3" name="Text 1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5432425"/>
            <a:ext cx="12192000" cy="864870"/>
          </a:xfrm>
          <a:custGeom>
            <a:avLst/>
            <a:gdLst/>
            <a:ahLst/>
            <a:cxnLst/>
            <a:rect l="l" t="t" r="r" b="b"/>
            <a:pathLst>
              <a:path w="12192000" h="864870">
                <a:moveTo>
                  <a:pt x="12192000" y="61685"/>
                </a:moveTo>
                <a:lnTo>
                  <a:pt x="12192000" y="864870"/>
                </a:lnTo>
                <a:lnTo>
                  <a:pt x="0" y="864870"/>
                </a:lnTo>
                <a:lnTo>
                  <a:pt x="0" y="65089"/>
                </a:lnTo>
                <a:lnTo>
                  <a:pt x="136525" y="45945"/>
                </a:lnTo>
                <a:lnTo>
                  <a:pt x="278130" y="29779"/>
                </a:lnTo>
                <a:lnTo>
                  <a:pt x="420370" y="17017"/>
                </a:lnTo>
                <a:lnTo>
                  <a:pt x="561975" y="8083"/>
                </a:lnTo>
                <a:lnTo>
                  <a:pt x="703580" y="2552"/>
                </a:lnTo>
                <a:lnTo>
                  <a:pt x="845185" y="0"/>
                </a:lnTo>
                <a:lnTo>
                  <a:pt x="986790" y="425"/>
                </a:lnTo>
                <a:lnTo>
                  <a:pt x="1128395" y="3829"/>
                </a:lnTo>
                <a:lnTo>
                  <a:pt x="1270635" y="10210"/>
                </a:lnTo>
                <a:lnTo>
                  <a:pt x="1412240" y="18718"/>
                </a:lnTo>
                <a:lnTo>
                  <a:pt x="1553845" y="29779"/>
                </a:lnTo>
                <a:lnTo>
                  <a:pt x="1695450" y="42967"/>
                </a:lnTo>
                <a:lnTo>
                  <a:pt x="1837055" y="58282"/>
                </a:lnTo>
                <a:lnTo>
                  <a:pt x="1978660" y="75299"/>
                </a:lnTo>
                <a:lnTo>
                  <a:pt x="2120265" y="94017"/>
                </a:lnTo>
                <a:lnTo>
                  <a:pt x="2262505" y="114437"/>
                </a:lnTo>
                <a:lnTo>
                  <a:pt x="2404110" y="136133"/>
                </a:lnTo>
                <a:lnTo>
                  <a:pt x="2545715" y="159105"/>
                </a:lnTo>
                <a:lnTo>
                  <a:pt x="2687320" y="183354"/>
                </a:lnTo>
                <a:lnTo>
                  <a:pt x="2828925" y="208454"/>
                </a:lnTo>
                <a:lnTo>
                  <a:pt x="2970530" y="233979"/>
                </a:lnTo>
                <a:lnTo>
                  <a:pt x="3112770" y="260354"/>
                </a:lnTo>
                <a:lnTo>
                  <a:pt x="3254375" y="286730"/>
                </a:lnTo>
                <a:lnTo>
                  <a:pt x="3395980" y="313957"/>
                </a:lnTo>
                <a:lnTo>
                  <a:pt x="3537585" y="340758"/>
                </a:lnTo>
                <a:lnTo>
                  <a:pt x="3679190" y="367559"/>
                </a:lnTo>
                <a:lnTo>
                  <a:pt x="3820795" y="394360"/>
                </a:lnTo>
                <a:lnTo>
                  <a:pt x="3963035" y="420736"/>
                </a:lnTo>
                <a:lnTo>
                  <a:pt x="4104640" y="446261"/>
                </a:lnTo>
                <a:lnTo>
                  <a:pt x="4246245" y="471361"/>
                </a:lnTo>
                <a:lnTo>
                  <a:pt x="4387850" y="495609"/>
                </a:lnTo>
                <a:lnTo>
                  <a:pt x="4529455" y="518582"/>
                </a:lnTo>
                <a:lnTo>
                  <a:pt x="4671060" y="540278"/>
                </a:lnTo>
                <a:lnTo>
                  <a:pt x="4813300" y="560698"/>
                </a:lnTo>
                <a:lnTo>
                  <a:pt x="4954905" y="579416"/>
                </a:lnTo>
                <a:lnTo>
                  <a:pt x="5096510" y="596433"/>
                </a:lnTo>
                <a:lnTo>
                  <a:pt x="5238115" y="611748"/>
                </a:lnTo>
                <a:lnTo>
                  <a:pt x="5379720" y="624936"/>
                </a:lnTo>
                <a:lnTo>
                  <a:pt x="5521325" y="635996"/>
                </a:lnTo>
                <a:lnTo>
                  <a:pt x="5662930" y="644505"/>
                </a:lnTo>
                <a:lnTo>
                  <a:pt x="5805170" y="650886"/>
                </a:lnTo>
                <a:lnTo>
                  <a:pt x="5946775" y="654289"/>
                </a:lnTo>
                <a:lnTo>
                  <a:pt x="6088380" y="654715"/>
                </a:lnTo>
                <a:lnTo>
                  <a:pt x="6108065" y="654289"/>
                </a:lnTo>
                <a:lnTo>
                  <a:pt x="6128385" y="654715"/>
                </a:lnTo>
                <a:lnTo>
                  <a:pt x="6269990" y="654289"/>
                </a:lnTo>
                <a:lnTo>
                  <a:pt x="6411595" y="650886"/>
                </a:lnTo>
                <a:lnTo>
                  <a:pt x="6553835" y="644505"/>
                </a:lnTo>
                <a:lnTo>
                  <a:pt x="6695440" y="635996"/>
                </a:lnTo>
                <a:lnTo>
                  <a:pt x="6837045" y="624936"/>
                </a:lnTo>
                <a:lnTo>
                  <a:pt x="6978650" y="611748"/>
                </a:lnTo>
                <a:lnTo>
                  <a:pt x="7120255" y="596433"/>
                </a:lnTo>
                <a:lnTo>
                  <a:pt x="7261860" y="579416"/>
                </a:lnTo>
                <a:lnTo>
                  <a:pt x="7403465" y="560698"/>
                </a:lnTo>
                <a:lnTo>
                  <a:pt x="7545705" y="540278"/>
                </a:lnTo>
                <a:lnTo>
                  <a:pt x="7687310" y="518582"/>
                </a:lnTo>
                <a:lnTo>
                  <a:pt x="7828915" y="495609"/>
                </a:lnTo>
                <a:lnTo>
                  <a:pt x="7970520" y="471361"/>
                </a:lnTo>
                <a:lnTo>
                  <a:pt x="8112125" y="446261"/>
                </a:lnTo>
                <a:lnTo>
                  <a:pt x="8253730" y="420736"/>
                </a:lnTo>
                <a:lnTo>
                  <a:pt x="8395970" y="394360"/>
                </a:lnTo>
                <a:lnTo>
                  <a:pt x="8537575" y="367559"/>
                </a:lnTo>
                <a:lnTo>
                  <a:pt x="8679180" y="340758"/>
                </a:lnTo>
                <a:lnTo>
                  <a:pt x="8820785" y="313957"/>
                </a:lnTo>
                <a:lnTo>
                  <a:pt x="8962390" y="286730"/>
                </a:lnTo>
                <a:lnTo>
                  <a:pt x="9103995" y="260354"/>
                </a:lnTo>
                <a:lnTo>
                  <a:pt x="9246235" y="233979"/>
                </a:lnTo>
                <a:lnTo>
                  <a:pt x="9387840" y="208454"/>
                </a:lnTo>
                <a:lnTo>
                  <a:pt x="9529445" y="183354"/>
                </a:lnTo>
                <a:lnTo>
                  <a:pt x="9671050" y="159105"/>
                </a:lnTo>
                <a:lnTo>
                  <a:pt x="9812655" y="136133"/>
                </a:lnTo>
                <a:lnTo>
                  <a:pt x="9954260" y="114437"/>
                </a:lnTo>
                <a:lnTo>
                  <a:pt x="10096500" y="94017"/>
                </a:lnTo>
                <a:lnTo>
                  <a:pt x="10238105" y="75299"/>
                </a:lnTo>
                <a:lnTo>
                  <a:pt x="10379710" y="58282"/>
                </a:lnTo>
                <a:lnTo>
                  <a:pt x="10521315" y="42967"/>
                </a:lnTo>
                <a:lnTo>
                  <a:pt x="10662920" y="29779"/>
                </a:lnTo>
                <a:lnTo>
                  <a:pt x="10804525" y="18718"/>
                </a:lnTo>
                <a:lnTo>
                  <a:pt x="10946130" y="10210"/>
                </a:lnTo>
                <a:lnTo>
                  <a:pt x="11088370" y="3829"/>
                </a:lnTo>
                <a:lnTo>
                  <a:pt x="11229975" y="425"/>
                </a:lnTo>
                <a:lnTo>
                  <a:pt x="11371580" y="0"/>
                </a:lnTo>
                <a:lnTo>
                  <a:pt x="11513185" y="2552"/>
                </a:lnTo>
                <a:lnTo>
                  <a:pt x="11654790" y="8083"/>
                </a:lnTo>
                <a:lnTo>
                  <a:pt x="11796395" y="17017"/>
                </a:lnTo>
                <a:lnTo>
                  <a:pt x="11938635" y="29779"/>
                </a:lnTo>
                <a:lnTo>
                  <a:pt x="12080240" y="45945"/>
                </a:lnTo>
                <a:lnTo>
                  <a:pt x="12192000" y="61685"/>
                </a:lnTo>
                <a:close/>
              </a:path>
            </a:pathLst>
          </a:custGeom>
          <a:gradFill flip="none" rotWithShape="1">
            <a:gsLst>
              <a:gs pos="0">
                <a:srgbClr val="F8AA5C"/>
              </a:gs>
              <a:gs pos="58000">
                <a:srgbClr val="FBCC9D"/>
              </a:gs>
              <a:gs pos="99000">
                <a:srgbClr val="FDEEDE"/>
              </a:gs>
              <a:gs pos="100000">
                <a:srgbClr val="FDEEDE"/>
              </a:gs>
            </a:gsLst>
            <a:lin ang="0" scaled="1"/>
          </a:gradFill>
        </p:spPr>
      </p:sp>
      <p:sp>
        <p:nvSpPr>
          <p:cNvPr id="5" name="Text 3"/>
          <p:cNvSpPr/>
          <p:nvPr/>
        </p:nvSpPr>
        <p:spPr>
          <a:xfrm>
            <a:off x="0" y="5432425"/>
            <a:ext cx="12192000" cy="8648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5594985"/>
            <a:ext cx="12192000" cy="1263015"/>
          </a:xfrm>
          <a:custGeom>
            <a:avLst/>
            <a:gdLst/>
            <a:ahLst/>
            <a:cxnLst/>
            <a:rect l="l" t="t" r="r" b="b"/>
            <a:pathLst>
              <a:path w="12192000" h="1263015">
                <a:moveTo>
                  <a:pt x="12192000" y="882546"/>
                </a:moveTo>
                <a:lnTo>
                  <a:pt x="12192000" y="1263015"/>
                </a:lnTo>
                <a:lnTo>
                  <a:pt x="0" y="1263015"/>
                </a:lnTo>
                <a:lnTo>
                  <a:pt x="0" y="65426"/>
                </a:lnTo>
                <a:lnTo>
                  <a:pt x="136525" y="46225"/>
                </a:lnTo>
                <a:lnTo>
                  <a:pt x="278130" y="29869"/>
                </a:lnTo>
                <a:lnTo>
                  <a:pt x="420370" y="17068"/>
                </a:lnTo>
                <a:lnTo>
                  <a:pt x="561975" y="7823"/>
                </a:lnTo>
                <a:lnTo>
                  <a:pt x="703580" y="2845"/>
                </a:lnTo>
                <a:lnTo>
                  <a:pt x="845185" y="0"/>
                </a:lnTo>
                <a:lnTo>
                  <a:pt x="986790" y="711"/>
                </a:lnTo>
                <a:lnTo>
                  <a:pt x="1128395" y="3556"/>
                </a:lnTo>
                <a:lnTo>
                  <a:pt x="1270635" y="9956"/>
                </a:lnTo>
                <a:lnTo>
                  <a:pt x="1412240" y="18490"/>
                </a:lnTo>
                <a:lnTo>
                  <a:pt x="1553845" y="29869"/>
                </a:lnTo>
                <a:lnTo>
                  <a:pt x="1695450" y="42669"/>
                </a:lnTo>
                <a:lnTo>
                  <a:pt x="1837055" y="58315"/>
                </a:lnTo>
                <a:lnTo>
                  <a:pt x="1978660" y="75383"/>
                </a:lnTo>
                <a:lnTo>
                  <a:pt x="2120265" y="93873"/>
                </a:lnTo>
                <a:lnTo>
                  <a:pt x="2262505" y="114496"/>
                </a:lnTo>
                <a:lnTo>
                  <a:pt x="2404110" y="135831"/>
                </a:lnTo>
                <a:lnTo>
                  <a:pt x="2545715" y="159299"/>
                </a:lnTo>
                <a:lnTo>
                  <a:pt x="2687320" y="183479"/>
                </a:lnTo>
                <a:lnTo>
                  <a:pt x="2828925" y="208369"/>
                </a:lnTo>
                <a:lnTo>
                  <a:pt x="2970530" y="233971"/>
                </a:lnTo>
                <a:lnTo>
                  <a:pt x="3112770" y="260283"/>
                </a:lnTo>
                <a:lnTo>
                  <a:pt x="3254375" y="286596"/>
                </a:lnTo>
                <a:lnTo>
                  <a:pt x="3395980" y="314331"/>
                </a:lnTo>
                <a:lnTo>
                  <a:pt x="3537585" y="340644"/>
                </a:lnTo>
                <a:lnTo>
                  <a:pt x="3679190" y="367668"/>
                </a:lnTo>
                <a:lnTo>
                  <a:pt x="3820795" y="394692"/>
                </a:lnTo>
                <a:lnTo>
                  <a:pt x="3963035" y="421005"/>
                </a:lnTo>
                <a:lnTo>
                  <a:pt x="4104640" y="446607"/>
                </a:lnTo>
                <a:lnTo>
                  <a:pt x="4246245" y="471497"/>
                </a:lnTo>
                <a:lnTo>
                  <a:pt x="4387850" y="495676"/>
                </a:lnTo>
                <a:lnTo>
                  <a:pt x="4529455" y="518434"/>
                </a:lnTo>
                <a:lnTo>
                  <a:pt x="4671060" y="540479"/>
                </a:lnTo>
                <a:lnTo>
                  <a:pt x="4813300" y="561103"/>
                </a:lnTo>
                <a:lnTo>
                  <a:pt x="4954905" y="579593"/>
                </a:lnTo>
                <a:lnTo>
                  <a:pt x="5096510" y="596661"/>
                </a:lnTo>
                <a:lnTo>
                  <a:pt x="5238115" y="611595"/>
                </a:lnTo>
                <a:lnTo>
                  <a:pt x="5379720" y="625107"/>
                </a:lnTo>
                <a:lnTo>
                  <a:pt x="5521325" y="636486"/>
                </a:lnTo>
                <a:lnTo>
                  <a:pt x="5662930" y="645019"/>
                </a:lnTo>
                <a:lnTo>
                  <a:pt x="5805170" y="650709"/>
                </a:lnTo>
                <a:lnTo>
                  <a:pt x="5946775" y="654265"/>
                </a:lnTo>
                <a:lnTo>
                  <a:pt x="6088380" y="654976"/>
                </a:lnTo>
                <a:lnTo>
                  <a:pt x="6108065" y="654265"/>
                </a:lnTo>
                <a:lnTo>
                  <a:pt x="6128385" y="654976"/>
                </a:lnTo>
                <a:lnTo>
                  <a:pt x="6269990" y="654265"/>
                </a:lnTo>
                <a:lnTo>
                  <a:pt x="6411595" y="650709"/>
                </a:lnTo>
                <a:lnTo>
                  <a:pt x="6553835" y="645019"/>
                </a:lnTo>
                <a:lnTo>
                  <a:pt x="6695440" y="636486"/>
                </a:lnTo>
                <a:lnTo>
                  <a:pt x="6837045" y="625107"/>
                </a:lnTo>
                <a:lnTo>
                  <a:pt x="6978650" y="611595"/>
                </a:lnTo>
                <a:lnTo>
                  <a:pt x="7120255" y="596661"/>
                </a:lnTo>
                <a:lnTo>
                  <a:pt x="7261860" y="579593"/>
                </a:lnTo>
                <a:lnTo>
                  <a:pt x="7403465" y="561103"/>
                </a:lnTo>
                <a:lnTo>
                  <a:pt x="7545705" y="540479"/>
                </a:lnTo>
                <a:lnTo>
                  <a:pt x="7687310" y="518434"/>
                </a:lnTo>
                <a:lnTo>
                  <a:pt x="7828915" y="495676"/>
                </a:lnTo>
                <a:lnTo>
                  <a:pt x="7970520" y="471497"/>
                </a:lnTo>
                <a:lnTo>
                  <a:pt x="8112125" y="446607"/>
                </a:lnTo>
                <a:lnTo>
                  <a:pt x="8253730" y="421005"/>
                </a:lnTo>
                <a:lnTo>
                  <a:pt x="8395970" y="394692"/>
                </a:lnTo>
                <a:lnTo>
                  <a:pt x="8537575" y="367668"/>
                </a:lnTo>
                <a:lnTo>
                  <a:pt x="8679180" y="340644"/>
                </a:lnTo>
                <a:lnTo>
                  <a:pt x="8820785" y="314331"/>
                </a:lnTo>
                <a:lnTo>
                  <a:pt x="8962390" y="286596"/>
                </a:lnTo>
                <a:lnTo>
                  <a:pt x="9103995" y="260283"/>
                </a:lnTo>
                <a:lnTo>
                  <a:pt x="9246235" y="233971"/>
                </a:lnTo>
                <a:lnTo>
                  <a:pt x="9387840" y="208369"/>
                </a:lnTo>
                <a:lnTo>
                  <a:pt x="9529445" y="183479"/>
                </a:lnTo>
                <a:lnTo>
                  <a:pt x="9671050" y="159299"/>
                </a:lnTo>
                <a:lnTo>
                  <a:pt x="9812655" y="135831"/>
                </a:lnTo>
                <a:lnTo>
                  <a:pt x="9954260" y="114496"/>
                </a:lnTo>
                <a:lnTo>
                  <a:pt x="10096500" y="93873"/>
                </a:lnTo>
                <a:lnTo>
                  <a:pt x="10238105" y="75383"/>
                </a:lnTo>
                <a:lnTo>
                  <a:pt x="10379710" y="58315"/>
                </a:lnTo>
                <a:lnTo>
                  <a:pt x="10521315" y="42669"/>
                </a:lnTo>
                <a:lnTo>
                  <a:pt x="10662920" y="29869"/>
                </a:lnTo>
                <a:lnTo>
                  <a:pt x="10804525" y="18490"/>
                </a:lnTo>
                <a:lnTo>
                  <a:pt x="10946130" y="9956"/>
                </a:lnTo>
                <a:lnTo>
                  <a:pt x="11088370" y="3556"/>
                </a:lnTo>
                <a:lnTo>
                  <a:pt x="11229975" y="711"/>
                </a:lnTo>
                <a:lnTo>
                  <a:pt x="11371580" y="0"/>
                </a:lnTo>
                <a:lnTo>
                  <a:pt x="11513185" y="2845"/>
                </a:lnTo>
                <a:lnTo>
                  <a:pt x="11654790" y="7823"/>
                </a:lnTo>
                <a:lnTo>
                  <a:pt x="11796395" y="17068"/>
                </a:lnTo>
                <a:lnTo>
                  <a:pt x="11938635" y="29869"/>
                </a:lnTo>
                <a:lnTo>
                  <a:pt x="12080240" y="46225"/>
                </a:lnTo>
                <a:lnTo>
                  <a:pt x="12192000" y="61871"/>
                </a:lnTo>
                <a:lnTo>
                  <a:pt x="12192000" y="882546"/>
                </a:lnTo>
                <a:close/>
              </a:path>
            </a:pathLst>
          </a:custGeom>
          <a:solidFill>
            <a:srgbClr val="056EE1"/>
          </a:solidFill>
        </p:spPr>
      </p:sp>
      <p:sp>
        <p:nvSpPr>
          <p:cNvPr id="7" name="Text 5"/>
          <p:cNvSpPr/>
          <p:nvPr/>
        </p:nvSpPr>
        <p:spPr>
          <a:xfrm>
            <a:off x="0" y="5594985"/>
            <a:ext cx="12192000" cy="126301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8" name="Image 0" descr="https://kimi-img.moonshot.cn/pub/slides/slides_tmpl/image/25-10-09-17:19:39-d3jnsaos8jdo4os5dlu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4490" y="962025"/>
            <a:ext cx="6382385" cy="610806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31376" y="3076575"/>
            <a:ext cx="8862024" cy="180784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altLang="zh-CN" sz="5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Core Technical Solution</a:t>
            </a:r>
            <a:endParaRPr lang="en-US" sz="1600" b="1" dirty="0"/>
          </a:p>
        </p:txBody>
      </p:sp>
      <p:sp>
        <p:nvSpPr>
          <p:cNvPr id="10" name="Shape 7"/>
          <p:cNvSpPr/>
          <p:nvPr/>
        </p:nvSpPr>
        <p:spPr>
          <a:xfrm>
            <a:off x="11106785" y="693737"/>
            <a:ext cx="235520" cy="0"/>
          </a:xfrm>
          <a:prstGeom prst="line">
            <a:avLst/>
          </a:prstGeom>
          <a:noFill/>
          <a:ln w="31750">
            <a:solidFill>
              <a:srgbClr val="056EE1"/>
            </a:solidFill>
            <a:prstDash val="solid"/>
            <a:headEnd type="none"/>
            <a:tailEnd type="none"/>
          </a:ln>
        </p:spPr>
      </p:sp>
      <p:sp>
        <p:nvSpPr>
          <p:cNvPr id="11" name="Shape 8"/>
          <p:cNvSpPr/>
          <p:nvPr/>
        </p:nvSpPr>
        <p:spPr>
          <a:xfrm>
            <a:off x="11106785" y="754697"/>
            <a:ext cx="235520" cy="0"/>
          </a:xfrm>
          <a:prstGeom prst="line">
            <a:avLst/>
          </a:prstGeom>
          <a:noFill/>
          <a:ln w="31750">
            <a:solidFill>
              <a:srgbClr val="056EE1"/>
            </a:solidFill>
            <a:prstDash val="solid"/>
            <a:headEnd type="none"/>
            <a:tailEnd type="none"/>
          </a:ln>
        </p:spPr>
      </p:sp>
      <p:sp>
        <p:nvSpPr>
          <p:cNvPr id="12" name="Shape 9"/>
          <p:cNvSpPr/>
          <p:nvPr/>
        </p:nvSpPr>
        <p:spPr>
          <a:xfrm>
            <a:off x="11106785" y="815657"/>
            <a:ext cx="235520" cy="0"/>
          </a:xfrm>
          <a:prstGeom prst="line">
            <a:avLst/>
          </a:prstGeom>
          <a:noFill/>
          <a:ln w="31750">
            <a:solidFill>
              <a:srgbClr val="056EE1"/>
            </a:solidFill>
            <a:prstDash val="solid"/>
            <a:headEnd type="none"/>
            <a:tailEnd type="none"/>
          </a:ln>
        </p:spPr>
      </p:sp>
      <p:sp>
        <p:nvSpPr>
          <p:cNvPr id="13" name="Shape 10"/>
          <p:cNvSpPr/>
          <p:nvPr/>
        </p:nvSpPr>
        <p:spPr>
          <a:xfrm>
            <a:off x="2725420" y="1268730"/>
            <a:ext cx="6598920" cy="180784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4" name="Text 11"/>
          <p:cNvSpPr/>
          <p:nvPr/>
        </p:nvSpPr>
        <p:spPr>
          <a:xfrm>
            <a:off x="2725420" y="1268730"/>
            <a:ext cx="6598920" cy="18078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2000" dirty="0">
                <a:solidFill>
                  <a:srgbClr val="056E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: 圆角 12"/>
          <p:cNvSpPr/>
          <p:nvPr/>
        </p:nvSpPr>
        <p:spPr>
          <a:xfrm>
            <a:off x="7284515" y="880064"/>
            <a:ext cx="4805886" cy="52746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369697" y="495344"/>
            <a:ext cx="10151745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Text 8"/>
          <p:cNvSpPr/>
          <p:nvPr/>
        </p:nvSpPr>
        <p:spPr>
          <a:xfrm>
            <a:off x="258831" y="326066"/>
            <a:ext cx="7025683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02- System Architecture Diagram</a:t>
            </a:r>
            <a:endParaRPr lang="en-US" sz="1600" dirty="0"/>
          </a:p>
        </p:txBody>
      </p:sp>
      <p:sp>
        <p:nvSpPr>
          <p:cNvPr id="7" name="Text 32"/>
          <p:cNvSpPr/>
          <p:nvPr/>
        </p:nvSpPr>
        <p:spPr>
          <a:xfrm>
            <a:off x="7403724" y="2246889"/>
            <a:ext cx="4610476" cy="28585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 eaLnBrk="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Left-side External Services (LLM APIs, Log Processing Server)</a:t>
            </a:r>
            <a:endParaRPr lang="en-US" sz="2000" b="1" dirty="0">
              <a:solidFill>
                <a:schemeClr val="bg1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 marL="285750" indent="-285750" algn="just" eaLnBrk="0">
              <a:lnSpc>
                <a:spcPct val="130000"/>
              </a:lnSpc>
              <a:buFont typeface="Arial" panose="020B0604020202090204" pitchFamily="34" charset="0"/>
              <a:buChar char="•"/>
            </a:pPr>
            <a:endParaRPr lang="en-US" sz="2000" b="1" dirty="0">
              <a:solidFill>
                <a:schemeClr val="bg1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 marL="285750" indent="-285750" algn="just" eaLnBrk="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Middle VS Code Plugin System backend</a:t>
            </a:r>
            <a:endParaRPr lang="en-US" sz="2000" b="1" dirty="0">
              <a:solidFill>
                <a:schemeClr val="bg1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 marL="285750" indent="-285750" algn="just" eaLnBrk="0">
              <a:lnSpc>
                <a:spcPct val="130000"/>
              </a:lnSpc>
              <a:buFont typeface="Arial" panose="020B0604020202090204" pitchFamily="34" charset="0"/>
              <a:buChar char="•"/>
            </a:pPr>
            <a:endParaRPr lang="en-US" sz="2000" b="1" dirty="0">
              <a:solidFill>
                <a:schemeClr val="bg1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 marL="285750" indent="-285750" algn="just" eaLnBrk="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Right front-end WebView </a:t>
            </a:r>
            <a:endParaRPr lang="en-US" sz="2000" b="1" dirty="0">
              <a:solidFill>
                <a:schemeClr val="bg1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672" y="1088034"/>
            <a:ext cx="6768000" cy="5274622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519768" y="1343942"/>
            <a:ext cx="44993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Three Core Components: 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8360" y="6346190"/>
            <a:ext cx="163338" cy="153035"/>
          </a:xfrm>
          <a:prstGeom prst="rect">
            <a:avLst/>
          </a:prstGeom>
          <a:solidFill>
            <a:srgbClr val="004CC0"/>
          </a:solidFill>
        </p:spPr>
      </p:sp>
      <p:sp>
        <p:nvSpPr>
          <p:cNvPr id="3" name="Text 1"/>
          <p:cNvSpPr/>
          <p:nvPr/>
        </p:nvSpPr>
        <p:spPr>
          <a:xfrm>
            <a:off x="848360" y="6346190"/>
            <a:ext cx="163338" cy="1530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122291" y="6346190"/>
            <a:ext cx="163338" cy="153035"/>
          </a:xfrm>
          <a:prstGeom prst="rect">
            <a:avLst/>
          </a:prstGeom>
          <a:solidFill>
            <a:srgbClr val="004CC0"/>
          </a:solidFill>
        </p:spPr>
      </p:sp>
      <p:sp>
        <p:nvSpPr>
          <p:cNvPr id="5" name="Text 3"/>
          <p:cNvSpPr/>
          <p:nvPr/>
        </p:nvSpPr>
        <p:spPr>
          <a:xfrm>
            <a:off x="1122291" y="6346190"/>
            <a:ext cx="163338" cy="1530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96222" y="6346190"/>
            <a:ext cx="163338" cy="153035"/>
          </a:xfrm>
          <a:prstGeom prst="rect">
            <a:avLst/>
          </a:prstGeom>
          <a:solidFill>
            <a:srgbClr val="004CC0"/>
          </a:solidFill>
        </p:spPr>
      </p:sp>
      <p:sp>
        <p:nvSpPr>
          <p:cNvPr id="7" name="Text 5"/>
          <p:cNvSpPr/>
          <p:nvPr/>
        </p:nvSpPr>
        <p:spPr>
          <a:xfrm>
            <a:off x="1396222" y="6346190"/>
            <a:ext cx="163338" cy="1530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86130" y="1744954"/>
            <a:ext cx="5494166" cy="4551518"/>
          </a:xfrm>
          <a:prstGeom prst="rect">
            <a:avLst/>
          </a:prstGeom>
          <a:solidFill>
            <a:srgbClr val="FFFFFF"/>
          </a:solidFill>
          <a:ln w="19050">
            <a:solidFill>
              <a:srgbClr val="004C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92450" y="406718"/>
            <a:ext cx="7413420" cy="31210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77891" y="1102690"/>
            <a:ext cx="4330700" cy="4356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4C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 </a:t>
            </a:r>
            <a:r>
              <a:rPr lang="en-US" sz="2400" b="1" dirty="0">
                <a:solidFill>
                  <a:srgbClr val="004CC0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Framework of Front-end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885237" y="1110071"/>
            <a:ext cx="438785" cy="434340"/>
            <a:chOff x="757237" y="1748473"/>
            <a:chExt cx="438785" cy="434340"/>
          </a:xfrm>
        </p:grpSpPr>
        <p:sp>
          <p:nvSpPr>
            <p:cNvPr id="11" name="Shape 9"/>
            <p:cNvSpPr/>
            <p:nvPr/>
          </p:nvSpPr>
          <p:spPr>
            <a:xfrm rot="5400000">
              <a:off x="759460" y="1746250"/>
              <a:ext cx="434340" cy="438785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2078FF"/>
                </a:gs>
                <a:gs pos="100000">
                  <a:srgbClr val="004CC0"/>
                </a:gs>
              </a:gsLst>
              <a:lin ang="13200000" scaled="1"/>
            </a:gradFill>
          </p:spPr>
        </p:sp>
        <p:sp>
          <p:nvSpPr>
            <p:cNvPr id="12" name="Shape 10"/>
            <p:cNvSpPr/>
            <p:nvPr/>
          </p:nvSpPr>
          <p:spPr>
            <a:xfrm>
              <a:off x="919480" y="1881505"/>
              <a:ext cx="113665" cy="168910"/>
            </a:xfrm>
            <a:prstGeom prst="chevron">
              <a:avLst>
                <a:gd name="adj" fmla="val 64013"/>
              </a:avLst>
            </a:prstGeom>
            <a:solidFill>
              <a:srgbClr val="FFFFFF"/>
            </a:solidFill>
          </p:spPr>
        </p:sp>
      </p:grpSp>
      <p:grpSp>
        <p:nvGrpSpPr>
          <p:cNvPr id="47" name="组合 46"/>
          <p:cNvGrpSpPr/>
          <p:nvPr/>
        </p:nvGrpSpPr>
        <p:grpSpPr>
          <a:xfrm>
            <a:off x="6601474" y="428243"/>
            <a:ext cx="5181647" cy="5058157"/>
            <a:chOff x="757237" y="4000390"/>
            <a:chExt cx="4217100" cy="2032194"/>
          </a:xfrm>
        </p:grpSpPr>
        <p:sp>
          <p:nvSpPr>
            <p:cNvPr id="13" name="Shape 11"/>
            <p:cNvSpPr/>
            <p:nvPr/>
          </p:nvSpPr>
          <p:spPr>
            <a:xfrm>
              <a:off x="760731" y="4000390"/>
              <a:ext cx="4213606" cy="203219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4CC0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Text 14"/>
            <p:cNvSpPr/>
            <p:nvPr/>
          </p:nvSpPr>
          <p:spPr>
            <a:xfrm rot="5400000">
              <a:off x="759460" y="4067175"/>
              <a:ext cx="434340" cy="43878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endParaRPr lang="en-US" sz="1600" dirty="0"/>
            </a:p>
          </p:txBody>
        </p:sp>
        <p:sp>
          <p:nvSpPr>
            <p:cNvPr id="17" name="Shape 15"/>
            <p:cNvSpPr/>
            <p:nvPr/>
          </p:nvSpPr>
          <p:spPr>
            <a:xfrm flipV="1">
              <a:off x="875754" y="4144633"/>
              <a:ext cx="215699" cy="108423"/>
            </a:xfrm>
            <a:prstGeom prst="chevron">
              <a:avLst>
                <a:gd name="adj" fmla="val 64013"/>
              </a:avLst>
            </a:prstGeom>
            <a:solidFill>
              <a:srgbClr val="FFFFFF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 16"/>
            <p:cNvSpPr/>
            <p:nvPr/>
          </p:nvSpPr>
          <p:spPr>
            <a:xfrm>
              <a:off x="919480" y="4202430"/>
              <a:ext cx="113665" cy="16891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endParaRPr lang="en-US" sz="1600" dirty="0"/>
            </a:p>
          </p:txBody>
        </p:sp>
      </p:grpSp>
      <p:sp>
        <p:nvSpPr>
          <p:cNvPr id="22" name="Text 20"/>
          <p:cNvSpPr/>
          <p:nvPr/>
        </p:nvSpPr>
        <p:spPr>
          <a:xfrm rot="5400000">
            <a:off x="6275705" y="1746250"/>
            <a:ext cx="434340" cy="438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35725" y="1881505"/>
            <a:ext cx="113665" cy="168910"/>
          </a:xfrm>
          <a:prstGeom prst="chevron">
            <a:avLst>
              <a:gd name="adj" fmla="val 64013"/>
            </a:avLst>
          </a:prstGeom>
          <a:solidFill>
            <a:srgbClr val="FFFFFF"/>
          </a:solidFill>
        </p:spPr>
      </p:sp>
      <p:sp>
        <p:nvSpPr>
          <p:cNvPr id="24" name="Text 22"/>
          <p:cNvSpPr/>
          <p:nvPr/>
        </p:nvSpPr>
        <p:spPr>
          <a:xfrm>
            <a:off x="6435725" y="1881505"/>
            <a:ext cx="113665" cy="168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25806" y="377125"/>
            <a:ext cx="10151745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02- </a:t>
            </a:r>
            <a:r>
              <a:rPr lang="en-US" altLang="zh-CN" sz="3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Front-end Implementation</a:t>
            </a:r>
            <a:endParaRPr lang="en-US" sz="1600" dirty="0"/>
          </a:p>
        </p:txBody>
      </p:sp>
      <p:sp>
        <p:nvSpPr>
          <p:cNvPr id="38" name="Text 34"/>
          <p:cNvSpPr/>
          <p:nvPr/>
        </p:nvSpPr>
        <p:spPr>
          <a:xfrm>
            <a:off x="7821658" y="809576"/>
            <a:ext cx="4330700" cy="4356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just"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5" name="Shape 27"/>
          <p:cNvSpPr/>
          <p:nvPr/>
        </p:nvSpPr>
        <p:spPr>
          <a:xfrm>
            <a:off x="7337508" y="957910"/>
            <a:ext cx="106899" cy="172473"/>
          </a:xfrm>
          <a:prstGeom prst="chevron">
            <a:avLst>
              <a:gd name="adj" fmla="val 64013"/>
            </a:avLst>
          </a:prstGeom>
          <a:solidFill>
            <a:srgbClr val="FFFFFF"/>
          </a:solidFill>
        </p:spPr>
        <p:txBody>
          <a:bodyPr/>
          <a:lstStyle/>
          <a:p>
            <a:endParaRPr lang="zh-CN" altLang="en-US"/>
          </a:p>
        </p:txBody>
      </p:sp>
      <p:pic>
        <p:nvPicPr>
          <p:cNvPr id="10241" name="Picture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291" y="1834236"/>
            <a:ext cx="4858747" cy="4418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7099" y="627712"/>
            <a:ext cx="4779095" cy="4551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 11"/>
          <p:cNvSpPr/>
          <p:nvPr/>
        </p:nvSpPr>
        <p:spPr>
          <a:xfrm>
            <a:off x="7917722" y="5716446"/>
            <a:ext cx="3929089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b="1">
                <a:solidFill>
                  <a:srgbClr val="1D3EBF"/>
                </a:solidFill>
                <a:latin typeface="Times New Roman" panose="02020603050405020304" pitchFamily="18" charset="0"/>
                <a:ea typeface="MiSans" pitchFamily="34" charset="-122"/>
                <a:cs typeface="Times New Roman" panose="02020603050405020304" pitchFamily="18" charset="0"/>
              </a:rPr>
              <a:t>Front-end interaction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7284117" y="5704403"/>
            <a:ext cx="438785" cy="434340"/>
            <a:chOff x="757237" y="1748473"/>
            <a:chExt cx="438785" cy="434340"/>
          </a:xfrm>
        </p:grpSpPr>
        <p:sp>
          <p:nvSpPr>
            <p:cNvPr id="20" name="Shape 9"/>
            <p:cNvSpPr/>
            <p:nvPr/>
          </p:nvSpPr>
          <p:spPr>
            <a:xfrm rot="5400000">
              <a:off x="759460" y="1746250"/>
              <a:ext cx="434340" cy="438785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2078FF"/>
                </a:gs>
                <a:gs pos="100000">
                  <a:srgbClr val="004CC0"/>
                </a:gs>
              </a:gsLst>
              <a:lin ang="13200000" scaled="1"/>
            </a:gradFill>
          </p:spPr>
        </p:sp>
        <p:sp>
          <p:nvSpPr>
            <p:cNvPr id="21" name="Shape 10"/>
            <p:cNvSpPr/>
            <p:nvPr/>
          </p:nvSpPr>
          <p:spPr>
            <a:xfrm>
              <a:off x="919480" y="1881505"/>
              <a:ext cx="113665" cy="168910"/>
            </a:xfrm>
            <a:prstGeom prst="chevron">
              <a:avLst>
                <a:gd name="adj" fmla="val 64013"/>
              </a:avLst>
            </a:prstGeom>
            <a:solidFill>
              <a:srgbClr val="FFFFFF"/>
            </a:solidFill>
          </p:spPr>
        </p:sp>
      </p:grp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71500"/>
            <a:ext cx="3610749" cy="2159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004CC0"/>
              </a:gs>
            </a:gsLst>
            <a:lin ang="8100000" scaled="1"/>
          </a:gradFill>
        </p:spPr>
      </p:sp>
      <p:sp>
        <p:nvSpPr>
          <p:cNvPr id="3" name="Text 1"/>
          <p:cNvSpPr/>
          <p:nvPr/>
        </p:nvSpPr>
        <p:spPr>
          <a:xfrm>
            <a:off x="0" y="571500"/>
            <a:ext cx="3610749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872490"/>
            <a:ext cx="12189611" cy="0"/>
          </a:xfrm>
          <a:prstGeom prst="line">
            <a:avLst/>
          </a:prstGeom>
          <a:noFill/>
          <a:ln w="19050">
            <a:solidFill>
              <a:srgbClr val="007F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 rot="5940000">
            <a:off x="292735" y="51435"/>
            <a:ext cx="558800" cy="558800"/>
          </a:xfrm>
          <a:prstGeom prst="donut">
            <a:avLst>
              <a:gd name="adj" fmla="val 25000"/>
            </a:avLst>
          </a:prstGeom>
          <a:gradFill flip="none" rotWithShape="1">
            <a:gsLst>
              <a:gs pos="0">
                <a:srgbClr val="004CC0"/>
              </a:gs>
              <a:gs pos="54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18900000" scaled="1"/>
          </a:gradFill>
        </p:spPr>
      </p:sp>
      <p:sp>
        <p:nvSpPr>
          <p:cNvPr id="6" name="Text 4"/>
          <p:cNvSpPr/>
          <p:nvPr/>
        </p:nvSpPr>
        <p:spPr>
          <a:xfrm rot="5940000">
            <a:off x="292735" y="51435"/>
            <a:ext cx="558800" cy="55880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848360" y="6346190"/>
            <a:ext cx="163338" cy="1530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01090" y="1397000"/>
            <a:ext cx="8392714" cy="17841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72465" y="4773295"/>
            <a:ext cx="1233170" cy="12331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84571" y="4885401"/>
            <a:ext cx="1008957" cy="1008957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84022" y="1127125"/>
            <a:ext cx="5687453" cy="5458802"/>
          </a:xfrm>
          <a:custGeom>
            <a:avLst/>
            <a:gdLst/>
            <a:ahLst/>
            <a:cxnLst/>
            <a:rect l="l" t="t" r="r" b="b"/>
            <a:pathLst>
              <a:path w="4817110" h="4079875">
                <a:moveTo>
                  <a:pt x="603" y="679979"/>
                </a:moveTo>
                <a:lnTo>
                  <a:pt x="0" y="661895"/>
                </a:lnTo>
                <a:cubicBezTo>
                  <a:pt x="-10849" y="288750"/>
                  <a:pt x="364659" y="-8439"/>
                  <a:pt x="663618" y="0"/>
                </a:cubicBezTo>
                <a:lnTo>
                  <a:pt x="679892" y="0"/>
                </a:lnTo>
                <a:lnTo>
                  <a:pt x="4137218" y="0"/>
                </a:lnTo>
                <a:lnTo>
                  <a:pt x="4155300" y="0"/>
                </a:lnTo>
                <a:cubicBezTo>
                  <a:pt x="4528397" y="-10851"/>
                  <a:pt x="4825548" y="364705"/>
                  <a:pt x="4817110" y="663703"/>
                </a:cubicBezTo>
                <a:lnTo>
                  <a:pt x="4817110" y="679979"/>
                </a:lnTo>
                <a:lnTo>
                  <a:pt x="4817110" y="3399896"/>
                </a:lnTo>
                <a:lnTo>
                  <a:pt x="4817110" y="3417980"/>
                </a:lnTo>
                <a:cubicBezTo>
                  <a:pt x="4827959" y="3791125"/>
                  <a:pt x="4452451" y="4088314"/>
                  <a:pt x="4153492" y="4079875"/>
                </a:cubicBezTo>
                <a:lnTo>
                  <a:pt x="4137218" y="4079875"/>
                </a:lnTo>
                <a:lnTo>
                  <a:pt x="779345" y="4079875"/>
                </a:lnTo>
                <a:lnTo>
                  <a:pt x="784769" y="4079875"/>
                </a:lnTo>
                <a:lnTo>
                  <a:pt x="789591" y="4079875"/>
                </a:lnTo>
                <a:lnTo>
                  <a:pt x="603" y="4079875"/>
                </a:lnTo>
                <a:lnTo>
                  <a:pt x="603" y="3428831"/>
                </a:lnTo>
                <a:lnTo>
                  <a:pt x="0" y="3416172"/>
                </a:lnTo>
                <a:lnTo>
                  <a:pt x="603" y="3399896"/>
                </a:lnTo>
                <a:lnTo>
                  <a:pt x="603" y="3300431"/>
                </a:lnTo>
                <a:lnTo>
                  <a:pt x="603" y="3299225"/>
                </a:lnTo>
                <a:lnTo>
                  <a:pt x="0" y="3277524"/>
                </a:lnTo>
                <a:lnTo>
                  <a:pt x="603" y="3255219"/>
                </a:lnTo>
                <a:lnTo>
                  <a:pt x="603" y="679979"/>
                </a:lnTo>
                <a:close/>
                <a:moveTo>
                  <a:pt x="824550" y="4079875"/>
                </a:moveTo>
                <a:lnTo>
                  <a:pt x="789591" y="4079875"/>
                </a:lnTo>
                <a:lnTo>
                  <a:pt x="804660" y="4079875"/>
                </a:lnTo>
                <a:lnTo>
                  <a:pt x="824550" y="40798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>
            <a:solidFill>
              <a:srgbClr val="1D3E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92570" y="1397000"/>
            <a:ext cx="4817110" cy="407987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163945" y="4773295"/>
            <a:ext cx="1233170" cy="1233170"/>
          </a:xfrm>
          <a:prstGeom prst="ellipse">
            <a:avLst/>
          </a:prstGeom>
          <a:solidFill>
            <a:srgbClr val="FFFFFF">
              <a:alpha val="0"/>
            </a:srgbClr>
          </a:solidFill>
        </p:spPr>
      </p:sp>
      <p:sp>
        <p:nvSpPr>
          <p:cNvPr id="22" name="Text 20"/>
          <p:cNvSpPr/>
          <p:nvPr/>
        </p:nvSpPr>
        <p:spPr>
          <a:xfrm>
            <a:off x="6163945" y="4773295"/>
            <a:ext cx="1233170" cy="12331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276051" y="4885401"/>
            <a:ext cx="1008957" cy="1008957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82930" y="211455"/>
            <a:ext cx="10151745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>
              <a:defRPr/>
            </a:pPr>
            <a:r>
              <a:rPr kumimoji="0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02- </a:t>
            </a:r>
            <a:r>
              <a:rPr lang="en-US" altLang="zh-CN" sz="3200" b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 Preprocessing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76453" y="5121737"/>
            <a:ext cx="788035" cy="5524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67428" y="3561063"/>
            <a:ext cx="468212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 algn="just">
              <a:defRPr/>
            </a:pPr>
            <a:r>
              <a:rPr lang="en-US" altLang="zh-CN" sz="2000" b="1" dirty="0">
                <a:solidFill>
                  <a:srgbClr val="1D3E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Regular Expression De-sensitization</a:t>
            </a:r>
            <a:endParaRPr lang="en-US" altLang="zh-CN" sz="2000" b="1" dirty="0">
              <a:solidFill>
                <a:srgbClr val="1D3EBF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683350" y="5910434"/>
            <a:ext cx="788035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533257" y="1341375"/>
            <a:ext cx="446532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 algn="just">
              <a:defRPr/>
            </a:pPr>
            <a:r>
              <a:rPr lang="en-US" altLang="zh-CN" sz="2000" b="1" dirty="0">
                <a:solidFill>
                  <a:srgbClr val="1D3E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Slicing Strategy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4227" y="4544868"/>
            <a:ext cx="5364000" cy="1638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2" name="表格 31"/>
          <p:cNvGraphicFramePr>
            <a:graphicFrameLocks noGrp="1"/>
          </p:cNvGraphicFramePr>
          <p:nvPr/>
        </p:nvGraphicFramePr>
        <p:xfrm>
          <a:off x="252467" y="3964647"/>
          <a:ext cx="5731510" cy="2621280"/>
        </p:xfrm>
        <a:graphic>
          <a:graphicData uri="http://schemas.openxmlformats.org/drawingml/2006/table">
            <a:tbl>
              <a:tblPr/>
              <a:tblGrid>
                <a:gridCol w="5731510"/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buNone/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800" b="1" kern="0" dirty="0">
                          <a:solidFill>
                            <a:srgbClr val="080808"/>
                          </a:solidFill>
                          <a:effectLst/>
                          <a:latin typeface="Courier New" panose="02070609020205090404" pitchFamily="49" charset="0"/>
                          <a:ea typeface="宋体" pitchFamily="2" charset="-122"/>
                          <a:cs typeface="Courier New" panose="02070609020205090404" pitchFamily="49" charset="0"/>
                        </a:rPr>
                        <a:t>Pattern:</a:t>
                      </a:r>
                      <a:endParaRPr lang="en-US" sz="1100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en-US" sz="800" i="0" kern="100" dirty="0">
                          <a:effectLst/>
                          <a:latin typeface="Courier New" panose="02070609020205090404" pitchFamily="49" charset="0"/>
                          <a:ea typeface="宋体" pitchFamily="2" charset="-122"/>
                        </a:rPr>
                        <a:t>IP address: '\d{1,3}\.\d{1,3}\.\d{1,3}\.\d{1,3}(:\d{1,5})?',</a:t>
                      </a:r>
                      <a:endParaRPr lang="en-US" sz="1100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en-US" sz="800" i="0" kern="100" dirty="0">
                          <a:effectLst/>
                          <a:latin typeface="Courier New" panose="02070609020205090404" pitchFamily="49" charset="0"/>
                          <a:ea typeface="宋体" pitchFamily="2" charset="-122"/>
                        </a:rPr>
                        <a:t>MAC address: '([0-9A-Fa-f]{2}:){11}[0-9A-Fa-f]{2}',</a:t>
                      </a:r>
                      <a:endParaRPr lang="en-US" sz="1100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  <a:p>
                      <a:pPr marL="0" marR="0" algn="l">
                        <a:lnSpc>
                          <a:spcPct val="125000"/>
                        </a:lnSpc>
                        <a:buNone/>
                      </a:pPr>
                      <a:r>
                        <a:rPr lang="en-US" sz="800" i="0" kern="100" dirty="0">
                          <a:effectLst/>
                          <a:latin typeface="Courier New" panose="02070609020205090404" pitchFamily="49" charset="0"/>
                          <a:ea typeface="宋体" pitchFamily="2" charset="-122"/>
                        </a:rPr>
                        <a:t>File Path: '[a-zA-Z0-9]*[:\.]*([/\\]+[^/\\\s\[\]]+)+[/\\]*'</a:t>
                      </a:r>
                      <a:endParaRPr lang="en-US" sz="1100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  <a:p>
                      <a:pPr marL="0" marR="0" algn="l">
                        <a:buNone/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800" b="1" kern="0" dirty="0">
                          <a:solidFill>
                            <a:srgbClr val="080808"/>
                          </a:solidFill>
                          <a:effectLst/>
                          <a:latin typeface="宋体" pitchFamily="2" charset="-122"/>
                          <a:ea typeface="宋体" pitchFamily="2" charset="-122"/>
                          <a:cs typeface="Courier New" panose="02070609020205090404" pitchFamily="49" charset="0"/>
                        </a:rPr>
                        <a:t> </a:t>
                      </a:r>
                      <a:endParaRPr lang="en-US" sz="1100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  <a:p>
                      <a:pPr marL="0" marR="0" algn="l">
                        <a:buNone/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800" b="1" kern="0" dirty="0">
                          <a:solidFill>
                            <a:srgbClr val="080808"/>
                          </a:solidFill>
                          <a:effectLst/>
                          <a:latin typeface="Courier New" panose="02070609020205090404" pitchFamily="49" charset="0"/>
                          <a:ea typeface="宋体" pitchFamily="2" charset="-122"/>
                          <a:cs typeface="Courier New" panose="02070609020205090404" pitchFamily="49" charset="0"/>
                        </a:rPr>
                        <a:t>Before:</a:t>
                      </a:r>
                      <a:br>
                        <a:rPr lang="en-US" sz="800" b="1" kern="0" dirty="0">
                          <a:solidFill>
                            <a:srgbClr val="080808"/>
                          </a:solidFill>
                          <a:effectLst/>
                          <a:latin typeface="Courier New" panose="02070609020205090404" pitchFamily="49" charset="0"/>
                          <a:ea typeface="宋体" pitchFamily="2" charset="-122"/>
                        </a:rPr>
                      </a:br>
                      <a:r>
                        <a:rPr lang="en-US" sz="800" b="0" kern="0" dirty="0">
                          <a:solidFill>
                            <a:srgbClr val="080808"/>
                          </a:solidFill>
                          <a:effectLst/>
                          <a:latin typeface="Courier New" panose="02070609020205090404" pitchFamily="49" charset="0"/>
                          <a:ea typeface="宋体" pitchFamily="2" charset="-122"/>
                        </a:rPr>
                        <a:t>2354412 floating point alignment exceptions ;-; 2354412 floating point alignment exceptions</a:t>
                      </a:r>
                      <a:br>
                        <a:rPr lang="en-US" sz="800" b="0" kern="0" dirty="0">
                          <a:solidFill>
                            <a:srgbClr val="080808"/>
                          </a:solidFill>
                          <a:effectLst/>
                          <a:latin typeface="Courier New" panose="02070609020205090404" pitchFamily="49" charset="0"/>
                          <a:ea typeface="宋体" pitchFamily="2" charset="-122"/>
                        </a:rPr>
                      </a:br>
                      <a:r>
                        <a:rPr lang="en-US" sz="800" b="0" kern="0" dirty="0" err="1">
                          <a:solidFill>
                            <a:srgbClr val="080808"/>
                          </a:solidFill>
                          <a:effectLst/>
                          <a:latin typeface="Courier New" panose="02070609020205090404" pitchFamily="49" charset="0"/>
                          <a:ea typeface="宋体" pitchFamily="2" charset="-122"/>
                        </a:rPr>
                        <a:t>iar</a:t>
                      </a:r>
                      <a:r>
                        <a:rPr lang="en-US" sz="800" b="0" kern="0" dirty="0">
                          <a:solidFill>
                            <a:srgbClr val="080808"/>
                          </a:solidFill>
                          <a:effectLst/>
                          <a:latin typeface="Courier New" panose="02070609020205090404" pitchFamily="49" charset="0"/>
                          <a:ea typeface="宋体" pitchFamily="2" charset="-122"/>
                        </a:rPr>
                        <a:t> 001061e8 dear 0247015c ;-; </a:t>
                      </a:r>
                      <a:r>
                        <a:rPr lang="en-US" sz="800" b="0" kern="0" dirty="0" err="1">
                          <a:solidFill>
                            <a:srgbClr val="080808"/>
                          </a:solidFill>
                          <a:effectLst/>
                          <a:latin typeface="Courier New" panose="02070609020205090404" pitchFamily="49" charset="0"/>
                          <a:ea typeface="宋体" pitchFamily="2" charset="-122"/>
                        </a:rPr>
                        <a:t>iar</a:t>
                      </a:r>
                      <a:r>
                        <a:rPr lang="en-US" sz="800" b="0" kern="0" dirty="0">
                          <a:solidFill>
                            <a:srgbClr val="080808"/>
                          </a:solidFill>
                          <a:effectLst/>
                          <a:latin typeface="Courier New" panose="02070609020205090404" pitchFamily="49" charset="0"/>
                          <a:ea typeface="宋体" pitchFamily="2" charset="-122"/>
                        </a:rPr>
                        <a:t> 00106200 dear 0247016c ;-; </a:t>
                      </a:r>
                      <a:r>
                        <a:rPr lang="en-US" sz="800" b="0" kern="0" dirty="0" err="1">
                          <a:solidFill>
                            <a:srgbClr val="080808"/>
                          </a:solidFill>
                          <a:effectLst/>
                          <a:latin typeface="Courier New" panose="02070609020205090404" pitchFamily="49" charset="0"/>
                          <a:ea typeface="宋体" pitchFamily="2" charset="-122"/>
                        </a:rPr>
                        <a:t>iar</a:t>
                      </a:r>
                      <a:r>
                        <a:rPr lang="en-US" sz="800" b="0" kern="0" dirty="0">
                          <a:solidFill>
                            <a:srgbClr val="080808"/>
                          </a:solidFill>
                          <a:effectLst/>
                          <a:latin typeface="Courier New" panose="02070609020205090404" pitchFamily="49" charset="0"/>
                          <a:ea typeface="宋体" pitchFamily="2" charset="-122"/>
                        </a:rPr>
                        <a:t> 001061b4 dear 024701dc</a:t>
                      </a:r>
                      <a:br>
                        <a:rPr lang="en-US" sz="800" b="0" kern="0" dirty="0">
                          <a:solidFill>
                            <a:srgbClr val="080808"/>
                          </a:solidFill>
                          <a:effectLst/>
                          <a:latin typeface="Courier New" panose="02070609020205090404" pitchFamily="49" charset="0"/>
                          <a:ea typeface="宋体" pitchFamily="2" charset="-122"/>
                        </a:rPr>
                      </a:br>
                      <a:r>
                        <a:rPr lang="en-US" sz="800" b="0" kern="0" dirty="0" err="1">
                          <a:solidFill>
                            <a:srgbClr val="080808"/>
                          </a:solidFill>
                          <a:effectLst/>
                          <a:latin typeface="Courier New" panose="02070609020205090404" pitchFamily="49" charset="0"/>
                          <a:ea typeface="宋体" pitchFamily="2" charset="-122"/>
                        </a:rPr>
                        <a:t>ciod</a:t>
                      </a:r>
                      <a:r>
                        <a:rPr lang="en-US" sz="800" b="0" kern="0" dirty="0">
                          <a:solidFill>
                            <a:srgbClr val="080808"/>
                          </a:solidFill>
                          <a:effectLst/>
                          <a:latin typeface="Courier New" panose="02070609020205090404" pitchFamily="49" charset="0"/>
                          <a:ea typeface="宋体" pitchFamily="2" charset="-122"/>
                        </a:rPr>
                        <a:t>: Received signal 15, code=0, </a:t>
                      </a:r>
                      <a:r>
                        <a:rPr lang="en-US" sz="800" b="0" kern="0" dirty="0" err="1">
                          <a:solidFill>
                            <a:srgbClr val="080808"/>
                          </a:solidFill>
                          <a:effectLst/>
                          <a:latin typeface="Courier New" panose="02070609020205090404" pitchFamily="49" charset="0"/>
                          <a:ea typeface="宋体" pitchFamily="2" charset="-122"/>
                        </a:rPr>
                        <a:t>errno</a:t>
                      </a:r>
                      <a:r>
                        <a:rPr lang="en-US" sz="800" b="0" kern="0" dirty="0">
                          <a:solidFill>
                            <a:srgbClr val="080808"/>
                          </a:solidFill>
                          <a:effectLst/>
                          <a:latin typeface="Courier New" panose="02070609020205090404" pitchFamily="49" charset="0"/>
                          <a:ea typeface="宋体" pitchFamily="2" charset="-122"/>
                        </a:rPr>
                        <a:t>=0, address=0x000001f2</a:t>
                      </a:r>
                      <a:br>
                        <a:rPr lang="en-US" sz="800" b="0" kern="0" dirty="0">
                          <a:solidFill>
                            <a:srgbClr val="080808"/>
                          </a:solidFill>
                          <a:effectLst/>
                          <a:latin typeface="Courier New" panose="02070609020205090404" pitchFamily="49" charset="0"/>
                          <a:ea typeface="宋体" pitchFamily="2" charset="-122"/>
                        </a:rPr>
                      </a:br>
                      <a:r>
                        <a:rPr lang="en-US" sz="800" b="0" kern="0" dirty="0">
                          <a:solidFill>
                            <a:srgbClr val="080808"/>
                          </a:solidFill>
                          <a:effectLst/>
                          <a:latin typeface="Courier New" panose="02070609020205090404" pitchFamily="49" charset="0"/>
                          <a:ea typeface="宋体" pitchFamily="2" charset="-122"/>
                        </a:rPr>
                        <a:t>10668 total interrupts. 0 critical input interrupts. 0 microseconds total spent on critical input interrupts</a:t>
                      </a:r>
                      <a:br>
                        <a:rPr lang="en-US" sz="800" b="0" kern="0" dirty="0">
                          <a:solidFill>
                            <a:srgbClr val="080808"/>
                          </a:solidFill>
                          <a:effectLst/>
                          <a:latin typeface="Courier New" panose="02070609020205090404" pitchFamily="49" charset="0"/>
                          <a:ea typeface="宋体" pitchFamily="2" charset="-122"/>
                        </a:rPr>
                      </a:br>
                      <a:br>
                        <a:rPr lang="en-US" sz="800" b="1" kern="0" dirty="0">
                          <a:solidFill>
                            <a:srgbClr val="080808"/>
                          </a:solidFill>
                          <a:effectLst/>
                          <a:latin typeface="Courier New" panose="02070609020205090404" pitchFamily="49" charset="0"/>
                          <a:ea typeface="宋体" pitchFamily="2" charset="-122"/>
                        </a:rPr>
                      </a:br>
                      <a:r>
                        <a:rPr lang="en-US" sz="800" b="1" kern="0" dirty="0">
                          <a:solidFill>
                            <a:srgbClr val="080808"/>
                          </a:solidFill>
                          <a:effectLst/>
                          <a:latin typeface="Courier New" panose="02070609020205090404" pitchFamily="49" charset="0"/>
                          <a:ea typeface="宋体" pitchFamily="2" charset="-122"/>
                        </a:rPr>
                        <a:t>After:</a:t>
                      </a:r>
                      <a:br>
                        <a:rPr lang="en-US" sz="800" b="1" kern="0" dirty="0">
                          <a:solidFill>
                            <a:srgbClr val="080808"/>
                          </a:solidFill>
                          <a:effectLst/>
                          <a:latin typeface="Courier New" panose="02070609020205090404" pitchFamily="49" charset="0"/>
                          <a:ea typeface="宋体" pitchFamily="2" charset="-122"/>
                        </a:rPr>
                      </a:br>
                      <a:r>
                        <a:rPr lang="en-US" sz="800" b="0" kern="0" dirty="0">
                          <a:solidFill>
                            <a:srgbClr val="080808"/>
                          </a:solidFill>
                          <a:effectLst/>
                          <a:latin typeface="Courier New" panose="02070609020205090404" pitchFamily="49" charset="0"/>
                          <a:ea typeface="宋体" pitchFamily="2" charset="-122"/>
                        </a:rPr>
                        <a:t>&lt;*&gt; floating point alignment exceptions ;-; &lt;*&gt; floating point alignment exceptions ;-; &lt;*&gt; floating point alignment exceptions</a:t>
                      </a:r>
                      <a:br>
                        <a:rPr lang="en-US" sz="800" b="0" kern="0" dirty="0">
                          <a:solidFill>
                            <a:srgbClr val="080808"/>
                          </a:solidFill>
                          <a:effectLst/>
                          <a:latin typeface="Courier New" panose="02070609020205090404" pitchFamily="49" charset="0"/>
                          <a:ea typeface="宋体" pitchFamily="2" charset="-122"/>
                        </a:rPr>
                      </a:br>
                      <a:r>
                        <a:rPr lang="en-US" sz="800" b="0" kern="0" dirty="0" err="1">
                          <a:solidFill>
                            <a:srgbClr val="080808"/>
                          </a:solidFill>
                          <a:effectLst/>
                          <a:latin typeface="Courier New" panose="02070609020205090404" pitchFamily="49" charset="0"/>
                          <a:ea typeface="宋体" pitchFamily="2" charset="-122"/>
                        </a:rPr>
                        <a:t>iar</a:t>
                      </a:r>
                      <a:r>
                        <a:rPr lang="en-US" sz="800" b="0" kern="0" dirty="0">
                          <a:solidFill>
                            <a:srgbClr val="080808"/>
                          </a:solidFill>
                          <a:effectLst/>
                          <a:latin typeface="Courier New" panose="02070609020205090404" pitchFamily="49" charset="0"/>
                          <a:ea typeface="宋体" pitchFamily="2" charset="-122"/>
                        </a:rPr>
                        <a:t> &lt;*&gt; dear &lt;*&gt; ;-; </a:t>
                      </a:r>
                      <a:r>
                        <a:rPr lang="en-US" sz="800" b="0" kern="0" dirty="0" err="1">
                          <a:solidFill>
                            <a:srgbClr val="080808"/>
                          </a:solidFill>
                          <a:effectLst/>
                          <a:latin typeface="Courier New" panose="02070609020205090404" pitchFamily="49" charset="0"/>
                          <a:ea typeface="宋体" pitchFamily="2" charset="-122"/>
                        </a:rPr>
                        <a:t>iar</a:t>
                      </a:r>
                      <a:r>
                        <a:rPr lang="en-US" sz="800" b="0" kern="0" dirty="0">
                          <a:solidFill>
                            <a:srgbClr val="080808"/>
                          </a:solidFill>
                          <a:effectLst/>
                          <a:latin typeface="Courier New" panose="02070609020205090404" pitchFamily="49" charset="0"/>
                          <a:ea typeface="宋体" pitchFamily="2" charset="-122"/>
                        </a:rPr>
                        <a:t> &lt;*&gt; dear &lt;*&gt; ;-; </a:t>
                      </a:r>
                      <a:r>
                        <a:rPr lang="en-US" sz="800" b="0" kern="0" dirty="0" err="1">
                          <a:solidFill>
                            <a:srgbClr val="080808"/>
                          </a:solidFill>
                          <a:effectLst/>
                          <a:latin typeface="Courier New" panose="02070609020205090404" pitchFamily="49" charset="0"/>
                          <a:ea typeface="宋体" pitchFamily="2" charset="-122"/>
                        </a:rPr>
                        <a:t>iar</a:t>
                      </a:r>
                      <a:r>
                        <a:rPr lang="en-US" sz="800" b="0" kern="0" dirty="0">
                          <a:solidFill>
                            <a:srgbClr val="080808"/>
                          </a:solidFill>
                          <a:effectLst/>
                          <a:latin typeface="Courier New" panose="02070609020205090404" pitchFamily="49" charset="0"/>
                          <a:ea typeface="宋体" pitchFamily="2" charset="-122"/>
                        </a:rPr>
                        <a:t> &lt;*&gt; dear &lt;*&gt; ;-; </a:t>
                      </a:r>
                      <a:r>
                        <a:rPr lang="en-US" sz="800" b="0" kern="0" dirty="0" err="1">
                          <a:solidFill>
                            <a:srgbClr val="080808"/>
                          </a:solidFill>
                          <a:effectLst/>
                          <a:latin typeface="Courier New" panose="02070609020205090404" pitchFamily="49" charset="0"/>
                          <a:ea typeface="宋体" pitchFamily="2" charset="-122"/>
                        </a:rPr>
                        <a:t>iar</a:t>
                      </a:r>
                      <a:r>
                        <a:rPr lang="en-US" sz="800" b="0" kern="0" dirty="0">
                          <a:solidFill>
                            <a:srgbClr val="080808"/>
                          </a:solidFill>
                          <a:effectLst/>
                          <a:latin typeface="Courier New" panose="02070609020205090404" pitchFamily="49" charset="0"/>
                          <a:ea typeface="宋体" pitchFamily="2" charset="-122"/>
                        </a:rPr>
                        <a:t> &lt;*&gt; dear &lt;*&gt; ;-; </a:t>
                      </a:r>
                      <a:r>
                        <a:rPr lang="en-US" sz="800" b="0" kern="0" dirty="0" err="1">
                          <a:solidFill>
                            <a:srgbClr val="080808"/>
                          </a:solidFill>
                          <a:effectLst/>
                          <a:latin typeface="Courier New" panose="02070609020205090404" pitchFamily="49" charset="0"/>
                          <a:ea typeface="宋体" pitchFamily="2" charset="-122"/>
                        </a:rPr>
                        <a:t>iar</a:t>
                      </a:r>
                      <a:r>
                        <a:rPr lang="en-US" sz="800" b="0" kern="0" dirty="0">
                          <a:solidFill>
                            <a:srgbClr val="080808"/>
                          </a:solidFill>
                          <a:effectLst/>
                          <a:latin typeface="Courier New" panose="02070609020205090404" pitchFamily="49" charset="0"/>
                          <a:ea typeface="宋体" pitchFamily="2" charset="-122"/>
                        </a:rPr>
                        <a:t> &lt;*&gt; dear &lt;*&gt;</a:t>
                      </a:r>
                      <a:br>
                        <a:rPr lang="en-US" sz="800" b="0" kern="0" dirty="0">
                          <a:solidFill>
                            <a:srgbClr val="080808"/>
                          </a:solidFill>
                          <a:effectLst/>
                          <a:latin typeface="Courier New" panose="02070609020205090404" pitchFamily="49" charset="0"/>
                          <a:ea typeface="宋体" pitchFamily="2" charset="-122"/>
                        </a:rPr>
                      </a:br>
                      <a:r>
                        <a:rPr lang="en-US" sz="800" b="0" kern="0" dirty="0" err="1">
                          <a:solidFill>
                            <a:srgbClr val="080808"/>
                          </a:solidFill>
                          <a:effectLst/>
                          <a:latin typeface="Courier New" panose="02070609020205090404" pitchFamily="49" charset="0"/>
                          <a:ea typeface="宋体" pitchFamily="2" charset="-122"/>
                        </a:rPr>
                        <a:t>ciod</a:t>
                      </a:r>
                      <a:r>
                        <a:rPr lang="en-US" sz="800" b="0" kern="0" dirty="0">
                          <a:solidFill>
                            <a:srgbClr val="080808"/>
                          </a:solidFill>
                          <a:effectLst/>
                          <a:latin typeface="Courier New" panose="02070609020205090404" pitchFamily="49" charset="0"/>
                          <a:ea typeface="宋体" pitchFamily="2" charset="-122"/>
                        </a:rPr>
                        <a:t>: Received signal &lt;*&gt;, code=&lt;*&gt;, </a:t>
                      </a:r>
                      <a:r>
                        <a:rPr lang="en-US" sz="800" b="0" kern="0" dirty="0" err="1">
                          <a:solidFill>
                            <a:srgbClr val="080808"/>
                          </a:solidFill>
                          <a:effectLst/>
                          <a:latin typeface="Courier New" panose="02070609020205090404" pitchFamily="49" charset="0"/>
                          <a:ea typeface="宋体" pitchFamily="2" charset="-122"/>
                        </a:rPr>
                        <a:t>errno</a:t>
                      </a:r>
                      <a:r>
                        <a:rPr lang="en-US" sz="800" b="0" kern="0" dirty="0">
                          <a:solidFill>
                            <a:srgbClr val="080808"/>
                          </a:solidFill>
                          <a:effectLst/>
                          <a:latin typeface="Courier New" panose="02070609020205090404" pitchFamily="49" charset="0"/>
                          <a:ea typeface="宋体" pitchFamily="2" charset="-122"/>
                        </a:rPr>
                        <a:t>=&lt;*&gt;, address=&lt;*&gt;</a:t>
                      </a:r>
                      <a:br>
                        <a:rPr lang="en-US" sz="800" b="0" kern="0" dirty="0">
                          <a:solidFill>
                            <a:srgbClr val="080808"/>
                          </a:solidFill>
                          <a:effectLst/>
                          <a:latin typeface="Courier New" panose="02070609020205090404" pitchFamily="49" charset="0"/>
                          <a:ea typeface="宋体" pitchFamily="2" charset="-122"/>
                        </a:rPr>
                      </a:br>
                      <a:r>
                        <a:rPr lang="en-US" sz="800" b="0" kern="0" dirty="0">
                          <a:solidFill>
                            <a:srgbClr val="080808"/>
                          </a:solidFill>
                          <a:effectLst/>
                          <a:latin typeface="Courier New" panose="02070609020205090404" pitchFamily="49" charset="0"/>
                          <a:ea typeface="宋体" pitchFamily="2" charset="-122"/>
                        </a:rPr>
                        <a:t>&lt;*&gt; total interrupts. &lt;*&gt; critical input interrupts. &lt;*&gt; microseconds total spent on critical input interrupts</a:t>
                      </a:r>
                      <a:endParaRPr lang="en-US" sz="1100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68580" marR="68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33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4227" y="1697651"/>
            <a:ext cx="5364000" cy="2536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7" name="组合 46"/>
          <p:cNvGrpSpPr/>
          <p:nvPr/>
        </p:nvGrpSpPr>
        <p:grpSpPr>
          <a:xfrm>
            <a:off x="252466" y="1127125"/>
            <a:ext cx="5764405" cy="2344142"/>
            <a:chOff x="757237" y="4000390"/>
            <a:chExt cx="4217100" cy="2032194"/>
          </a:xfrm>
        </p:grpSpPr>
        <p:sp>
          <p:nvSpPr>
            <p:cNvPr id="28" name="Shape 11"/>
            <p:cNvSpPr/>
            <p:nvPr/>
          </p:nvSpPr>
          <p:spPr>
            <a:xfrm>
              <a:off x="760731" y="4000390"/>
              <a:ext cx="4213606" cy="203219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4CC0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Text 14"/>
            <p:cNvSpPr/>
            <p:nvPr/>
          </p:nvSpPr>
          <p:spPr>
            <a:xfrm rot="5400000">
              <a:off x="759460" y="4067175"/>
              <a:ext cx="434340" cy="43878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endParaRPr lang="en-US" sz="1600" dirty="0"/>
            </a:p>
          </p:txBody>
        </p:sp>
        <p:sp>
          <p:nvSpPr>
            <p:cNvPr id="34" name="Shape 15"/>
            <p:cNvSpPr/>
            <p:nvPr/>
          </p:nvSpPr>
          <p:spPr>
            <a:xfrm flipV="1">
              <a:off x="875754" y="4144633"/>
              <a:ext cx="215699" cy="108423"/>
            </a:xfrm>
            <a:prstGeom prst="chevron">
              <a:avLst>
                <a:gd name="adj" fmla="val 64013"/>
              </a:avLst>
            </a:prstGeom>
            <a:solidFill>
              <a:srgbClr val="FFFFFF"/>
            </a:soli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Text 16"/>
            <p:cNvSpPr/>
            <p:nvPr/>
          </p:nvSpPr>
          <p:spPr>
            <a:xfrm>
              <a:off x="919480" y="4202430"/>
              <a:ext cx="113665" cy="16891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endParaRPr lang="en-US" sz="1600" dirty="0"/>
            </a:p>
          </p:txBody>
        </p:sp>
      </p:grpSp>
      <p:sp>
        <p:nvSpPr>
          <p:cNvPr id="38" name="Text 34"/>
          <p:cNvSpPr/>
          <p:nvPr/>
        </p:nvSpPr>
        <p:spPr>
          <a:xfrm>
            <a:off x="331612" y="1231640"/>
            <a:ext cx="3765677" cy="3063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just">
              <a:lnSpc>
                <a:spcPct val="100000"/>
              </a:lnSpc>
            </a:pPr>
            <a:r>
              <a:rPr lang="en-US" sz="1800" b="1" dirty="0" err="1">
                <a:solidFill>
                  <a:srgbClr val="004C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LogHub</a:t>
            </a:r>
            <a:endParaRPr lang="en-US" sz="1600" dirty="0"/>
          </a:p>
        </p:txBody>
      </p:sp>
      <p:graphicFrame>
        <p:nvGraphicFramePr>
          <p:cNvPr id="52" name="表格 51"/>
          <p:cNvGraphicFramePr>
            <a:graphicFrameLocks noGrp="1"/>
          </p:cNvGraphicFramePr>
          <p:nvPr/>
        </p:nvGraphicFramePr>
        <p:xfrm>
          <a:off x="320525" y="1541430"/>
          <a:ext cx="5633061" cy="1837661"/>
        </p:xfrm>
        <a:graphic>
          <a:graphicData uri="http://schemas.openxmlformats.org/drawingml/2006/table">
            <a:tbl>
              <a:tblPr/>
              <a:tblGrid>
                <a:gridCol w="1001864"/>
                <a:gridCol w="2379208"/>
                <a:gridCol w="1376463"/>
                <a:gridCol w="875526"/>
              </a:tblGrid>
              <a:tr h="243103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Dataset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17780" marR="1778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Description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17780" marR="1778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Type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17780" marR="1778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 kern="100" dirty="0"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Size</a:t>
                      </a:r>
                      <a:endParaRPr lang="en-US" sz="1400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17780" marR="1778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1498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HDFS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17780" marR="1778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Hadoop distributed file system log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17780" marR="1778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Distributed system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17780" marR="1778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1.47GB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17780" marR="1778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321498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BGL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17780" marR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it-IT" sz="1200" kern="100" dirty="0"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Blue Gene/L supercomputer log</a:t>
                      </a:r>
                      <a:endParaRPr lang="it-IT" sz="1800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17780" marR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Super computer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17780" marR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708.76MB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17780" marR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94047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Thunderbird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17780" marR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Thunderbird supercomputer log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17780" marR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Super computer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17780" marR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29.60GB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17780" marR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97507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Linux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17780" marR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Linux system log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17780" marR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kern="100" dirty="0" err="1"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Opreating</a:t>
                      </a: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 system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17780" marR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2.25MB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17780" marR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21498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Apache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17780" marR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Web server error log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17780" marR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Server application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17780" marR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4.90MB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等线" panose="02010600030101010101" pitchFamily="2" charset="-122"/>
                      </a:endParaRPr>
                    </a:p>
                  </a:txBody>
                  <a:tcPr marL="17780" marR="177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6" name="Text 24"/>
          <p:cNvSpPr/>
          <p:nvPr/>
        </p:nvSpPr>
        <p:spPr>
          <a:xfrm>
            <a:off x="8347137" y="4127477"/>
            <a:ext cx="1358179" cy="29418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600" dirty="0"/>
              <a:t>Session window</a:t>
            </a:r>
            <a:endParaRPr lang="en-US" sz="1600" dirty="0"/>
          </a:p>
        </p:txBody>
      </p:sp>
      <p:sp>
        <p:nvSpPr>
          <p:cNvPr id="37" name="Text 24"/>
          <p:cNvSpPr/>
          <p:nvPr/>
        </p:nvSpPr>
        <p:spPr>
          <a:xfrm>
            <a:off x="8347137" y="6146708"/>
            <a:ext cx="1358179" cy="29418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600" dirty="0"/>
              <a:t>S</a:t>
            </a:r>
            <a:r>
              <a:rPr lang="en-US" altLang="zh-CN" sz="1600" dirty="0"/>
              <a:t>liding</a:t>
            </a:r>
            <a:r>
              <a:rPr lang="en-US" sz="1600" dirty="0"/>
              <a:t> window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FFFFFF"/>
            </a:gs>
            <a:gs pos="28000">
              <a:srgbClr val="FFFFFF"/>
            </a:gs>
            <a:gs pos="100000">
              <a:srgbClr val="DDF0FE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48360" y="6346190"/>
            <a:ext cx="163338" cy="1530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22291" y="6346190"/>
            <a:ext cx="163338" cy="1530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92976" y="1694145"/>
            <a:ext cx="5381035" cy="3107357"/>
          </a:xfrm>
          <a:prstGeom prst="rect">
            <a:avLst/>
          </a:prstGeom>
          <a:solidFill>
            <a:srgbClr val="FFFFFF"/>
          </a:solidFill>
          <a:ln w="19050">
            <a:solidFill>
              <a:srgbClr val="004C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92450" y="406718"/>
            <a:ext cx="7413420" cy="31210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5629" y="1108812"/>
            <a:ext cx="4330700" cy="4356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4C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 LogLLM Framework</a:t>
            </a:r>
            <a:endParaRPr lang="en-US" sz="1600" dirty="0"/>
          </a:p>
        </p:txBody>
      </p:sp>
      <p:grpSp>
        <p:nvGrpSpPr>
          <p:cNvPr id="48" name="组合 47"/>
          <p:cNvGrpSpPr/>
          <p:nvPr/>
        </p:nvGrpSpPr>
        <p:grpSpPr>
          <a:xfrm>
            <a:off x="692975" y="1116193"/>
            <a:ext cx="438785" cy="434340"/>
            <a:chOff x="757237" y="1748473"/>
            <a:chExt cx="438785" cy="434340"/>
          </a:xfrm>
        </p:grpSpPr>
        <p:sp>
          <p:nvSpPr>
            <p:cNvPr id="11" name="Shape 9"/>
            <p:cNvSpPr/>
            <p:nvPr/>
          </p:nvSpPr>
          <p:spPr>
            <a:xfrm rot="5400000">
              <a:off x="759460" y="1746250"/>
              <a:ext cx="434340" cy="438785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2078FF"/>
                </a:gs>
                <a:gs pos="100000">
                  <a:srgbClr val="004CC0"/>
                </a:gs>
              </a:gsLst>
              <a:lin ang="13200000" scaled="1"/>
            </a:gradFill>
          </p:spPr>
        </p:sp>
        <p:sp>
          <p:nvSpPr>
            <p:cNvPr id="12" name="Shape 10"/>
            <p:cNvSpPr/>
            <p:nvPr/>
          </p:nvSpPr>
          <p:spPr>
            <a:xfrm>
              <a:off x="919480" y="1881505"/>
              <a:ext cx="113665" cy="168910"/>
            </a:xfrm>
            <a:prstGeom prst="chevron">
              <a:avLst>
                <a:gd name="adj" fmla="val 64013"/>
              </a:avLst>
            </a:prstGeom>
            <a:solidFill>
              <a:srgbClr val="FFFFFF"/>
            </a:solidFill>
          </p:spPr>
        </p:sp>
      </p:grpSp>
      <p:sp>
        <p:nvSpPr>
          <p:cNvPr id="22" name="Text 20"/>
          <p:cNvSpPr/>
          <p:nvPr/>
        </p:nvSpPr>
        <p:spPr>
          <a:xfrm rot="5400000">
            <a:off x="6275705" y="1746250"/>
            <a:ext cx="434340" cy="438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35725" y="1881505"/>
            <a:ext cx="113665" cy="168910"/>
          </a:xfrm>
          <a:prstGeom prst="chevron">
            <a:avLst>
              <a:gd name="adj" fmla="val 64013"/>
            </a:avLst>
          </a:prstGeom>
          <a:solidFill>
            <a:srgbClr val="FFFFFF"/>
          </a:solidFill>
        </p:spPr>
      </p:sp>
      <p:sp>
        <p:nvSpPr>
          <p:cNvPr id="24" name="Text 22"/>
          <p:cNvSpPr/>
          <p:nvPr/>
        </p:nvSpPr>
        <p:spPr>
          <a:xfrm>
            <a:off x="6435725" y="1881505"/>
            <a:ext cx="113665" cy="168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77588" y="1588094"/>
            <a:ext cx="5364000" cy="441858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Bert</a:t>
            </a:r>
            <a:b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</a:b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raw log messages are transformed into high-dimensional semantic vectors to capture the deeper meaning in the logs and provide a foundation for subsequent processing.</a:t>
            </a:r>
            <a:endParaRPr lang="en-US" sz="1600" dirty="0">
              <a:solidFill>
                <a:srgbClr val="00000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 marL="285750" indent="-28575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Lama</a:t>
            </a:r>
            <a:b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</a:b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Receive a sequence of log vectors and combine it with a prompt template to perform anomaly </a:t>
            </a:r>
            <a:r>
              <a:rPr lang="en-US" sz="1600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classifi</a:t>
            </a: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-cation.</a:t>
            </a:r>
            <a:endParaRPr lang="en-US" sz="1600" dirty="0">
              <a:solidFill>
                <a:srgbClr val="00000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 marL="285750" indent="-28575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Projector</a:t>
            </a:r>
            <a:br>
              <a:rPr lang="en-US" sz="1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</a:b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 </a:t>
            </a:r>
            <a:r>
              <a:rPr lang="en-US" altLang="zh-CN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achieve semantic alignment, </a:t>
            </a: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linear mapping layer transforms the vectors output by BERT into a representation space that Llama can understand.</a:t>
            </a:r>
            <a:b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</a:b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14108" y="384948"/>
            <a:ext cx="10151745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3000" b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02- LogLLM</a:t>
            </a:r>
            <a:r>
              <a:rPr lang="zh-CN" altLang="en-US" sz="3000" b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altLang="zh-CN" sz="3000" b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</a:t>
            </a:r>
            <a:endParaRPr lang="en-US" sz="1600" dirty="0"/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011" y="1761556"/>
            <a:ext cx="5364000" cy="301285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84161" y="5072431"/>
            <a:ext cx="4330700" cy="4356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4C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Evaluation </a:t>
            </a:r>
            <a:r>
              <a:rPr lang="en-US" sz="1800" b="1" dirty="0" err="1">
                <a:solidFill>
                  <a:srgbClr val="004C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Metircs</a:t>
            </a:r>
            <a:endParaRPr lang="en-US" sz="1800" b="1" dirty="0">
              <a:solidFill>
                <a:srgbClr val="004CC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691507" y="5079812"/>
            <a:ext cx="438785" cy="434340"/>
            <a:chOff x="757237" y="1748473"/>
            <a:chExt cx="438785" cy="434340"/>
          </a:xfrm>
        </p:grpSpPr>
        <p:sp>
          <p:nvSpPr>
            <p:cNvPr id="19" name="Shape 9"/>
            <p:cNvSpPr/>
            <p:nvPr/>
          </p:nvSpPr>
          <p:spPr>
            <a:xfrm rot="5400000">
              <a:off x="759460" y="1746250"/>
              <a:ext cx="434340" cy="438785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2078FF"/>
                </a:gs>
                <a:gs pos="100000">
                  <a:srgbClr val="004CC0"/>
                </a:gs>
              </a:gsLst>
              <a:lin ang="13200000" scaled="1"/>
            </a:gradFill>
          </p:spPr>
        </p:sp>
        <p:sp>
          <p:nvSpPr>
            <p:cNvPr id="20" name="Shape 10"/>
            <p:cNvSpPr/>
            <p:nvPr/>
          </p:nvSpPr>
          <p:spPr>
            <a:xfrm>
              <a:off x="919480" y="1881505"/>
              <a:ext cx="113665" cy="168910"/>
            </a:xfrm>
            <a:prstGeom prst="chevron">
              <a:avLst>
                <a:gd name="adj" fmla="val 64013"/>
              </a:avLst>
            </a:prstGeom>
            <a:solidFill>
              <a:srgbClr val="FFFFFF"/>
            </a:solidFill>
          </p:spPr>
        </p:sp>
      </p:grpSp>
      <p:sp>
        <p:nvSpPr>
          <p:cNvPr id="21" name="Shape 6"/>
          <p:cNvSpPr/>
          <p:nvPr/>
        </p:nvSpPr>
        <p:spPr>
          <a:xfrm>
            <a:off x="691507" y="5728241"/>
            <a:ext cx="7187573" cy="964367"/>
          </a:xfrm>
          <a:prstGeom prst="rect">
            <a:avLst/>
          </a:prstGeom>
          <a:solidFill>
            <a:srgbClr val="FFFFFF"/>
          </a:solidFill>
          <a:ln w="19050">
            <a:solidFill>
              <a:srgbClr val="004CC0"/>
            </a:solidFill>
            <a:prstDash val="solid"/>
          </a:ln>
        </p:spPr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2"/>
          <a:srcRect t="6005" b="4053"/>
          <a:stretch>
            <a:fillRect/>
          </a:stretch>
        </p:blipFill>
        <p:spPr>
          <a:xfrm>
            <a:off x="1285629" y="5782805"/>
            <a:ext cx="1645097" cy="874243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493" y="5963974"/>
            <a:ext cx="3960000" cy="49289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81000">
                <a:srgbClr val="F0F8FF"/>
              </a:gs>
              <a:gs pos="100000">
                <a:srgbClr val="F0F8FF"/>
              </a:gs>
            </a:gsLst>
            <a:lin ang="5400000" scaled="1"/>
          </a:gradFill>
        </p:spPr>
      </p:sp>
      <p:sp>
        <p:nvSpPr>
          <p:cNvPr id="3" name="Text 1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5432425"/>
            <a:ext cx="12192000" cy="864870"/>
          </a:xfrm>
          <a:custGeom>
            <a:avLst/>
            <a:gdLst/>
            <a:ahLst/>
            <a:cxnLst/>
            <a:rect l="l" t="t" r="r" b="b"/>
            <a:pathLst>
              <a:path w="12192000" h="864870">
                <a:moveTo>
                  <a:pt x="12192000" y="61685"/>
                </a:moveTo>
                <a:lnTo>
                  <a:pt x="12192000" y="864870"/>
                </a:lnTo>
                <a:lnTo>
                  <a:pt x="0" y="864870"/>
                </a:lnTo>
                <a:lnTo>
                  <a:pt x="0" y="65089"/>
                </a:lnTo>
                <a:lnTo>
                  <a:pt x="136525" y="45945"/>
                </a:lnTo>
                <a:lnTo>
                  <a:pt x="278130" y="29779"/>
                </a:lnTo>
                <a:lnTo>
                  <a:pt x="420370" y="17017"/>
                </a:lnTo>
                <a:lnTo>
                  <a:pt x="561975" y="8083"/>
                </a:lnTo>
                <a:lnTo>
                  <a:pt x="703580" y="2552"/>
                </a:lnTo>
                <a:lnTo>
                  <a:pt x="845185" y="0"/>
                </a:lnTo>
                <a:lnTo>
                  <a:pt x="986790" y="425"/>
                </a:lnTo>
                <a:lnTo>
                  <a:pt x="1128395" y="3829"/>
                </a:lnTo>
                <a:lnTo>
                  <a:pt x="1270635" y="10210"/>
                </a:lnTo>
                <a:lnTo>
                  <a:pt x="1412240" y="18718"/>
                </a:lnTo>
                <a:lnTo>
                  <a:pt x="1553845" y="29779"/>
                </a:lnTo>
                <a:lnTo>
                  <a:pt x="1695450" y="42967"/>
                </a:lnTo>
                <a:lnTo>
                  <a:pt x="1837055" y="58282"/>
                </a:lnTo>
                <a:lnTo>
                  <a:pt x="1978660" y="75299"/>
                </a:lnTo>
                <a:lnTo>
                  <a:pt x="2120265" y="94017"/>
                </a:lnTo>
                <a:lnTo>
                  <a:pt x="2262505" y="114437"/>
                </a:lnTo>
                <a:lnTo>
                  <a:pt x="2404110" y="136133"/>
                </a:lnTo>
                <a:lnTo>
                  <a:pt x="2545715" y="159105"/>
                </a:lnTo>
                <a:lnTo>
                  <a:pt x="2687320" y="183354"/>
                </a:lnTo>
                <a:lnTo>
                  <a:pt x="2828925" y="208454"/>
                </a:lnTo>
                <a:lnTo>
                  <a:pt x="2970530" y="233979"/>
                </a:lnTo>
                <a:lnTo>
                  <a:pt x="3112770" y="260354"/>
                </a:lnTo>
                <a:lnTo>
                  <a:pt x="3254375" y="286730"/>
                </a:lnTo>
                <a:lnTo>
                  <a:pt x="3395980" y="313957"/>
                </a:lnTo>
                <a:lnTo>
                  <a:pt x="3537585" y="340758"/>
                </a:lnTo>
                <a:lnTo>
                  <a:pt x="3679190" y="367559"/>
                </a:lnTo>
                <a:lnTo>
                  <a:pt x="3820795" y="394360"/>
                </a:lnTo>
                <a:lnTo>
                  <a:pt x="3963035" y="420736"/>
                </a:lnTo>
                <a:lnTo>
                  <a:pt x="4104640" y="446261"/>
                </a:lnTo>
                <a:lnTo>
                  <a:pt x="4246245" y="471361"/>
                </a:lnTo>
                <a:lnTo>
                  <a:pt x="4387850" y="495609"/>
                </a:lnTo>
                <a:lnTo>
                  <a:pt x="4529455" y="518582"/>
                </a:lnTo>
                <a:lnTo>
                  <a:pt x="4671060" y="540278"/>
                </a:lnTo>
                <a:lnTo>
                  <a:pt x="4813300" y="560698"/>
                </a:lnTo>
                <a:lnTo>
                  <a:pt x="4954905" y="579416"/>
                </a:lnTo>
                <a:lnTo>
                  <a:pt x="5096510" y="596433"/>
                </a:lnTo>
                <a:lnTo>
                  <a:pt x="5238115" y="611748"/>
                </a:lnTo>
                <a:lnTo>
                  <a:pt x="5379720" y="624936"/>
                </a:lnTo>
                <a:lnTo>
                  <a:pt x="5521325" y="635996"/>
                </a:lnTo>
                <a:lnTo>
                  <a:pt x="5662930" y="644505"/>
                </a:lnTo>
                <a:lnTo>
                  <a:pt x="5805170" y="650886"/>
                </a:lnTo>
                <a:lnTo>
                  <a:pt x="5946775" y="654289"/>
                </a:lnTo>
                <a:lnTo>
                  <a:pt x="6088380" y="654715"/>
                </a:lnTo>
                <a:lnTo>
                  <a:pt x="6108065" y="654289"/>
                </a:lnTo>
                <a:lnTo>
                  <a:pt x="6128385" y="654715"/>
                </a:lnTo>
                <a:lnTo>
                  <a:pt x="6269990" y="654289"/>
                </a:lnTo>
                <a:lnTo>
                  <a:pt x="6411595" y="650886"/>
                </a:lnTo>
                <a:lnTo>
                  <a:pt x="6553835" y="644505"/>
                </a:lnTo>
                <a:lnTo>
                  <a:pt x="6695440" y="635996"/>
                </a:lnTo>
                <a:lnTo>
                  <a:pt x="6837045" y="624936"/>
                </a:lnTo>
                <a:lnTo>
                  <a:pt x="6978650" y="611748"/>
                </a:lnTo>
                <a:lnTo>
                  <a:pt x="7120255" y="596433"/>
                </a:lnTo>
                <a:lnTo>
                  <a:pt x="7261860" y="579416"/>
                </a:lnTo>
                <a:lnTo>
                  <a:pt x="7403465" y="560698"/>
                </a:lnTo>
                <a:lnTo>
                  <a:pt x="7545705" y="540278"/>
                </a:lnTo>
                <a:lnTo>
                  <a:pt x="7687310" y="518582"/>
                </a:lnTo>
                <a:lnTo>
                  <a:pt x="7828915" y="495609"/>
                </a:lnTo>
                <a:lnTo>
                  <a:pt x="7970520" y="471361"/>
                </a:lnTo>
                <a:lnTo>
                  <a:pt x="8112125" y="446261"/>
                </a:lnTo>
                <a:lnTo>
                  <a:pt x="8253730" y="420736"/>
                </a:lnTo>
                <a:lnTo>
                  <a:pt x="8395970" y="394360"/>
                </a:lnTo>
                <a:lnTo>
                  <a:pt x="8537575" y="367559"/>
                </a:lnTo>
                <a:lnTo>
                  <a:pt x="8679180" y="340758"/>
                </a:lnTo>
                <a:lnTo>
                  <a:pt x="8820785" y="313957"/>
                </a:lnTo>
                <a:lnTo>
                  <a:pt x="8962390" y="286730"/>
                </a:lnTo>
                <a:lnTo>
                  <a:pt x="9103995" y="260354"/>
                </a:lnTo>
                <a:lnTo>
                  <a:pt x="9246235" y="233979"/>
                </a:lnTo>
                <a:lnTo>
                  <a:pt x="9387840" y="208454"/>
                </a:lnTo>
                <a:lnTo>
                  <a:pt x="9529445" y="183354"/>
                </a:lnTo>
                <a:lnTo>
                  <a:pt x="9671050" y="159105"/>
                </a:lnTo>
                <a:lnTo>
                  <a:pt x="9812655" y="136133"/>
                </a:lnTo>
                <a:lnTo>
                  <a:pt x="9954260" y="114437"/>
                </a:lnTo>
                <a:lnTo>
                  <a:pt x="10096500" y="94017"/>
                </a:lnTo>
                <a:lnTo>
                  <a:pt x="10238105" y="75299"/>
                </a:lnTo>
                <a:lnTo>
                  <a:pt x="10379710" y="58282"/>
                </a:lnTo>
                <a:lnTo>
                  <a:pt x="10521315" y="42967"/>
                </a:lnTo>
                <a:lnTo>
                  <a:pt x="10662920" y="29779"/>
                </a:lnTo>
                <a:lnTo>
                  <a:pt x="10804525" y="18718"/>
                </a:lnTo>
                <a:lnTo>
                  <a:pt x="10946130" y="10210"/>
                </a:lnTo>
                <a:lnTo>
                  <a:pt x="11088370" y="3829"/>
                </a:lnTo>
                <a:lnTo>
                  <a:pt x="11229975" y="425"/>
                </a:lnTo>
                <a:lnTo>
                  <a:pt x="11371580" y="0"/>
                </a:lnTo>
                <a:lnTo>
                  <a:pt x="11513185" y="2552"/>
                </a:lnTo>
                <a:lnTo>
                  <a:pt x="11654790" y="8083"/>
                </a:lnTo>
                <a:lnTo>
                  <a:pt x="11796395" y="17017"/>
                </a:lnTo>
                <a:lnTo>
                  <a:pt x="11938635" y="29779"/>
                </a:lnTo>
                <a:lnTo>
                  <a:pt x="12080240" y="45945"/>
                </a:lnTo>
                <a:lnTo>
                  <a:pt x="12192000" y="61685"/>
                </a:lnTo>
                <a:close/>
              </a:path>
            </a:pathLst>
          </a:custGeom>
          <a:gradFill flip="none" rotWithShape="1">
            <a:gsLst>
              <a:gs pos="0">
                <a:srgbClr val="F8AA5C"/>
              </a:gs>
              <a:gs pos="58000">
                <a:srgbClr val="FBCC9D"/>
              </a:gs>
              <a:gs pos="99000">
                <a:srgbClr val="FDEEDE"/>
              </a:gs>
              <a:gs pos="100000">
                <a:srgbClr val="FDEEDE"/>
              </a:gs>
            </a:gsLst>
            <a:lin ang="0" scaled="1"/>
          </a:gradFill>
        </p:spPr>
      </p:sp>
      <p:sp>
        <p:nvSpPr>
          <p:cNvPr id="5" name="Text 3"/>
          <p:cNvSpPr/>
          <p:nvPr/>
        </p:nvSpPr>
        <p:spPr>
          <a:xfrm>
            <a:off x="0" y="5432425"/>
            <a:ext cx="12192000" cy="8648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5594985"/>
            <a:ext cx="12192000" cy="1263015"/>
          </a:xfrm>
          <a:custGeom>
            <a:avLst/>
            <a:gdLst/>
            <a:ahLst/>
            <a:cxnLst/>
            <a:rect l="l" t="t" r="r" b="b"/>
            <a:pathLst>
              <a:path w="12192000" h="1263015">
                <a:moveTo>
                  <a:pt x="12192000" y="882546"/>
                </a:moveTo>
                <a:lnTo>
                  <a:pt x="12192000" y="1263015"/>
                </a:lnTo>
                <a:lnTo>
                  <a:pt x="0" y="1263015"/>
                </a:lnTo>
                <a:lnTo>
                  <a:pt x="0" y="65426"/>
                </a:lnTo>
                <a:lnTo>
                  <a:pt x="136525" y="46225"/>
                </a:lnTo>
                <a:lnTo>
                  <a:pt x="278130" y="29869"/>
                </a:lnTo>
                <a:lnTo>
                  <a:pt x="420370" y="17068"/>
                </a:lnTo>
                <a:lnTo>
                  <a:pt x="561975" y="7823"/>
                </a:lnTo>
                <a:lnTo>
                  <a:pt x="703580" y="2845"/>
                </a:lnTo>
                <a:lnTo>
                  <a:pt x="845185" y="0"/>
                </a:lnTo>
                <a:lnTo>
                  <a:pt x="986790" y="711"/>
                </a:lnTo>
                <a:lnTo>
                  <a:pt x="1128395" y="3556"/>
                </a:lnTo>
                <a:lnTo>
                  <a:pt x="1270635" y="9956"/>
                </a:lnTo>
                <a:lnTo>
                  <a:pt x="1412240" y="18490"/>
                </a:lnTo>
                <a:lnTo>
                  <a:pt x="1553845" y="29869"/>
                </a:lnTo>
                <a:lnTo>
                  <a:pt x="1695450" y="42669"/>
                </a:lnTo>
                <a:lnTo>
                  <a:pt x="1837055" y="58315"/>
                </a:lnTo>
                <a:lnTo>
                  <a:pt x="1978660" y="75383"/>
                </a:lnTo>
                <a:lnTo>
                  <a:pt x="2120265" y="93873"/>
                </a:lnTo>
                <a:lnTo>
                  <a:pt x="2262505" y="114496"/>
                </a:lnTo>
                <a:lnTo>
                  <a:pt x="2404110" y="135831"/>
                </a:lnTo>
                <a:lnTo>
                  <a:pt x="2545715" y="159299"/>
                </a:lnTo>
                <a:lnTo>
                  <a:pt x="2687320" y="183479"/>
                </a:lnTo>
                <a:lnTo>
                  <a:pt x="2828925" y="208369"/>
                </a:lnTo>
                <a:lnTo>
                  <a:pt x="2970530" y="233971"/>
                </a:lnTo>
                <a:lnTo>
                  <a:pt x="3112770" y="260283"/>
                </a:lnTo>
                <a:lnTo>
                  <a:pt x="3254375" y="286596"/>
                </a:lnTo>
                <a:lnTo>
                  <a:pt x="3395980" y="314331"/>
                </a:lnTo>
                <a:lnTo>
                  <a:pt x="3537585" y="340644"/>
                </a:lnTo>
                <a:lnTo>
                  <a:pt x="3679190" y="367668"/>
                </a:lnTo>
                <a:lnTo>
                  <a:pt x="3820795" y="394692"/>
                </a:lnTo>
                <a:lnTo>
                  <a:pt x="3963035" y="421005"/>
                </a:lnTo>
                <a:lnTo>
                  <a:pt x="4104640" y="446607"/>
                </a:lnTo>
                <a:lnTo>
                  <a:pt x="4246245" y="471497"/>
                </a:lnTo>
                <a:lnTo>
                  <a:pt x="4387850" y="495676"/>
                </a:lnTo>
                <a:lnTo>
                  <a:pt x="4529455" y="518434"/>
                </a:lnTo>
                <a:lnTo>
                  <a:pt x="4671060" y="540479"/>
                </a:lnTo>
                <a:lnTo>
                  <a:pt x="4813300" y="561103"/>
                </a:lnTo>
                <a:lnTo>
                  <a:pt x="4954905" y="579593"/>
                </a:lnTo>
                <a:lnTo>
                  <a:pt x="5096510" y="596661"/>
                </a:lnTo>
                <a:lnTo>
                  <a:pt x="5238115" y="611595"/>
                </a:lnTo>
                <a:lnTo>
                  <a:pt x="5379720" y="625107"/>
                </a:lnTo>
                <a:lnTo>
                  <a:pt x="5521325" y="636486"/>
                </a:lnTo>
                <a:lnTo>
                  <a:pt x="5662930" y="645019"/>
                </a:lnTo>
                <a:lnTo>
                  <a:pt x="5805170" y="650709"/>
                </a:lnTo>
                <a:lnTo>
                  <a:pt x="5946775" y="654265"/>
                </a:lnTo>
                <a:lnTo>
                  <a:pt x="6088380" y="654976"/>
                </a:lnTo>
                <a:lnTo>
                  <a:pt x="6108065" y="654265"/>
                </a:lnTo>
                <a:lnTo>
                  <a:pt x="6128385" y="654976"/>
                </a:lnTo>
                <a:lnTo>
                  <a:pt x="6269990" y="654265"/>
                </a:lnTo>
                <a:lnTo>
                  <a:pt x="6411595" y="650709"/>
                </a:lnTo>
                <a:lnTo>
                  <a:pt x="6553835" y="645019"/>
                </a:lnTo>
                <a:lnTo>
                  <a:pt x="6695440" y="636486"/>
                </a:lnTo>
                <a:lnTo>
                  <a:pt x="6837045" y="625107"/>
                </a:lnTo>
                <a:lnTo>
                  <a:pt x="6978650" y="611595"/>
                </a:lnTo>
                <a:lnTo>
                  <a:pt x="7120255" y="596661"/>
                </a:lnTo>
                <a:lnTo>
                  <a:pt x="7261860" y="579593"/>
                </a:lnTo>
                <a:lnTo>
                  <a:pt x="7403465" y="561103"/>
                </a:lnTo>
                <a:lnTo>
                  <a:pt x="7545705" y="540479"/>
                </a:lnTo>
                <a:lnTo>
                  <a:pt x="7687310" y="518434"/>
                </a:lnTo>
                <a:lnTo>
                  <a:pt x="7828915" y="495676"/>
                </a:lnTo>
                <a:lnTo>
                  <a:pt x="7970520" y="471497"/>
                </a:lnTo>
                <a:lnTo>
                  <a:pt x="8112125" y="446607"/>
                </a:lnTo>
                <a:lnTo>
                  <a:pt x="8253730" y="421005"/>
                </a:lnTo>
                <a:lnTo>
                  <a:pt x="8395970" y="394692"/>
                </a:lnTo>
                <a:lnTo>
                  <a:pt x="8537575" y="367668"/>
                </a:lnTo>
                <a:lnTo>
                  <a:pt x="8679180" y="340644"/>
                </a:lnTo>
                <a:lnTo>
                  <a:pt x="8820785" y="314331"/>
                </a:lnTo>
                <a:lnTo>
                  <a:pt x="8962390" y="286596"/>
                </a:lnTo>
                <a:lnTo>
                  <a:pt x="9103995" y="260283"/>
                </a:lnTo>
                <a:lnTo>
                  <a:pt x="9246235" y="233971"/>
                </a:lnTo>
                <a:lnTo>
                  <a:pt x="9387840" y="208369"/>
                </a:lnTo>
                <a:lnTo>
                  <a:pt x="9529445" y="183479"/>
                </a:lnTo>
                <a:lnTo>
                  <a:pt x="9671050" y="159299"/>
                </a:lnTo>
                <a:lnTo>
                  <a:pt x="9812655" y="135831"/>
                </a:lnTo>
                <a:lnTo>
                  <a:pt x="9954260" y="114496"/>
                </a:lnTo>
                <a:lnTo>
                  <a:pt x="10096500" y="93873"/>
                </a:lnTo>
                <a:lnTo>
                  <a:pt x="10238105" y="75383"/>
                </a:lnTo>
                <a:lnTo>
                  <a:pt x="10379710" y="58315"/>
                </a:lnTo>
                <a:lnTo>
                  <a:pt x="10521315" y="42669"/>
                </a:lnTo>
                <a:lnTo>
                  <a:pt x="10662920" y="29869"/>
                </a:lnTo>
                <a:lnTo>
                  <a:pt x="10804525" y="18490"/>
                </a:lnTo>
                <a:lnTo>
                  <a:pt x="10946130" y="9956"/>
                </a:lnTo>
                <a:lnTo>
                  <a:pt x="11088370" y="3556"/>
                </a:lnTo>
                <a:lnTo>
                  <a:pt x="11229975" y="711"/>
                </a:lnTo>
                <a:lnTo>
                  <a:pt x="11371580" y="0"/>
                </a:lnTo>
                <a:lnTo>
                  <a:pt x="11513185" y="2845"/>
                </a:lnTo>
                <a:lnTo>
                  <a:pt x="11654790" y="7823"/>
                </a:lnTo>
                <a:lnTo>
                  <a:pt x="11796395" y="17068"/>
                </a:lnTo>
                <a:lnTo>
                  <a:pt x="11938635" y="29869"/>
                </a:lnTo>
                <a:lnTo>
                  <a:pt x="12080240" y="46225"/>
                </a:lnTo>
                <a:lnTo>
                  <a:pt x="12192000" y="61871"/>
                </a:lnTo>
                <a:lnTo>
                  <a:pt x="12192000" y="882546"/>
                </a:lnTo>
                <a:close/>
              </a:path>
            </a:pathLst>
          </a:custGeom>
          <a:solidFill>
            <a:srgbClr val="056EE1"/>
          </a:solidFill>
        </p:spPr>
      </p:sp>
      <p:sp>
        <p:nvSpPr>
          <p:cNvPr id="7" name="Text 5"/>
          <p:cNvSpPr/>
          <p:nvPr/>
        </p:nvSpPr>
        <p:spPr>
          <a:xfrm>
            <a:off x="0" y="5594985"/>
            <a:ext cx="12192000" cy="126301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8" name="Image 0" descr="https://kimi-img.moonshot.cn/pub/slides/slides_tmpl/image/25-10-09-17:19:39-d3jnsaos8jdo4os5dlu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4490" y="962025"/>
            <a:ext cx="6382385" cy="610806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04999" y="3179444"/>
            <a:ext cx="8381365" cy="180784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altLang="zh-CN" sz="60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</a:rPr>
              <a:t>Agile Development Process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11106785" y="693737"/>
            <a:ext cx="235520" cy="0"/>
          </a:xfrm>
          <a:prstGeom prst="line">
            <a:avLst/>
          </a:prstGeom>
          <a:noFill/>
          <a:ln w="31750">
            <a:solidFill>
              <a:srgbClr val="056EE1"/>
            </a:solidFill>
            <a:prstDash val="solid"/>
            <a:headEnd type="none"/>
            <a:tailEnd type="none"/>
          </a:ln>
        </p:spPr>
      </p:sp>
      <p:sp>
        <p:nvSpPr>
          <p:cNvPr id="11" name="Shape 8"/>
          <p:cNvSpPr/>
          <p:nvPr/>
        </p:nvSpPr>
        <p:spPr>
          <a:xfrm>
            <a:off x="11106785" y="754697"/>
            <a:ext cx="235520" cy="0"/>
          </a:xfrm>
          <a:prstGeom prst="line">
            <a:avLst/>
          </a:prstGeom>
          <a:noFill/>
          <a:ln w="31750">
            <a:solidFill>
              <a:srgbClr val="056EE1"/>
            </a:solidFill>
            <a:prstDash val="solid"/>
            <a:headEnd type="none"/>
            <a:tailEnd type="none"/>
          </a:ln>
        </p:spPr>
      </p:sp>
      <p:sp>
        <p:nvSpPr>
          <p:cNvPr id="12" name="Shape 9"/>
          <p:cNvSpPr/>
          <p:nvPr/>
        </p:nvSpPr>
        <p:spPr>
          <a:xfrm>
            <a:off x="11106785" y="815657"/>
            <a:ext cx="235520" cy="0"/>
          </a:xfrm>
          <a:prstGeom prst="line">
            <a:avLst/>
          </a:prstGeom>
          <a:noFill/>
          <a:ln w="31750">
            <a:solidFill>
              <a:srgbClr val="056EE1"/>
            </a:solidFill>
            <a:prstDash val="solid"/>
            <a:headEnd type="none"/>
            <a:tailEnd type="none"/>
          </a:ln>
        </p:spPr>
      </p:sp>
      <p:sp>
        <p:nvSpPr>
          <p:cNvPr id="13" name="Shape 10"/>
          <p:cNvSpPr/>
          <p:nvPr/>
        </p:nvSpPr>
        <p:spPr>
          <a:xfrm>
            <a:off x="2412153" y="1374774"/>
            <a:ext cx="6598920" cy="180784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4" name="Text 11"/>
          <p:cNvSpPr/>
          <p:nvPr/>
        </p:nvSpPr>
        <p:spPr>
          <a:xfrm>
            <a:off x="2725420" y="1268730"/>
            <a:ext cx="6598920" cy="18078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2000">
                <a:solidFill>
                  <a:srgbClr val="056E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71500"/>
            <a:ext cx="3610749" cy="2159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004CC0"/>
              </a:gs>
            </a:gsLst>
            <a:lin ang="8100000" scaled="1"/>
          </a:gradFill>
        </p:spPr>
      </p:sp>
      <p:sp>
        <p:nvSpPr>
          <p:cNvPr id="3" name="Text 1"/>
          <p:cNvSpPr/>
          <p:nvPr/>
        </p:nvSpPr>
        <p:spPr>
          <a:xfrm>
            <a:off x="0" y="571500"/>
            <a:ext cx="3610749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872490"/>
            <a:ext cx="12189611" cy="0"/>
          </a:xfrm>
          <a:prstGeom prst="line">
            <a:avLst/>
          </a:prstGeom>
          <a:noFill/>
          <a:ln w="19050">
            <a:solidFill>
              <a:srgbClr val="007F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 rot="5940000">
            <a:off x="292735" y="51435"/>
            <a:ext cx="558800" cy="558800"/>
          </a:xfrm>
          <a:prstGeom prst="donut">
            <a:avLst>
              <a:gd name="adj" fmla="val 25000"/>
            </a:avLst>
          </a:prstGeom>
          <a:gradFill flip="none" rotWithShape="1">
            <a:gsLst>
              <a:gs pos="0">
                <a:srgbClr val="004CC0"/>
              </a:gs>
              <a:gs pos="54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18900000" scaled="1"/>
          </a:gradFill>
        </p:spPr>
      </p:sp>
      <p:sp>
        <p:nvSpPr>
          <p:cNvPr id="6" name="Text 4"/>
          <p:cNvSpPr/>
          <p:nvPr/>
        </p:nvSpPr>
        <p:spPr>
          <a:xfrm rot="5940000">
            <a:off x="292735" y="51435"/>
            <a:ext cx="558800" cy="55880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 0" descr="https://kimi-img.moonshot.cn/pub/slides/slides_tmpl/image/25-09-04-15:50:54-d2sk9nm1bb2p4onbqek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42415"/>
            <a:ext cx="12192000" cy="531558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91731" y="8722360"/>
            <a:ext cx="287989" cy="6985"/>
          </a:xfrm>
          <a:custGeom>
            <a:avLst/>
            <a:gdLst/>
            <a:ahLst/>
            <a:cxnLst/>
            <a:rect l="l" t="t" r="r" b="b"/>
            <a:pathLst>
              <a:path w="287989" h="6985">
                <a:moveTo>
                  <a:pt x="287989" y="0"/>
                </a:moveTo>
                <a:lnTo>
                  <a:pt x="260078" y="2540"/>
                </a:lnTo>
                <a:lnTo>
                  <a:pt x="221384" y="5080"/>
                </a:lnTo>
                <a:lnTo>
                  <a:pt x="182689" y="6350"/>
                </a:lnTo>
                <a:lnTo>
                  <a:pt x="143995" y="6985"/>
                </a:lnTo>
                <a:lnTo>
                  <a:pt x="104666" y="6350"/>
                </a:lnTo>
                <a:lnTo>
                  <a:pt x="65971" y="5080"/>
                </a:lnTo>
                <a:lnTo>
                  <a:pt x="27911" y="2540"/>
                </a:lnTo>
                <a:lnTo>
                  <a:pt x="0" y="0"/>
                </a:lnTo>
                <a:lnTo>
                  <a:pt x="287989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9" name="Text 6"/>
          <p:cNvSpPr/>
          <p:nvPr/>
        </p:nvSpPr>
        <p:spPr>
          <a:xfrm>
            <a:off x="6291731" y="8722360"/>
            <a:ext cx="287989" cy="698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82930" y="211455"/>
            <a:ext cx="10151745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 Requirement Clarification - (Sprint 1)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679598" y="2715638"/>
            <a:ext cx="1148388" cy="4754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72135" y="3175663"/>
            <a:ext cx="3803375" cy="491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lvl="0" algn="just">
              <a:defRPr/>
            </a:pPr>
            <a:r>
              <a:rPr lang="en-US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Requirement Clarification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966118" y="3845586"/>
            <a:ext cx="2575045" cy="2495876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4" name="Text 11"/>
          <p:cNvSpPr/>
          <p:nvPr/>
        </p:nvSpPr>
        <p:spPr>
          <a:xfrm>
            <a:off x="966118" y="3845586"/>
            <a:ext cx="3097882" cy="24958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lvl="0" algn="just">
              <a:lnSpc>
                <a:spcPct val="130000"/>
              </a:lnSpc>
              <a:defRPr/>
            </a:pPr>
            <a:r>
              <a:rPr lang="en-US" altLang="zh-CN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Focus on Requirements Analysis and Architecture Design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287337" y="2576517"/>
            <a:ext cx="1148388" cy="4754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027691" y="3198632"/>
            <a:ext cx="2426438" cy="3926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lvl="0" algn="just">
              <a:defRPr/>
            </a:pPr>
            <a:r>
              <a:rPr lang="en-US" altLang="zh-CN" sz="2400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 Stories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574492" y="3706465"/>
            <a:ext cx="2575045" cy="2495876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8" name="Text 15"/>
          <p:cNvSpPr/>
          <p:nvPr/>
        </p:nvSpPr>
        <p:spPr>
          <a:xfrm>
            <a:off x="4574492" y="3706465"/>
            <a:ext cx="2791677" cy="24958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lvl="0" algn="just">
              <a:lnSpc>
                <a:spcPct val="130000"/>
              </a:lnSpc>
              <a:defRPr/>
            </a:pPr>
            <a:r>
              <a:rPr lang="en-US" altLang="zh-CN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  Conduct requirement workshops to define user stories and validate feasibility through </a:t>
            </a:r>
            <a:r>
              <a:rPr lang="en-US" altLang="zh-CN" b="1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techn</a:t>
            </a:r>
            <a:endParaRPr lang="en-US" altLang="zh-CN" b="1" dirty="0">
              <a:solidFill>
                <a:srgbClr val="FFFFFF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 lvl="0" algn="just">
              <a:lnSpc>
                <a:spcPct val="130000"/>
              </a:lnSpc>
              <a:defRPr/>
            </a:pPr>
            <a:r>
              <a:rPr lang="en-US" altLang="zh-CN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</a:t>
            </a:r>
            <a:r>
              <a:rPr lang="en-US" altLang="zh-CN" b="1" dirty="0" err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ical</a:t>
            </a:r>
            <a:r>
              <a:rPr lang="en-US" altLang="zh-CN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research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9101778" y="2549041"/>
            <a:ext cx="1148389" cy="4754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603906" y="3175663"/>
            <a:ext cx="4424715" cy="39262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lvl="0" algn="just">
              <a:defRPr/>
            </a:pPr>
            <a:r>
              <a:rPr lang="en-US" altLang="zh-CN" sz="2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Specification Documentation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8486917" y="3809857"/>
            <a:ext cx="2575045" cy="2495876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22" name="Text 19"/>
          <p:cNvSpPr/>
          <p:nvPr/>
        </p:nvSpPr>
        <p:spPr>
          <a:xfrm>
            <a:off x="8115655" y="3863575"/>
            <a:ext cx="3326859" cy="214817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lvl="0" algn="just">
              <a:lnSpc>
                <a:spcPct val="130000"/>
              </a:lnSpc>
              <a:defRPr/>
            </a:pPr>
            <a:r>
              <a:rPr lang="en-US" altLang="zh-CN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 Configure the development environment and produce the requirements specification document and system architecture diagram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71500"/>
            <a:ext cx="3610749" cy="2159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004CC0"/>
              </a:gs>
            </a:gsLst>
            <a:lin ang="8100000" scaled="1"/>
          </a:gradFill>
        </p:spPr>
      </p:sp>
      <p:sp>
        <p:nvSpPr>
          <p:cNvPr id="3" name="Text 1"/>
          <p:cNvSpPr/>
          <p:nvPr/>
        </p:nvSpPr>
        <p:spPr>
          <a:xfrm>
            <a:off x="0" y="571500"/>
            <a:ext cx="3610749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872490"/>
            <a:ext cx="12189611" cy="0"/>
          </a:xfrm>
          <a:prstGeom prst="line">
            <a:avLst/>
          </a:prstGeom>
          <a:noFill/>
          <a:ln w="19050">
            <a:solidFill>
              <a:srgbClr val="007F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 rot="5940000">
            <a:off x="292735" y="51435"/>
            <a:ext cx="558800" cy="558800"/>
          </a:xfrm>
          <a:prstGeom prst="donut">
            <a:avLst>
              <a:gd name="adj" fmla="val 25000"/>
            </a:avLst>
          </a:prstGeom>
          <a:gradFill flip="none" rotWithShape="1">
            <a:gsLst>
              <a:gs pos="0">
                <a:srgbClr val="004CC0"/>
              </a:gs>
              <a:gs pos="54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18900000" scaled="1"/>
          </a:gradFill>
        </p:spPr>
      </p:sp>
      <p:sp>
        <p:nvSpPr>
          <p:cNvPr id="6" name="Text 4"/>
          <p:cNvSpPr/>
          <p:nvPr/>
        </p:nvSpPr>
        <p:spPr>
          <a:xfrm rot="5940000">
            <a:off x="292735" y="51435"/>
            <a:ext cx="558800" cy="55880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287895" y="-6350"/>
            <a:ext cx="4884420" cy="6858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 flipV="1">
            <a:off x="-676325" y="1292999"/>
            <a:ext cx="7306945" cy="6858000"/>
          </a:xfrm>
          <a:prstGeom prst="round1Rect">
            <a:avLst>
              <a:gd name="adj" fmla="val 16667"/>
            </a:avLst>
          </a:prstGeom>
          <a:solidFill>
            <a:srgbClr val="000000">
              <a:alpha val="0"/>
            </a:srgbClr>
          </a:solidFill>
        </p:spPr>
      </p:sp>
      <p:sp>
        <p:nvSpPr>
          <p:cNvPr id="11" name="Text 8"/>
          <p:cNvSpPr/>
          <p:nvPr/>
        </p:nvSpPr>
        <p:spPr>
          <a:xfrm>
            <a:off x="-1905" y="0"/>
            <a:ext cx="7306945" cy="6858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48360" y="6346190"/>
            <a:ext cx="163338" cy="153035"/>
          </a:xfrm>
          <a:prstGeom prst="rect">
            <a:avLst/>
          </a:prstGeom>
          <a:solidFill>
            <a:srgbClr val="004CC0"/>
          </a:solidFill>
        </p:spPr>
      </p:sp>
      <p:sp>
        <p:nvSpPr>
          <p:cNvPr id="13" name="Text 10"/>
          <p:cNvSpPr/>
          <p:nvPr/>
        </p:nvSpPr>
        <p:spPr>
          <a:xfrm>
            <a:off x="848360" y="6346190"/>
            <a:ext cx="163338" cy="1530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122291" y="6346190"/>
            <a:ext cx="163338" cy="153035"/>
          </a:xfrm>
          <a:prstGeom prst="rect">
            <a:avLst/>
          </a:prstGeom>
          <a:solidFill>
            <a:srgbClr val="004CC0"/>
          </a:solidFill>
        </p:spPr>
      </p:sp>
      <p:sp>
        <p:nvSpPr>
          <p:cNvPr id="15" name="Text 12"/>
          <p:cNvSpPr/>
          <p:nvPr/>
        </p:nvSpPr>
        <p:spPr>
          <a:xfrm>
            <a:off x="1122291" y="6346190"/>
            <a:ext cx="163338" cy="1530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396222" y="6346190"/>
            <a:ext cx="163338" cy="153035"/>
          </a:xfrm>
          <a:prstGeom prst="rect">
            <a:avLst/>
          </a:prstGeom>
          <a:solidFill>
            <a:srgbClr val="004CC0"/>
          </a:solidFill>
        </p:spPr>
      </p:sp>
      <p:sp>
        <p:nvSpPr>
          <p:cNvPr id="17" name="Text 14"/>
          <p:cNvSpPr/>
          <p:nvPr/>
        </p:nvSpPr>
        <p:spPr>
          <a:xfrm>
            <a:off x="1396222" y="6346190"/>
            <a:ext cx="163338" cy="1530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40918" y="229994"/>
            <a:ext cx="11501832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03-Development with Model Integration (Sprint 2)</a:t>
            </a:r>
            <a:endParaRPr lang="en-US" altLang="zh-CN" sz="3200" b="1" dirty="0">
              <a:solidFill>
                <a:srgbClr val="00000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159661" y="5695950"/>
            <a:ext cx="2279328" cy="116205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 flipH="1">
            <a:off x="11388725" y="422910"/>
            <a:ext cx="614680" cy="575310"/>
          </a:xfrm>
          <a:custGeom>
            <a:avLst/>
            <a:gdLst/>
            <a:ahLst/>
            <a:cxnLst/>
            <a:rect l="l" t="t" r="r" b="b"/>
            <a:pathLst>
              <a:path w="614680" h="575310">
                <a:moveTo>
                  <a:pt x="614680" y="287655"/>
                </a:moveTo>
                <a:lnTo>
                  <a:pt x="606766" y="287655"/>
                </a:lnTo>
                <a:lnTo>
                  <a:pt x="598851" y="287655"/>
                </a:lnTo>
                <a:lnTo>
                  <a:pt x="592256" y="287655"/>
                </a:lnTo>
                <a:lnTo>
                  <a:pt x="592256" y="287655"/>
                </a:lnTo>
                <a:lnTo>
                  <a:pt x="600170" y="287655"/>
                </a:lnTo>
                <a:lnTo>
                  <a:pt x="606766" y="287655"/>
                </a:lnTo>
                <a:lnTo>
                  <a:pt x="614680" y="287655"/>
                </a:lnTo>
                <a:close/>
                <a:moveTo>
                  <a:pt x="592256" y="287655"/>
                </a:moveTo>
                <a:cubicBezTo>
                  <a:pt x="444522" y="290294"/>
                  <a:pt x="302064" y="120076"/>
                  <a:pt x="307340" y="0"/>
                </a:cubicBezTo>
                <a:cubicBezTo>
                  <a:pt x="309978" y="151745"/>
                  <a:pt x="149053" y="286335"/>
                  <a:pt x="22424" y="287655"/>
                </a:cubicBezTo>
                <a:cubicBezTo>
                  <a:pt x="170158" y="285016"/>
                  <a:pt x="312616" y="455234"/>
                  <a:pt x="307340" y="575310"/>
                </a:cubicBezTo>
                <a:cubicBezTo>
                  <a:pt x="304702" y="424885"/>
                  <a:pt x="465627" y="290294"/>
                  <a:pt x="592256" y="287655"/>
                </a:cubicBezTo>
                <a:close/>
                <a:moveTo>
                  <a:pt x="22424" y="287655"/>
                </a:moveTo>
                <a:lnTo>
                  <a:pt x="21105" y="287655"/>
                </a:lnTo>
                <a:lnTo>
                  <a:pt x="14510" y="287655"/>
                </a:lnTo>
                <a:lnTo>
                  <a:pt x="6595" y="287655"/>
                </a:lnTo>
                <a:lnTo>
                  <a:pt x="0" y="287655"/>
                </a:lnTo>
                <a:lnTo>
                  <a:pt x="7914" y="287655"/>
                </a:lnTo>
                <a:lnTo>
                  <a:pt x="15829" y="287655"/>
                </a:lnTo>
                <a:lnTo>
                  <a:pt x="22424" y="287655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2" name="Text 19"/>
          <p:cNvSpPr/>
          <p:nvPr/>
        </p:nvSpPr>
        <p:spPr>
          <a:xfrm>
            <a:off x="11388725" y="422910"/>
            <a:ext cx="614680" cy="57531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 flipH="1">
            <a:off x="11485719" y="5735090"/>
            <a:ext cx="293370" cy="274955"/>
          </a:xfrm>
          <a:custGeom>
            <a:avLst/>
            <a:gdLst/>
            <a:ahLst/>
            <a:cxnLst/>
            <a:rect l="l" t="t" r="r" b="b"/>
            <a:pathLst>
              <a:path w="293370" h="274955">
                <a:moveTo>
                  <a:pt x="293370" y="137478"/>
                </a:moveTo>
                <a:lnTo>
                  <a:pt x="289593" y="137478"/>
                </a:lnTo>
                <a:lnTo>
                  <a:pt x="285815" y="137478"/>
                </a:lnTo>
                <a:lnTo>
                  <a:pt x="282668" y="137478"/>
                </a:lnTo>
                <a:lnTo>
                  <a:pt x="282668" y="137478"/>
                </a:lnTo>
                <a:lnTo>
                  <a:pt x="286445" y="137478"/>
                </a:lnTo>
                <a:lnTo>
                  <a:pt x="289593" y="137478"/>
                </a:lnTo>
                <a:lnTo>
                  <a:pt x="293370" y="137478"/>
                </a:lnTo>
                <a:close/>
                <a:moveTo>
                  <a:pt x="282668" y="137478"/>
                </a:moveTo>
                <a:cubicBezTo>
                  <a:pt x="212158" y="138739"/>
                  <a:pt x="144167" y="57387"/>
                  <a:pt x="146685" y="0"/>
                </a:cubicBezTo>
                <a:cubicBezTo>
                  <a:pt x="147944" y="72523"/>
                  <a:pt x="71139" y="136847"/>
                  <a:pt x="10702" y="137478"/>
                </a:cubicBezTo>
                <a:cubicBezTo>
                  <a:pt x="81212" y="136216"/>
                  <a:pt x="149203" y="217568"/>
                  <a:pt x="146685" y="274955"/>
                </a:cubicBezTo>
                <a:cubicBezTo>
                  <a:pt x="145426" y="203063"/>
                  <a:pt x="222231" y="138739"/>
                  <a:pt x="282668" y="137478"/>
                </a:cubicBezTo>
                <a:close/>
                <a:moveTo>
                  <a:pt x="10702" y="137478"/>
                </a:moveTo>
                <a:lnTo>
                  <a:pt x="10073" y="137478"/>
                </a:lnTo>
                <a:lnTo>
                  <a:pt x="6925" y="137478"/>
                </a:lnTo>
                <a:lnTo>
                  <a:pt x="3148" y="137478"/>
                </a:lnTo>
                <a:lnTo>
                  <a:pt x="0" y="137478"/>
                </a:lnTo>
                <a:lnTo>
                  <a:pt x="3777" y="137478"/>
                </a:lnTo>
                <a:lnTo>
                  <a:pt x="7555" y="137478"/>
                </a:lnTo>
                <a:lnTo>
                  <a:pt x="10702" y="137478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4" name="Text 21"/>
          <p:cNvSpPr/>
          <p:nvPr/>
        </p:nvSpPr>
        <p:spPr>
          <a:xfrm>
            <a:off x="11485719" y="5735090"/>
            <a:ext cx="293370" cy="2749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 flipH="1">
            <a:off x="11485719" y="6262140"/>
            <a:ext cx="293370" cy="274955"/>
          </a:xfrm>
          <a:custGeom>
            <a:avLst/>
            <a:gdLst/>
            <a:ahLst/>
            <a:cxnLst/>
            <a:rect l="l" t="t" r="r" b="b"/>
            <a:pathLst>
              <a:path w="293370" h="274955">
                <a:moveTo>
                  <a:pt x="293370" y="137478"/>
                </a:moveTo>
                <a:lnTo>
                  <a:pt x="289593" y="137478"/>
                </a:lnTo>
                <a:lnTo>
                  <a:pt x="285815" y="137478"/>
                </a:lnTo>
                <a:lnTo>
                  <a:pt x="282668" y="137478"/>
                </a:lnTo>
                <a:lnTo>
                  <a:pt x="282668" y="137478"/>
                </a:lnTo>
                <a:lnTo>
                  <a:pt x="286445" y="137478"/>
                </a:lnTo>
                <a:lnTo>
                  <a:pt x="289593" y="137478"/>
                </a:lnTo>
                <a:lnTo>
                  <a:pt x="293370" y="137478"/>
                </a:lnTo>
                <a:close/>
                <a:moveTo>
                  <a:pt x="282668" y="137478"/>
                </a:moveTo>
                <a:cubicBezTo>
                  <a:pt x="212158" y="138739"/>
                  <a:pt x="144167" y="57387"/>
                  <a:pt x="146685" y="0"/>
                </a:cubicBezTo>
                <a:cubicBezTo>
                  <a:pt x="147944" y="72523"/>
                  <a:pt x="71139" y="136847"/>
                  <a:pt x="10702" y="137478"/>
                </a:cubicBezTo>
                <a:cubicBezTo>
                  <a:pt x="81212" y="136216"/>
                  <a:pt x="149203" y="217568"/>
                  <a:pt x="146685" y="274955"/>
                </a:cubicBezTo>
                <a:cubicBezTo>
                  <a:pt x="145426" y="203063"/>
                  <a:pt x="222231" y="138739"/>
                  <a:pt x="282668" y="137478"/>
                </a:cubicBezTo>
                <a:close/>
                <a:moveTo>
                  <a:pt x="10702" y="137478"/>
                </a:moveTo>
                <a:lnTo>
                  <a:pt x="10073" y="137478"/>
                </a:lnTo>
                <a:lnTo>
                  <a:pt x="6925" y="137478"/>
                </a:lnTo>
                <a:lnTo>
                  <a:pt x="3148" y="137478"/>
                </a:lnTo>
                <a:lnTo>
                  <a:pt x="0" y="137478"/>
                </a:lnTo>
                <a:lnTo>
                  <a:pt x="3777" y="137478"/>
                </a:lnTo>
                <a:lnTo>
                  <a:pt x="7555" y="137478"/>
                </a:lnTo>
                <a:lnTo>
                  <a:pt x="10702" y="137478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6" name="Text 23"/>
          <p:cNvSpPr/>
          <p:nvPr/>
        </p:nvSpPr>
        <p:spPr>
          <a:xfrm>
            <a:off x="11485719" y="6262140"/>
            <a:ext cx="293370" cy="2749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 flipH="1">
            <a:off x="11485719" y="5208040"/>
            <a:ext cx="293370" cy="274955"/>
          </a:xfrm>
          <a:custGeom>
            <a:avLst/>
            <a:gdLst/>
            <a:ahLst/>
            <a:cxnLst/>
            <a:rect l="l" t="t" r="r" b="b"/>
            <a:pathLst>
              <a:path w="293370" h="274955">
                <a:moveTo>
                  <a:pt x="293370" y="137478"/>
                </a:moveTo>
                <a:lnTo>
                  <a:pt x="289593" y="137478"/>
                </a:lnTo>
                <a:lnTo>
                  <a:pt x="285815" y="137478"/>
                </a:lnTo>
                <a:lnTo>
                  <a:pt x="282668" y="137478"/>
                </a:lnTo>
                <a:lnTo>
                  <a:pt x="282668" y="137478"/>
                </a:lnTo>
                <a:lnTo>
                  <a:pt x="286445" y="137478"/>
                </a:lnTo>
                <a:lnTo>
                  <a:pt x="289593" y="137478"/>
                </a:lnTo>
                <a:lnTo>
                  <a:pt x="293370" y="137478"/>
                </a:lnTo>
                <a:close/>
                <a:moveTo>
                  <a:pt x="282668" y="137478"/>
                </a:moveTo>
                <a:cubicBezTo>
                  <a:pt x="212158" y="138739"/>
                  <a:pt x="144167" y="57387"/>
                  <a:pt x="146685" y="0"/>
                </a:cubicBezTo>
                <a:cubicBezTo>
                  <a:pt x="147944" y="72523"/>
                  <a:pt x="71139" y="136847"/>
                  <a:pt x="10702" y="137478"/>
                </a:cubicBezTo>
                <a:cubicBezTo>
                  <a:pt x="81212" y="136216"/>
                  <a:pt x="149203" y="217568"/>
                  <a:pt x="146685" y="274955"/>
                </a:cubicBezTo>
                <a:cubicBezTo>
                  <a:pt x="145426" y="203063"/>
                  <a:pt x="222231" y="138739"/>
                  <a:pt x="282668" y="137478"/>
                </a:cubicBezTo>
                <a:close/>
                <a:moveTo>
                  <a:pt x="10702" y="137478"/>
                </a:moveTo>
                <a:lnTo>
                  <a:pt x="10073" y="137478"/>
                </a:lnTo>
                <a:lnTo>
                  <a:pt x="6925" y="137478"/>
                </a:lnTo>
                <a:lnTo>
                  <a:pt x="3148" y="137478"/>
                </a:lnTo>
                <a:lnTo>
                  <a:pt x="0" y="137478"/>
                </a:lnTo>
                <a:lnTo>
                  <a:pt x="3777" y="137478"/>
                </a:lnTo>
                <a:lnTo>
                  <a:pt x="7555" y="137478"/>
                </a:lnTo>
                <a:lnTo>
                  <a:pt x="10702" y="137478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28" name="Text 25"/>
          <p:cNvSpPr/>
          <p:nvPr/>
        </p:nvSpPr>
        <p:spPr>
          <a:xfrm>
            <a:off x="11485719" y="5208040"/>
            <a:ext cx="293370" cy="27495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11696065" y="1156335"/>
            <a:ext cx="0" cy="360000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pic>
        <p:nvPicPr>
          <p:cNvPr id="30" name="Image 1" descr="https://kimi-img.moonshot.cn/pub/slides/slides_tmpl/image/25-09-04-15:50:52-d2sk9n61bb2p4onbqeeg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396221" y="1612444"/>
            <a:ext cx="9585963" cy="546100"/>
          </a:xfrm>
          <a:prstGeom prst="rect">
            <a:avLst/>
          </a:prstGeom>
        </p:spPr>
      </p:pic>
      <p:pic>
        <p:nvPicPr>
          <p:cNvPr id="31" name="Image 2" descr="https://kimi-img.moonshot.cn/pub/slides/slides_tmpl/image/25-09-04-15:50:52-d2sk9n61bb2p4onbqef0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32559" y="4135670"/>
            <a:ext cx="9585957" cy="546100"/>
          </a:xfrm>
          <a:prstGeom prst="rect">
            <a:avLst/>
          </a:prstGeom>
        </p:spPr>
      </p:pic>
      <p:sp>
        <p:nvSpPr>
          <p:cNvPr id="32" name="Shape 27"/>
          <p:cNvSpPr/>
          <p:nvPr/>
        </p:nvSpPr>
        <p:spPr>
          <a:xfrm flipH="1" flipV="1">
            <a:off x="11056781" y="0"/>
            <a:ext cx="1135219" cy="1058229"/>
          </a:xfrm>
          <a:custGeom>
            <a:avLst/>
            <a:gdLst/>
            <a:ahLst/>
            <a:cxnLst/>
            <a:rect l="l" t="t" r="r" b="b"/>
            <a:pathLst>
              <a:path w="1135219" h="1058229">
                <a:moveTo>
                  <a:pt x="1135219" y="1046802"/>
                </a:moveTo>
                <a:cubicBezTo>
                  <a:pt x="586022" y="1056325"/>
                  <a:pt x="55237" y="468490"/>
                  <a:pt x="0" y="0"/>
                </a:cubicBezTo>
                <a:lnTo>
                  <a:pt x="0" y="1058229"/>
                </a:lnTo>
                <a:lnTo>
                  <a:pt x="1017761" y="1058229"/>
                </a:lnTo>
                <a:cubicBezTo>
                  <a:pt x="1057760" y="1051246"/>
                  <a:pt x="1097124" y="1047437"/>
                  <a:pt x="1135219" y="1046802"/>
                </a:cubicBezTo>
                <a:close/>
              </a:path>
            </a:pathLst>
          </a:custGeom>
          <a:solidFill>
            <a:srgbClr val="004CC0"/>
          </a:solidFill>
        </p:spPr>
      </p:sp>
      <p:sp>
        <p:nvSpPr>
          <p:cNvPr id="33" name="Text 28"/>
          <p:cNvSpPr/>
          <p:nvPr/>
        </p:nvSpPr>
        <p:spPr>
          <a:xfrm>
            <a:off x="11056781" y="0"/>
            <a:ext cx="1135219" cy="105822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4" name="Text 29"/>
          <p:cNvSpPr/>
          <p:nvPr/>
        </p:nvSpPr>
        <p:spPr>
          <a:xfrm>
            <a:off x="3268506" y="1669007"/>
            <a:ext cx="5901055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Frontend and Backend Development</a:t>
            </a:r>
            <a:endParaRPr lang="en-US" b="1" dirty="0"/>
          </a:p>
        </p:txBody>
      </p:sp>
      <p:sp>
        <p:nvSpPr>
          <p:cNvPr id="35" name="Text 30"/>
          <p:cNvSpPr/>
          <p:nvPr/>
        </p:nvSpPr>
        <p:spPr>
          <a:xfrm>
            <a:off x="1396222" y="2406274"/>
            <a:ext cx="9625423" cy="1259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Frontend and Backend Development, encompassing backend </a:t>
            </a:r>
            <a:r>
              <a:rPr lang="en-US" altLang="zh-CN" sz="2000" b="1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servicesetup</a:t>
            </a:r>
            <a:r>
              <a:rPr lang="en-US" altLang="zh-CN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and </a:t>
            </a:r>
            <a:r>
              <a:rPr lang="en-US" altLang="zh-CN" sz="2000" b="1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LogLLM</a:t>
            </a:r>
            <a:r>
              <a:rPr lang="en-US" altLang="zh-CN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model </a:t>
            </a:r>
            <a:r>
              <a:rPr lang="en-US" altLang="zh-CN" sz="2000" b="1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integration,frontend</a:t>
            </a:r>
            <a:r>
              <a:rPr lang="en-US" altLang="zh-CN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interfaceimplementation</a:t>
            </a:r>
            <a:r>
              <a:rPr lang="en-US" altLang="zh-CN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and frontend-backend data communication integration</a:t>
            </a:r>
            <a:endParaRPr lang="en-US" sz="2000" b="1" dirty="0"/>
          </a:p>
        </p:txBody>
      </p:sp>
      <p:sp>
        <p:nvSpPr>
          <p:cNvPr id="36" name="Text 31"/>
          <p:cNvSpPr/>
          <p:nvPr/>
        </p:nvSpPr>
        <p:spPr>
          <a:xfrm>
            <a:off x="3145472" y="4141615"/>
            <a:ext cx="5901055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 Integration and Delivery</a:t>
            </a:r>
            <a:endParaRPr lang="en-US" b="1" dirty="0"/>
          </a:p>
        </p:txBody>
      </p:sp>
      <p:sp>
        <p:nvSpPr>
          <p:cNvPr id="37" name="Text 32"/>
          <p:cNvSpPr/>
          <p:nvPr/>
        </p:nvSpPr>
        <p:spPr>
          <a:xfrm>
            <a:off x="1458653" y="4893265"/>
            <a:ext cx="9274692" cy="8602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2000" b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Includes refinement of features such as custom prompts, delivering afunctional plugin prototype.</a:t>
            </a:r>
            <a:endParaRPr lang="en-US" sz="2000" b="1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71500"/>
            <a:ext cx="3610749" cy="2159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004CC0"/>
              </a:gs>
            </a:gsLst>
            <a:lin ang="8100000" scaled="1"/>
          </a:gradFill>
        </p:spPr>
      </p:sp>
      <p:sp>
        <p:nvSpPr>
          <p:cNvPr id="3" name="Text 1"/>
          <p:cNvSpPr/>
          <p:nvPr/>
        </p:nvSpPr>
        <p:spPr>
          <a:xfrm>
            <a:off x="0" y="571500"/>
            <a:ext cx="3610749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872490"/>
            <a:ext cx="12189611" cy="0"/>
          </a:xfrm>
          <a:prstGeom prst="line">
            <a:avLst/>
          </a:prstGeom>
          <a:noFill/>
          <a:ln w="19050">
            <a:solidFill>
              <a:srgbClr val="007F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 rot="5940000">
            <a:off x="292735" y="51435"/>
            <a:ext cx="558800" cy="558800"/>
          </a:xfrm>
          <a:prstGeom prst="donut">
            <a:avLst>
              <a:gd name="adj" fmla="val 25000"/>
            </a:avLst>
          </a:prstGeom>
          <a:gradFill flip="none" rotWithShape="1">
            <a:gsLst>
              <a:gs pos="0">
                <a:srgbClr val="004CC0"/>
              </a:gs>
              <a:gs pos="54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18900000" scaled="1"/>
          </a:gradFill>
        </p:spPr>
      </p:sp>
      <p:sp>
        <p:nvSpPr>
          <p:cNvPr id="6" name="Text 4"/>
          <p:cNvSpPr/>
          <p:nvPr/>
        </p:nvSpPr>
        <p:spPr>
          <a:xfrm rot="5940000">
            <a:off x="292735" y="51435"/>
            <a:ext cx="558800" cy="55880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-14605" y="6308725"/>
            <a:ext cx="12221210" cy="548640"/>
          </a:xfrm>
          <a:prstGeom prst="roundRect">
            <a:avLst>
              <a:gd name="adj" fmla="val 0"/>
            </a:avLst>
          </a:prstGeom>
          <a:solidFill>
            <a:srgbClr val="004CC0"/>
          </a:solidFill>
        </p:spPr>
      </p:sp>
      <p:sp>
        <p:nvSpPr>
          <p:cNvPr id="8" name="Text 6"/>
          <p:cNvSpPr/>
          <p:nvPr/>
        </p:nvSpPr>
        <p:spPr>
          <a:xfrm>
            <a:off x="-14605" y="6308725"/>
            <a:ext cx="12221210" cy="5486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4379" y="1522010"/>
            <a:ext cx="4469965" cy="4265390"/>
          </a:xfrm>
          <a:prstGeom prst="rect">
            <a:avLst/>
          </a:prstGeom>
          <a:solidFill>
            <a:srgbClr val="FFFFFF"/>
          </a:solidFill>
          <a:ln w="19050">
            <a:solidFill>
              <a:srgbClr val="004C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4379" y="1522010"/>
            <a:ext cx="4729105" cy="426539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 flipV="1">
            <a:off x="998591" y="2799105"/>
            <a:ext cx="3894820" cy="45719"/>
          </a:xfrm>
          <a:prstGeom prst="rect">
            <a:avLst/>
          </a:prstGeom>
          <a:solidFill>
            <a:srgbClr val="004CC0"/>
          </a:solidFill>
        </p:spPr>
      </p:sp>
      <p:sp>
        <p:nvSpPr>
          <p:cNvPr id="12" name="Text 10"/>
          <p:cNvSpPr/>
          <p:nvPr/>
        </p:nvSpPr>
        <p:spPr>
          <a:xfrm>
            <a:off x="1008434" y="3047059"/>
            <a:ext cx="3981134" cy="4571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80513" y="1262385"/>
            <a:ext cx="3212560" cy="4269096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973250" y="1113610"/>
            <a:ext cx="4254023" cy="4269094"/>
          </a:xfrm>
          <a:prstGeom prst="rect">
            <a:avLst/>
          </a:prstGeom>
          <a:solidFill>
            <a:srgbClr val="FFFFFF"/>
          </a:solidFill>
          <a:ln w="19050">
            <a:solidFill>
              <a:srgbClr val="004C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73250" y="1113610"/>
            <a:ext cx="4254023" cy="426909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227304" y="2494922"/>
            <a:ext cx="3581193" cy="45719"/>
          </a:xfrm>
          <a:prstGeom prst="rect">
            <a:avLst/>
          </a:prstGeom>
          <a:solidFill>
            <a:srgbClr val="004CC0"/>
          </a:solidFill>
        </p:spPr>
      </p:sp>
      <p:sp>
        <p:nvSpPr>
          <p:cNvPr id="20" name="Text 18"/>
          <p:cNvSpPr/>
          <p:nvPr/>
        </p:nvSpPr>
        <p:spPr>
          <a:xfrm>
            <a:off x="7227305" y="2638660"/>
            <a:ext cx="3581193" cy="45719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15779" y="1136497"/>
            <a:ext cx="527914" cy="4519565"/>
          </a:xfrm>
          <a:custGeom>
            <a:avLst/>
            <a:gdLst/>
            <a:ahLst/>
            <a:cxnLst/>
            <a:rect l="l" t="t" r="r" b="b"/>
            <a:pathLst>
              <a:path w="527914" h="4519565">
                <a:moveTo>
                  <a:pt x="527914" y="0"/>
                </a:moveTo>
                <a:lnTo>
                  <a:pt x="0" y="241314"/>
                </a:lnTo>
                <a:lnTo>
                  <a:pt x="0" y="4519565"/>
                </a:lnTo>
                <a:lnTo>
                  <a:pt x="518353" y="4254708"/>
                </a:lnTo>
                <a:lnTo>
                  <a:pt x="527914" y="0"/>
                </a:lnTo>
                <a:close/>
              </a:path>
            </a:pathLst>
          </a:custGeom>
          <a:solidFill>
            <a:srgbClr val="004CC0"/>
          </a:solidFill>
        </p:spPr>
      </p:sp>
      <p:sp>
        <p:nvSpPr>
          <p:cNvPr id="22" name="Text 20"/>
          <p:cNvSpPr/>
          <p:nvPr/>
        </p:nvSpPr>
        <p:spPr>
          <a:xfrm>
            <a:off x="3964207" y="1275465"/>
            <a:ext cx="777125" cy="451564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54898" y="1110340"/>
            <a:ext cx="699056" cy="454572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82930" y="211455"/>
            <a:ext cx="11084137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03- Testing Optimization and Deliverables (Sprint 3)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64726" y="1682885"/>
            <a:ext cx="946023" cy="522766"/>
          </a:xfrm>
          <a:prstGeom prst="rect">
            <a:avLst/>
          </a:prstGeom>
          <a:solidFill>
            <a:srgbClr val="004CC0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31945" y="2320503"/>
            <a:ext cx="420633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1D3E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Multi-Dimensional Testing</a:t>
            </a:r>
            <a:endParaRPr lang="en-US" sz="1600" b="1" dirty="0"/>
          </a:p>
        </p:txBody>
      </p:sp>
      <p:sp>
        <p:nvSpPr>
          <p:cNvPr id="28" name="Text 26"/>
          <p:cNvSpPr/>
          <p:nvPr/>
        </p:nvSpPr>
        <p:spPr>
          <a:xfrm>
            <a:off x="932629" y="3153003"/>
            <a:ext cx="3894820" cy="11617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sz="1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Conduct functional, performance, security, and compatibility testing to ensure system stability and reliability.</a:t>
            </a:r>
            <a:endParaRPr lang="en-US" sz="1600" b="1" dirty="0"/>
          </a:p>
        </p:txBody>
      </p:sp>
      <p:sp>
        <p:nvSpPr>
          <p:cNvPr id="32" name="Text 30"/>
          <p:cNvSpPr/>
          <p:nvPr/>
        </p:nvSpPr>
        <p:spPr>
          <a:xfrm>
            <a:off x="7183597" y="1274486"/>
            <a:ext cx="921524" cy="616691"/>
          </a:xfrm>
          <a:prstGeom prst="rect">
            <a:avLst/>
          </a:prstGeom>
          <a:solidFill>
            <a:srgbClr val="004CC0"/>
          </a:solidFill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50815" y="2001820"/>
            <a:ext cx="3783765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>
                <a:solidFill>
                  <a:srgbClr val="1D3E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Deliverables</a:t>
            </a:r>
            <a:endParaRPr lang="en-US" sz="1600" b="1" dirty="0"/>
          </a:p>
        </p:txBody>
      </p:sp>
      <p:sp>
        <p:nvSpPr>
          <p:cNvPr id="34" name="Text 32"/>
          <p:cNvSpPr/>
          <p:nvPr/>
        </p:nvSpPr>
        <p:spPr>
          <a:xfrm>
            <a:off x="7151499" y="2744603"/>
            <a:ext cx="3781956" cy="8912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sz="1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Compiled test reports and user manuals, delivering the v1.0 plugin package.</a:t>
            </a:r>
            <a:endParaRPr lang="en-US" sz="1600" b="1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FFFFFF"/>
            </a:gs>
            <a:gs pos="28000">
              <a:srgbClr val="FFFFFF"/>
            </a:gs>
            <a:gs pos="100000">
              <a:srgbClr val="DDF0FE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9697" y="495344"/>
            <a:ext cx="10151745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3" name="Image 0" descr="https://kimi-img.moonshot.cn/pub/slides/slides_tmpl/image/25-10-09-17:19:39-d3jnsaos8jdo4os5dltg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000115"/>
            <a:ext cx="12191365" cy="85788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1106785" y="693737"/>
            <a:ext cx="235520" cy="0"/>
          </a:xfrm>
          <a:prstGeom prst="line">
            <a:avLst/>
          </a:prstGeom>
          <a:noFill/>
          <a:ln w="31750">
            <a:solidFill>
              <a:srgbClr val="004CC0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11106785" y="754697"/>
            <a:ext cx="235520" cy="0"/>
          </a:xfrm>
          <a:prstGeom prst="line">
            <a:avLst/>
          </a:prstGeom>
          <a:noFill/>
          <a:ln w="31750">
            <a:solidFill>
              <a:srgbClr val="004CC0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11106785" y="815657"/>
            <a:ext cx="235520" cy="0"/>
          </a:xfrm>
          <a:prstGeom prst="line">
            <a:avLst/>
          </a:prstGeom>
          <a:noFill/>
          <a:ln w="31750">
            <a:solidFill>
              <a:srgbClr val="004CC0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447622" y="277502"/>
            <a:ext cx="10151745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03- B</a:t>
            </a:r>
            <a:r>
              <a:rPr lang="en-US" altLang="zh-CN" sz="3000" b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urndown Chart</a:t>
            </a:r>
            <a:endParaRPr lang="en-US" sz="1600" dirty="0"/>
          </a:p>
        </p:txBody>
      </p:sp>
      <p:grpSp>
        <p:nvGrpSpPr>
          <p:cNvPr id="9" name="组合 8"/>
          <p:cNvGrpSpPr/>
          <p:nvPr/>
        </p:nvGrpSpPr>
        <p:grpSpPr>
          <a:xfrm>
            <a:off x="369697" y="1509451"/>
            <a:ext cx="4389166" cy="4488265"/>
            <a:chOff x="793750" y="1744980"/>
            <a:chExt cx="6171248" cy="4165600"/>
          </a:xfrm>
        </p:grpSpPr>
        <p:sp>
          <p:nvSpPr>
            <p:cNvPr id="10" name="Shape 5"/>
            <p:cNvSpPr/>
            <p:nvPr/>
          </p:nvSpPr>
          <p:spPr>
            <a:xfrm>
              <a:off x="793750" y="1744980"/>
              <a:ext cx="5769610" cy="40386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rgbClr val="004CC0"/>
            </a:solidFill>
            <a:ln w="19050">
              <a:solidFill>
                <a:srgbClr val="004CC0"/>
              </a:solidFill>
              <a:prstDash val="solid"/>
            </a:ln>
          </p:spPr>
        </p:sp>
        <p:sp>
          <p:nvSpPr>
            <p:cNvPr id="11" name="Text 6"/>
            <p:cNvSpPr/>
            <p:nvPr/>
          </p:nvSpPr>
          <p:spPr>
            <a:xfrm>
              <a:off x="793750" y="1744980"/>
              <a:ext cx="5769610" cy="4038600"/>
            </a:xfrm>
            <a:prstGeom prst="rect">
              <a:avLst/>
            </a:prstGeom>
            <a:noFill/>
          </p:spPr>
          <p:txBody>
            <a:bodyPr wrap="square" lIns="45720" tIns="91440" rIns="91440" bIns="45720" rtlCol="0" anchor="ctr"/>
            <a:lstStyle/>
            <a:p>
              <a:pPr>
                <a:lnSpc>
                  <a:spcPct val="100000"/>
                </a:lnSpc>
              </a:pPr>
              <a:endParaRPr lang="en-US" sz="1600" dirty="0"/>
            </a:p>
          </p:txBody>
        </p:sp>
        <p:sp>
          <p:nvSpPr>
            <p:cNvPr id="12" name="Shape 7"/>
            <p:cNvSpPr/>
            <p:nvPr/>
          </p:nvSpPr>
          <p:spPr>
            <a:xfrm>
              <a:off x="920750" y="1871980"/>
              <a:ext cx="5769610" cy="4038600"/>
            </a:xfrm>
            <a:prstGeom prst="round2DiagRect">
              <a:avLst>
                <a:gd name="adj1" fmla="val 16667"/>
                <a:gd name="adj2" fmla="val 0"/>
              </a:avLst>
            </a:prstGeom>
            <a:solidFill>
              <a:srgbClr val="FFFFFF"/>
            </a:solidFill>
            <a:ln w="19050">
              <a:solidFill>
                <a:srgbClr val="004CC0"/>
              </a:solidFill>
              <a:prstDash val="solid"/>
            </a:ln>
          </p:spPr>
        </p:sp>
        <p:sp>
          <p:nvSpPr>
            <p:cNvPr id="13" name="Text 8"/>
            <p:cNvSpPr/>
            <p:nvPr/>
          </p:nvSpPr>
          <p:spPr>
            <a:xfrm>
              <a:off x="920750" y="1871980"/>
              <a:ext cx="5769610" cy="4038600"/>
            </a:xfrm>
            <a:prstGeom prst="rect">
              <a:avLst/>
            </a:prstGeom>
            <a:noFill/>
          </p:spPr>
          <p:txBody>
            <a:bodyPr wrap="square" lIns="45720" tIns="91440" rIns="91440" bIns="45720" rtlCol="0" anchor="ctr"/>
            <a:lstStyle/>
            <a:p>
              <a:pPr>
                <a:lnSpc>
                  <a:spcPct val="100000"/>
                </a:lnSpc>
              </a:pPr>
              <a:endParaRPr lang="en-US" sz="1600" dirty="0"/>
            </a:p>
          </p:txBody>
        </p:sp>
        <p:sp>
          <p:nvSpPr>
            <p:cNvPr id="14" name="Shape 17"/>
            <p:cNvSpPr/>
            <p:nvPr/>
          </p:nvSpPr>
          <p:spPr>
            <a:xfrm>
              <a:off x="1266192" y="2770908"/>
              <a:ext cx="5215889" cy="0"/>
            </a:xfrm>
            <a:prstGeom prst="line">
              <a:avLst/>
            </a:prstGeom>
            <a:noFill/>
            <a:ln w="12700">
              <a:solidFill>
                <a:srgbClr val="004CC0"/>
              </a:solidFill>
              <a:prstDash val="solid"/>
              <a:headEnd type="none"/>
              <a:tailEnd type="none"/>
            </a:ln>
          </p:spPr>
        </p:sp>
        <p:sp>
          <p:nvSpPr>
            <p:cNvPr id="15" name="Shape 18"/>
            <p:cNvSpPr/>
            <p:nvPr/>
          </p:nvSpPr>
          <p:spPr>
            <a:xfrm>
              <a:off x="1266192" y="2732809"/>
              <a:ext cx="543560" cy="76200"/>
            </a:xfrm>
            <a:prstGeom prst="rect">
              <a:avLst/>
            </a:prstGeom>
            <a:solidFill>
              <a:srgbClr val="004CC0"/>
            </a:solidFill>
          </p:spPr>
        </p:sp>
        <p:sp>
          <p:nvSpPr>
            <p:cNvPr id="16" name="Text 19"/>
            <p:cNvSpPr/>
            <p:nvPr/>
          </p:nvSpPr>
          <p:spPr>
            <a:xfrm>
              <a:off x="1195705" y="3145155"/>
              <a:ext cx="543560" cy="76200"/>
            </a:xfrm>
            <a:prstGeom prst="rect">
              <a:avLst/>
            </a:prstGeom>
            <a:noFill/>
          </p:spPr>
          <p:txBody>
            <a:bodyPr wrap="square" lIns="45720" tIns="91440" rIns="91440" bIns="45720" rtlCol="0" anchor="ctr"/>
            <a:lstStyle/>
            <a:p>
              <a:pPr>
                <a:lnSpc>
                  <a:spcPct val="100000"/>
                </a:lnSpc>
              </a:pPr>
              <a:endParaRPr lang="en-US" sz="1600" dirty="0"/>
            </a:p>
          </p:txBody>
        </p:sp>
        <p:sp>
          <p:nvSpPr>
            <p:cNvPr id="17" name="Text 34"/>
            <p:cNvSpPr/>
            <p:nvPr/>
          </p:nvSpPr>
          <p:spPr>
            <a:xfrm>
              <a:off x="1195388" y="2172018"/>
              <a:ext cx="5769610" cy="42847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just">
                <a:lnSpc>
                  <a:spcPct val="100000"/>
                </a:lnSpc>
              </a:pPr>
              <a:r>
                <a:rPr lang="en-US" sz="2400" b="1" dirty="0">
                  <a:solidFill>
                    <a:srgbClr val="000000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Burndown Chart Display</a:t>
              </a:r>
              <a:endParaRPr lang="en-US" sz="1600" b="1" dirty="0"/>
            </a:p>
          </p:txBody>
        </p:sp>
        <p:sp>
          <p:nvSpPr>
            <p:cNvPr id="18" name="Text 35"/>
            <p:cNvSpPr/>
            <p:nvPr/>
          </p:nvSpPr>
          <p:spPr>
            <a:xfrm>
              <a:off x="1181104" y="3164217"/>
              <a:ext cx="5215889" cy="239773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just">
                <a:lnSpc>
                  <a:spcPct val="130000"/>
                </a:lnSpc>
              </a:pPr>
              <a:r>
                <a:rPr lang="en-US" b="1" dirty="0">
                  <a:solidFill>
                    <a:srgbClr val="000000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Burndown Chart Display Displaying Sprint 1-3 burndown charts, with the vertical axis representing remaining Story Points and the horizontal axis showing weeks. The curve exhibits a steady decline.</a:t>
              </a:r>
              <a:endParaRPr lang="en-US" sz="1600" b="1" dirty="0"/>
            </a:p>
          </p:txBody>
        </p:sp>
      </p:grp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4806" y="940158"/>
            <a:ext cx="6912000" cy="48339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81000">
                <a:srgbClr val="F0F8FF"/>
              </a:gs>
              <a:gs pos="100000">
                <a:srgbClr val="F0F8FF"/>
              </a:gs>
            </a:gsLst>
            <a:lin ang="5400000" scaled="1"/>
          </a:gradFill>
        </p:spPr>
      </p:sp>
      <p:sp>
        <p:nvSpPr>
          <p:cNvPr id="3" name="Text 1"/>
          <p:cNvSpPr/>
          <p:nvPr/>
        </p:nvSpPr>
        <p:spPr>
          <a:xfrm>
            <a:off x="1" y="1"/>
            <a:ext cx="12192000" cy="68580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5432425"/>
            <a:ext cx="12192000" cy="864870"/>
          </a:xfrm>
          <a:custGeom>
            <a:avLst/>
            <a:gdLst/>
            <a:ahLst/>
            <a:cxnLst/>
            <a:rect l="l" t="t" r="r" b="b"/>
            <a:pathLst>
              <a:path w="12192000" h="864870">
                <a:moveTo>
                  <a:pt x="12192000" y="61685"/>
                </a:moveTo>
                <a:lnTo>
                  <a:pt x="12192000" y="864870"/>
                </a:lnTo>
                <a:lnTo>
                  <a:pt x="0" y="864870"/>
                </a:lnTo>
                <a:lnTo>
                  <a:pt x="0" y="65089"/>
                </a:lnTo>
                <a:lnTo>
                  <a:pt x="136525" y="45945"/>
                </a:lnTo>
                <a:lnTo>
                  <a:pt x="278130" y="29779"/>
                </a:lnTo>
                <a:lnTo>
                  <a:pt x="420370" y="17017"/>
                </a:lnTo>
                <a:lnTo>
                  <a:pt x="561975" y="8083"/>
                </a:lnTo>
                <a:lnTo>
                  <a:pt x="703580" y="2552"/>
                </a:lnTo>
                <a:lnTo>
                  <a:pt x="845185" y="0"/>
                </a:lnTo>
                <a:lnTo>
                  <a:pt x="986790" y="425"/>
                </a:lnTo>
                <a:lnTo>
                  <a:pt x="1128395" y="3829"/>
                </a:lnTo>
                <a:lnTo>
                  <a:pt x="1270635" y="10210"/>
                </a:lnTo>
                <a:lnTo>
                  <a:pt x="1412240" y="18718"/>
                </a:lnTo>
                <a:lnTo>
                  <a:pt x="1553845" y="29779"/>
                </a:lnTo>
                <a:lnTo>
                  <a:pt x="1695450" y="42967"/>
                </a:lnTo>
                <a:lnTo>
                  <a:pt x="1837055" y="58282"/>
                </a:lnTo>
                <a:lnTo>
                  <a:pt x="1978660" y="75299"/>
                </a:lnTo>
                <a:lnTo>
                  <a:pt x="2120265" y="94017"/>
                </a:lnTo>
                <a:lnTo>
                  <a:pt x="2262505" y="114437"/>
                </a:lnTo>
                <a:lnTo>
                  <a:pt x="2404110" y="136133"/>
                </a:lnTo>
                <a:lnTo>
                  <a:pt x="2545715" y="159105"/>
                </a:lnTo>
                <a:lnTo>
                  <a:pt x="2687320" y="183354"/>
                </a:lnTo>
                <a:lnTo>
                  <a:pt x="2828925" y="208454"/>
                </a:lnTo>
                <a:lnTo>
                  <a:pt x="2970530" y="233979"/>
                </a:lnTo>
                <a:lnTo>
                  <a:pt x="3112770" y="260354"/>
                </a:lnTo>
                <a:lnTo>
                  <a:pt x="3254375" y="286730"/>
                </a:lnTo>
                <a:lnTo>
                  <a:pt x="3395980" y="313957"/>
                </a:lnTo>
                <a:lnTo>
                  <a:pt x="3537585" y="340758"/>
                </a:lnTo>
                <a:lnTo>
                  <a:pt x="3679190" y="367559"/>
                </a:lnTo>
                <a:lnTo>
                  <a:pt x="3820795" y="394360"/>
                </a:lnTo>
                <a:lnTo>
                  <a:pt x="3963035" y="420736"/>
                </a:lnTo>
                <a:lnTo>
                  <a:pt x="4104640" y="446261"/>
                </a:lnTo>
                <a:lnTo>
                  <a:pt x="4246245" y="471361"/>
                </a:lnTo>
                <a:lnTo>
                  <a:pt x="4387850" y="495609"/>
                </a:lnTo>
                <a:lnTo>
                  <a:pt x="4529455" y="518582"/>
                </a:lnTo>
                <a:lnTo>
                  <a:pt x="4671060" y="540278"/>
                </a:lnTo>
                <a:lnTo>
                  <a:pt x="4813300" y="560698"/>
                </a:lnTo>
                <a:lnTo>
                  <a:pt x="4954905" y="579416"/>
                </a:lnTo>
                <a:lnTo>
                  <a:pt x="5096510" y="596433"/>
                </a:lnTo>
                <a:lnTo>
                  <a:pt x="5238115" y="611748"/>
                </a:lnTo>
                <a:lnTo>
                  <a:pt x="5379720" y="624936"/>
                </a:lnTo>
                <a:lnTo>
                  <a:pt x="5521325" y="635996"/>
                </a:lnTo>
                <a:lnTo>
                  <a:pt x="5662930" y="644505"/>
                </a:lnTo>
                <a:lnTo>
                  <a:pt x="5805170" y="650886"/>
                </a:lnTo>
                <a:lnTo>
                  <a:pt x="5946775" y="654289"/>
                </a:lnTo>
                <a:lnTo>
                  <a:pt x="6088380" y="654715"/>
                </a:lnTo>
                <a:lnTo>
                  <a:pt x="6108065" y="654289"/>
                </a:lnTo>
                <a:lnTo>
                  <a:pt x="6128385" y="654715"/>
                </a:lnTo>
                <a:lnTo>
                  <a:pt x="6269990" y="654289"/>
                </a:lnTo>
                <a:lnTo>
                  <a:pt x="6411595" y="650886"/>
                </a:lnTo>
                <a:lnTo>
                  <a:pt x="6553835" y="644505"/>
                </a:lnTo>
                <a:lnTo>
                  <a:pt x="6695440" y="635996"/>
                </a:lnTo>
                <a:lnTo>
                  <a:pt x="6837045" y="624936"/>
                </a:lnTo>
                <a:lnTo>
                  <a:pt x="6978650" y="611748"/>
                </a:lnTo>
                <a:lnTo>
                  <a:pt x="7120255" y="596433"/>
                </a:lnTo>
                <a:lnTo>
                  <a:pt x="7261860" y="579416"/>
                </a:lnTo>
                <a:lnTo>
                  <a:pt x="7403465" y="560698"/>
                </a:lnTo>
                <a:lnTo>
                  <a:pt x="7545705" y="540278"/>
                </a:lnTo>
                <a:lnTo>
                  <a:pt x="7687310" y="518582"/>
                </a:lnTo>
                <a:lnTo>
                  <a:pt x="7828915" y="495609"/>
                </a:lnTo>
                <a:lnTo>
                  <a:pt x="7970520" y="471361"/>
                </a:lnTo>
                <a:lnTo>
                  <a:pt x="8112125" y="446261"/>
                </a:lnTo>
                <a:lnTo>
                  <a:pt x="8253730" y="420736"/>
                </a:lnTo>
                <a:lnTo>
                  <a:pt x="8395970" y="394360"/>
                </a:lnTo>
                <a:lnTo>
                  <a:pt x="8537575" y="367559"/>
                </a:lnTo>
                <a:lnTo>
                  <a:pt x="8679180" y="340758"/>
                </a:lnTo>
                <a:lnTo>
                  <a:pt x="8820785" y="313957"/>
                </a:lnTo>
                <a:lnTo>
                  <a:pt x="8962390" y="286730"/>
                </a:lnTo>
                <a:lnTo>
                  <a:pt x="9103995" y="260354"/>
                </a:lnTo>
                <a:lnTo>
                  <a:pt x="9246235" y="233979"/>
                </a:lnTo>
                <a:lnTo>
                  <a:pt x="9387840" y="208454"/>
                </a:lnTo>
                <a:lnTo>
                  <a:pt x="9529445" y="183354"/>
                </a:lnTo>
                <a:lnTo>
                  <a:pt x="9671050" y="159105"/>
                </a:lnTo>
                <a:lnTo>
                  <a:pt x="9812655" y="136133"/>
                </a:lnTo>
                <a:lnTo>
                  <a:pt x="9954260" y="114437"/>
                </a:lnTo>
                <a:lnTo>
                  <a:pt x="10096500" y="94017"/>
                </a:lnTo>
                <a:lnTo>
                  <a:pt x="10238105" y="75299"/>
                </a:lnTo>
                <a:lnTo>
                  <a:pt x="10379710" y="58282"/>
                </a:lnTo>
                <a:lnTo>
                  <a:pt x="10521315" y="42967"/>
                </a:lnTo>
                <a:lnTo>
                  <a:pt x="10662920" y="29779"/>
                </a:lnTo>
                <a:lnTo>
                  <a:pt x="10804525" y="18718"/>
                </a:lnTo>
                <a:lnTo>
                  <a:pt x="10946130" y="10210"/>
                </a:lnTo>
                <a:lnTo>
                  <a:pt x="11088370" y="3829"/>
                </a:lnTo>
                <a:lnTo>
                  <a:pt x="11229975" y="425"/>
                </a:lnTo>
                <a:lnTo>
                  <a:pt x="11371580" y="0"/>
                </a:lnTo>
                <a:lnTo>
                  <a:pt x="11513185" y="2552"/>
                </a:lnTo>
                <a:lnTo>
                  <a:pt x="11654790" y="8083"/>
                </a:lnTo>
                <a:lnTo>
                  <a:pt x="11796395" y="17017"/>
                </a:lnTo>
                <a:lnTo>
                  <a:pt x="11938635" y="29779"/>
                </a:lnTo>
                <a:lnTo>
                  <a:pt x="12080240" y="45945"/>
                </a:lnTo>
                <a:lnTo>
                  <a:pt x="12192000" y="61685"/>
                </a:lnTo>
                <a:close/>
              </a:path>
            </a:pathLst>
          </a:custGeom>
          <a:gradFill flip="none" rotWithShape="1">
            <a:gsLst>
              <a:gs pos="0">
                <a:srgbClr val="F8AA5C"/>
              </a:gs>
              <a:gs pos="58000">
                <a:srgbClr val="FBCC9D"/>
              </a:gs>
              <a:gs pos="99000">
                <a:srgbClr val="FDEEDE"/>
              </a:gs>
              <a:gs pos="100000">
                <a:srgbClr val="FDEEDE"/>
              </a:gs>
            </a:gsLst>
            <a:lin ang="0" scaled="1"/>
          </a:gradFill>
        </p:spPr>
      </p:sp>
      <p:sp>
        <p:nvSpPr>
          <p:cNvPr id="5" name="Text 3"/>
          <p:cNvSpPr/>
          <p:nvPr/>
        </p:nvSpPr>
        <p:spPr>
          <a:xfrm>
            <a:off x="0" y="5432425"/>
            <a:ext cx="12192000" cy="86487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5594985"/>
            <a:ext cx="12192000" cy="1263015"/>
          </a:xfrm>
          <a:custGeom>
            <a:avLst/>
            <a:gdLst/>
            <a:ahLst/>
            <a:cxnLst/>
            <a:rect l="l" t="t" r="r" b="b"/>
            <a:pathLst>
              <a:path w="12192000" h="1263015">
                <a:moveTo>
                  <a:pt x="12192000" y="882546"/>
                </a:moveTo>
                <a:lnTo>
                  <a:pt x="12192000" y="1263015"/>
                </a:lnTo>
                <a:lnTo>
                  <a:pt x="0" y="1263015"/>
                </a:lnTo>
                <a:lnTo>
                  <a:pt x="0" y="65426"/>
                </a:lnTo>
                <a:lnTo>
                  <a:pt x="136525" y="46225"/>
                </a:lnTo>
                <a:lnTo>
                  <a:pt x="278130" y="29869"/>
                </a:lnTo>
                <a:lnTo>
                  <a:pt x="420370" y="17068"/>
                </a:lnTo>
                <a:lnTo>
                  <a:pt x="561975" y="7823"/>
                </a:lnTo>
                <a:lnTo>
                  <a:pt x="703580" y="2845"/>
                </a:lnTo>
                <a:lnTo>
                  <a:pt x="845185" y="0"/>
                </a:lnTo>
                <a:lnTo>
                  <a:pt x="986790" y="711"/>
                </a:lnTo>
                <a:lnTo>
                  <a:pt x="1128395" y="3556"/>
                </a:lnTo>
                <a:lnTo>
                  <a:pt x="1270635" y="9956"/>
                </a:lnTo>
                <a:lnTo>
                  <a:pt x="1412240" y="18490"/>
                </a:lnTo>
                <a:lnTo>
                  <a:pt x="1553845" y="29869"/>
                </a:lnTo>
                <a:lnTo>
                  <a:pt x="1695450" y="42669"/>
                </a:lnTo>
                <a:lnTo>
                  <a:pt x="1837055" y="58315"/>
                </a:lnTo>
                <a:lnTo>
                  <a:pt x="1978660" y="75383"/>
                </a:lnTo>
                <a:lnTo>
                  <a:pt x="2120265" y="93873"/>
                </a:lnTo>
                <a:lnTo>
                  <a:pt x="2262505" y="114496"/>
                </a:lnTo>
                <a:lnTo>
                  <a:pt x="2404110" y="135831"/>
                </a:lnTo>
                <a:lnTo>
                  <a:pt x="2545715" y="159299"/>
                </a:lnTo>
                <a:lnTo>
                  <a:pt x="2687320" y="183479"/>
                </a:lnTo>
                <a:lnTo>
                  <a:pt x="2828925" y="208369"/>
                </a:lnTo>
                <a:lnTo>
                  <a:pt x="2970530" y="233971"/>
                </a:lnTo>
                <a:lnTo>
                  <a:pt x="3112770" y="260283"/>
                </a:lnTo>
                <a:lnTo>
                  <a:pt x="3254375" y="286596"/>
                </a:lnTo>
                <a:lnTo>
                  <a:pt x="3395980" y="314331"/>
                </a:lnTo>
                <a:lnTo>
                  <a:pt x="3537585" y="340644"/>
                </a:lnTo>
                <a:lnTo>
                  <a:pt x="3679190" y="367668"/>
                </a:lnTo>
                <a:lnTo>
                  <a:pt x="3820795" y="394692"/>
                </a:lnTo>
                <a:lnTo>
                  <a:pt x="3963035" y="421005"/>
                </a:lnTo>
                <a:lnTo>
                  <a:pt x="4104640" y="446607"/>
                </a:lnTo>
                <a:lnTo>
                  <a:pt x="4246245" y="471497"/>
                </a:lnTo>
                <a:lnTo>
                  <a:pt x="4387850" y="495676"/>
                </a:lnTo>
                <a:lnTo>
                  <a:pt x="4529455" y="518434"/>
                </a:lnTo>
                <a:lnTo>
                  <a:pt x="4671060" y="540479"/>
                </a:lnTo>
                <a:lnTo>
                  <a:pt x="4813300" y="561103"/>
                </a:lnTo>
                <a:lnTo>
                  <a:pt x="4954905" y="579593"/>
                </a:lnTo>
                <a:lnTo>
                  <a:pt x="5096510" y="596661"/>
                </a:lnTo>
                <a:lnTo>
                  <a:pt x="5238115" y="611595"/>
                </a:lnTo>
                <a:lnTo>
                  <a:pt x="5379720" y="625107"/>
                </a:lnTo>
                <a:lnTo>
                  <a:pt x="5521325" y="636486"/>
                </a:lnTo>
                <a:lnTo>
                  <a:pt x="5662930" y="645019"/>
                </a:lnTo>
                <a:lnTo>
                  <a:pt x="5805170" y="650709"/>
                </a:lnTo>
                <a:lnTo>
                  <a:pt x="5946775" y="654265"/>
                </a:lnTo>
                <a:lnTo>
                  <a:pt x="6088380" y="654976"/>
                </a:lnTo>
                <a:lnTo>
                  <a:pt x="6108065" y="654265"/>
                </a:lnTo>
                <a:lnTo>
                  <a:pt x="6128385" y="654976"/>
                </a:lnTo>
                <a:lnTo>
                  <a:pt x="6269990" y="654265"/>
                </a:lnTo>
                <a:lnTo>
                  <a:pt x="6411595" y="650709"/>
                </a:lnTo>
                <a:lnTo>
                  <a:pt x="6553835" y="645019"/>
                </a:lnTo>
                <a:lnTo>
                  <a:pt x="6695440" y="636486"/>
                </a:lnTo>
                <a:lnTo>
                  <a:pt x="6837045" y="625107"/>
                </a:lnTo>
                <a:lnTo>
                  <a:pt x="6978650" y="611595"/>
                </a:lnTo>
                <a:lnTo>
                  <a:pt x="7120255" y="596661"/>
                </a:lnTo>
                <a:lnTo>
                  <a:pt x="7261860" y="579593"/>
                </a:lnTo>
                <a:lnTo>
                  <a:pt x="7403465" y="561103"/>
                </a:lnTo>
                <a:lnTo>
                  <a:pt x="7545705" y="540479"/>
                </a:lnTo>
                <a:lnTo>
                  <a:pt x="7687310" y="518434"/>
                </a:lnTo>
                <a:lnTo>
                  <a:pt x="7828915" y="495676"/>
                </a:lnTo>
                <a:lnTo>
                  <a:pt x="7970520" y="471497"/>
                </a:lnTo>
                <a:lnTo>
                  <a:pt x="8112125" y="446607"/>
                </a:lnTo>
                <a:lnTo>
                  <a:pt x="8253730" y="421005"/>
                </a:lnTo>
                <a:lnTo>
                  <a:pt x="8395970" y="394692"/>
                </a:lnTo>
                <a:lnTo>
                  <a:pt x="8537575" y="367668"/>
                </a:lnTo>
                <a:lnTo>
                  <a:pt x="8679180" y="340644"/>
                </a:lnTo>
                <a:lnTo>
                  <a:pt x="8820785" y="314331"/>
                </a:lnTo>
                <a:lnTo>
                  <a:pt x="8962390" y="286596"/>
                </a:lnTo>
                <a:lnTo>
                  <a:pt x="9103995" y="260283"/>
                </a:lnTo>
                <a:lnTo>
                  <a:pt x="9246235" y="233971"/>
                </a:lnTo>
                <a:lnTo>
                  <a:pt x="9387840" y="208369"/>
                </a:lnTo>
                <a:lnTo>
                  <a:pt x="9529445" y="183479"/>
                </a:lnTo>
                <a:lnTo>
                  <a:pt x="9671050" y="159299"/>
                </a:lnTo>
                <a:lnTo>
                  <a:pt x="9812655" y="135831"/>
                </a:lnTo>
                <a:lnTo>
                  <a:pt x="9954260" y="114496"/>
                </a:lnTo>
                <a:lnTo>
                  <a:pt x="10096500" y="93873"/>
                </a:lnTo>
                <a:lnTo>
                  <a:pt x="10238105" y="75383"/>
                </a:lnTo>
                <a:lnTo>
                  <a:pt x="10379710" y="58315"/>
                </a:lnTo>
                <a:lnTo>
                  <a:pt x="10521315" y="42669"/>
                </a:lnTo>
                <a:lnTo>
                  <a:pt x="10662920" y="29869"/>
                </a:lnTo>
                <a:lnTo>
                  <a:pt x="10804525" y="18490"/>
                </a:lnTo>
                <a:lnTo>
                  <a:pt x="10946130" y="9956"/>
                </a:lnTo>
                <a:lnTo>
                  <a:pt x="11088370" y="3556"/>
                </a:lnTo>
                <a:lnTo>
                  <a:pt x="11229975" y="711"/>
                </a:lnTo>
                <a:lnTo>
                  <a:pt x="11371580" y="0"/>
                </a:lnTo>
                <a:lnTo>
                  <a:pt x="11513185" y="2845"/>
                </a:lnTo>
                <a:lnTo>
                  <a:pt x="11654790" y="7823"/>
                </a:lnTo>
                <a:lnTo>
                  <a:pt x="11796395" y="17068"/>
                </a:lnTo>
                <a:lnTo>
                  <a:pt x="11938635" y="29869"/>
                </a:lnTo>
                <a:lnTo>
                  <a:pt x="12080240" y="46225"/>
                </a:lnTo>
                <a:lnTo>
                  <a:pt x="12192000" y="61871"/>
                </a:lnTo>
                <a:lnTo>
                  <a:pt x="12192000" y="882546"/>
                </a:lnTo>
                <a:close/>
              </a:path>
            </a:pathLst>
          </a:custGeom>
          <a:solidFill>
            <a:srgbClr val="056EE1"/>
          </a:solidFill>
        </p:spPr>
      </p:sp>
      <p:sp>
        <p:nvSpPr>
          <p:cNvPr id="7" name="Text 5"/>
          <p:cNvSpPr/>
          <p:nvPr/>
        </p:nvSpPr>
        <p:spPr>
          <a:xfrm>
            <a:off x="0" y="5594985"/>
            <a:ext cx="12192000" cy="126301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8" name="Image 0" descr="https://kimi-img.moonshot.cn/pub/slides/slides_tmpl/image/25-10-09-17:19:39-d3jnsaos8jdo4os5dlu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4490" y="962025"/>
            <a:ext cx="6382385" cy="610806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01078" y="2994025"/>
            <a:ext cx="8070574" cy="180784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altLang="zh-CN" sz="5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Testing and Experimental Results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1106785" y="693737"/>
            <a:ext cx="235520" cy="0"/>
          </a:xfrm>
          <a:prstGeom prst="line">
            <a:avLst/>
          </a:prstGeom>
          <a:noFill/>
          <a:ln w="31750">
            <a:solidFill>
              <a:srgbClr val="056EE1"/>
            </a:solidFill>
            <a:prstDash val="solid"/>
            <a:headEnd type="none"/>
            <a:tailEnd type="none"/>
          </a:ln>
        </p:spPr>
      </p:sp>
      <p:sp>
        <p:nvSpPr>
          <p:cNvPr id="11" name="Shape 8"/>
          <p:cNvSpPr/>
          <p:nvPr/>
        </p:nvSpPr>
        <p:spPr>
          <a:xfrm>
            <a:off x="11106785" y="754697"/>
            <a:ext cx="235520" cy="0"/>
          </a:xfrm>
          <a:prstGeom prst="line">
            <a:avLst/>
          </a:prstGeom>
          <a:noFill/>
          <a:ln w="31750">
            <a:solidFill>
              <a:srgbClr val="056EE1"/>
            </a:solidFill>
            <a:prstDash val="solid"/>
            <a:headEnd type="none"/>
            <a:tailEnd type="none"/>
          </a:ln>
        </p:spPr>
      </p:sp>
      <p:sp>
        <p:nvSpPr>
          <p:cNvPr id="12" name="Shape 9"/>
          <p:cNvSpPr/>
          <p:nvPr/>
        </p:nvSpPr>
        <p:spPr>
          <a:xfrm>
            <a:off x="11106785" y="815657"/>
            <a:ext cx="235520" cy="0"/>
          </a:xfrm>
          <a:prstGeom prst="line">
            <a:avLst/>
          </a:prstGeom>
          <a:noFill/>
          <a:ln w="31750">
            <a:solidFill>
              <a:srgbClr val="056EE1"/>
            </a:solidFill>
            <a:prstDash val="solid"/>
            <a:headEnd type="none"/>
            <a:tailEnd type="none"/>
          </a:ln>
        </p:spPr>
      </p:sp>
      <p:sp>
        <p:nvSpPr>
          <p:cNvPr id="13" name="Shape 10"/>
          <p:cNvSpPr/>
          <p:nvPr/>
        </p:nvSpPr>
        <p:spPr>
          <a:xfrm>
            <a:off x="2725420" y="1268730"/>
            <a:ext cx="6598920" cy="180784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4" name="Text 11"/>
          <p:cNvSpPr/>
          <p:nvPr/>
        </p:nvSpPr>
        <p:spPr>
          <a:xfrm>
            <a:off x="2725420" y="1268730"/>
            <a:ext cx="6598920" cy="18078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2000">
                <a:solidFill>
                  <a:srgbClr val="056EE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FFFFFF"/>
            </a:gs>
            <a:gs pos="28000">
              <a:srgbClr val="FFFFFF"/>
            </a:gs>
            <a:gs pos="100000">
              <a:srgbClr val="DDF0FE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8360" y="6346190"/>
            <a:ext cx="163338" cy="153035"/>
          </a:xfrm>
          <a:prstGeom prst="rect">
            <a:avLst/>
          </a:prstGeom>
          <a:solidFill>
            <a:srgbClr val="004CC0"/>
          </a:solidFill>
        </p:spPr>
      </p:sp>
      <p:sp>
        <p:nvSpPr>
          <p:cNvPr id="3" name="Text 1"/>
          <p:cNvSpPr/>
          <p:nvPr/>
        </p:nvSpPr>
        <p:spPr>
          <a:xfrm>
            <a:off x="848360" y="6346190"/>
            <a:ext cx="163338" cy="1530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122291" y="6346190"/>
            <a:ext cx="163338" cy="153035"/>
          </a:xfrm>
          <a:prstGeom prst="rect">
            <a:avLst/>
          </a:prstGeom>
          <a:solidFill>
            <a:srgbClr val="004CC0"/>
          </a:solidFill>
        </p:spPr>
      </p:sp>
      <p:sp>
        <p:nvSpPr>
          <p:cNvPr id="5" name="Text 3"/>
          <p:cNvSpPr/>
          <p:nvPr/>
        </p:nvSpPr>
        <p:spPr>
          <a:xfrm>
            <a:off x="1122291" y="6346190"/>
            <a:ext cx="163338" cy="1530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96222" y="6346190"/>
            <a:ext cx="163338" cy="153035"/>
          </a:xfrm>
          <a:prstGeom prst="rect">
            <a:avLst/>
          </a:prstGeom>
          <a:solidFill>
            <a:srgbClr val="004CC0"/>
          </a:solidFill>
        </p:spPr>
      </p:sp>
      <p:sp>
        <p:nvSpPr>
          <p:cNvPr id="7" name="Text 5"/>
          <p:cNvSpPr/>
          <p:nvPr/>
        </p:nvSpPr>
        <p:spPr>
          <a:xfrm>
            <a:off x="1396222" y="6346190"/>
            <a:ext cx="163338" cy="1530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8837" y="888766"/>
            <a:ext cx="11151237" cy="5469573"/>
          </a:xfrm>
          <a:prstGeom prst="rect">
            <a:avLst/>
          </a:prstGeom>
          <a:solidFill>
            <a:srgbClr val="FFFFFF"/>
          </a:solidFill>
          <a:ln w="19050">
            <a:solidFill>
              <a:srgbClr val="004CC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60730" y="1602105"/>
            <a:ext cx="5128895" cy="19888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 rot="5400000">
            <a:off x="759460" y="1746250"/>
            <a:ext cx="434340" cy="438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grpSp>
        <p:nvGrpSpPr>
          <p:cNvPr id="45" name="组合 44"/>
          <p:cNvGrpSpPr/>
          <p:nvPr/>
        </p:nvGrpSpPr>
        <p:grpSpPr>
          <a:xfrm>
            <a:off x="755528" y="1111312"/>
            <a:ext cx="438785" cy="434340"/>
            <a:chOff x="736916" y="1494914"/>
            <a:chExt cx="438785" cy="434340"/>
          </a:xfrm>
        </p:grpSpPr>
        <p:sp>
          <p:nvSpPr>
            <p:cNvPr id="10" name="Shape 8"/>
            <p:cNvSpPr/>
            <p:nvPr/>
          </p:nvSpPr>
          <p:spPr>
            <a:xfrm rot="5400000">
              <a:off x="739139" y="1492691"/>
              <a:ext cx="434340" cy="438785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2078FF"/>
                </a:gs>
                <a:gs pos="100000">
                  <a:srgbClr val="004CC0"/>
                </a:gs>
              </a:gsLst>
              <a:lin ang="13200000" scaled="1"/>
            </a:gradFill>
          </p:spPr>
        </p:sp>
        <p:sp>
          <p:nvSpPr>
            <p:cNvPr id="12" name="Shape 10"/>
            <p:cNvSpPr/>
            <p:nvPr/>
          </p:nvSpPr>
          <p:spPr>
            <a:xfrm>
              <a:off x="914156" y="1636943"/>
              <a:ext cx="113665" cy="168910"/>
            </a:xfrm>
            <a:prstGeom prst="chevron">
              <a:avLst>
                <a:gd name="adj" fmla="val 64013"/>
              </a:avLst>
            </a:prstGeom>
            <a:solidFill>
              <a:srgbClr val="FFFFFF"/>
            </a:solidFill>
          </p:spPr>
        </p:sp>
        <p:sp>
          <p:nvSpPr>
            <p:cNvPr id="13" name="Text 11"/>
            <p:cNvSpPr/>
            <p:nvPr/>
          </p:nvSpPr>
          <p:spPr>
            <a:xfrm>
              <a:off x="894036" y="1580515"/>
              <a:ext cx="113665" cy="16891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endParaRPr lang="en-US" sz="1600" dirty="0"/>
            </a:p>
          </p:txBody>
        </p:sp>
      </p:grpSp>
      <p:sp>
        <p:nvSpPr>
          <p:cNvPr id="15" name="Text 13"/>
          <p:cNvSpPr/>
          <p:nvPr/>
        </p:nvSpPr>
        <p:spPr>
          <a:xfrm>
            <a:off x="760730" y="3923030"/>
            <a:ext cx="5128895" cy="19888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 rot="5400000">
            <a:off x="759460" y="4067175"/>
            <a:ext cx="434340" cy="438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19480" y="4202430"/>
            <a:ext cx="113665" cy="168910"/>
          </a:xfrm>
          <a:prstGeom prst="chevron">
            <a:avLst>
              <a:gd name="adj" fmla="val 64013"/>
            </a:avLst>
          </a:prstGeom>
          <a:solidFill>
            <a:srgbClr val="FFFFFF"/>
          </a:solidFill>
        </p:spPr>
      </p:sp>
      <p:sp>
        <p:nvSpPr>
          <p:cNvPr id="19" name="Text 17"/>
          <p:cNvSpPr/>
          <p:nvPr/>
        </p:nvSpPr>
        <p:spPr>
          <a:xfrm>
            <a:off x="919480" y="4202430"/>
            <a:ext cx="113665" cy="168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76975" y="1602105"/>
            <a:ext cx="5128895" cy="19888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 rot="5400000">
            <a:off x="6275705" y="1746250"/>
            <a:ext cx="434340" cy="438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35725" y="1881505"/>
            <a:ext cx="113665" cy="168910"/>
          </a:xfrm>
          <a:prstGeom prst="chevron">
            <a:avLst>
              <a:gd name="adj" fmla="val 64013"/>
            </a:avLst>
          </a:prstGeom>
          <a:solidFill>
            <a:srgbClr val="FFFFFF"/>
          </a:solidFill>
        </p:spPr>
      </p:sp>
      <p:sp>
        <p:nvSpPr>
          <p:cNvPr id="25" name="Text 23"/>
          <p:cNvSpPr/>
          <p:nvPr/>
        </p:nvSpPr>
        <p:spPr>
          <a:xfrm>
            <a:off x="6435725" y="1881505"/>
            <a:ext cx="113665" cy="168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76975" y="3923030"/>
            <a:ext cx="5128895" cy="19888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 rot="5400000">
            <a:off x="6275705" y="4067175"/>
            <a:ext cx="434340" cy="438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35725" y="4202430"/>
            <a:ext cx="113665" cy="168910"/>
          </a:xfrm>
          <a:prstGeom prst="chevron">
            <a:avLst>
              <a:gd name="adj" fmla="val 64013"/>
            </a:avLst>
          </a:prstGeom>
          <a:solidFill>
            <a:srgbClr val="FFFFFF"/>
          </a:solidFill>
        </p:spPr>
      </p:sp>
      <p:sp>
        <p:nvSpPr>
          <p:cNvPr id="31" name="Text 29"/>
          <p:cNvSpPr/>
          <p:nvPr/>
        </p:nvSpPr>
        <p:spPr>
          <a:xfrm>
            <a:off x="6435725" y="4202430"/>
            <a:ext cx="113665" cy="168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1926" y="287956"/>
            <a:ext cx="10151745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04- </a:t>
            </a:r>
            <a:r>
              <a:rPr lang="en-US" sz="3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 </a:t>
            </a:r>
            <a:r>
              <a:rPr lang="en-US" sz="3000" b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Experience Flow- 1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1106785" y="693737"/>
            <a:ext cx="235520" cy="0"/>
          </a:xfrm>
          <a:prstGeom prst="line">
            <a:avLst/>
          </a:prstGeom>
          <a:noFill/>
          <a:ln w="31750">
            <a:solidFill>
              <a:srgbClr val="004CC0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11106785" y="754697"/>
            <a:ext cx="235520" cy="0"/>
          </a:xfrm>
          <a:prstGeom prst="line">
            <a:avLst/>
          </a:prstGeom>
          <a:noFill/>
          <a:ln w="31750">
            <a:solidFill>
              <a:srgbClr val="004CC0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11106785" y="815657"/>
            <a:ext cx="235520" cy="0"/>
          </a:xfrm>
          <a:prstGeom prst="line">
            <a:avLst/>
          </a:prstGeom>
          <a:noFill/>
          <a:ln w="31750">
            <a:solidFill>
              <a:srgbClr val="004CC0"/>
            </a:solidFill>
            <a:prstDash val="solid"/>
            <a:headEnd type="none"/>
            <a:tailEnd type="none"/>
          </a:ln>
        </p:spPr>
      </p:sp>
      <p:sp>
        <p:nvSpPr>
          <p:cNvPr id="36" name="Text 34"/>
          <p:cNvSpPr/>
          <p:nvPr/>
        </p:nvSpPr>
        <p:spPr>
          <a:xfrm>
            <a:off x="1364615" y="1179418"/>
            <a:ext cx="4330700" cy="4356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just">
              <a:lnSpc>
                <a:spcPct val="100000"/>
              </a:lnSpc>
            </a:pPr>
            <a:r>
              <a:rPr lang="en-US" sz="1800" b="1">
                <a:solidFill>
                  <a:srgbClr val="004C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 File Upload </a:t>
            </a:r>
            <a:endParaRPr lang="en-US" sz="1800" b="1">
              <a:solidFill>
                <a:srgbClr val="004CC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00000"/>
              </a:lnSpc>
            </a:pPr>
            <a:r>
              <a:rPr lang="en-US" sz="1800" b="1">
                <a:solidFill>
                  <a:srgbClr val="004C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Interface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364615" y="2153920"/>
            <a:ext cx="4329430" cy="29418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364615" y="4474845"/>
            <a:ext cx="4329430" cy="29418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880860" y="2153920"/>
            <a:ext cx="4329430" cy="29418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880860" y="4474845"/>
            <a:ext cx="4329430" cy="29418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30000"/>
              </a:lnSpc>
            </a:pPr>
            <a:endParaRPr lang="en-US" sz="16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5546" y="986089"/>
            <a:ext cx="8115274" cy="5274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 20"/>
          <p:cNvSpPr/>
          <p:nvPr/>
        </p:nvSpPr>
        <p:spPr>
          <a:xfrm>
            <a:off x="912648" y="2430135"/>
            <a:ext cx="2249170" cy="17501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b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Display the log file uploadinterface, highlighting itszero-configuration setup forquick access, enabling usersto import logs rapidly.</a:t>
            </a:r>
            <a:endParaRPr lang="en-US" sz="1600" b="1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8360" y="6346190"/>
            <a:ext cx="163338" cy="153035"/>
          </a:xfrm>
          <a:prstGeom prst="rect">
            <a:avLst/>
          </a:prstGeom>
          <a:solidFill>
            <a:srgbClr val="004CC0"/>
          </a:solidFill>
        </p:spPr>
      </p:sp>
      <p:sp>
        <p:nvSpPr>
          <p:cNvPr id="3" name="Text 1"/>
          <p:cNvSpPr/>
          <p:nvPr/>
        </p:nvSpPr>
        <p:spPr>
          <a:xfrm>
            <a:off x="848360" y="6346190"/>
            <a:ext cx="163338" cy="1530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122291" y="6346190"/>
            <a:ext cx="163338" cy="153035"/>
          </a:xfrm>
          <a:prstGeom prst="rect">
            <a:avLst/>
          </a:prstGeom>
          <a:solidFill>
            <a:srgbClr val="004CC0"/>
          </a:solidFill>
        </p:spPr>
      </p:sp>
      <p:sp>
        <p:nvSpPr>
          <p:cNvPr id="5" name="Text 3"/>
          <p:cNvSpPr/>
          <p:nvPr/>
        </p:nvSpPr>
        <p:spPr>
          <a:xfrm>
            <a:off x="1122291" y="6346190"/>
            <a:ext cx="163338" cy="1530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96222" y="6346190"/>
            <a:ext cx="163338" cy="153035"/>
          </a:xfrm>
          <a:prstGeom prst="rect">
            <a:avLst/>
          </a:prstGeom>
          <a:solidFill>
            <a:srgbClr val="004CC0"/>
          </a:solidFill>
        </p:spPr>
      </p:sp>
      <p:sp>
        <p:nvSpPr>
          <p:cNvPr id="7" name="Text 5"/>
          <p:cNvSpPr/>
          <p:nvPr/>
        </p:nvSpPr>
        <p:spPr>
          <a:xfrm>
            <a:off x="1396222" y="6346190"/>
            <a:ext cx="163338" cy="1530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8837" y="888766"/>
            <a:ext cx="11151237" cy="5469573"/>
          </a:xfrm>
          <a:prstGeom prst="rect">
            <a:avLst/>
          </a:prstGeom>
          <a:solidFill>
            <a:srgbClr val="FFFFFF"/>
          </a:solidFill>
          <a:ln w="19050">
            <a:solidFill>
              <a:srgbClr val="004CC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60730" y="1602105"/>
            <a:ext cx="5128895" cy="19888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 rot="5400000">
            <a:off x="759460" y="1746250"/>
            <a:ext cx="434340" cy="438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grpSp>
        <p:nvGrpSpPr>
          <p:cNvPr id="45" name="组合 44"/>
          <p:cNvGrpSpPr/>
          <p:nvPr/>
        </p:nvGrpSpPr>
        <p:grpSpPr>
          <a:xfrm>
            <a:off x="755528" y="1111312"/>
            <a:ext cx="438785" cy="434340"/>
            <a:chOff x="736916" y="1494914"/>
            <a:chExt cx="438785" cy="434340"/>
          </a:xfrm>
        </p:grpSpPr>
        <p:sp>
          <p:nvSpPr>
            <p:cNvPr id="10" name="Shape 8"/>
            <p:cNvSpPr/>
            <p:nvPr/>
          </p:nvSpPr>
          <p:spPr>
            <a:xfrm rot="5400000">
              <a:off x="739139" y="1492691"/>
              <a:ext cx="434340" cy="438785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2078FF"/>
                </a:gs>
                <a:gs pos="100000">
                  <a:srgbClr val="004CC0"/>
                </a:gs>
              </a:gsLst>
              <a:lin ang="13200000" scaled="1"/>
            </a:gradFill>
          </p:spPr>
        </p:sp>
        <p:sp>
          <p:nvSpPr>
            <p:cNvPr id="12" name="Shape 10"/>
            <p:cNvSpPr/>
            <p:nvPr/>
          </p:nvSpPr>
          <p:spPr>
            <a:xfrm>
              <a:off x="914156" y="1636943"/>
              <a:ext cx="113665" cy="168910"/>
            </a:xfrm>
            <a:prstGeom prst="chevron">
              <a:avLst>
                <a:gd name="adj" fmla="val 64013"/>
              </a:avLst>
            </a:prstGeom>
            <a:solidFill>
              <a:srgbClr val="FFFFFF"/>
            </a:solidFill>
          </p:spPr>
        </p:sp>
        <p:sp>
          <p:nvSpPr>
            <p:cNvPr id="13" name="Text 11"/>
            <p:cNvSpPr/>
            <p:nvPr/>
          </p:nvSpPr>
          <p:spPr>
            <a:xfrm>
              <a:off x="894036" y="1580515"/>
              <a:ext cx="113665" cy="16891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endParaRPr lang="en-US" sz="1600" dirty="0"/>
            </a:p>
          </p:txBody>
        </p:sp>
      </p:grpSp>
      <p:sp>
        <p:nvSpPr>
          <p:cNvPr id="15" name="Text 13"/>
          <p:cNvSpPr/>
          <p:nvPr/>
        </p:nvSpPr>
        <p:spPr>
          <a:xfrm>
            <a:off x="760730" y="3923030"/>
            <a:ext cx="5128895" cy="19888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 rot="5400000">
            <a:off x="759460" y="4067175"/>
            <a:ext cx="434340" cy="438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19480" y="4202430"/>
            <a:ext cx="113665" cy="168910"/>
          </a:xfrm>
          <a:prstGeom prst="chevron">
            <a:avLst>
              <a:gd name="adj" fmla="val 64013"/>
            </a:avLst>
          </a:prstGeom>
          <a:solidFill>
            <a:srgbClr val="FFFFFF"/>
          </a:solidFill>
        </p:spPr>
      </p:sp>
      <p:sp>
        <p:nvSpPr>
          <p:cNvPr id="19" name="Text 17"/>
          <p:cNvSpPr/>
          <p:nvPr/>
        </p:nvSpPr>
        <p:spPr>
          <a:xfrm>
            <a:off x="919480" y="4202430"/>
            <a:ext cx="113665" cy="168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76975" y="1602105"/>
            <a:ext cx="5128895" cy="19888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 rot="5400000">
            <a:off x="6275705" y="1746250"/>
            <a:ext cx="434340" cy="438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35725" y="1881505"/>
            <a:ext cx="113665" cy="168910"/>
          </a:xfrm>
          <a:prstGeom prst="chevron">
            <a:avLst>
              <a:gd name="adj" fmla="val 64013"/>
            </a:avLst>
          </a:prstGeom>
          <a:solidFill>
            <a:srgbClr val="FFFFFF"/>
          </a:solidFill>
        </p:spPr>
      </p:sp>
      <p:sp>
        <p:nvSpPr>
          <p:cNvPr id="25" name="Text 23"/>
          <p:cNvSpPr/>
          <p:nvPr/>
        </p:nvSpPr>
        <p:spPr>
          <a:xfrm>
            <a:off x="6435725" y="1881505"/>
            <a:ext cx="113665" cy="168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76975" y="3923030"/>
            <a:ext cx="5128895" cy="19888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 rot="5400000">
            <a:off x="6275705" y="4067175"/>
            <a:ext cx="434340" cy="438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35725" y="4202430"/>
            <a:ext cx="113665" cy="168910"/>
          </a:xfrm>
          <a:prstGeom prst="chevron">
            <a:avLst>
              <a:gd name="adj" fmla="val 64013"/>
            </a:avLst>
          </a:prstGeom>
          <a:solidFill>
            <a:srgbClr val="FFFFFF"/>
          </a:solidFill>
        </p:spPr>
      </p:sp>
      <p:sp>
        <p:nvSpPr>
          <p:cNvPr id="31" name="Text 29"/>
          <p:cNvSpPr/>
          <p:nvPr/>
        </p:nvSpPr>
        <p:spPr>
          <a:xfrm>
            <a:off x="6435725" y="4202430"/>
            <a:ext cx="113665" cy="168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1926" y="287956"/>
            <a:ext cx="10151745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04- </a:t>
            </a:r>
            <a:r>
              <a:rPr lang="en-US" sz="3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 </a:t>
            </a:r>
            <a:r>
              <a:rPr lang="en-US" sz="3000" b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Experience Flow- 2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1106785" y="693737"/>
            <a:ext cx="235520" cy="0"/>
          </a:xfrm>
          <a:prstGeom prst="line">
            <a:avLst/>
          </a:prstGeom>
          <a:noFill/>
          <a:ln w="31750">
            <a:solidFill>
              <a:srgbClr val="004CC0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11106785" y="754697"/>
            <a:ext cx="235520" cy="0"/>
          </a:xfrm>
          <a:prstGeom prst="line">
            <a:avLst/>
          </a:prstGeom>
          <a:noFill/>
          <a:ln w="31750">
            <a:solidFill>
              <a:srgbClr val="004CC0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11106785" y="815657"/>
            <a:ext cx="235520" cy="0"/>
          </a:xfrm>
          <a:prstGeom prst="line">
            <a:avLst/>
          </a:prstGeom>
          <a:noFill/>
          <a:ln w="31750">
            <a:solidFill>
              <a:srgbClr val="004CC0"/>
            </a:solidFill>
            <a:prstDash val="solid"/>
            <a:headEnd type="none"/>
            <a:tailEnd type="none"/>
          </a:ln>
        </p:spPr>
      </p:sp>
      <p:sp>
        <p:nvSpPr>
          <p:cNvPr id="36" name="Text 34"/>
          <p:cNvSpPr/>
          <p:nvPr/>
        </p:nvSpPr>
        <p:spPr>
          <a:xfrm>
            <a:off x="1364615" y="1179418"/>
            <a:ext cx="4330700" cy="4356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just">
              <a:lnSpc>
                <a:spcPct val="100000"/>
              </a:lnSpc>
            </a:pPr>
            <a:r>
              <a:rPr lang="en-US" sz="1800" b="1">
                <a:solidFill>
                  <a:srgbClr val="004C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Highlighted </a:t>
            </a:r>
            <a:endParaRPr lang="en-US" sz="1800" b="1">
              <a:solidFill>
                <a:srgbClr val="004CC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00000"/>
              </a:lnSpc>
            </a:pPr>
            <a:r>
              <a:rPr lang="en-US" sz="1800" b="1">
                <a:solidFill>
                  <a:srgbClr val="004C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Abnormal Content 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364615" y="2153920"/>
            <a:ext cx="4329430" cy="29418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364615" y="4474845"/>
            <a:ext cx="4329430" cy="29418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880860" y="2153920"/>
            <a:ext cx="4329430" cy="29418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880860" y="4474845"/>
            <a:ext cx="4329430" cy="29418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30000"/>
              </a:lnSpc>
            </a:pPr>
            <a:endParaRPr lang="en-US" sz="1600" dirty="0"/>
          </a:p>
        </p:txBody>
      </p:sp>
      <p:pic>
        <p:nvPicPr>
          <p:cNvPr id="9217" name="Picture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5082" y="1010686"/>
            <a:ext cx="8042791" cy="5227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 23"/>
          <p:cNvSpPr/>
          <p:nvPr/>
        </p:nvSpPr>
        <p:spPr>
          <a:xfrm>
            <a:off x="1075690" y="2511511"/>
            <a:ext cx="1754505" cy="231031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b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Display abnormalcontent with ahighlighted effect tohelp users quicklypinpoint issues andimprovetroubleshootingefficiency.</a:t>
            </a:r>
            <a:endParaRPr lang="en-US" sz="1600" b="1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8360" y="6346190"/>
            <a:ext cx="163338" cy="153035"/>
          </a:xfrm>
          <a:prstGeom prst="rect">
            <a:avLst/>
          </a:prstGeom>
          <a:solidFill>
            <a:srgbClr val="004CC0"/>
          </a:solidFill>
        </p:spPr>
      </p:sp>
      <p:sp>
        <p:nvSpPr>
          <p:cNvPr id="3" name="Text 1"/>
          <p:cNvSpPr/>
          <p:nvPr/>
        </p:nvSpPr>
        <p:spPr>
          <a:xfrm>
            <a:off x="848360" y="6346190"/>
            <a:ext cx="163338" cy="1530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122291" y="6346190"/>
            <a:ext cx="163338" cy="153035"/>
          </a:xfrm>
          <a:prstGeom prst="rect">
            <a:avLst/>
          </a:prstGeom>
          <a:solidFill>
            <a:srgbClr val="004CC0"/>
          </a:solidFill>
        </p:spPr>
      </p:sp>
      <p:sp>
        <p:nvSpPr>
          <p:cNvPr id="5" name="Text 3"/>
          <p:cNvSpPr/>
          <p:nvPr/>
        </p:nvSpPr>
        <p:spPr>
          <a:xfrm>
            <a:off x="1122291" y="6346190"/>
            <a:ext cx="163338" cy="1530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96222" y="6346190"/>
            <a:ext cx="163338" cy="153035"/>
          </a:xfrm>
          <a:prstGeom prst="rect">
            <a:avLst/>
          </a:prstGeom>
          <a:solidFill>
            <a:srgbClr val="004CC0"/>
          </a:solidFill>
        </p:spPr>
      </p:sp>
      <p:sp>
        <p:nvSpPr>
          <p:cNvPr id="7" name="Text 5"/>
          <p:cNvSpPr/>
          <p:nvPr/>
        </p:nvSpPr>
        <p:spPr>
          <a:xfrm>
            <a:off x="1396222" y="6346190"/>
            <a:ext cx="163338" cy="15303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8837" y="888766"/>
            <a:ext cx="11151237" cy="5469573"/>
          </a:xfrm>
          <a:prstGeom prst="rect">
            <a:avLst/>
          </a:prstGeom>
          <a:solidFill>
            <a:srgbClr val="FFFFFF"/>
          </a:solidFill>
          <a:ln w="19050">
            <a:solidFill>
              <a:srgbClr val="004CC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760730" y="1602105"/>
            <a:ext cx="5128895" cy="19888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 rot="5400000">
            <a:off x="759460" y="1746250"/>
            <a:ext cx="434340" cy="438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grpSp>
        <p:nvGrpSpPr>
          <p:cNvPr id="45" name="组合 44"/>
          <p:cNvGrpSpPr/>
          <p:nvPr/>
        </p:nvGrpSpPr>
        <p:grpSpPr>
          <a:xfrm>
            <a:off x="755528" y="1111312"/>
            <a:ext cx="438785" cy="434340"/>
            <a:chOff x="736916" y="1494914"/>
            <a:chExt cx="438785" cy="434340"/>
          </a:xfrm>
        </p:grpSpPr>
        <p:sp>
          <p:nvSpPr>
            <p:cNvPr id="10" name="Shape 8"/>
            <p:cNvSpPr/>
            <p:nvPr/>
          </p:nvSpPr>
          <p:spPr>
            <a:xfrm rot="5400000">
              <a:off x="739139" y="1492691"/>
              <a:ext cx="434340" cy="438785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2078FF"/>
                </a:gs>
                <a:gs pos="100000">
                  <a:srgbClr val="004CC0"/>
                </a:gs>
              </a:gsLst>
              <a:lin ang="13200000" scaled="1"/>
            </a:gradFill>
          </p:spPr>
        </p:sp>
        <p:sp>
          <p:nvSpPr>
            <p:cNvPr id="12" name="Shape 10"/>
            <p:cNvSpPr/>
            <p:nvPr/>
          </p:nvSpPr>
          <p:spPr>
            <a:xfrm>
              <a:off x="914156" y="1636943"/>
              <a:ext cx="113665" cy="168910"/>
            </a:xfrm>
            <a:prstGeom prst="chevron">
              <a:avLst>
                <a:gd name="adj" fmla="val 64013"/>
              </a:avLst>
            </a:prstGeom>
            <a:solidFill>
              <a:srgbClr val="FFFFFF"/>
            </a:solidFill>
          </p:spPr>
        </p:sp>
        <p:sp>
          <p:nvSpPr>
            <p:cNvPr id="13" name="Text 11"/>
            <p:cNvSpPr/>
            <p:nvPr/>
          </p:nvSpPr>
          <p:spPr>
            <a:xfrm>
              <a:off x="894036" y="1580515"/>
              <a:ext cx="113665" cy="16891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endParaRPr lang="en-US" sz="1600" dirty="0"/>
            </a:p>
          </p:txBody>
        </p:sp>
      </p:grpSp>
      <p:sp>
        <p:nvSpPr>
          <p:cNvPr id="15" name="Text 13"/>
          <p:cNvSpPr/>
          <p:nvPr/>
        </p:nvSpPr>
        <p:spPr>
          <a:xfrm>
            <a:off x="760730" y="3923030"/>
            <a:ext cx="5128895" cy="19888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 rot="5400000">
            <a:off x="759460" y="4067175"/>
            <a:ext cx="434340" cy="438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19480" y="4202430"/>
            <a:ext cx="113665" cy="168910"/>
          </a:xfrm>
          <a:prstGeom prst="chevron">
            <a:avLst>
              <a:gd name="adj" fmla="val 64013"/>
            </a:avLst>
          </a:prstGeom>
          <a:solidFill>
            <a:srgbClr val="FFFFFF"/>
          </a:solidFill>
        </p:spPr>
      </p:sp>
      <p:sp>
        <p:nvSpPr>
          <p:cNvPr id="19" name="Text 17"/>
          <p:cNvSpPr/>
          <p:nvPr/>
        </p:nvSpPr>
        <p:spPr>
          <a:xfrm>
            <a:off x="919480" y="4202430"/>
            <a:ext cx="113665" cy="168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76975" y="1602105"/>
            <a:ext cx="5128895" cy="19888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 rot="5400000">
            <a:off x="6275705" y="1746250"/>
            <a:ext cx="434340" cy="438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35725" y="1881505"/>
            <a:ext cx="113665" cy="168910"/>
          </a:xfrm>
          <a:prstGeom prst="chevron">
            <a:avLst>
              <a:gd name="adj" fmla="val 64013"/>
            </a:avLst>
          </a:prstGeom>
          <a:solidFill>
            <a:srgbClr val="FFFFFF"/>
          </a:solidFill>
        </p:spPr>
      </p:sp>
      <p:sp>
        <p:nvSpPr>
          <p:cNvPr id="25" name="Text 23"/>
          <p:cNvSpPr/>
          <p:nvPr/>
        </p:nvSpPr>
        <p:spPr>
          <a:xfrm>
            <a:off x="6435725" y="1881505"/>
            <a:ext cx="113665" cy="168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76975" y="3923030"/>
            <a:ext cx="5128895" cy="19888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 rot="5400000">
            <a:off x="6275705" y="4067175"/>
            <a:ext cx="434340" cy="438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35725" y="4202430"/>
            <a:ext cx="113665" cy="168910"/>
          </a:xfrm>
          <a:prstGeom prst="chevron">
            <a:avLst>
              <a:gd name="adj" fmla="val 64013"/>
            </a:avLst>
          </a:prstGeom>
          <a:solidFill>
            <a:srgbClr val="FFFFFF"/>
          </a:solidFill>
        </p:spPr>
      </p:sp>
      <p:sp>
        <p:nvSpPr>
          <p:cNvPr id="31" name="Text 29"/>
          <p:cNvSpPr/>
          <p:nvPr/>
        </p:nvSpPr>
        <p:spPr>
          <a:xfrm>
            <a:off x="6435725" y="4202430"/>
            <a:ext cx="113665" cy="168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1926" y="287956"/>
            <a:ext cx="10151745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04- </a:t>
            </a:r>
            <a:r>
              <a:rPr lang="en-US" sz="3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 </a:t>
            </a:r>
            <a:r>
              <a:rPr lang="en-US" sz="3000" b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Experience Flow- 3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1106785" y="693737"/>
            <a:ext cx="235520" cy="0"/>
          </a:xfrm>
          <a:prstGeom prst="line">
            <a:avLst/>
          </a:prstGeom>
          <a:noFill/>
          <a:ln w="31750">
            <a:solidFill>
              <a:srgbClr val="004CC0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11106785" y="754697"/>
            <a:ext cx="235520" cy="0"/>
          </a:xfrm>
          <a:prstGeom prst="line">
            <a:avLst/>
          </a:prstGeom>
          <a:noFill/>
          <a:ln w="31750">
            <a:solidFill>
              <a:srgbClr val="004CC0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11106785" y="815657"/>
            <a:ext cx="235520" cy="0"/>
          </a:xfrm>
          <a:prstGeom prst="line">
            <a:avLst/>
          </a:prstGeom>
          <a:noFill/>
          <a:ln w="31750">
            <a:solidFill>
              <a:srgbClr val="004CC0"/>
            </a:solidFill>
            <a:prstDash val="solid"/>
            <a:headEnd type="none"/>
            <a:tailEnd type="none"/>
          </a:ln>
        </p:spPr>
      </p:sp>
      <p:sp>
        <p:nvSpPr>
          <p:cNvPr id="36" name="Text 34"/>
          <p:cNvSpPr/>
          <p:nvPr/>
        </p:nvSpPr>
        <p:spPr>
          <a:xfrm>
            <a:off x="1351005" y="1489626"/>
            <a:ext cx="4330700" cy="4356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just">
              <a:lnSpc>
                <a:spcPct val="100000"/>
              </a:lnSpc>
            </a:pPr>
            <a:r>
              <a:rPr lang="en-US" sz="1800" b="1">
                <a:solidFill>
                  <a:srgbClr val="004C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AI Model’s </a:t>
            </a:r>
            <a:endParaRPr lang="en-US" sz="1800" b="1">
              <a:solidFill>
                <a:srgbClr val="004CC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00000"/>
              </a:lnSpc>
            </a:pPr>
            <a:r>
              <a:rPr lang="en-US" sz="1800" b="1">
                <a:solidFill>
                  <a:srgbClr val="004C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In-depth Analysis </a:t>
            </a:r>
            <a:endParaRPr lang="en-US" sz="1800" b="1">
              <a:solidFill>
                <a:srgbClr val="004CC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00000"/>
              </a:lnSpc>
            </a:pPr>
            <a:r>
              <a:rPr lang="en-US" sz="1800" b="1">
                <a:solidFill>
                  <a:srgbClr val="004C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Report on </a:t>
            </a:r>
            <a:endParaRPr lang="en-US" sz="1800" b="1">
              <a:solidFill>
                <a:srgbClr val="004CC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00000"/>
              </a:lnSpc>
            </a:pPr>
            <a:r>
              <a:rPr lang="en-US" sz="1800" b="1">
                <a:solidFill>
                  <a:srgbClr val="004C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 Anomalies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364615" y="2153920"/>
            <a:ext cx="4329430" cy="29418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364615" y="4474845"/>
            <a:ext cx="4329430" cy="29418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880860" y="2153920"/>
            <a:ext cx="4329430" cy="29418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880860" y="4474845"/>
            <a:ext cx="4329430" cy="29418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30000"/>
              </a:lnSpc>
            </a:pPr>
            <a:endParaRPr lang="en-US" sz="1600" dirty="0"/>
          </a:p>
        </p:txBody>
      </p:sp>
      <p:pic>
        <p:nvPicPr>
          <p:cNvPr id="8193" name="Picture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3879" y="946150"/>
            <a:ext cx="8223981" cy="5345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 26"/>
          <p:cNvSpPr/>
          <p:nvPr/>
        </p:nvSpPr>
        <p:spPr>
          <a:xfrm>
            <a:off x="967402" y="2814123"/>
            <a:ext cx="2249805" cy="203023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1400" b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Solutions prioritized byissue urgency. Present Al in-depthanalysisreportshighlightingtraceableconclusionstoproviderobust support for problemresolution.</a:t>
            </a:r>
            <a:endParaRPr lang="en-US" sz="1600" b="1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71500"/>
            <a:ext cx="3610749" cy="2159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004CC0"/>
              </a:gs>
            </a:gsLst>
            <a:lin ang="8100000" scaled="1"/>
          </a:gradFill>
        </p:spPr>
      </p:sp>
      <p:sp>
        <p:nvSpPr>
          <p:cNvPr id="3" name="Text 1"/>
          <p:cNvSpPr/>
          <p:nvPr/>
        </p:nvSpPr>
        <p:spPr>
          <a:xfrm>
            <a:off x="0" y="571500"/>
            <a:ext cx="3610749" cy="2159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872490"/>
            <a:ext cx="12189611" cy="0"/>
          </a:xfrm>
          <a:prstGeom prst="line">
            <a:avLst/>
          </a:prstGeom>
          <a:noFill/>
          <a:ln w="19050">
            <a:solidFill>
              <a:srgbClr val="007F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 rot="5940000">
            <a:off x="292735" y="51435"/>
            <a:ext cx="558800" cy="558800"/>
          </a:xfrm>
          <a:prstGeom prst="donut">
            <a:avLst>
              <a:gd name="adj" fmla="val 25000"/>
            </a:avLst>
          </a:prstGeom>
          <a:gradFill flip="none" rotWithShape="1">
            <a:gsLst>
              <a:gs pos="0">
                <a:srgbClr val="004CC0"/>
              </a:gs>
              <a:gs pos="54000">
                <a:srgbClr val="00B0F0">
                  <a:alpha val="3000"/>
                </a:srgbClr>
              </a:gs>
              <a:gs pos="100000">
                <a:srgbClr val="00B0F0">
                  <a:alpha val="3000"/>
                </a:srgbClr>
              </a:gs>
            </a:gsLst>
            <a:lin ang="18900000" scaled="1"/>
          </a:gradFill>
        </p:spPr>
      </p:sp>
      <p:sp>
        <p:nvSpPr>
          <p:cNvPr id="6" name="Text 4"/>
          <p:cNvSpPr/>
          <p:nvPr/>
        </p:nvSpPr>
        <p:spPr>
          <a:xfrm rot="5940000">
            <a:off x="292735" y="51435"/>
            <a:ext cx="558800" cy="55880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0" y="6300621"/>
            <a:ext cx="12308205" cy="570865"/>
          </a:xfrm>
          <a:prstGeom prst="roundRect">
            <a:avLst>
              <a:gd name="adj" fmla="val 0"/>
            </a:avLst>
          </a:prstGeom>
          <a:solidFill>
            <a:srgbClr val="004CC0"/>
          </a:solidFill>
        </p:spPr>
      </p:sp>
      <p:sp>
        <p:nvSpPr>
          <p:cNvPr id="8" name="Text 6"/>
          <p:cNvSpPr/>
          <p:nvPr/>
        </p:nvSpPr>
        <p:spPr>
          <a:xfrm>
            <a:off x="1" y="5208796"/>
            <a:ext cx="12221210" cy="138684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394836" y="1210836"/>
            <a:ext cx="3170555" cy="4673600"/>
          </a:xfrm>
          <a:prstGeom prst="roundRect">
            <a:avLst>
              <a:gd name="adj" fmla="val 5503"/>
            </a:avLst>
          </a:prstGeom>
          <a:solidFill>
            <a:srgbClr val="FFFFFF"/>
          </a:solidFill>
          <a:ln w="19050">
            <a:solidFill>
              <a:srgbClr val="004C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94836" y="1210836"/>
            <a:ext cx="3170555" cy="4673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377181" y="1440071"/>
            <a:ext cx="1206500" cy="1192530"/>
          </a:xfrm>
          <a:prstGeom prst="ellipse">
            <a:avLst/>
          </a:prstGeom>
          <a:solidFill>
            <a:srgbClr val="004CC0"/>
          </a:solidFill>
        </p:spPr>
      </p:sp>
      <p:sp>
        <p:nvSpPr>
          <p:cNvPr id="17" name="Text 14"/>
          <p:cNvSpPr/>
          <p:nvPr/>
        </p:nvSpPr>
        <p:spPr>
          <a:xfrm>
            <a:off x="5377181" y="1440071"/>
            <a:ext cx="1206500" cy="11925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" name="Image 1" descr="https://kimi-img.moonshot.cn/pub/slides/slides_tmpl/image/25-09-04-15:50:53-d2sk9ne1bb2p4onbqeig.png"/>
          <p:cNvPicPr>
            <a:picLocks noChangeAspect="1"/>
          </p:cNvPicPr>
          <p:nvPr/>
        </p:nvPicPr>
        <p:blipFill>
          <a:blip r:embed="rId1"/>
          <a:srcRect l="59" t="-59" r="59" b="59"/>
          <a:stretch>
            <a:fillRect/>
          </a:stretch>
        </p:blipFill>
        <p:spPr>
          <a:xfrm>
            <a:off x="5691861" y="1751431"/>
            <a:ext cx="577140" cy="570488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8014971" y="1210836"/>
            <a:ext cx="3170555" cy="4673600"/>
          </a:xfrm>
          <a:prstGeom prst="roundRect">
            <a:avLst>
              <a:gd name="adj" fmla="val 5503"/>
            </a:avLst>
          </a:prstGeom>
          <a:solidFill>
            <a:srgbClr val="FFFFFF"/>
          </a:solidFill>
          <a:ln w="19050">
            <a:solidFill>
              <a:srgbClr val="004CC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014971" y="1210836"/>
            <a:ext cx="3170555" cy="46736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8997316" y="1440071"/>
            <a:ext cx="1206500" cy="1192530"/>
          </a:xfrm>
          <a:prstGeom prst="ellipse">
            <a:avLst/>
          </a:prstGeom>
          <a:solidFill>
            <a:srgbClr val="004CC0"/>
          </a:solidFill>
        </p:spPr>
      </p:sp>
      <p:sp>
        <p:nvSpPr>
          <p:cNvPr id="22" name="Text 18"/>
          <p:cNvSpPr/>
          <p:nvPr/>
        </p:nvSpPr>
        <p:spPr>
          <a:xfrm>
            <a:off x="8997316" y="1440071"/>
            <a:ext cx="1206500" cy="119253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3" name="Image 2" descr="https://kimi-img.moonshot.cn/pub/slides/slides_tmpl/image/25-09-04-15:50:53-d2sk9ne1bb2p4onbqej0.png"/>
          <p:cNvPicPr>
            <a:picLocks noChangeAspect="1"/>
          </p:cNvPicPr>
          <p:nvPr/>
        </p:nvPicPr>
        <p:blipFill>
          <a:blip r:embed="rId2"/>
          <a:srcRect l="59" t="-59" r="59" b="59"/>
          <a:stretch>
            <a:fillRect/>
          </a:stretch>
        </p:blipFill>
        <p:spPr>
          <a:xfrm>
            <a:off x="9311996" y="1751431"/>
            <a:ext cx="577140" cy="57048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82930" y="211455"/>
            <a:ext cx="10151745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Sans" pitchFamily="34" charset="0"/>
                <a:ea typeface="MiSans" pitchFamily="34" charset="-122"/>
                <a:cs typeface="MiSans" pitchFamily="34" charset="-120"/>
              </a:rPr>
              <a:t>04-</a:t>
            </a:r>
            <a:r>
              <a:rPr lang="zh-CN" altLang="en-US" sz="3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altLang="zh-CN" sz="32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Testing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775336" y="1210836"/>
            <a:ext cx="3170555" cy="4673600"/>
            <a:chOff x="760730" y="1472565"/>
            <a:chExt cx="3170555" cy="4673600"/>
          </a:xfrm>
        </p:grpSpPr>
        <p:sp>
          <p:nvSpPr>
            <p:cNvPr id="9" name="Shape 7"/>
            <p:cNvSpPr/>
            <p:nvPr/>
          </p:nvSpPr>
          <p:spPr>
            <a:xfrm>
              <a:off x="760730" y="1472565"/>
              <a:ext cx="3170555" cy="4673600"/>
            </a:xfrm>
            <a:prstGeom prst="roundRect">
              <a:avLst>
                <a:gd name="adj" fmla="val 5503"/>
              </a:avLst>
            </a:prstGeom>
            <a:solidFill>
              <a:srgbClr val="FFFFFF"/>
            </a:solidFill>
            <a:ln w="19050">
              <a:solidFill>
                <a:srgbClr val="004CC0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760730" y="1472565"/>
              <a:ext cx="3170555" cy="4673600"/>
            </a:xfrm>
            <a:prstGeom prst="rect">
              <a:avLst/>
            </a:prstGeom>
            <a:noFill/>
          </p:spPr>
          <p:txBody>
            <a:bodyPr wrap="square" lIns="45720" tIns="91440" rIns="91440" bIns="4572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1" name="组合 30"/>
            <p:cNvGrpSpPr/>
            <p:nvPr/>
          </p:nvGrpSpPr>
          <p:grpSpPr>
            <a:xfrm>
              <a:off x="947420" y="1701800"/>
              <a:ext cx="2797175" cy="4270558"/>
              <a:chOff x="947420" y="1701800"/>
              <a:chExt cx="2797175" cy="4270558"/>
            </a:xfrm>
          </p:grpSpPr>
          <p:sp>
            <p:nvSpPr>
              <p:cNvPr id="11" name="Shape 9"/>
              <p:cNvSpPr/>
              <p:nvPr/>
            </p:nvSpPr>
            <p:spPr>
              <a:xfrm>
                <a:off x="1743075" y="1701800"/>
                <a:ext cx="1206543" cy="1192530"/>
              </a:xfrm>
              <a:prstGeom prst="ellipse">
                <a:avLst/>
              </a:prstGeom>
              <a:solidFill>
                <a:srgbClr val="004CC0"/>
              </a:solidFill>
            </p:spPr>
          </p:sp>
          <p:sp>
            <p:nvSpPr>
              <p:cNvPr id="12" name="Text 10"/>
              <p:cNvSpPr/>
              <p:nvPr/>
            </p:nvSpPr>
            <p:spPr>
              <a:xfrm>
                <a:off x="1743075" y="1701800"/>
                <a:ext cx="1206543" cy="1192530"/>
              </a:xfrm>
              <a:prstGeom prst="rect">
                <a:avLst/>
              </a:prstGeom>
              <a:noFill/>
            </p:spPr>
            <p:txBody>
              <a:bodyPr wrap="square" lIns="45720" tIns="91440" rIns="91440" bIns="4572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13" name="Image 0" descr="https://kimi-img.moonshot.cn/pub/slides/slides_tmpl/image/25-09-04-15:50:53-d2sk9ne1bb2p4onbqei0.svg"/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 l="50" t="644" r="-50" b="644"/>
              <a:stretch>
                <a:fillRect/>
              </a:stretch>
            </p:blipFill>
            <p:spPr>
              <a:xfrm>
                <a:off x="2057766" y="2013160"/>
                <a:ext cx="577160" cy="570488"/>
              </a:xfrm>
              <a:prstGeom prst="rect">
                <a:avLst/>
              </a:prstGeom>
            </p:spPr>
          </p:pic>
          <p:sp>
            <p:nvSpPr>
              <p:cNvPr id="25" name="Text 20"/>
              <p:cNvSpPr/>
              <p:nvPr/>
            </p:nvSpPr>
            <p:spPr>
              <a:xfrm>
                <a:off x="947420" y="3009265"/>
                <a:ext cx="2797175" cy="669925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/>
              <a:lstStyle/>
              <a:p>
                <a:pPr lvl="0" algn="ctr">
                  <a:defRPr/>
                </a:pPr>
                <a:r>
                  <a:rPr lang="en-US" b="1">
                    <a:solidFill>
                      <a:srgbClr val="004CC0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Test Preparation</a:t>
                </a:r>
                <a:endPara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Text 21"/>
              <p:cNvSpPr/>
              <p:nvPr/>
            </p:nvSpPr>
            <p:spPr>
              <a:xfrm>
                <a:off x="947420" y="3575868"/>
                <a:ext cx="2797175" cy="239649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lvl="0" algn="just">
                  <a:lnSpc>
                    <a:spcPct val="120000"/>
                  </a:lnSpc>
                  <a:defRPr/>
                </a:pPr>
                <a:r>
                  <a:rPr lang="en-US" altLang="zh-CN" b="1" dirty="0">
                    <a:solidFill>
                      <a:srgbClr val="000000"/>
                    </a:solidFill>
                    <a:latin typeface="MiSans" pitchFamily="34" charset="0"/>
                    <a:ea typeface="MiSans" pitchFamily="34" charset="-122"/>
                    <a:cs typeface="MiSans" pitchFamily="34" charset="-120"/>
                  </a:rPr>
                  <a:t>Establish a multi-environment testing matrix, prepare test datasets and tools, and organize tester training to support end-to-end testing.</a:t>
                </a:r>
                <a:endPara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7" name="Text 22"/>
          <p:cNvSpPr/>
          <p:nvPr/>
        </p:nvSpPr>
        <p:spPr>
          <a:xfrm>
            <a:off x="4581526" y="2757696"/>
            <a:ext cx="2797175" cy="66992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lvl="0" algn="ctr">
              <a:defRPr/>
            </a:pPr>
            <a:r>
              <a:rPr lang="en-US" altLang="zh-CN" b="1">
                <a:solidFill>
                  <a:srgbClr val="004C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Test Case Execution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3"/>
          <p:cNvSpPr/>
          <p:nvPr/>
        </p:nvSpPr>
        <p:spPr>
          <a:xfrm>
            <a:off x="4581526" y="3107866"/>
            <a:ext cx="2890203" cy="272888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 algn="just">
              <a:lnSpc>
                <a:spcPct val="120000"/>
              </a:lnSpc>
              <a:defRPr/>
            </a:pPr>
            <a:r>
              <a:rPr lang="en-US" altLang="zh-CN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Execute test cases according to priority: P0 (Blocking) → P1 (High) → P2 (Medium) → P3 (Low), and document execution results and defects in detail.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4"/>
          <p:cNvSpPr/>
          <p:nvPr/>
        </p:nvSpPr>
        <p:spPr>
          <a:xfrm>
            <a:off x="8201661" y="2757696"/>
            <a:ext cx="2797175" cy="66992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lvl="0" algn="ctr">
              <a:defRPr/>
            </a:pPr>
            <a:r>
              <a:rPr lang="en-US" altLang="zh-CN" b="1">
                <a:solidFill>
                  <a:srgbClr val="004C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Defect Management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5"/>
          <p:cNvSpPr/>
          <p:nvPr/>
        </p:nvSpPr>
        <p:spPr>
          <a:xfrm>
            <a:off x="8202296" y="3403491"/>
            <a:ext cx="2708910" cy="173169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 algn="just">
              <a:lnSpc>
                <a:spcPct val="120000"/>
              </a:lnSpc>
              <a:defRPr/>
            </a:pPr>
            <a:r>
              <a:rPr lang="en-US" altLang="zh-CN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Track defects </a:t>
            </a:r>
            <a:r>
              <a:rPr lang="en-US" altLang="zh-CN" b="1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contin-uously</a:t>
            </a:r>
            <a:r>
              <a:rPr lang="en-US" altLang="zh-CN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and perform regression testing for resolved issues to ensure stability.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9"/>
          <p:cNvSpPr/>
          <p:nvPr/>
        </p:nvSpPr>
        <p:spPr>
          <a:xfrm rot="5400000">
            <a:off x="759460" y="1746250"/>
            <a:ext cx="434340" cy="438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0730" y="3923030"/>
            <a:ext cx="5128895" cy="19888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19480" y="4202430"/>
            <a:ext cx="113665" cy="168910"/>
          </a:xfrm>
          <a:prstGeom prst="chevron">
            <a:avLst>
              <a:gd name="adj" fmla="val 64013"/>
            </a:avLst>
          </a:prstGeom>
          <a:solidFill>
            <a:srgbClr val="FFFFFF"/>
          </a:solidFill>
        </p:spPr>
      </p:sp>
      <p:sp>
        <p:nvSpPr>
          <p:cNvPr id="19" name="Text 17"/>
          <p:cNvSpPr/>
          <p:nvPr/>
        </p:nvSpPr>
        <p:spPr>
          <a:xfrm>
            <a:off x="919480" y="4202430"/>
            <a:ext cx="113665" cy="168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76975" y="1602105"/>
            <a:ext cx="5128895" cy="19888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 rot="5400000">
            <a:off x="2844905" y="4341183"/>
            <a:ext cx="434340" cy="438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004925" y="4476438"/>
            <a:ext cx="113665" cy="168910"/>
          </a:xfrm>
          <a:prstGeom prst="chevron">
            <a:avLst>
              <a:gd name="adj" fmla="val 64013"/>
            </a:avLst>
          </a:prstGeom>
          <a:solidFill>
            <a:srgbClr val="FFFFFF"/>
          </a:solidFill>
        </p:spPr>
      </p:sp>
      <p:sp>
        <p:nvSpPr>
          <p:cNvPr id="25" name="Text 23"/>
          <p:cNvSpPr/>
          <p:nvPr/>
        </p:nvSpPr>
        <p:spPr>
          <a:xfrm>
            <a:off x="3004925" y="4476438"/>
            <a:ext cx="113665" cy="168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76975" y="3923030"/>
            <a:ext cx="5128895" cy="19888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18004" y="4202430"/>
            <a:ext cx="113665" cy="168910"/>
          </a:xfrm>
          <a:prstGeom prst="chevron">
            <a:avLst>
              <a:gd name="adj" fmla="val 64013"/>
            </a:avLst>
          </a:prstGeom>
          <a:solidFill>
            <a:srgbClr val="FFFFFF"/>
          </a:solidFill>
        </p:spPr>
      </p:sp>
      <p:sp>
        <p:nvSpPr>
          <p:cNvPr id="31" name="Text 29"/>
          <p:cNvSpPr/>
          <p:nvPr/>
        </p:nvSpPr>
        <p:spPr>
          <a:xfrm>
            <a:off x="6318004" y="4202430"/>
            <a:ext cx="113665" cy="168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93485" y="279737"/>
            <a:ext cx="10151745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04- T</a:t>
            </a:r>
            <a:r>
              <a:rPr lang="en-US" altLang="zh-CN" sz="3000" b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esting Result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364615" y="2153920"/>
            <a:ext cx="4329430" cy="29418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364615" y="4474845"/>
            <a:ext cx="4329430" cy="29418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880860" y="2153920"/>
            <a:ext cx="4329430" cy="29418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880860" y="4474845"/>
            <a:ext cx="4329430" cy="29418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30000"/>
              </a:lnSpc>
            </a:pPr>
            <a:endParaRPr lang="en-US" sz="1600" dirty="0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1548" y="1152667"/>
            <a:ext cx="3285450" cy="2512403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7386" y="833735"/>
            <a:ext cx="3724465" cy="2848121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4916" y="1165839"/>
            <a:ext cx="3435538" cy="2425085"/>
          </a:xfrm>
          <a:prstGeom prst="rect">
            <a:avLst/>
          </a:prstGeom>
        </p:spPr>
      </p:pic>
      <p:sp>
        <p:nvSpPr>
          <p:cNvPr id="54" name="Text 25"/>
          <p:cNvSpPr/>
          <p:nvPr/>
        </p:nvSpPr>
        <p:spPr>
          <a:xfrm>
            <a:off x="498371" y="3775213"/>
            <a:ext cx="3365912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b="1" dirty="0">
                <a:solidFill>
                  <a:srgbClr val="1D3E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Latency Performance</a:t>
            </a:r>
            <a:endParaRPr lang="en-US" b="1" dirty="0"/>
          </a:p>
        </p:txBody>
      </p:sp>
      <p:sp>
        <p:nvSpPr>
          <p:cNvPr id="57" name="Text 25"/>
          <p:cNvSpPr/>
          <p:nvPr/>
        </p:nvSpPr>
        <p:spPr>
          <a:xfrm>
            <a:off x="4460910" y="3768288"/>
            <a:ext cx="2857430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b="1" dirty="0">
                <a:solidFill>
                  <a:srgbClr val="1D3E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Success Rate</a:t>
            </a:r>
            <a:endParaRPr lang="en-US" b="1" dirty="0"/>
          </a:p>
        </p:txBody>
      </p:sp>
      <p:sp>
        <p:nvSpPr>
          <p:cNvPr id="58" name="Text 25"/>
          <p:cNvSpPr/>
          <p:nvPr/>
        </p:nvSpPr>
        <p:spPr>
          <a:xfrm>
            <a:off x="8091725" y="3766044"/>
            <a:ext cx="398610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b="1" dirty="0">
                <a:solidFill>
                  <a:srgbClr val="1D3E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Resource Utilization</a:t>
            </a:r>
            <a:endParaRPr lang="en-US" b="1" dirty="0"/>
          </a:p>
        </p:txBody>
      </p:sp>
      <p:sp>
        <p:nvSpPr>
          <p:cNvPr id="59" name="Text 26"/>
          <p:cNvSpPr/>
          <p:nvPr/>
        </p:nvSpPr>
        <p:spPr>
          <a:xfrm>
            <a:off x="539008" y="4347021"/>
            <a:ext cx="3021266" cy="143116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sz="1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Latency (average, 95th percentile, 99th percentile) increases with concurrency (0–200 users) but remains within acceptable limits.</a:t>
            </a:r>
            <a:endParaRPr lang="en-US" sz="1600" b="1" dirty="0">
              <a:solidFill>
                <a:srgbClr val="00000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60" name="Text 26"/>
          <p:cNvSpPr/>
          <p:nvPr/>
        </p:nvSpPr>
        <p:spPr>
          <a:xfrm>
            <a:off x="4467823" y="4323585"/>
            <a:ext cx="2918038" cy="8908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sz="1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Request success rate stays above 97% across all concurrency levels.</a:t>
            </a:r>
            <a:endParaRPr lang="en-US" sz="1600" b="1" dirty="0"/>
          </a:p>
        </p:txBody>
      </p:sp>
      <p:sp>
        <p:nvSpPr>
          <p:cNvPr id="61" name="Text 26"/>
          <p:cNvSpPr/>
          <p:nvPr/>
        </p:nvSpPr>
        <p:spPr>
          <a:xfrm>
            <a:off x="8044457" y="4363585"/>
            <a:ext cx="3697394" cy="11617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sz="1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GPU utilization (&gt;70%) and memory usage (~3000MB) grow reasonably under 200 concurrent users without resource exhaustion.</a:t>
            </a:r>
            <a:endParaRPr lang="en-US" sz="1600" b="1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7"/>
          <p:cNvSpPr/>
          <p:nvPr/>
        </p:nvSpPr>
        <p:spPr>
          <a:xfrm>
            <a:off x="760730" y="1602105"/>
            <a:ext cx="5128895" cy="19888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 rot="5400000">
            <a:off x="759460" y="1746250"/>
            <a:ext cx="434340" cy="438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0730" y="3923030"/>
            <a:ext cx="5128895" cy="19888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 rot="5400000">
            <a:off x="759460" y="4067175"/>
            <a:ext cx="434340" cy="438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19480" y="4202430"/>
            <a:ext cx="113665" cy="168910"/>
          </a:xfrm>
          <a:prstGeom prst="chevron">
            <a:avLst>
              <a:gd name="adj" fmla="val 64013"/>
            </a:avLst>
          </a:prstGeom>
          <a:solidFill>
            <a:srgbClr val="FFFFFF"/>
          </a:solidFill>
        </p:spPr>
      </p:sp>
      <p:sp>
        <p:nvSpPr>
          <p:cNvPr id="19" name="Text 17"/>
          <p:cNvSpPr/>
          <p:nvPr/>
        </p:nvSpPr>
        <p:spPr>
          <a:xfrm>
            <a:off x="919480" y="4202430"/>
            <a:ext cx="113665" cy="168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76975" y="1602105"/>
            <a:ext cx="5128895" cy="198882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 rot="5400000">
            <a:off x="6275705" y="1746250"/>
            <a:ext cx="434340" cy="438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35725" y="1881505"/>
            <a:ext cx="113665" cy="168910"/>
          </a:xfrm>
          <a:prstGeom prst="chevron">
            <a:avLst>
              <a:gd name="adj" fmla="val 64013"/>
            </a:avLst>
          </a:prstGeom>
          <a:solidFill>
            <a:srgbClr val="FFFFFF"/>
          </a:solidFill>
        </p:spPr>
      </p:sp>
      <p:sp>
        <p:nvSpPr>
          <p:cNvPr id="25" name="Text 23"/>
          <p:cNvSpPr/>
          <p:nvPr/>
        </p:nvSpPr>
        <p:spPr>
          <a:xfrm>
            <a:off x="6435725" y="1881505"/>
            <a:ext cx="113665" cy="168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 rot="5400000">
            <a:off x="6275705" y="4067175"/>
            <a:ext cx="434340" cy="438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35725" y="4202430"/>
            <a:ext cx="113665" cy="168910"/>
          </a:xfrm>
          <a:prstGeom prst="chevron">
            <a:avLst>
              <a:gd name="adj" fmla="val 64013"/>
            </a:avLst>
          </a:prstGeom>
          <a:solidFill>
            <a:srgbClr val="FFFFFF"/>
          </a:solidFill>
        </p:spPr>
      </p:sp>
      <p:sp>
        <p:nvSpPr>
          <p:cNvPr id="31" name="Text 29"/>
          <p:cNvSpPr/>
          <p:nvPr/>
        </p:nvSpPr>
        <p:spPr>
          <a:xfrm>
            <a:off x="6435725" y="4202430"/>
            <a:ext cx="113665" cy="168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1926" y="287956"/>
            <a:ext cx="10151745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04- Testing Result: F1 Score Comparison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1106785" y="693737"/>
            <a:ext cx="235520" cy="0"/>
          </a:xfrm>
          <a:prstGeom prst="line">
            <a:avLst/>
          </a:prstGeom>
          <a:noFill/>
          <a:ln w="31750">
            <a:solidFill>
              <a:srgbClr val="004CC0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11106785" y="754697"/>
            <a:ext cx="235520" cy="0"/>
          </a:xfrm>
          <a:prstGeom prst="line">
            <a:avLst/>
          </a:prstGeom>
          <a:noFill/>
          <a:ln w="31750">
            <a:solidFill>
              <a:srgbClr val="004CC0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11106785" y="815657"/>
            <a:ext cx="235520" cy="0"/>
          </a:xfrm>
          <a:prstGeom prst="line">
            <a:avLst/>
          </a:prstGeom>
          <a:noFill/>
          <a:ln w="31750">
            <a:solidFill>
              <a:srgbClr val="004CC0"/>
            </a:solidFill>
            <a:prstDash val="solid"/>
            <a:headEnd type="none"/>
            <a:tailEnd type="none"/>
          </a:ln>
        </p:spPr>
      </p:sp>
      <p:sp>
        <p:nvSpPr>
          <p:cNvPr id="37" name="Text 35"/>
          <p:cNvSpPr/>
          <p:nvPr/>
        </p:nvSpPr>
        <p:spPr>
          <a:xfrm>
            <a:off x="1364615" y="2153920"/>
            <a:ext cx="4329430" cy="29418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364615" y="4474845"/>
            <a:ext cx="4329430" cy="29418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880860" y="2153920"/>
            <a:ext cx="4329430" cy="29418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880860" y="4474845"/>
            <a:ext cx="4329430" cy="29418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30000"/>
              </a:lnSpc>
            </a:pPr>
            <a:endParaRPr lang="en-US" sz="1600" dirty="0"/>
          </a:p>
        </p:txBody>
      </p:sp>
      <p:pic>
        <p:nvPicPr>
          <p:cNvPr id="53" name="图片 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1746" y="899681"/>
            <a:ext cx="7558636" cy="4667210"/>
          </a:xfrm>
          <a:prstGeom prst="rect">
            <a:avLst/>
          </a:prstGeom>
        </p:spPr>
      </p:pic>
      <p:sp>
        <p:nvSpPr>
          <p:cNvPr id="10" name="Text 26"/>
          <p:cNvSpPr/>
          <p:nvPr/>
        </p:nvSpPr>
        <p:spPr>
          <a:xfrm>
            <a:off x="774381" y="5713258"/>
            <a:ext cx="10656889" cy="99116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Comparison of F1-scores across multiple log analysis methods (e.g., </a:t>
            </a:r>
            <a:r>
              <a:rPr lang="en-US" b="1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FastLogD</a:t>
            </a:r>
            <a:r>
              <a:rPr lang="en-US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r>
              <a:rPr lang="en-US" b="1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LogLLM</a:t>
            </a:r>
            <a:r>
              <a:rPr lang="en-US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).</a:t>
            </a:r>
            <a:endParaRPr lang="en-US" b="1" dirty="0"/>
          </a:p>
          <a:p>
            <a:pPr algn="just">
              <a:lnSpc>
                <a:spcPct val="110000"/>
              </a:lnSpc>
            </a:pPr>
            <a:r>
              <a:rPr lang="en-US" b="1" dirty="0" err="1"/>
              <a:t>LogLLM</a:t>
            </a:r>
            <a:r>
              <a:rPr lang="en-US" b="1" dirty="0"/>
              <a:t> (rightmost) achieves the highest F1-score (≈1.0), significantly outperforming other methods such as HDFS and IGL, and exceeding the average benchmark.</a:t>
            </a:r>
            <a:endParaRPr lang="en-US" b="1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EFF6FC"/>
            </a:gs>
            <a:gs pos="100000">
              <a:srgbClr val="BED7E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7:19:39-d3jnsaos8jdo4os5dls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0"/>
            <a:ext cx="11826240" cy="6492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7075" y="756100"/>
            <a:ext cx="237324" cy="0"/>
          </a:xfrm>
          <a:prstGeom prst="line">
            <a:avLst/>
          </a:prstGeom>
          <a:noFill/>
          <a:ln w="31750">
            <a:solidFill>
              <a:srgbClr val="004CC0"/>
            </a:solidFill>
            <a:prstDash val="solid"/>
            <a:headEnd type="none"/>
            <a:tailEnd type="none"/>
          </a:ln>
        </p:spPr>
      </p:sp>
      <p:sp>
        <p:nvSpPr>
          <p:cNvPr id="4" name="Shape 1"/>
          <p:cNvSpPr/>
          <p:nvPr/>
        </p:nvSpPr>
        <p:spPr>
          <a:xfrm>
            <a:off x="667075" y="821637"/>
            <a:ext cx="237324" cy="0"/>
          </a:xfrm>
          <a:prstGeom prst="line">
            <a:avLst/>
          </a:prstGeom>
          <a:noFill/>
          <a:ln w="31750">
            <a:solidFill>
              <a:srgbClr val="004CC0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667075" y="887173"/>
            <a:ext cx="237324" cy="0"/>
          </a:xfrm>
          <a:prstGeom prst="line">
            <a:avLst/>
          </a:prstGeom>
          <a:noFill/>
          <a:ln w="31750">
            <a:solidFill>
              <a:srgbClr val="004CC0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3121978" y="3770882"/>
            <a:ext cx="774258" cy="76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" name="Text 4"/>
          <p:cNvSpPr/>
          <p:nvPr/>
        </p:nvSpPr>
        <p:spPr>
          <a:xfrm>
            <a:off x="3121978" y="3770882"/>
            <a:ext cx="774258" cy="7620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390388" y="3808982"/>
            <a:ext cx="566757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pic>
        <p:nvPicPr>
          <p:cNvPr id="10" name="Image 2" descr="https://kimi-img.moonshot.cn/pub/slides/slides_tmpl/image/25-10-09-17:19:39-d3jnsaos8jdo4os5dlq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98210"/>
            <a:ext cx="12192000" cy="85979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564097" y="1886837"/>
            <a:ext cx="7708900" cy="15430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0000" b="1" dirty="0">
                <a:solidFill>
                  <a:srgbClr val="004CC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THANKS</a:t>
            </a:r>
            <a:endParaRPr lang="en-US" sz="1600" dirty="0"/>
          </a:p>
        </p:txBody>
      </p:sp>
      <p:pic>
        <p:nvPicPr>
          <p:cNvPr id="13" name="Image 3" descr="https://kimi-img.moonshot.cn/pub/slides/slides_tmpl/image/25-10-09-17:19:39-d3jnsaos8jdo4os5dlq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1615" y="4362067"/>
            <a:ext cx="4526915" cy="59753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939156" y="4446085"/>
            <a:ext cx="235013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Date：</a:t>
            </a:r>
            <a:r>
              <a:rPr lang="en-US" sz="1400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2025/12/10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4140201" y="4446085"/>
            <a:ext cx="166687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dirty="0" err="1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Goup</a:t>
            </a:r>
            <a:r>
              <a:rPr lang="en-US" sz="1400" b="1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</a:t>
            </a:r>
            <a:r>
              <a:rPr lang="zh-CN" altLang="en-US" sz="1400" b="1" dirty="0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altLang="zh-CN" sz="1400" dirty="0" err="1">
                <a:solidFill>
                  <a:srgbClr val="40404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GitCommit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4CC0"/>
      </a:accent1>
      <a:accent2>
        <a:srgbClr val="00B0F0"/>
      </a:accent2>
      <a:accent3>
        <a:srgbClr val="1D3EBF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6466</Words>
  <Application>WPS 演示</Application>
  <PresentationFormat>宽屏</PresentationFormat>
  <Paragraphs>269</Paragraphs>
  <Slides>22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43" baseType="lpstr">
      <vt:lpstr>Arial</vt:lpstr>
      <vt:lpstr>宋体</vt:lpstr>
      <vt:lpstr>Wingdings</vt:lpstr>
      <vt:lpstr>Times New Roman</vt:lpstr>
      <vt:lpstr>MiSans</vt:lpstr>
      <vt:lpstr>苹方-简</vt:lpstr>
      <vt:lpstr>MiSans</vt:lpstr>
      <vt:lpstr>MiSans</vt:lpstr>
      <vt:lpstr>Calibri</vt:lpstr>
      <vt:lpstr>Courier New</vt:lpstr>
      <vt:lpstr>等线</vt:lpstr>
      <vt:lpstr>等线</vt:lpstr>
      <vt:lpstr>Helvetica Neue</vt:lpstr>
      <vt:lpstr>微软雅黑</vt:lpstr>
      <vt:lpstr>汉仪旗黑</vt:lpstr>
      <vt:lpstr>宋体</vt:lpstr>
      <vt:lpstr>Arial Unicode MS</vt:lpstr>
      <vt:lpstr>汉仪中等线KW</vt:lpstr>
      <vt:lpstr>汉仪书宋二KW</vt:lpstr>
      <vt:lpstr>等线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Log Analyzer for VS Code</dc:title>
  <dc:creator>Kimi</dc:creator>
  <dc:subject>AI-Driven Log Analyzer for VS Code</dc:subject>
  <cp:lastModifiedBy>lwh</cp:lastModifiedBy>
  <cp:revision>25</cp:revision>
  <dcterms:created xsi:type="dcterms:W3CDTF">2025-12-04T09:34:02Z</dcterms:created>
  <dcterms:modified xsi:type="dcterms:W3CDTF">2025-12-04T09:34:02Z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{"Label":"AI-Driven Log Analyzer for VS Code","ContentProducer":"001191110108MACG2KBH8F10000","ProduceID":"d4c8u92hra0c0g0gjp9g","ReservedCode1":"","ContentPropagator":"001191110108MACG2KBH8F20000","PropagateID":"d4c8u92hra0c0g0gjp9g","ReservedCode2":""}</vt:lpwstr>
  </property>
  <property fmtid="{D5CDD505-2E9C-101B-9397-08002B2CF9AE}" pid="3" name="ICV">
    <vt:lpwstr>F7270F48BDCF0B9E8A55316973422391_42</vt:lpwstr>
  </property>
  <property fmtid="{D5CDD505-2E9C-101B-9397-08002B2CF9AE}" pid="4" name="KSOProductBuildVer">
    <vt:lpwstr>2052-7.4.1.8983</vt:lpwstr>
  </property>
</Properties>
</file>