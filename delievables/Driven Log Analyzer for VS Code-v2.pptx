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0C_0.xml" ContentType="application/vnd.ms-powerpoint.comments+xml"/>
  <Override PartName="/ppt/notesSlides/notesSlide21.xml" ContentType="application/vnd.openxmlformats-officedocument.presentationml.notesSlide+xml"/>
  <Override PartName="/ppt/comments/modernComment_117_48762DB8.xml" ContentType="application/vnd.ms-powerpoint.comments+xml"/>
  <Override PartName="/ppt/notesSlides/notesSlide22.xml" ContentType="application/vnd.openxmlformats-officedocument.presentationml.notesSlide+xml"/>
  <Override PartName="/ppt/comments/modernComment_118_D079A3A2.xml" ContentType="application/vnd.ms-powerpoint.comments+xml"/>
  <Override PartName="/ppt/notesSlides/notesSlide23.xml" ContentType="application/vnd.openxmlformats-officedocument.presentationml.notesSlide+xml"/>
  <Override PartName="/ppt/comments/modernComment_11E_0.xml" ContentType="application/vnd.ms-powerpoint.comments+xml"/>
  <Override PartName="/ppt/notesSlides/notesSlide24.xml" ContentType="application/vnd.openxmlformats-officedocument.presentationml.notesSlide+xml"/>
  <Override PartName="/ppt/comments/modernComment_128_2E7E647E.xml" ContentType="application/vnd.ms-powerpoint.comments+xml"/>
  <Override PartName="/ppt/notesSlides/notesSlide25.xml" ContentType="application/vnd.openxmlformats-officedocument.presentationml.notesSlide+xml"/>
  <Override PartName="/ppt/comments/modernComment_129_8A996B84.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9" r:id="rId4"/>
    <p:sldId id="295" r:id="rId5"/>
    <p:sldId id="260" r:id="rId6"/>
    <p:sldId id="261" r:id="rId7"/>
    <p:sldId id="265" r:id="rId8"/>
    <p:sldId id="278" r:id="rId9"/>
    <p:sldId id="264" r:id="rId10"/>
    <p:sldId id="283" r:id="rId11"/>
    <p:sldId id="263" r:id="rId12"/>
    <p:sldId id="285" r:id="rId13"/>
    <p:sldId id="281" r:id="rId14"/>
    <p:sldId id="270" r:id="rId15"/>
    <p:sldId id="288" r:id="rId16"/>
    <p:sldId id="291" r:id="rId17"/>
    <p:sldId id="292" r:id="rId18"/>
    <p:sldId id="258" r:id="rId19"/>
    <p:sldId id="266" r:id="rId20"/>
    <p:sldId id="268" r:id="rId21"/>
    <p:sldId id="279" r:id="rId22"/>
    <p:sldId id="280" r:id="rId23"/>
    <p:sldId id="286" r:id="rId24"/>
    <p:sldId id="296" r:id="rId25"/>
    <p:sldId id="297" r:id="rId26"/>
    <p:sldId id="293" r:id="rId27"/>
    <p:sldId id="294" r:id="rId28"/>
    <p:sldId id="274" r:id="rId29"/>
    <p:sldId id="275" r:id="rId30"/>
    <p:sldId id="276" r:id="rId31"/>
    <p:sldId id="277" r:id="rId32"/>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992775-526D-7E32-41C6-9B941F8FA17E}" name="LD Lorinder" initials="LL" userId="9f34538856aeb25c" providerId="Windows Live"/>
  <p188:author id="{7CB2EDD8-9B47-2FCA-979B-9062368EEE32}" name="爽 冷" initials="爽冷" userId="5350fdbd5c0e5e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5999"/>
    <a:srgbClr val="1D3EBF"/>
    <a:srgbClr val="004C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10"/>
  </p:normalViewPr>
  <p:slideViewPr>
    <p:cSldViewPr snapToGrid="0" snapToObjects="1">
      <p:cViewPr varScale="1">
        <p:scale>
          <a:sx n="74" d="100"/>
          <a:sy n="74" d="100"/>
        </p:scale>
        <p:origin x="77"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omments/modernComment_10C_0.xml><?xml version="1.0" encoding="utf-8"?>
<p188:cmLst xmlns:a="http://schemas.openxmlformats.org/drawingml/2006/main" xmlns:r="http://schemas.openxmlformats.org/officeDocument/2006/relationships" xmlns:p188="http://schemas.microsoft.com/office/powerpoint/2018/8/main">
  <p188:cm id="{6CD9BA1F-E38A-4D9E-8C4B-CD8BC6F29DFE}"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0" sldId="268"/>
      <ac:spMk id="32" creationId="{00000000-0000-0000-0000-000000000000}"/>
    </ac:deMkLst>
    <p188:txBody>
      <a:bodyPr/>
      <a:lstStyle/>
      <a:p>
        <a:r>
          <a:rPr lang="zh-CN" altLang="en-US"/>
          <a:t>关于每一步操作的截图</a:t>
        </a:r>
      </a:p>
    </p188:txBody>
  </p188:cm>
</p188:cmLst>
</file>

<file path=ppt/comments/modernComment_11E_0.xml><?xml version="1.0" encoding="utf-8"?>
<p188:cmLst xmlns:a="http://schemas.openxmlformats.org/drawingml/2006/main" xmlns:r="http://schemas.openxmlformats.org/officeDocument/2006/relationships" xmlns:p188="http://schemas.microsoft.com/office/powerpoint/2018/8/main">
  <p188:cm id="{87069952-2F26-4059-B3D4-247CD289DC6D}" authorId="{FF992775-526D-7E32-41C6-9B941F8FA17E}" created="2025-12-04T05:39:56.441">
    <ac:txMkLst xmlns:ac="http://schemas.microsoft.com/office/drawing/2013/main/command">
      <pc:docMk xmlns:pc="http://schemas.microsoft.com/office/powerpoint/2013/main/command"/>
      <pc:sldMk xmlns:pc="http://schemas.microsoft.com/office/powerpoint/2013/main/command" cId="0" sldId="286"/>
      <ac:spMk id="24" creationId="{00000000-0000-0000-0000-000000000000}"/>
      <ac:txMk cp="3" len="2">
        <ac:context len="6" hash="1973434366"/>
      </ac:txMk>
    </ac:txMkLst>
    <p188:pos x="1474470" y="287309"/>
    <p188:txBody>
      <a:bodyPr/>
      <a:lstStyle/>
      <a:p>
        <a:r>
          <a:rPr lang="zh-CN" altLang="en-US"/>
          <a:t>Testing</a:t>
        </a:r>
      </a:p>
    </p188:txBody>
  </p188:cm>
  <p188:cm id="{6DBB7A26-A142-4134-BD0D-0E7711E3F58A}" authorId="{FF992775-526D-7E32-41C6-9B941F8FA17E}" created="2025-12-04T05:45:16.662">
    <ac:txMkLst xmlns:ac="http://schemas.microsoft.com/office/drawing/2013/main/command">
      <pc:docMk xmlns:pc="http://schemas.microsoft.com/office/powerpoint/2013/main/command"/>
      <pc:sldMk xmlns:pc="http://schemas.microsoft.com/office/powerpoint/2013/main/command" cId="0" sldId="286"/>
      <ac:spMk id="30" creationId="{00000000-0000-0000-0000-000000000000}"/>
      <ac:txMk cp="18" len="4">
        <ac:context len="190" hash="3221022834"/>
      </ac:txMk>
    </ac:txMkLst>
    <p188:pos x="2743546" y="293716"/>
    <p188:txBody>
      <a:bodyPr/>
      <a:lstStyle/>
      <a:p>
        <a:r>
          <a:rPr lang="zh-CN" altLang="en-US"/>
          <a:t>我们好像没使用Jira，这部分需要改一下下</a:t>
        </a:r>
      </a:p>
    </p188:txBody>
  </p188:cm>
  <p188:cm id="{BEBD5E26-99FF-4B1C-B3DD-E196F3AC3D1B}" authorId="{FF992775-526D-7E32-41C6-9B941F8FA17E}" created="2025-12-04T05:45:42.745">
    <ac:txMkLst xmlns:ac="http://schemas.microsoft.com/office/drawing/2013/main/command">
      <pc:docMk xmlns:pc="http://schemas.microsoft.com/office/powerpoint/2013/main/command"/>
      <pc:sldMk xmlns:pc="http://schemas.microsoft.com/office/powerpoint/2013/main/command" cId="0" sldId="286"/>
      <ac:spMk id="26" creationId="{00000000-0000-0000-0000-000000000000}"/>
      <ac:txMk cp="12" len="24">
        <ac:context len="144" hash="3552516913"/>
      </ac:txMk>
    </ac:txMkLst>
    <p188:pos x="2927754" y="293485"/>
    <p188:txBody>
      <a:bodyPr/>
      <a:lstStyle/>
      <a:p>
        <a:r>
          <a:rPr lang="zh-CN" altLang="en-US"/>
          <a:t>这里有多个地方英文单词之间的空格消失了
</a:t>
        </a:r>
      </a:p>
    </p188:txBody>
  </p188:cm>
</p188:cmLst>
</file>

<file path=ppt/comments/modernComment_117_48762DB8.xml><?xml version="1.0" encoding="utf-8"?>
<p188:cmLst xmlns:a="http://schemas.openxmlformats.org/drawingml/2006/main" xmlns:r="http://schemas.openxmlformats.org/officeDocument/2006/relationships" xmlns:p188="http://schemas.microsoft.com/office/powerpoint/2018/8/main">
  <p188:cm id="{3433138E-D7A4-4130-ABB1-47A9754608C7}"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1215704504" sldId="279"/>
      <ac:spMk id="32" creationId="{2601A35F-63FA-2959-1524-CF50530A309A}"/>
    </ac:deMkLst>
    <p188:txBody>
      <a:bodyPr/>
      <a:lstStyle/>
      <a:p>
        <a:r>
          <a:rPr lang="zh-CN" altLang="en-US"/>
          <a:t>关于每一步操作的截图</a:t>
        </a:r>
      </a:p>
    </p188:txBody>
  </p188:cm>
</p188:cmLst>
</file>

<file path=ppt/comments/modernComment_118_D079A3A2.xml><?xml version="1.0" encoding="utf-8"?>
<p188:cmLst xmlns:a="http://schemas.openxmlformats.org/drawingml/2006/main" xmlns:r="http://schemas.openxmlformats.org/officeDocument/2006/relationships" xmlns:p188="http://schemas.microsoft.com/office/powerpoint/2018/8/main">
  <p188:cm id="{1EBAC4E2-1067-4D8A-B626-CA3F7001309B}"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3497632674" sldId="280"/>
      <ac:spMk id="32" creationId="{F8E01097-4384-68B9-7AAC-577BC260EF6F}"/>
    </ac:deMkLst>
    <p188:txBody>
      <a:bodyPr/>
      <a:lstStyle/>
      <a:p>
        <a:r>
          <a:rPr lang="zh-CN" altLang="en-US"/>
          <a:t>关于每一步操作的截图</a:t>
        </a:r>
      </a:p>
    </p188:txBody>
  </p188:cm>
</p188:cmLst>
</file>

<file path=ppt/comments/modernComment_128_2E7E647E.xml><?xml version="1.0" encoding="utf-8"?>
<p188:cmLst xmlns:a="http://schemas.openxmlformats.org/drawingml/2006/main" xmlns:r="http://schemas.openxmlformats.org/officeDocument/2006/relationships" xmlns:p188="http://schemas.microsoft.com/office/powerpoint/2018/8/main">
  <p188:cm id="{2864E0A3-2481-4447-8E0D-928F32EB0072}" authorId="{FF992775-526D-7E32-41C6-9B941F8FA17E}" created="2025-12-04T05:40:44.404">
    <ac:deMkLst xmlns:ac="http://schemas.microsoft.com/office/drawing/2013/main/command">
      <pc:docMk xmlns:pc="http://schemas.microsoft.com/office/powerpoint/2013/main/command"/>
      <pc:sldMk xmlns:pc="http://schemas.microsoft.com/office/powerpoint/2013/main/command" cId="780035198" sldId="296"/>
      <ac:spMk id="2" creationId="{2931E309-7A27-67C6-6D7A-07C21B21B51B}"/>
    </ac:deMkLst>
    <p188:txBody>
      <a:bodyPr/>
      <a:lstStyle/>
      <a:p>
        <a:r>
          <a:rPr lang="zh-CN" altLang="en-US"/>
          <a:t>改成三个横排图，下方是文字。</a:t>
        </a:r>
      </a:p>
    </p188:txBody>
  </p188:cm>
</p188:cmLst>
</file>

<file path=ppt/comments/modernComment_129_8A996B84.xml><?xml version="1.0" encoding="utf-8"?>
<p188:cmLst xmlns:a="http://schemas.openxmlformats.org/drawingml/2006/main" xmlns:r="http://schemas.openxmlformats.org/officeDocument/2006/relationships" xmlns:p188="http://schemas.microsoft.com/office/powerpoint/2018/8/main">
  <p188:cm id="{96AEBF63-0FC4-4272-AC04-85E7F527CEC9}" authorId="{FF992775-526D-7E32-41C6-9B941F8FA17E}" created="2025-12-04T05:40:15.442">
    <ac:txMkLst xmlns:ac="http://schemas.microsoft.com/office/drawing/2013/main/command">
      <pc:docMk xmlns:pc="http://schemas.microsoft.com/office/powerpoint/2013/main/command"/>
      <pc:sldMk xmlns:pc="http://schemas.microsoft.com/office/powerpoint/2013/main/command" cId="2325310340" sldId="297"/>
      <ac:spMk id="32" creationId="{4ECF3F21-AB00-1858-3A83-37B3FF6FB3E7}"/>
      <ac:txMk cp="4" len="7">
        <ac:context len="40" hash="3963576163"/>
      </ac:txMk>
    </ac:txMkLst>
    <p188:pos x="1833683" y="293935"/>
    <p188:txBody>
      <a:bodyPr/>
      <a:lstStyle/>
      <a:p>
        <a:r>
          <a:rPr lang="zh-CN" altLang="en-US"/>
          <a:t>Evaluation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51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10C1-19B4-024F-BF4F-E61DD4582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D1372-B259-B2D8-59BF-00885C549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B13FA-DADF-4757-750C-A25AB90276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B07DF4-2873-10A8-6AD3-63A3FF631CF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23089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E352-CDA3-3E38-C95B-CA14B27BC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69B68-41F2-C0AD-F99F-AA1A90B97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EDDEC-4EC9-C89D-A577-10DD1743DF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B66859-D741-5976-55EA-8BD5F1DDA23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571209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73C59-7F24-6647-7FAB-C4116EF93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83C55-69AF-BD5D-7DE6-63FC1C611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617AC-C6BA-759F-AB4D-911AB1A338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9B1842-EF3E-F679-A56C-4EB0D91069D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966041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D2B2B-7DF0-A009-E29B-D811D1F66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BF508-27A4-9369-EB7E-588D34863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987E9-CF7B-41F7-0CDE-55C34EE4CE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17FAA3-32E8-646C-B6A6-E1AB48CB525D}"/>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697124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8F774-63F9-AB56-0EA4-71AD02CEE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0A099-E23D-6D52-119C-79A702C71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89B75-3FA3-E941-4CA5-50B40EE82C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B8621A-A6F1-A305-32DA-08260A0FE9E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236376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A53C-0FCC-DAD9-0406-1EE4DE4E3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8A5C8-0207-6D66-4993-6494A204E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A1144-EE20-31B2-16AC-A1DFE83F2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A4F801-50C4-87A8-830E-AA739BCE9D12}"/>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841098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70EF-4839-896A-F023-1AB41039A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4A90D-FD85-3205-6147-9CBD4DD59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4EAB0-FE16-AE1E-F1D5-041608F0FA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E10A84-500B-6DC3-D62C-3B0D972C284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4763070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sv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4.jp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17_48762DB8.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8_D079A3A2.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1E_0.xml"/><Relationship Id="rId7" Type="http://schemas.openxmlformats.org/officeDocument/2006/relationships/image" Target="../media/image31.sv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microsoft.com/office/2018/10/relationships/comments" Target="../comments/modernComment_128_2E7E647E.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29_8A996B84.xm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0">
          <a:gsLst>
            <a:gs pos="0">
              <a:srgbClr val="EFF6FC"/>
            </a:gs>
            <a:gs pos="100000">
              <a:srgbClr val="BED7EE"/>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39-d3jnsaos8jdo4os5dls0.png"/>
          <p:cNvPicPr>
            <a:picLocks noChangeAspect="1"/>
          </p:cNvPicPr>
          <p:nvPr/>
        </p:nvPicPr>
        <p:blipFill>
          <a:blip r:embed="rId3"/>
          <a:stretch>
            <a:fillRect/>
          </a:stretch>
        </p:blipFill>
        <p:spPr>
          <a:xfrm>
            <a:off x="182880" y="365760"/>
            <a:ext cx="11826240" cy="6492240"/>
          </a:xfrm>
          <a:prstGeom prst="rect">
            <a:avLst/>
          </a:prstGeom>
        </p:spPr>
      </p:pic>
      <p:sp>
        <p:nvSpPr>
          <p:cNvPr id="4" name="Text 0"/>
          <p:cNvSpPr/>
          <p:nvPr/>
        </p:nvSpPr>
        <p:spPr>
          <a:xfrm>
            <a:off x="961315" y="1773085"/>
            <a:ext cx="6406515" cy="2585323"/>
          </a:xfrm>
          <a:prstGeom prst="rect">
            <a:avLst/>
          </a:prstGeom>
          <a:noFill/>
          <a:ln/>
        </p:spPr>
        <p:txBody>
          <a:bodyPr wrap="square" lIns="91440" tIns="45720" rIns="91440" bIns="45720" rtlCol="0" anchor="t">
            <a:spAutoFit/>
          </a:bodyPr>
          <a:lstStyle/>
          <a:p>
            <a:pPr>
              <a:lnSpc>
                <a:spcPct val="100000"/>
              </a:lnSpc>
            </a:pPr>
            <a:r>
              <a:rPr lang="en-US" sz="5400" b="1" dirty="0">
                <a:solidFill>
                  <a:srgbClr val="004CC0"/>
                </a:solidFill>
                <a:latin typeface="Times New Roman" panose="02020603050405020304" pitchFamily="18" charset="0"/>
                <a:ea typeface="MiSans" pitchFamily="34" charset="-122"/>
                <a:cs typeface="Times New Roman" panose="02020603050405020304" pitchFamily="18" charset="0"/>
              </a:rPr>
              <a:t> Log Analyzer</a:t>
            </a:r>
            <a:endParaRPr lang="en-US" sz="1600" dirty="0">
              <a:latin typeface="Times New Roman" panose="02020603050405020304" pitchFamily="18" charset="0"/>
              <a:cs typeface="Times New Roman" panose="02020603050405020304" pitchFamily="18" charset="0"/>
            </a:endParaRPr>
          </a:p>
          <a:p>
            <a:pPr>
              <a:lnSpc>
                <a:spcPct val="100000"/>
              </a:lnSpc>
            </a:pPr>
            <a:r>
              <a:rPr lang="en-US" sz="5400" b="1" dirty="0">
                <a:solidFill>
                  <a:srgbClr val="004CC0"/>
                </a:solidFill>
                <a:latin typeface="Times New Roman" panose="02020603050405020304" pitchFamily="18" charset="0"/>
                <a:ea typeface="MiSans" pitchFamily="34" charset="-122"/>
                <a:cs typeface="Times New Roman" panose="02020603050405020304" pitchFamily="18" charset="0"/>
              </a:rPr>
              <a:t> based LogLLM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5400" b="1" dirty="0">
                <a:solidFill>
                  <a:srgbClr val="004CC0"/>
                </a:solidFill>
                <a:latin typeface="Times New Roman" panose="02020603050405020304" pitchFamily="18" charset="0"/>
                <a:ea typeface="MiSans" pitchFamily="34" charset="-122"/>
                <a:cs typeface="Times New Roman" panose="02020603050405020304" pitchFamily="18" charset="0"/>
              </a:rPr>
              <a:t>for VS Code</a:t>
            </a:r>
            <a:endParaRPr lang="en-US" sz="1600" dirty="0">
              <a:latin typeface="Times New Roman" panose="02020603050405020304" pitchFamily="18" charset="0"/>
              <a:cs typeface="Times New Roman" panose="02020603050405020304" pitchFamily="18" charset="0"/>
            </a:endParaRPr>
          </a:p>
        </p:txBody>
      </p:sp>
      <p:sp>
        <p:nvSpPr>
          <p:cNvPr id="5" name="Shape 1"/>
          <p:cNvSpPr/>
          <p:nvPr/>
        </p:nvSpPr>
        <p:spPr>
          <a:xfrm>
            <a:off x="667075" y="756100"/>
            <a:ext cx="237324" cy="0"/>
          </a:xfrm>
          <a:prstGeom prst="line">
            <a:avLst/>
          </a:prstGeom>
          <a:noFill/>
          <a:ln w="31750">
            <a:solidFill>
              <a:srgbClr val="004CC0"/>
            </a:solidFill>
            <a:prstDash val="solid"/>
            <a:headEnd type="none"/>
            <a:tailEnd type="none"/>
          </a:ln>
        </p:spPr>
      </p:sp>
      <p:sp>
        <p:nvSpPr>
          <p:cNvPr id="6" name="Shape 2"/>
          <p:cNvSpPr/>
          <p:nvPr/>
        </p:nvSpPr>
        <p:spPr>
          <a:xfrm>
            <a:off x="667075" y="821637"/>
            <a:ext cx="237324" cy="0"/>
          </a:xfrm>
          <a:prstGeom prst="line">
            <a:avLst/>
          </a:prstGeom>
          <a:noFill/>
          <a:ln w="31750">
            <a:solidFill>
              <a:srgbClr val="004CC0"/>
            </a:solidFill>
            <a:prstDash val="solid"/>
            <a:headEnd type="none"/>
            <a:tailEnd type="none"/>
          </a:ln>
        </p:spPr>
      </p:sp>
      <p:sp>
        <p:nvSpPr>
          <p:cNvPr id="7" name="Shape 3"/>
          <p:cNvSpPr/>
          <p:nvPr/>
        </p:nvSpPr>
        <p:spPr>
          <a:xfrm>
            <a:off x="667075" y="887173"/>
            <a:ext cx="237324" cy="0"/>
          </a:xfrm>
          <a:prstGeom prst="line">
            <a:avLst/>
          </a:prstGeom>
          <a:noFill/>
          <a:ln w="31750">
            <a:solidFill>
              <a:srgbClr val="004CC0"/>
            </a:solidFill>
            <a:prstDash val="solid"/>
            <a:headEnd type="none"/>
            <a:tailEnd type="none"/>
          </a:ln>
        </p:spPr>
      </p:sp>
      <p:pic>
        <p:nvPicPr>
          <p:cNvPr id="10" name="Image 3" descr="https://kimi-img.moonshot.cn/pub/slides/slides_tmpl/image/25-10-09-17:19:39-d3jnsaos8jdo4os5dlq0.png">
            <a:extLst>
              <a:ext uri="{FF2B5EF4-FFF2-40B4-BE49-F238E27FC236}">
                <a16:creationId xmlns:a16="http://schemas.microsoft.com/office/drawing/2014/main" id="{E484E264-5845-5AB4-5EA6-6BEFCAA06085}"/>
              </a:ext>
            </a:extLst>
          </p:cNvPr>
          <p:cNvPicPr>
            <a:picLocks noChangeAspect="1"/>
          </p:cNvPicPr>
          <p:nvPr/>
        </p:nvPicPr>
        <p:blipFill>
          <a:blip r:embed="rId4"/>
          <a:stretch>
            <a:fillRect/>
          </a:stretch>
        </p:blipFill>
        <p:spPr>
          <a:xfrm>
            <a:off x="1236538" y="5006461"/>
            <a:ext cx="4526915" cy="597535"/>
          </a:xfrm>
          <a:prstGeom prst="rect">
            <a:avLst/>
          </a:prstGeom>
        </p:spPr>
      </p:pic>
      <p:sp>
        <p:nvSpPr>
          <p:cNvPr id="8" name="Text 4"/>
          <p:cNvSpPr/>
          <p:nvPr/>
        </p:nvSpPr>
        <p:spPr>
          <a:xfrm>
            <a:off x="3110229" y="5071745"/>
            <a:ext cx="2332330" cy="338554"/>
          </a:xfrm>
          <a:prstGeom prst="rect">
            <a:avLst/>
          </a:prstGeom>
          <a:noFill/>
          <a:ln/>
        </p:spPr>
        <p:txBody>
          <a:bodyPr wrap="square" lIns="91440" tIns="45720" rIns="91440" bIns="45720" rtlCol="0" anchor="t">
            <a:spAutoFit/>
          </a:bodyPr>
          <a:lstStyle/>
          <a:p>
            <a:pPr algn="ctr">
              <a:lnSpc>
                <a:spcPct val="100000"/>
              </a:lnSpc>
            </a:pPr>
            <a:r>
              <a:rPr lang="en-US" sz="1600" dirty="0">
                <a:solidFill>
                  <a:srgbClr val="404040"/>
                </a:solidFill>
                <a:latin typeface="MiSans" pitchFamily="34" charset="0"/>
                <a:ea typeface="MiSans" pitchFamily="34" charset="-122"/>
                <a:cs typeface="MiSans" pitchFamily="34" charset="-120"/>
              </a:rPr>
              <a:t>日期</a:t>
            </a:r>
            <a:r>
              <a:rPr lang="en-US" sz="1600">
                <a:solidFill>
                  <a:srgbClr val="404040"/>
                </a:solidFill>
                <a:latin typeface="MiSans" pitchFamily="34" charset="0"/>
                <a:ea typeface="MiSans" pitchFamily="34" charset="-122"/>
                <a:cs typeface="MiSans" pitchFamily="34" charset="-120"/>
              </a:rPr>
              <a:t>：2025/12/04</a:t>
            </a:r>
            <a:endParaRPr lang="en-US" dirty="0"/>
          </a:p>
        </p:txBody>
      </p:sp>
      <p:sp>
        <p:nvSpPr>
          <p:cNvPr id="9" name="Text 5"/>
          <p:cNvSpPr/>
          <p:nvPr/>
        </p:nvSpPr>
        <p:spPr>
          <a:xfrm>
            <a:off x="1190533" y="5071745"/>
            <a:ext cx="1927225" cy="338554"/>
          </a:xfrm>
          <a:prstGeom prst="rect">
            <a:avLst/>
          </a:prstGeom>
          <a:noFill/>
          <a:ln/>
        </p:spPr>
        <p:txBody>
          <a:bodyPr wrap="square" lIns="91440" tIns="45720" rIns="91440" bIns="45720" rtlCol="0" anchor="t">
            <a:spAutoFit/>
          </a:bodyPr>
          <a:lstStyle/>
          <a:p>
            <a:pPr algn="ctr">
              <a:lnSpc>
                <a:spcPct val="100000"/>
              </a:lnSpc>
            </a:pPr>
            <a:r>
              <a:rPr lang="en-US" sz="1600"/>
              <a:t>G</a:t>
            </a:r>
            <a:r>
              <a:rPr lang="en-US" altLang="zh-CN" sz="1600"/>
              <a:t>roup</a:t>
            </a:r>
            <a:r>
              <a:rPr lang="zh-CN" altLang="en-US" sz="1600"/>
              <a:t>：</a:t>
            </a:r>
            <a:r>
              <a:rPr lang="en-US" sz="1600"/>
              <a:t>G</a:t>
            </a:r>
            <a:r>
              <a:rPr lang="en-US" altLang="zh-CN" sz="1600"/>
              <a:t>it Commit</a:t>
            </a:r>
            <a:endParaRPr lang="en-US" sz="1600" dirty="0"/>
          </a:p>
        </p:txBody>
      </p:sp>
      <p:sp>
        <p:nvSpPr>
          <p:cNvPr id="11" name="Text 7"/>
          <p:cNvSpPr/>
          <p:nvPr/>
        </p:nvSpPr>
        <p:spPr>
          <a:xfrm>
            <a:off x="462280" y="4228465"/>
            <a:ext cx="774258" cy="76200"/>
          </a:xfrm>
          <a:prstGeom prst="rect">
            <a:avLst/>
          </a:prstGeom>
          <a:noFill/>
          <a:ln/>
        </p:spPr>
        <p:txBody>
          <a:bodyPr wrap="square" lIns="45720" tIns="91440" rIns="91440" bIns="45720" rtlCol="0" anchor="ctr"/>
          <a:lstStyle/>
          <a:p>
            <a:pPr>
              <a:lnSpc>
                <a:spcPct val="100000"/>
              </a:lnSpc>
            </a:pPr>
            <a:endParaRPr lang="en-US" sz="1600" dirty="0"/>
          </a:p>
        </p:txBody>
      </p:sp>
      <p:pic>
        <p:nvPicPr>
          <p:cNvPr id="13" name="Image 2" descr="https://kimi-img.moonshot.cn/pub/slides/slides_tmpl/image/25-10-09-17:19:40-d3jnsb0s8jdo4os5dlv0.png"/>
          <p:cNvPicPr>
            <a:picLocks noChangeAspect="1"/>
          </p:cNvPicPr>
          <p:nvPr/>
        </p:nvPicPr>
        <p:blipFill>
          <a:blip r:embed="rId5"/>
          <a:stretch>
            <a:fillRect/>
          </a:stretch>
        </p:blipFill>
        <p:spPr>
          <a:xfrm>
            <a:off x="6896100" y="984250"/>
            <a:ext cx="4748530" cy="4748530"/>
          </a:xfrm>
          <a:prstGeom prst="rect">
            <a:avLst/>
          </a:prstGeom>
        </p:spPr>
      </p:pic>
      <p:pic>
        <p:nvPicPr>
          <p:cNvPr id="14" name="Image 3" descr="https://kimi-img.moonshot.cn/pub/slides/slides_tmpl/image/25-10-09-17:19:39-d3jnsaos8jdo4os5dlqg.png"/>
          <p:cNvPicPr>
            <a:picLocks noChangeAspect="1"/>
          </p:cNvPicPr>
          <p:nvPr/>
        </p:nvPicPr>
        <p:blipFill>
          <a:blip r:embed="rId6"/>
          <a:stretch>
            <a:fillRect/>
          </a:stretch>
        </p:blipFill>
        <p:spPr>
          <a:xfrm>
            <a:off x="0" y="5998210"/>
            <a:ext cx="12192000" cy="85979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pic>
        <p:nvPicPr>
          <p:cNvPr id="25" name="Image 0" descr="https://kimi-img.moonshot.cn/pub/slides/slides_tmpl/image/25-10-09-17:19:39-d3jnsaos8jdo4os5dlu0.png">
            <a:extLst>
              <a:ext uri="{FF2B5EF4-FFF2-40B4-BE49-F238E27FC236}">
                <a16:creationId xmlns:a16="http://schemas.microsoft.com/office/drawing/2014/main" id="{CD65C0A7-DBD4-D84C-6BE4-634EFC6F0AF8}"/>
              </a:ext>
            </a:extLst>
          </p:cNvPr>
          <p:cNvPicPr>
            <a:picLocks/>
          </p:cNvPicPr>
          <p:nvPr/>
        </p:nvPicPr>
        <p:blipFill>
          <a:blip r:embed="rId3"/>
          <a:srcRect t="16499" b="-15902"/>
          <a:stretch>
            <a:fillRect/>
          </a:stretch>
        </p:blipFill>
        <p:spPr>
          <a:xfrm>
            <a:off x="5463777" y="1409179"/>
            <a:ext cx="5989804" cy="5229608"/>
          </a:xfrm>
          <a:prstGeom prst="rect">
            <a:avLst/>
          </a:prstGeom>
        </p:spPr>
      </p:pic>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699895" y="2041906"/>
            <a:ext cx="2643505" cy="2643505"/>
          </a:xfrm>
          <a:prstGeom prst="ellipse">
            <a:avLst/>
          </a:prstGeom>
          <a:gradFill flip="none" rotWithShape="1">
            <a:gsLst>
              <a:gs pos="0">
                <a:srgbClr val="C8E2FE"/>
              </a:gs>
              <a:gs pos="30000">
                <a:srgbClr val="C8E2FE">
                  <a:alpha val="0"/>
                </a:srgbClr>
              </a:gs>
              <a:gs pos="100000">
                <a:srgbClr val="C8E2FE">
                  <a:alpha val="0"/>
                </a:srgbClr>
              </a:gs>
            </a:gsLst>
            <a:lin ang="5400000" scaled="1"/>
          </a:gradFill>
          <a:ln/>
        </p:spPr>
      </p:sp>
      <p:sp>
        <p:nvSpPr>
          <p:cNvPr id="5" name="Text 3"/>
          <p:cNvSpPr/>
          <p:nvPr/>
        </p:nvSpPr>
        <p:spPr>
          <a:xfrm>
            <a:off x="1699895" y="2041906"/>
            <a:ext cx="2643505" cy="264350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624503"/>
            <a:ext cx="7802117" cy="998185"/>
          </a:xfrm>
          <a:custGeom>
            <a:avLst/>
            <a:gdLst/>
            <a:ahLst/>
            <a:cxnLst/>
            <a:rect l="l" t="t" r="r" b="b"/>
            <a:pathLst>
              <a:path w="7802117" h="998185">
                <a:moveTo>
                  <a:pt x="7802117" y="998185"/>
                </a:moveTo>
                <a:lnTo>
                  <a:pt x="0" y="998185"/>
                </a:lnTo>
                <a:lnTo>
                  <a:pt x="0" y="323839"/>
                </a:lnTo>
                <a:lnTo>
                  <a:pt x="52704" y="306059"/>
                </a:lnTo>
                <a:lnTo>
                  <a:pt x="281935" y="240022"/>
                </a:lnTo>
                <a:lnTo>
                  <a:pt x="511167" y="182874"/>
                </a:lnTo>
                <a:lnTo>
                  <a:pt x="740398" y="133980"/>
                </a:lnTo>
                <a:lnTo>
                  <a:pt x="968994" y="93342"/>
                </a:lnTo>
                <a:lnTo>
                  <a:pt x="1198225" y="60323"/>
                </a:lnTo>
                <a:lnTo>
                  <a:pt x="1427457" y="34924"/>
                </a:lnTo>
                <a:lnTo>
                  <a:pt x="1656688" y="16509"/>
                </a:lnTo>
                <a:lnTo>
                  <a:pt x="1885919" y="5080"/>
                </a:lnTo>
                <a:lnTo>
                  <a:pt x="2115150" y="0"/>
                </a:lnTo>
                <a:lnTo>
                  <a:pt x="2344382" y="1270"/>
                </a:lnTo>
                <a:lnTo>
                  <a:pt x="2573613" y="8255"/>
                </a:lnTo>
                <a:lnTo>
                  <a:pt x="2802844" y="20319"/>
                </a:lnTo>
                <a:lnTo>
                  <a:pt x="3032075" y="38099"/>
                </a:lnTo>
                <a:lnTo>
                  <a:pt x="3261306" y="60323"/>
                </a:lnTo>
                <a:lnTo>
                  <a:pt x="3490538" y="86992"/>
                </a:lnTo>
                <a:lnTo>
                  <a:pt x="3719769" y="118106"/>
                </a:lnTo>
                <a:lnTo>
                  <a:pt x="3949000" y="153030"/>
                </a:lnTo>
                <a:lnTo>
                  <a:pt x="4178231" y="191128"/>
                </a:lnTo>
                <a:lnTo>
                  <a:pt x="4407463" y="233037"/>
                </a:lnTo>
                <a:lnTo>
                  <a:pt x="4636059" y="276850"/>
                </a:lnTo>
                <a:lnTo>
                  <a:pt x="4865290" y="323839"/>
                </a:lnTo>
                <a:lnTo>
                  <a:pt x="5094521" y="372732"/>
                </a:lnTo>
                <a:lnTo>
                  <a:pt x="5323753" y="423530"/>
                </a:lnTo>
                <a:lnTo>
                  <a:pt x="5552984" y="475598"/>
                </a:lnTo>
                <a:lnTo>
                  <a:pt x="5782215" y="528936"/>
                </a:lnTo>
                <a:lnTo>
                  <a:pt x="6011446" y="583545"/>
                </a:lnTo>
                <a:lnTo>
                  <a:pt x="6240678" y="638153"/>
                </a:lnTo>
                <a:lnTo>
                  <a:pt x="6469909" y="692761"/>
                </a:lnTo>
                <a:lnTo>
                  <a:pt x="6699140" y="748004"/>
                </a:lnTo>
                <a:lnTo>
                  <a:pt x="6928371" y="801977"/>
                </a:lnTo>
                <a:lnTo>
                  <a:pt x="7157603" y="855315"/>
                </a:lnTo>
                <a:lnTo>
                  <a:pt x="7386834" y="907383"/>
                </a:lnTo>
                <a:lnTo>
                  <a:pt x="7616065" y="958181"/>
                </a:lnTo>
                <a:lnTo>
                  <a:pt x="7802117" y="998185"/>
                </a:lnTo>
                <a:close/>
              </a:path>
            </a:pathLst>
          </a:custGeom>
          <a:gradFill flip="none" rotWithShape="1">
            <a:gsLst>
              <a:gs pos="0">
                <a:srgbClr val="F8AA5C"/>
              </a:gs>
              <a:gs pos="26000">
                <a:srgbClr val="F8AA5C"/>
              </a:gs>
              <a:gs pos="63000">
                <a:srgbClr val="FBCC9D"/>
              </a:gs>
              <a:gs pos="99000">
                <a:srgbClr val="FDEEDE"/>
              </a:gs>
              <a:gs pos="100000">
                <a:srgbClr val="FDEEDE"/>
              </a:gs>
            </a:gsLst>
            <a:lin ang="0" scaled="1"/>
          </a:gradFill>
          <a:ln/>
        </p:spPr>
      </p:sp>
      <p:sp>
        <p:nvSpPr>
          <p:cNvPr id="7" name="Text 5"/>
          <p:cNvSpPr/>
          <p:nvPr/>
        </p:nvSpPr>
        <p:spPr>
          <a:xfrm>
            <a:off x="0" y="5624503"/>
            <a:ext cx="7802117" cy="99818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0" y="5786120"/>
            <a:ext cx="12192000" cy="1071880"/>
          </a:xfrm>
          <a:custGeom>
            <a:avLst/>
            <a:gdLst/>
            <a:ahLst/>
            <a:cxnLst/>
            <a:rect l="l" t="t" r="r" b="b"/>
            <a:pathLst>
              <a:path w="12192000" h="1071880">
                <a:moveTo>
                  <a:pt x="12192000" y="65405"/>
                </a:moveTo>
                <a:lnTo>
                  <a:pt x="12192000" y="1071880"/>
                </a:lnTo>
                <a:lnTo>
                  <a:pt x="0" y="1071880"/>
                </a:lnTo>
                <a:lnTo>
                  <a:pt x="0" y="69215"/>
                </a:lnTo>
                <a:lnTo>
                  <a:pt x="136525" y="48895"/>
                </a:lnTo>
                <a:lnTo>
                  <a:pt x="278130" y="31750"/>
                </a:lnTo>
                <a:lnTo>
                  <a:pt x="420370" y="17780"/>
                </a:lnTo>
                <a:lnTo>
                  <a:pt x="561975" y="8255"/>
                </a:lnTo>
                <a:lnTo>
                  <a:pt x="703580" y="2540"/>
                </a:lnTo>
                <a:lnTo>
                  <a:pt x="845185" y="0"/>
                </a:lnTo>
                <a:lnTo>
                  <a:pt x="986790" y="635"/>
                </a:lnTo>
                <a:lnTo>
                  <a:pt x="1128395" y="3810"/>
                </a:lnTo>
                <a:lnTo>
                  <a:pt x="1270635" y="10795"/>
                </a:lnTo>
                <a:lnTo>
                  <a:pt x="1412240" y="19685"/>
                </a:lnTo>
                <a:lnTo>
                  <a:pt x="1553845" y="31750"/>
                </a:lnTo>
                <a:lnTo>
                  <a:pt x="1695450" y="45720"/>
                </a:lnTo>
                <a:lnTo>
                  <a:pt x="1837055" y="61595"/>
                </a:lnTo>
                <a:lnTo>
                  <a:pt x="1978660" y="80010"/>
                </a:lnTo>
                <a:lnTo>
                  <a:pt x="2120265" y="99695"/>
                </a:lnTo>
                <a:lnTo>
                  <a:pt x="2262505" y="121285"/>
                </a:lnTo>
                <a:lnTo>
                  <a:pt x="2404110" y="144145"/>
                </a:lnTo>
                <a:lnTo>
                  <a:pt x="2545715" y="168275"/>
                </a:lnTo>
                <a:lnTo>
                  <a:pt x="2687320" y="194310"/>
                </a:lnTo>
                <a:lnTo>
                  <a:pt x="2828925" y="220980"/>
                </a:lnTo>
                <a:lnTo>
                  <a:pt x="2970530" y="247650"/>
                </a:lnTo>
                <a:lnTo>
                  <a:pt x="3112770" y="275590"/>
                </a:lnTo>
                <a:lnTo>
                  <a:pt x="3254375" y="303530"/>
                </a:lnTo>
                <a:lnTo>
                  <a:pt x="3395980" y="332740"/>
                </a:lnTo>
                <a:lnTo>
                  <a:pt x="3537585" y="361315"/>
                </a:lnTo>
                <a:lnTo>
                  <a:pt x="3679190" y="389255"/>
                </a:lnTo>
                <a:lnTo>
                  <a:pt x="3820795" y="417830"/>
                </a:lnTo>
                <a:lnTo>
                  <a:pt x="3963035" y="445770"/>
                </a:lnTo>
                <a:lnTo>
                  <a:pt x="4104640" y="473075"/>
                </a:lnTo>
                <a:lnTo>
                  <a:pt x="4246245" y="499110"/>
                </a:lnTo>
                <a:lnTo>
                  <a:pt x="4387850" y="525145"/>
                </a:lnTo>
                <a:lnTo>
                  <a:pt x="4529455" y="549275"/>
                </a:lnTo>
                <a:lnTo>
                  <a:pt x="4671060" y="572135"/>
                </a:lnTo>
                <a:lnTo>
                  <a:pt x="4813300" y="594360"/>
                </a:lnTo>
                <a:lnTo>
                  <a:pt x="4954905" y="614045"/>
                </a:lnTo>
                <a:lnTo>
                  <a:pt x="5096510" y="631825"/>
                </a:lnTo>
                <a:lnTo>
                  <a:pt x="5238115" y="648335"/>
                </a:lnTo>
                <a:lnTo>
                  <a:pt x="5379720" y="662305"/>
                </a:lnTo>
                <a:lnTo>
                  <a:pt x="5521325" y="673735"/>
                </a:lnTo>
                <a:lnTo>
                  <a:pt x="5662930" y="682625"/>
                </a:lnTo>
                <a:lnTo>
                  <a:pt x="5805170" y="689610"/>
                </a:lnTo>
                <a:lnTo>
                  <a:pt x="5946775" y="693420"/>
                </a:lnTo>
                <a:lnTo>
                  <a:pt x="6088380" y="693420"/>
                </a:lnTo>
                <a:lnTo>
                  <a:pt x="6108065" y="693420"/>
                </a:lnTo>
                <a:lnTo>
                  <a:pt x="6128385" y="693420"/>
                </a:lnTo>
                <a:lnTo>
                  <a:pt x="6269990" y="693420"/>
                </a:lnTo>
                <a:lnTo>
                  <a:pt x="6411595" y="689610"/>
                </a:lnTo>
                <a:lnTo>
                  <a:pt x="6553835" y="682625"/>
                </a:lnTo>
                <a:lnTo>
                  <a:pt x="6695440" y="673735"/>
                </a:lnTo>
                <a:lnTo>
                  <a:pt x="6837045" y="662305"/>
                </a:lnTo>
                <a:lnTo>
                  <a:pt x="6978650" y="648335"/>
                </a:lnTo>
                <a:lnTo>
                  <a:pt x="7120255" y="631825"/>
                </a:lnTo>
                <a:lnTo>
                  <a:pt x="7261860" y="614045"/>
                </a:lnTo>
                <a:lnTo>
                  <a:pt x="7403465" y="594360"/>
                </a:lnTo>
                <a:lnTo>
                  <a:pt x="7545705" y="572135"/>
                </a:lnTo>
                <a:lnTo>
                  <a:pt x="7687310" y="549275"/>
                </a:lnTo>
                <a:lnTo>
                  <a:pt x="7828915" y="525145"/>
                </a:lnTo>
                <a:lnTo>
                  <a:pt x="7970520" y="499110"/>
                </a:lnTo>
                <a:lnTo>
                  <a:pt x="8112125" y="473075"/>
                </a:lnTo>
                <a:lnTo>
                  <a:pt x="8253730" y="445770"/>
                </a:lnTo>
                <a:lnTo>
                  <a:pt x="8395970" y="417830"/>
                </a:lnTo>
                <a:lnTo>
                  <a:pt x="8537575" y="389255"/>
                </a:lnTo>
                <a:lnTo>
                  <a:pt x="8679180" y="361315"/>
                </a:lnTo>
                <a:lnTo>
                  <a:pt x="8820785" y="332740"/>
                </a:lnTo>
                <a:lnTo>
                  <a:pt x="8962390" y="303530"/>
                </a:lnTo>
                <a:lnTo>
                  <a:pt x="9103995" y="275590"/>
                </a:lnTo>
                <a:lnTo>
                  <a:pt x="9246235" y="247650"/>
                </a:lnTo>
                <a:lnTo>
                  <a:pt x="9387840" y="220980"/>
                </a:lnTo>
                <a:lnTo>
                  <a:pt x="9529445" y="194310"/>
                </a:lnTo>
                <a:lnTo>
                  <a:pt x="9671050" y="168275"/>
                </a:lnTo>
                <a:lnTo>
                  <a:pt x="9812655" y="144145"/>
                </a:lnTo>
                <a:lnTo>
                  <a:pt x="9954260" y="121285"/>
                </a:lnTo>
                <a:lnTo>
                  <a:pt x="10096500" y="99695"/>
                </a:lnTo>
                <a:lnTo>
                  <a:pt x="10238105" y="80010"/>
                </a:lnTo>
                <a:lnTo>
                  <a:pt x="10379710" y="61595"/>
                </a:lnTo>
                <a:lnTo>
                  <a:pt x="10521315" y="45720"/>
                </a:lnTo>
                <a:lnTo>
                  <a:pt x="10662920" y="31750"/>
                </a:lnTo>
                <a:lnTo>
                  <a:pt x="10804525" y="19685"/>
                </a:lnTo>
                <a:lnTo>
                  <a:pt x="10946130" y="10795"/>
                </a:lnTo>
                <a:lnTo>
                  <a:pt x="11088370" y="3810"/>
                </a:lnTo>
                <a:lnTo>
                  <a:pt x="11229975" y="635"/>
                </a:lnTo>
                <a:lnTo>
                  <a:pt x="11371580" y="0"/>
                </a:lnTo>
                <a:lnTo>
                  <a:pt x="11513185" y="2540"/>
                </a:lnTo>
                <a:lnTo>
                  <a:pt x="11654790" y="8255"/>
                </a:lnTo>
                <a:lnTo>
                  <a:pt x="11796395" y="17780"/>
                </a:lnTo>
                <a:lnTo>
                  <a:pt x="11938635" y="31750"/>
                </a:lnTo>
                <a:lnTo>
                  <a:pt x="12080240" y="48895"/>
                </a:lnTo>
                <a:lnTo>
                  <a:pt x="12192000" y="65405"/>
                </a:lnTo>
                <a:close/>
              </a:path>
            </a:pathLst>
          </a:custGeom>
          <a:solidFill>
            <a:srgbClr val="056EE1"/>
          </a:solidFill>
          <a:ln/>
        </p:spPr>
      </p:sp>
      <p:sp>
        <p:nvSpPr>
          <p:cNvPr id="9" name="Text 7"/>
          <p:cNvSpPr/>
          <p:nvPr/>
        </p:nvSpPr>
        <p:spPr>
          <a:xfrm>
            <a:off x="0" y="5786120"/>
            <a:ext cx="12192000" cy="10718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9"/>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10"/>
          <p:cNvSpPr/>
          <p:nvPr/>
        </p:nvSpPr>
        <p:spPr>
          <a:xfrm>
            <a:off x="11106785" y="815657"/>
            <a:ext cx="235520" cy="0"/>
          </a:xfrm>
          <a:prstGeom prst="line">
            <a:avLst/>
          </a:prstGeom>
          <a:noFill/>
          <a:ln w="31750">
            <a:solidFill>
              <a:srgbClr val="056EE1"/>
            </a:solidFill>
            <a:prstDash val="solid"/>
            <a:headEnd type="none"/>
            <a:tailEnd type="none"/>
          </a:ln>
        </p:spPr>
      </p:sp>
      <p:pic>
        <p:nvPicPr>
          <p:cNvPr id="14" name="Image 1" descr="https://kimi-img.moonshot.cn/pub/slides/slides_tmpl/image/25-10-09-17:19:39-d3jnsaos8jdo4os5dlrg.png"/>
          <p:cNvPicPr>
            <a:picLocks noChangeAspect="1"/>
          </p:cNvPicPr>
          <p:nvPr/>
        </p:nvPicPr>
        <p:blipFill>
          <a:blip r:embed="rId4"/>
          <a:srcRect/>
          <a:stretch/>
        </p:blipFill>
        <p:spPr>
          <a:xfrm>
            <a:off x="2007235" y="3430905"/>
            <a:ext cx="2084070" cy="303530"/>
          </a:xfrm>
          <a:prstGeom prst="rect">
            <a:avLst/>
          </a:prstGeom>
        </p:spPr>
      </p:pic>
      <p:sp>
        <p:nvSpPr>
          <p:cNvPr id="15" name="Text 11"/>
          <p:cNvSpPr/>
          <p:nvPr/>
        </p:nvSpPr>
        <p:spPr>
          <a:xfrm>
            <a:off x="1581647" y="2476550"/>
            <a:ext cx="2880000" cy="1081088"/>
          </a:xfrm>
          <a:prstGeom prst="rect">
            <a:avLst/>
          </a:prstGeom>
          <a:noFill/>
          <a:ln/>
        </p:spPr>
        <p:txBody>
          <a:bodyPr wrap="square" lIns="91440" tIns="45720" rIns="91440" bIns="45720" rtlCol="0" anchor="b"/>
          <a:lstStyle/>
          <a:p>
            <a:pPr algn="ctr">
              <a:lnSpc>
                <a:spcPct val="100000"/>
              </a:lnSpc>
            </a:pPr>
            <a:r>
              <a:rPr lang="en-US" sz="5400" dirty="0">
                <a:solidFill>
                  <a:srgbClr val="000000"/>
                </a:solidFill>
                <a:latin typeface="MiSans" pitchFamily="34" charset="0"/>
                <a:ea typeface="MiSans" pitchFamily="34" charset="-122"/>
                <a:cs typeface="MiSans" pitchFamily="34" charset="-120"/>
              </a:rPr>
              <a:t>目录</a:t>
            </a:r>
            <a:endParaRPr lang="en-US" sz="1600" dirty="0"/>
          </a:p>
        </p:txBody>
      </p:sp>
      <p:sp>
        <p:nvSpPr>
          <p:cNvPr id="16" name="Text 12"/>
          <p:cNvSpPr/>
          <p:nvPr/>
        </p:nvSpPr>
        <p:spPr>
          <a:xfrm>
            <a:off x="5656524" y="1575759"/>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01</a:t>
            </a:r>
            <a:endParaRPr lang="en-US" sz="1600" dirty="0"/>
          </a:p>
        </p:txBody>
      </p:sp>
      <p:sp>
        <p:nvSpPr>
          <p:cNvPr id="17" name="Text 13"/>
          <p:cNvSpPr/>
          <p:nvPr/>
        </p:nvSpPr>
        <p:spPr>
          <a:xfrm>
            <a:off x="6486525" y="1599088"/>
            <a:ext cx="4317365" cy="504000"/>
          </a:xfrm>
          <a:prstGeom prst="rect">
            <a:avLst/>
          </a:prstGeom>
          <a:noFill/>
          <a:ln/>
        </p:spPr>
        <p:txBody>
          <a:bodyPr wrap="square" lIns="0" tIns="0" rIns="0" bIns="0" rtlCol="0" anchor="ctr"/>
          <a:lstStyle/>
          <a:p>
            <a:pPr>
              <a:lnSpc>
                <a:spcPct val="100000"/>
              </a:lnSpc>
            </a:pPr>
            <a:r>
              <a:rPr lang="en-US" altLang="zh-CN" sz="2000" b="1">
                <a:solidFill>
                  <a:srgbClr val="022144"/>
                </a:solidFill>
                <a:latin typeface="MiSans" pitchFamily="34" charset="0"/>
                <a:ea typeface="MiSans" pitchFamily="34" charset="-122"/>
                <a:cs typeface="MiSans" pitchFamily="34" charset="-120"/>
              </a:rPr>
              <a:t>Project Background and Objectives</a:t>
            </a:r>
            <a:endParaRPr lang="en-US" b="1" dirty="0"/>
          </a:p>
        </p:txBody>
      </p:sp>
      <p:sp>
        <p:nvSpPr>
          <p:cNvPr id="18" name="Text 14"/>
          <p:cNvSpPr/>
          <p:nvPr/>
        </p:nvSpPr>
        <p:spPr>
          <a:xfrm>
            <a:off x="5656524" y="2412848"/>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02</a:t>
            </a:r>
            <a:endParaRPr lang="en-US" sz="1600" dirty="0"/>
          </a:p>
        </p:txBody>
      </p:sp>
      <p:sp>
        <p:nvSpPr>
          <p:cNvPr id="19" name="Text 15"/>
          <p:cNvSpPr/>
          <p:nvPr/>
        </p:nvSpPr>
        <p:spPr>
          <a:xfrm>
            <a:off x="6486525" y="2424379"/>
            <a:ext cx="4317365" cy="504000"/>
          </a:xfrm>
          <a:prstGeom prst="rect">
            <a:avLst/>
          </a:prstGeom>
          <a:noFill/>
          <a:ln/>
        </p:spPr>
        <p:txBody>
          <a:bodyPr wrap="square" lIns="0" tIns="0" rIns="0" bIns="0" rtlCol="0" anchor="ctr"/>
          <a:lstStyle/>
          <a:p>
            <a:pPr>
              <a:lnSpc>
                <a:spcPct val="100000"/>
              </a:lnSpc>
            </a:pPr>
            <a:r>
              <a:rPr lang="en-US" altLang="zh-CN" sz="2000" b="1">
                <a:solidFill>
                  <a:srgbClr val="022144"/>
                </a:solidFill>
                <a:latin typeface="MiSans" pitchFamily="34" charset="0"/>
                <a:ea typeface="MiSans" pitchFamily="34" charset="-122"/>
                <a:cs typeface="MiSans" pitchFamily="34" charset="-120"/>
              </a:rPr>
              <a:t>Core Technical Solution</a:t>
            </a:r>
            <a:endParaRPr lang="en-US" b="1" dirty="0"/>
          </a:p>
        </p:txBody>
      </p:sp>
      <p:sp>
        <p:nvSpPr>
          <p:cNvPr id="20" name="Text 16"/>
          <p:cNvSpPr/>
          <p:nvPr/>
        </p:nvSpPr>
        <p:spPr>
          <a:xfrm>
            <a:off x="5653925" y="3253438"/>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03</a:t>
            </a:r>
            <a:endParaRPr lang="en-US" sz="1600" dirty="0"/>
          </a:p>
        </p:txBody>
      </p:sp>
      <p:sp>
        <p:nvSpPr>
          <p:cNvPr id="21" name="Text 17"/>
          <p:cNvSpPr/>
          <p:nvPr/>
        </p:nvSpPr>
        <p:spPr>
          <a:xfrm>
            <a:off x="6486524" y="3269900"/>
            <a:ext cx="4317365" cy="504000"/>
          </a:xfrm>
          <a:prstGeom prst="rect">
            <a:avLst/>
          </a:prstGeom>
          <a:noFill/>
          <a:ln/>
        </p:spPr>
        <p:txBody>
          <a:bodyPr wrap="square" lIns="0" tIns="0" rIns="0" bIns="0" rtlCol="0" anchor="ctr"/>
          <a:lstStyle/>
          <a:p>
            <a:pPr>
              <a:lnSpc>
                <a:spcPct val="100000"/>
              </a:lnSpc>
            </a:pPr>
            <a:r>
              <a:rPr lang="en-US" altLang="zh-CN" sz="2000" b="1">
                <a:solidFill>
                  <a:srgbClr val="022144"/>
                </a:solidFill>
                <a:latin typeface="MiSans" pitchFamily="34" charset="0"/>
                <a:ea typeface="MiSans" pitchFamily="34" charset="-122"/>
                <a:cs typeface="MiSans" pitchFamily="34" charset="-120"/>
              </a:rPr>
              <a:t>Agile Development Process</a:t>
            </a:r>
            <a:endParaRPr lang="en-US" b="1" dirty="0"/>
          </a:p>
        </p:txBody>
      </p:sp>
      <p:sp>
        <p:nvSpPr>
          <p:cNvPr id="22" name="Text 18"/>
          <p:cNvSpPr/>
          <p:nvPr/>
        </p:nvSpPr>
        <p:spPr>
          <a:xfrm>
            <a:off x="5656524" y="4122955"/>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04</a:t>
            </a:r>
            <a:endParaRPr lang="en-US" sz="1600" dirty="0"/>
          </a:p>
        </p:txBody>
      </p:sp>
      <p:sp>
        <p:nvSpPr>
          <p:cNvPr id="23" name="Text 19"/>
          <p:cNvSpPr/>
          <p:nvPr/>
        </p:nvSpPr>
        <p:spPr>
          <a:xfrm>
            <a:off x="6484044" y="4148117"/>
            <a:ext cx="4317365" cy="504000"/>
          </a:xfrm>
          <a:prstGeom prst="rect">
            <a:avLst/>
          </a:prstGeom>
          <a:noFill/>
          <a:ln/>
        </p:spPr>
        <p:txBody>
          <a:bodyPr wrap="square" lIns="0" tIns="0" rIns="0" bIns="0" rtlCol="0" anchor="ctr"/>
          <a:lstStyle/>
          <a:p>
            <a:pPr>
              <a:lnSpc>
                <a:spcPct val="100000"/>
              </a:lnSpc>
            </a:pPr>
            <a:r>
              <a:rPr lang="en-US" altLang="zh-CN" sz="2000" b="1">
                <a:solidFill>
                  <a:srgbClr val="022144"/>
                </a:solidFill>
                <a:latin typeface="MiSans" pitchFamily="34" charset="0"/>
                <a:ea typeface="MiSans" pitchFamily="34" charset="-122"/>
              </a:rPr>
              <a:t>Testing and Experimental Results</a:t>
            </a:r>
            <a:endParaRPr lang="en-US" b="1" dirty="0"/>
          </a:p>
        </p:txBody>
      </p:sp>
      <p:sp>
        <p:nvSpPr>
          <p:cNvPr id="26" name="Text 18">
            <a:extLst>
              <a:ext uri="{FF2B5EF4-FFF2-40B4-BE49-F238E27FC236}">
                <a16:creationId xmlns:a16="http://schemas.microsoft.com/office/drawing/2014/main" id="{9D922834-0B38-06EB-6A35-41FA4E9977F8}"/>
              </a:ext>
            </a:extLst>
          </p:cNvPr>
          <p:cNvSpPr/>
          <p:nvPr/>
        </p:nvSpPr>
        <p:spPr>
          <a:xfrm>
            <a:off x="5679700" y="4968571"/>
            <a:ext cx="832600" cy="504190"/>
          </a:xfrm>
          <a:prstGeom prst="rect">
            <a:avLst/>
          </a:prstGeom>
          <a:noFill/>
          <a:ln/>
        </p:spPr>
        <p:txBody>
          <a:bodyPr wrap="square" lIns="0" tIns="0" rIns="0" bIns="0" rtlCol="0" anchor="ctr"/>
          <a:lstStyle/>
          <a:p>
            <a:pPr algn="ctr">
              <a:lnSpc>
                <a:spcPct val="100000"/>
              </a:lnSpc>
            </a:pPr>
            <a:r>
              <a:rPr lang="en-US" sz="3200" b="1">
                <a:solidFill>
                  <a:srgbClr val="056EE1"/>
                </a:solidFill>
                <a:latin typeface="MiSans" pitchFamily="34" charset="0"/>
                <a:ea typeface="MiSans" pitchFamily="34" charset="-122"/>
                <a:cs typeface="MiSans" pitchFamily="34" charset="-120"/>
              </a:rPr>
              <a:t>05</a:t>
            </a:r>
            <a:endParaRPr lang="en-US" sz="1600" dirty="0"/>
          </a:p>
        </p:txBody>
      </p:sp>
      <p:sp>
        <p:nvSpPr>
          <p:cNvPr id="27" name="Text 19">
            <a:extLst>
              <a:ext uri="{FF2B5EF4-FFF2-40B4-BE49-F238E27FC236}">
                <a16:creationId xmlns:a16="http://schemas.microsoft.com/office/drawing/2014/main" id="{4D131A34-08F9-C206-3985-CC66C4ACFE7B}"/>
              </a:ext>
            </a:extLst>
          </p:cNvPr>
          <p:cNvSpPr/>
          <p:nvPr/>
        </p:nvSpPr>
        <p:spPr>
          <a:xfrm>
            <a:off x="6489124" y="4968761"/>
            <a:ext cx="4317365" cy="504000"/>
          </a:xfrm>
          <a:prstGeom prst="rect">
            <a:avLst/>
          </a:prstGeom>
          <a:noFill/>
          <a:ln/>
        </p:spPr>
        <p:txBody>
          <a:bodyPr wrap="square" lIns="0" tIns="0" rIns="0" bIns="0" rtlCol="0" anchor="ctr"/>
          <a:lstStyle/>
          <a:p>
            <a:pPr>
              <a:lnSpc>
                <a:spcPct val="100000"/>
              </a:lnSpc>
            </a:pPr>
            <a:r>
              <a:rPr lang="en-US" altLang="zh-CN" sz="2000" b="1">
                <a:solidFill>
                  <a:srgbClr val="022144"/>
                </a:solidFill>
                <a:latin typeface="MiSans" pitchFamily="34" charset="0"/>
                <a:ea typeface="MiSans" pitchFamily="34" charset="-122"/>
              </a:rPr>
              <a:t>Project Outcomes and Future Work</a:t>
            </a:r>
            <a:endParaRPr lang="en-US" b="1"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en-US" altLang="zh-CN" sz="5400" b="1">
                <a:solidFill>
                  <a:srgbClr val="000000"/>
                </a:solidFill>
                <a:latin typeface="MiSans" pitchFamily="34" charset="0"/>
                <a:ea typeface="MiSans" pitchFamily="34" charset="-122"/>
                <a:cs typeface="MiSans" pitchFamily="34" charset="-120"/>
              </a:rPr>
              <a:t>Project Background and Objectives</a:t>
            </a:r>
            <a:endParaRPr lang="en-US" sz="1600" b="1"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dirty="0">
                <a:solidFill>
                  <a:srgbClr val="056EE1"/>
                </a:solidFill>
                <a:latin typeface="MiSans" pitchFamily="34" charset="0"/>
                <a:ea typeface="MiSans" pitchFamily="34" charset="-122"/>
                <a:cs typeface="MiSans"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6200000">
            <a:off x="9305290" y="2005648"/>
            <a:ext cx="2637155" cy="1113155"/>
          </a:xfrm>
          <a:prstGeom prst="round2DiagRect">
            <a:avLst>
              <a:gd name="adj1" fmla="val 16667"/>
              <a:gd name="adj2" fmla="val 0"/>
            </a:avLst>
          </a:prstGeom>
          <a:solidFill>
            <a:srgbClr val="004CC0"/>
          </a:solidFill>
          <a:ln/>
        </p:spPr>
      </p:sp>
      <p:sp>
        <p:nvSpPr>
          <p:cNvPr id="3" name="Text 1"/>
          <p:cNvSpPr/>
          <p:nvPr/>
        </p:nvSpPr>
        <p:spPr>
          <a:xfrm rot="16200000">
            <a:off x="9305290" y="2005648"/>
            <a:ext cx="2637155" cy="111315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rot="5400000" flipV="1">
            <a:off x="9305290" y="4632008"/>
            <a:ext cx="2637155" cy="1113155"/>
          </a:xfrm>
          <a:prstGeom prst="round2DiagRect">
            <a:avLst>
              <a:gd name="adj1" fmla="val 16667"/>
              <a:gd name="adj2" fmla="val 0"/>
            </a:avLst>
          </a:prstGeom>
          <a:solidFill>
            <a:srgbClr val="004CC0"/>
          </a:solidFill>
          <a:ln/>
        </p:spPr>
      </p:sp>
      <p:sp>
        <p:nvSpPr>
          <p:cNvPr id="5" name="Text 3"/>
          <p:cNvSpPr/>
          <p:nvPr/>
        </p:nvSpPr>
        <p:spPr>
          <a:xfrm rot="5400000">
            <a:off x="9305290" y="4632008"/>
            <a:ext cx="2637155" cy="111315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121410" y="1243487"/>
            <a:ext cx="8854440" cy="5263200"/>
          </a:xfrm>
          <a:prstGeom prst="rect">
            <a:avLst/>
          </a:prstGeom>
          <a:solidFill>
            <a:srgbClr val="000000">
              <a:alpha val="0"/>
            </a:srgbClr>
          </a:solidFill>
          <a:ln w="19050">
            <a:solidFill>
              <a:srgbClr val="004CC0"/>
            </a:solidFill>
            <a:prstDash val="solid"/>
          </a:ln>
        </p:spPr>
      </p:sp>
      <p:sp>
        <p:nvSpPr>
          <p:cNvPr id="7" name="Text 5"/>
          <p:cNvSpPr/>
          <p:nvPr/>
        </p:nvSpPr>
        <p:spPr>
          <a:xfrm>
            <a:off x="1121410" y="1243487"/>
            <a:ext cx="8854440" cy="52632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487170" y="3030220"/>
            <a:ext cx="167640" cy="167640"/>
          </a:xfrm>
          <a:prstGeom prst="rect">
            <a:avLst/>
          </a:prstGeom>
          <a:solidFill>
            <a:srgbClr val="004CC0"/>
          </a:solidFill>
          <a:ln/>
        </p:spPr>
      </p:sp>
      <p:sp>
        <p:nvSpPr>
          <p:cNvPr id="9" name="Text 7"/>
          <p:cNvSpPr/>
          <p:nvPr/>
        </p:nvSpPr>
        <p:spPr>
          <a:xfrm>
            <a:off x="1487170" y="3030220"/>
            <a:ext cx="167640" cy="16764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563370" y="3114040"/>
            <a:ext cx="7992110" cy="0"/>
          </a:xfrm>
          <a:prstGeom prst="line">
            <a:avLst/>
          </a:prstGeom>
          <a:noFill/>
          <a:ln w="12700">
            <a:solidFill>
              <a:srgbClr val="004CC0"/>
            </a:solidFill>
            <a:prstDash val="dash"/>
            <a:headEnd type="none"/>
            <a:tailEnd type="none"/>
          </a:ln>
        </p:spPr>
      </p:sp>
      <p:sp>
        <p:nvSpPr>
          <p:cNvPr id="11" name="Shape 9"/>
          <p:cNvSpPr/>
          <p:nvPr/>
        </p:nvSpPr>
        <p:spPr>
          <a:xfrm>
            <a:off x="1553210" y="4665980"/>
            <a:ext cx="167640" cy="167640"/>
          </a:xfrm>
          <a:prstGeom prst="rect">
            <a:avLst/>
          </a:prstGeom>
          <a:solidFill>
            <a:srgbClr val="004CC0"/>
          </a:solidFill>
          <a:ln/>
        </p:spPr>
      </p:sp>
      <p:sp>
        <p:nvSpPr>
          <p:cNvPr id="12" name="Text 10"/>
          <p:cNvSpPr/>
          <p:nvPr/>
        </p:nvSpPr>
        <p:spPr>
          <a:xfrm>
            <a:off x="1553210" y="4665980"/>
            <a:ext cx="167640" cy="16764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1629410" y="4749800"/>
            <a:ext cx="7992110" cy="0"/>
          </a:xfrm>
          <a:prstGeom prst="line">
            <a:avLst/>
          </a:prstGeom>
          <a:noFill/>
          <a:ln w="12700">
            <a:solidFill>
              <a:srgbClr val="004CC0"/>
            </a:solidFill>
            <a:prstDash val="dash"/>
            <a:headEnd type="none"/>
            <a:tailEnd type="none"/>
          </a:ln>
        </p:spPr>
      </p:sp>
      <p:sp>
        <p:nvSpPr>
          <p:cNvPr id="14" name="Text 12"/>
          <p:cNvSpPr/>
          <p:nvPr/>
        </p:nvSpPr>
        <p:spPr>
          <a:xfrm>
            <a:off x="572889" y="564146"/>
            <a:ext cx="10651656"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01-Academic Evolution and Bottlenecks in Log AnomalyDetection</a:t>
            </a:r>
            <a:endParaRPr lang="en-US" sz="1600" dirty="0"/>
          </a:p>
        </p:txBody>
      </p:sp>
      <p:sp>
        <p:nvSpPr>
          <p:cNvPr id="15" name="Shape 13"/>
          <p:cNvSpPr/>
          <p:nvPr/>
        </p:nvSpPr>
        <p:spPr>
          <a:xfrm>
            <a:off x="11106785" y="693737"/>
            <a:ext cx="235520" cy="0"/>
          </a:xfrm>
          <a:prstGeom prst="line">
            <a:avLst/>
          </a:prstGeom>
          <a:noFill/>
          <a:ln w="31750">
            <a:solidFill>
              <a:srgbClr val="004CC0"/>
            </a:solidFill>
            <a:prstDash val="solid"/>
            <a:headEnd type="none"/>
            <a:tailEnd type="none"/>
          </a:ln>
        </p:spPr>
      </p:sp>
      <p:sp>
        <p:nvSpPr>
          <p:cNvPr id="16" name="Shape 14"/>
          <p:cNvSpPr/>
          <p:nvPr/>
        </p:nvSpPr>
        <p:spPr>
          <a:xfrm>
            <a:off x="11106785" y="754697"/>
            <a:ext cx="235520" cy="0"/>
          </a:xfrm>
          <a:prstGeom prst="line">
            <a:avLst/>
          </a:prstGeom>
          <a:noFill/>
          <a:ln w="31750">
            <a:solidFill>
              <a:srgbClr val="004CC0"/>
            </a:solidFill>
            <a:prstDash val="solid"/>
            <a:headEnd type="none"/>
            <a:tailEnd type="none"/>
          </a:ln>
        </p:spPr>
      </p:sp>
      <p:sp>
        <p:nvSpPr>
          <p:cNvPr id="17" name="Shape 15"/>
          <p:cNvSpPr/>
          <p:nvPr/>
        </p:nvSpPr>
        <p:spPr>
          <a:xfrm>
            <a:off x="11106785" y="815657"/>
            <a:ext cx="235520" cy="0"/>
          </a:xfrm>
          <a:prstGeom prst="line">
            <a:avLst/>
          </a:prstGeom>
          <a:noFill/>
          <a:ln w="31750">
            <a:solidFill>
              <a:srgbClr val="004CC0"/>
            </a:solidFill>
            <a:prstDash val="solid"/>
            <a:headEnd type="none"/>
            <a:tailEnd type="none"/>
          </a:ln>
        </p:spPr>
      </p:sp>
      <p:sp>
        <p:nvSpPr>
          <p:cNvPr id="18" name="Text 16"/>
          <p:cNvSpPr/>
          <p:nvPr/>
        </p:nvSpPr>
        <p:spPr>
          <a:xfrm>
            <a:off x="1359535" y="1522740"/>
            <a:ext cx="8560435" cy="400110"/>
          </a:xfrm>
          <a:prstGeom prst="rect">
            <a:avLst/>
          </a:prstGeom>
          <a:noFill/>
          <a:ln/>
        </p:spPr>
        <p:txBody>
          <a:bodyPr wrap="square" lIns="91440" tIns="45720" rIns="91440" bIns="45720" rtlCol="0" anchor="ctr">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The Importance of Logs</a:t>
            </a:r>
            <a:endParaRPr lang="en-US" b="1" dirty="0"/>
          </a:p>
        </p:txBody>
      </p:sp>
      <p:sp>
        <p:nvSpPr>
          <p:cNvPr id="19" name="Text 17"/>
          <p:cNvSpPr/>
          <p:nvPr/>
        </p:nvSpPr>
        <p:spPr>
          <a:xfrm>
            <a:off x="1397635" y="1922145"/>
            <a:ext cx="8192770" cy="908903"/>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System logs serve as the core observational medium for software reliability research, documenting runtimedocumenting runtime states and events to provide critical information for debugging, performanceperformance monitoring, and reliability assurance.</a:t>
            </a:r>
            <a:endParaRPr lang="en-US" sz="1600" b="1" dirty="0"/>
          </a:p>
        </p:txBody>
      </p:sp>
      <p:sp>
        <p:nvSpPr>
          <p:cNvPr id="20" name="Text 18"/>
          <p:cNvSpPr/>
          <p:nvPr/>
        </p:nvSpPr>
        <p:spPr>
          <a:xfrm>
            <a:off x="1359535" y="3234700"/>
            <a:ext cx="8560435" cy="400110"/>
          </a:xfrm>
          <a:prstGeom prst="rect">
            <a:avLst/>
          </a:prstGeom>
          <a:noFill/>
          <a:ln/>
        </p:spPr>
        <p:txBody>
          <a:bodyPr wrap="square" lIns="91440" tIns="45720" rIns="91440" bIns="45720" rtlCol="0" anchor="ctr">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Limitations of Existing Methods</a:t>
            </a:r>
            <a:endParaRPr lang="en-US" b="1" dirty="0"/>
          </a:p>
        </p:txBody>
      </p:sp>
      <p:sp>
        <p:nvSpPr>
          <p:cNvPr id="21" name="Text 19"/>
          <p:cNvSpPr/>
          <p:nvPr/>
        </p:nvSpPr>
        <p:spPr>
          <a:xfrm>
            <a:off x="1397635" y="3634105"/>
            <a:ext cx="8192770" cy="909929"/>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Current log anomaly detection methods face a triple dilemma: cloud-based large models compromise privacycontrol, IDEs lack unified analysis interfaces, and traditional tools struggle with complex logs,making itdifficuttobalanceparsingaccuracanefficnc.</a:t>
            </a:r>
            <a:endParaRPr lang="en-US" sz="1600" b="1" dirty="0"/>
          </a:p>
        </p:txBody>
      </p:sp>
      <p:sp>
        <p:nvSpPr>
          <p:cNvPr id="22" name="Text 20"/>
          <p:cNvSpPr/>
          <p:nvPr/>
        </p:nvSpPr>
        <p:spPr>
          <a:xfrm>
            <a:off x="1359535" y="4916180"/>
            <a:ext cx="8560435" cy="400110"/>
          </a:xfrm>
          <a:prstGeom prst="rect">
            <a:avLst/>
          </a:prstGeom>
          <a:noFill/>
          <a:ln/>
        </p:spPr>
        <p:txBody>
          <a:bodyPr wrap="square" lIns="91440" tIns="45720" rIns="91440" bIns="45720" rtlCol="0" anchor="ctr">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Research Objectives</a:t>
            </a:r>
            <a:endParaRPr lang="en-US" b="1" dirty="0"/>
          </a:p>
        </p:txBody>
      </p:sp>
      <p:sp>
        <p:nvSpPr>
          <p:cNvPr id="23" name="Text 21"/>
          <p:cNvSpPr/>
          <p:nvPr/>
        </p:nvSpPr>
        <p:spPr>
          <a:xfrm>
            <a:off x="1397635" y="5315585"/>
            <a:ext cx="8192770" cy="909929"/>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This research proposes a localized large-model solution based on LogLLM, meeting three stringent criteria:stringent criteria: high parsing performance, zero privacy leakage, and native IDE integration. It establishes aIt establishes a new engineering paradigm for log anomaly detection.</a:t>
            </a:r>
            <a:endParaRPr lang="en-US" sz="1600" b="1"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Text 6"/>
          <p:cNvSpPr/>
          <p:nvPr/>
        </p:nvSpPr>
        <p:spPr>
          <a:xfrm>
            <a:off x="767770" y="504887"/>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01-Clear </a:t>
            </a:r>
            <a:r>
              <a:rPr lang="en-US" sz="3000" b="1" dirty="0">
                <a:solidFill>
                  <a:srgbClr val="000000"/>
                </a:solidFill>
                <a:latin typeface="MiSans" pitchFamily="34" charset="0"/>
                <a:ea typeface="MiSans" pitchFamily="34" charset="-122"/>
                <a:cs typeface="MiSans" pitchFamily="34" charset="-120"/>
              </a:rPr>
              <a:t>the Bottlenecks</a:t>
            </a:r>
            <a:endParaRPr lang="en-US" sz="1600" dirty="0"/>
          </a:p>
        </p:txBody>
      </p:sp>
      <p:sp>
        <p:nvSpPr>
          <p:cNvPr id="9" name="Shape 7"/>
          <p:cNvSpPr/>
          <p:nvPr/>
        </p:nvSpPr>
        <p:spPr>
          <a:xfrm>
            <a:off x="11106785" y="693737"/>
            <a:ext cx="235520" cy="0"/>
          </a:xfrm>
          <a:prstGeom prst="line">
            <a:avLst/>
          </a:prstGeom>
          <a:noFill/>
          <a:ln w="31750">
            <a:solidFill>
              <a:srgbClr val="004CC0"/>
            </a:solidFill>
            <a:prstDash val="solid"/>
            <a:headEnd type="none"/>
            <a:tailEnd type="none"/>
          </a:ln>
        </p:spPr>
      </p:sp>
      <p:sp>
        <p:nvSpPr>
          <p:cNvPr id="10" name="Shape 8"/>
          <p:cNvSpPr/>
          <p:nvPr/>
        </p:nvSpPr>
        <p:spPr>
          <a:xfrm>
            <a:off x="11106785" y="754697"/>
            <a:ext cx="235520" cy="0"/>
          </a:xfrm>
          <a:prstGeom prst="line">
            <a:avLst/>
          </a:prstGeom>
          <a:noFill/>
          <a:ln w="31750">
            <a:solidFill>
              <a:srgbClr val="004CC0"/>
            </a:solidFill>
            <a:prstDash val="solid"/>
            <a:headEnd type="none"/>
            <a:tailEnd type="none"/>
          </a:ln>
        </p:spPr>
      </p:sp>
      <p:sp>
        <p:nvSpPr>
          <p:cNvPr id="11" name="Shape 9"/>
          <p:cNvSpPr/>
          <p:nvPr/>
        </p:nvSpPr>
        <p:spPr>
          <a:xfrm>
            <a:off x="11106785" y="815657"/>
            <a:ext cx="235520" cy="0"/>
          </a:xfrm>
          <a:prstGeom prst="line">
            <a:avLst/>
          </a:prstGeom>
          <a:noFill/>
          <a:ln w="31750">
            <a:solidFill>
              <a:srgbClr val="004CC0"/>
            </a:solidFill>
            <a:prstDash val="solid"/>
            <a:headEnd type="none"/>
            <a:tailEnd type="none"/>
          </a:ln>
        </p:spPr>
      </p:sp>
      <p:pic>
        <p:nvPicPr>
          <p:cNvPr id="12" name="Image 0" descr="https://kimi-img.moonshot.cn/pub/slides/25-11-15-23:06:10-d4c9doique5jefscqe7g.png"/>
          <p:cNvPicPr>
            <a:picLocks noChangeAspect="1"/>
          </p:cNvPicPr>
          <p:nvPr/>
        </p:nvPicPr>
        <p:blipFill>
          <a:blip r:embed="rId3"/>
          <a:stretch>
            <a:fillRect/>
          </a:stretch>
        </p:blipFill>
        <p:spPr>
          <a:xfrm>
            <a:off x="848360" y="1525554"/>
            <a:ext cx="4207609" cy="3333300"/>
          </a:xfrm>
          <a:prstGeom prst="rect">
            <a:avLst/>
          </a:prstGeom>
        </p:spPr>
      </p:pic>
      <p:pic>
        <p:nvPicPr>
          <p:cNvPr id="13" name="Image 1" descr="https://kimi-img.moonshot.cn/pub/slides/25-11-15-23:06:28-d4c9dt6c8f21d3nhn5ag.png"/>
          <p:cNvPicPr>
            <a:picLocks noChangeAspect="1"/>
          </p:cNvPicPr>
          <p:nvPr/>
        </p:nvPicPr>
        <p:blipFill>
          <a:blip r:embed="rId4"/>
          <a:stretch>
            <a:fillRect/>
          </a:stretch>
        </p:blipFill>
        <p:spPr>
          <a:xfrm>
            <a:off x="6631315" y="0"/>
            <a:ext cx="4424733" cy="3584321"/>
          </a:xfrm>
          <a:prstGeom prst="rect">
            <a:avLst/>
          </a:prstGeom>
        </p:spPr>
      </p:pic>
      <p:pic>
        <p:nvPicPr>
          <p:cNvPr id="14" name="Image 2" descr="https://kimi-img.moonshot.cn/pub/slides/25-11-15-23:54:29-d4ca4d87dlc2qipot92g.png"/>
          <p:cNvPicPr>
            <a:picLocks noChangeAspect="1"/>
          </p:cNvPicPr>
          <p:nvPr/>
        </p:nvPicPr>
        <p:blipFill>
          <a:blip r:embed="rId5"/>
          <a:stretch>
            <a:fillRect/>
          </a:stretch>
        </p:blipFill>
        <p:spPr>
          <a:xfrm>
            <a:off x="6631315" y="3690293"/>
            <a:ext cx="4424733" cy="3167707"/>
          </a:xfrm>
          <a:prstGeom prst="rect">
            <a:avLst/>
          </a:prstGeom>
        </p:spPr>
      </p:pic>
      <p:sp>
        <p:nvSpPr>
          <p:cNvPr id="15" name="图形 32">
            <a:extLst>
              <a:ext uri="{FF2B5EF4-FFF2-40B4-BE49-F238E27FC236}">
                <a16:creationId xmlns:a16="http://schemas.microsoft.com/office/drawing/2014/main" id="{E9E51BB2-808E-DE51-0AFE-05C54220B34E}"/>
              </a:ext>
            </a:extLst>
          </p:cNvPr>
          <p:cNvSpPr/>
          <p:nvPr/>
        </p:nvSpPr>
        <p:spPr>
          <a:xfrm flipV="1">
            <a:off x="5442879" y="4068088"/>
            <a:ext cx="801526" cy="639089"/>
          </a:xfrm>
          <a:custGeom>
            <a:avLst/>
            <a:gdLst>
              <a:gd name="connsiteX0" fmla="*/ 503717 w 712577"/>
              <a:gd name="connsiteY0" fmla="*/ 121897 h 568167"/>
              <a:gd name="connsiteX1" fmla="*/ 503717 w 712577"/>
              <a:gd name="connsiteY1" fmla="*/ -545 h 568167"/>
              <a:gd name="connsiteX2" fmla="*/ 712413 w 712577"/>
              <a:gd name="connsiteY2" fmla="*/ 197019 h 568167"/>
              <a:gd name="connsiteX3" fmla="*/ 503717 w 712577"/>
              <a:gd name="connsiteY3" fmla="*/ 395087 h 568167"/>
              <a:gd name="connsiteX4" fmla="*/ 503717 w 712577"/>
              <a:gd name="connsiteY4" fmla="*/ 271024 h 568167"/>
              <a:gd name="connsiteX5" fmla="*/ 11246 w 712577"/>
              <a:gd name="connsiteY5" fmla="*/ 567623 h 568167"/>
              <a:gd name="connsiteX6" fmla="*/ -164 w 712577"/>
              <a:gd name="connsiteY6" fmla="*/ 493077 h 568167"/>
              <a:gd name="connsiteX7" fmla="*/ 503679 w 712577"/>
              <a:gd name="connsiteY7" fmla="*/ 121897 h 56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2577" h="568167">
                <a:moveTo>
                  <a:pt x="503717" y="121897"/>
                </a:moveTo>
                <a:lnTo>
                  <a:pt x="503717" y="-545"/>
                </a:lnTo>
                <a:lnTo>
                  <a:pt x="712413" y="197019"/>
                </a:lnTo>
                <a:lnTo>
                  <a:pt x="503717" y="395087"/>
                </a:lnTo>
                <a:lnTo>
                  <a:pt x="503717" y="271024"/>
                </a:lnTo>
                <a:cubicBezTo>
                  <a:pt x="258166" y="288346"/>
                  <a:pt x="59474" y="409996"/>
                  <a:pt x="11246" y="567623"/>
                </a:cubicBezTo>
                <a:cubicBezTo>
                  <a:pt x="3826" y="543393"/>
                  <a:pt x="-16" y="518304"/>
                  <a:pt x="-164" y="493077"/>
                </a:cubicBezTo>
                <a:cubicBezTo>
                  <a:pt x="-164" y="300771"/>
                  <a:pt x="220436" y="142172"/>
                  <a:pt x="503679" y="121897"/>
                </a:cubicBezTo>
                <a:close/>
              </a:path>
            </a:pathLst>
          </a:cu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endParaRPr>
          </a:p>
        </p:txBody>
      </p:sp>
      <p:sp>
        <p:nvSpPr>
          <p:cNvPr id="16" name="图形 32">
            <a:extLst>
              <a:ext uri="{FF2B5EF4-FFF2-40B4-BE49-F238E27FC236}">
                <a16:creationId xmlns:a16="http://schemas.microsoft.com/office/drawing/2014/main" id="{5DF041F5-A966-1D9E-ED7B-22FD9E67805F}"/>
              </a:ext>
            </a:extLst>
          </p:cNvPr>
          <p:cNvSpPr/>
          <p:nvPr/>
        </p:nvSpPr>
        <p:spPr>
          <a:xfrm>
            <a:off x="5439907" y="2322907"/>
            <a:ext cx="801526" cy="639090"/>
          </a:xfrm>
          <a:custGeom>
            <a:avLst/>
            <a:gdLst>
              <a:gd name="connsiteX0" fmla="*/ 503717 w 712577"/>
              <a:gd name="connsiteY0" fmla="*/ 121897 h 568167"/>
              <a:gd name="connsiteX1" fmla="*/ 503717 w 712577"/>
              <a:gd name="connsiteY1" fmla="*/ -545 h 568167"/>
              <a:gd name="connsiteX2" fmla="*/ 712413 w 712577"/>
              <a:gd name="connsiteY2" fmla="*/ 197019 h 568167"/>
              <a:gd name="connsiteX3" fmla="*/ 503717 w 712577"/>
              <a:gd name="connsiteY3" fmla="*/ 395087 h 568167"/>
              <a:gd name="connsiteX4" fmla="*/ 503717 w 712577"/>
              <a:gd name="connsiteY4" fmla="*/ 271024 h 568167"/>
              <a:gd name="connsiteX5" fmla="*/ 11246 w 712577"/>
              <a:gd name="connsiteY5" fmla="*/ 567623 h 568167"/>
              <a:gd name="connsiteX6" fmla="*/ -164 w 712577"/>
              <a:gd name="connsiteY6" fmla="*/ 493077 h 568167"/>
              <a:gd name="connsiteX7" fmla="*/ 503679 w 712577"/>
              <a:gd name="connsiteY7" fmla="*/ 121897 h 56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2577" h="568167">
                <a:moveTo>
                  <a:pt x="503717" y="121897"/>
                </a:moveTo>
                <a:lnTo>
                  <a:pt x="503717" y="-545"/>
                </a:lnTo>
                <a:lnTo>
                  <a:pt x="712413" y="197019"/>
                </a:lnTo>
                <a:lnTo>
                  <a:pt x="503717" y="395087"/>
                </a:lnTo>
                <a:lnTo>
                  <a:pt x="503717" y="271024"/>
                </a:lnTo>
                <a:cubicBezTo>
                  <a:pt x="258166" y="288346"/>
                  <a:pt x="59474" y="409996"/>
                  <a:pt x="11246" y="567623"/>
                </a:cubicBezTo>
                <a:cubicBezTo>
                  <a:pt x="3826" y="543393"/>
                  <a:pt x="-16" y="518304"/>
                  <a:pt x="-164" y="493077"/>
                </a:cubicBezTo>
                <a:cubicBezTo>
                  <a:pt x="-164" y="300771"/>
                  <a:pt x="220436" y="142172"/>
                  <a:pt x="503679" y="121897"/>
                </a:cubicBezTo>
                <a:close/>
              </a:path>
            </a:pathLst>
          </a:cu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398643" y="2994025"/>
            <a:ext cx="7354957" cy="1807845"/>
          </a:xfrm>
          <a:prstGeom prst="rect">
            <a:avLst/>
          </a:prstGeom>
          <a:noFill/>
          <a:ln/>
        </p:spPr>
        <p:txBody>
          <a:bodyPr wrap="square" lIns="91440" tIns="45720" rIns="91440" bIns="45720" rtlCol="0" anchor="t"/>
          <a:lstStyle/>
          <a:p>
            <a:pPr algn="ctr">
              <a:lnSpc>
                <a:spcPct val="100000"/>
              </a:lnSpc>
            </a:pPr>
            <a:r>
              <a:rPr lang="en-US" altLang="zh-CN" sz="5400" b="1">
                <a:solidFill>
                  <a:srgbClr val="000000"/>
                </a:solidFill>
                <a:latin typeface="MiSans" pitchFamily="34" charset="0"/>
                <a:ea typeface="MiSans" pitchFamily="34" charset="-122"/>
                <a:cs typeface="MiSans" pitchFamily="34" charset="-120"/>
              </a:rPr>
              <a:t>Core Technical Solution</a:t>
            </a:r>
            <a:endParaRPr lang="en-US" sz="1600" b="1"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dirty="0">
                <a:solidFill>
                  <a:srgbClr val="056EE1"/>
                </a:solidFill>
                <a:latin typeface="MiSans" pitchFamily="34" charset="0"/>
                <a:ea typeface="MiSans" pitchFamily="34" charset="-122"/>
                <a:cs typeface="MiSans" pitchFamily="34" charset="-120"/>
              </a:rPr>
              <a:t>02</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43-d3jnsbos8jdo4os5dm80.jpg"/>
          <p:cNvPicPr>
            <a:picLocks noChangeAspect="1"/>
          </p:cNvPicPr>
          <p:nvPr/>
        </p:nvPicPr>
        <p:blipFill>
          <a:blip r:embed="rId3"/>
          <a:srcRect l="29" r="29"/>
          <a:stretch/>
        </p:blipFill>
        <p:spPr>
          <a:xfrm>
            <a:off x="9966960" y="-34290"/>
            <a:ext cx="2223770" cy="6892290"/>
          </a:xfrm>
          <a:prstGeom prst="rect">
            <a:avLst/>
          </a:prstGeom>
        </p:spPr>
      </p:pic>
      <p:sp>
        <p:nvSpPr>
          <p:cNvPr id="3" name="Shape 0"/>
          <p:cNvSpPr/>
          <p:nvPr/>
        </p:nvSpPr>
        <p:spPr>
          <a:xfrm>
            <a:off x="9964420" y="-34290"/>
            <a:ext cx="2227580" cy="6903720"/>
          </a:xfrm>
          <a:prstGeom prst="rect">
            <a:avLst/>
          </a:prstGeom>
          <a:gradFill flip="none" rotWithShape="1">
            <a:gsLst>
              <a:gs pos="0">
                <a:srgbClr val="004CC0">
                  <a:alpha val="78000"/>
                </a:srgbClr>
              </a:gs>
              <a:gs pos="100000">
                <a:srgbClr val="004CC0"/>
              </a:gs>
            </a:gsLst>
            <a:lin ang="2700000" scaled="1"/>
          </a:gradFill>
          <a:ln/>
        </p:spPr>
      </p:sp>
      <p:sp>
        <p:nvSpPr>
          <p:cNvPr id="4" name="Text 1"/>
          <p:cNvSpPr/>
          <p:nvPr/>
        </p:nvSpPr>
        <p:spPr>
          <a:xfrm>
            <a:off x="9964420" y="-34290"/>
            <a:ext cx="2227580" cy="6903720"/>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6291731" y="8722360"/>
            <a:ext cx="287989" cy="6985"/>
          </a:xfrm>
          <a:custGeom>
            <a:avLst/>
            <a:gdLst/>
            <a:ahLst/>
            <a:cxnLst/>
            <a:rect l="l" t="t" r="r" b="b"/>
            <a:pathLst>
              <a:path w="287989" h="6985">
                <a:moveTo>
                  <a:pt x="287989" y="0"/>
                </a:moveTo>
                <a:lnTo>
                  <a:pt x="260078" y="2540"/>
                </a:lnTo>
                <a:lnTo>
                  <a:pt x="221384" y="5080"/>
                </a:lnTo>
                <a:lnTo>
                  <a:pt x="182689" y="6350"/>
                </a:lnTo>
                <a:lnTo>
                  <a:pt x="143995" y="6985"/>
                </a:lnTo>
                <a:lnTo>
                  <a:pt x="104666" y="6350"/>
                </a:lnTo>
                <a:lnTo>
                  <a:pt x="65971" y="5080"/>
                </a:lnTo>
                <a:lnTo>
                  <a:pt x="27911" y="2540"/>
                </a:lnTo>
                <a:lnTo>
                  <a:pt x="0" y="0"/>
                </a:lnTo>
                <a:lnTo>
                  <a:pt x="287989" y="0"/>
                </a:lnTo>
                <a:close/>
              </a:path>
            </a:pathLst>
          </a:custGeom>
          <a:solidFill>
            <a:srgbClr val="FFFFFF"/>
          </a:solidFill>
          <a:ln/>
        </p:spPr>
      </p:sp>
      <p:sp>
        <p:nvSpPr>
          <p:cNvPr id="6" name="Text 3"/>
          <p:cNvSpPr/>
          <p:nvPr/>
        </p:nvSpPr>
        <p:spPr>
          <a:xfrm>
            <a:off x="6291731" y="8722360"/>
            <a:ext cx="287989" cy="698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4"/>
          <p:cNvSpPr/>
          <p:nvPr/>
        </p:nvSpPr>
        <p:spPr>
          <a:xfrm rot="4920000" flipV="1">
            <a:off x="9856470" y="5581650"/>
            <a:ext cx="1457960" cy="1342390"/>
          </a:xfrm>
          <a:custGeom>
            <a:avLst/>
            <a:gdLst/>
            <a:ahLst/>
            <a:cxnLst/>
            <a:rect l="l" t="t" r="r" b="b"/>
            <a:pathLst>
              <a:path w="1457960" h="1342390">
                <a:moveTo>
                  <a:pt x="0" y="272600"/>
                </a:moveTo>
                <a:cubicBezTo>
                  <a:pt x="-2882" y="202123"/>
                  <a:pt x="17069" y="72029"/>
                  <a:pt x="20394" y="64272"/>
                </a:cubicBezTo>
                <a:lnTo>
                  <a:pt x="453991" y="0"/>
                </a:lnTo>
                <a:cubicBezTo>
                  <a:pt x="420962" y="60947"/>
                  <a:pt x="391479" y="210102"/>
                  <a:pt x="396356" y="272600"/>
                </a:cubicBezTo>
                <a:cubicBezTo>
                  <a:pt x="384829" y="650695"/>
                  <a:pt x="731086" y="955431"/>
                  <a:pt x="1070028" y="946122"/>
                </a:cubicBezTo>
                <a:cubicBezTo>
                  <a:pt x="1184412" y="955209"/>
                  <a:pt x="1353994" y="890273"/>
                  <a:pt x="1397221" y="861461"/>
                </a:cubicBezTo>
                <a:lnTo>
                  <a:pt x="1457960" y="1269918"/>
                </a:lnTo>
                <a:cubicBezTo>
                  <a:pt x="1365300" y="1313579"/>
                  <a:pt x="1153599" y="1348152"/>
                  <a:pt x="1070028" y="1342390"/>
                </a:cubicBezTo>
                <a:cubicBezTo>
                  <a:pt x="469509" y="1360785"/>
                  <a:pt x="-14631" y="811152"/>
                  <a:pt x="0" y="2726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a:ln/>
        </p:spPr>
      </p:sp>
      <p:sp>
        <p:nvSpPr>
          <p:cNvPr id="8" name="Text 5"/>
          <p:cNvSpPr/>
          <p:nvPr/>
        </p:nvSpPr>
        <p:spPr>
          <a:xfrm rot="4920000">
            <a:off x="9856470" y="5581650"/>
            <a:ext cx="1457960" cy="1342390"/>
          </a:xfrm>
          <a:prstGeom prst="rect">
            <a:avLst/>
          </a:prstGeom>
          <a:noFill/>
          <a:ln/>
        </p:spPr>
        <p:txBody>
          <a:bodyPr wrap="square" lIns="45720" tIns="91440" rIns="91440" bIns="45720" rtlCol="0" anchor="t"/>
          <a:lstStyle/>
          <a:p>
            <a:pPr>
              <a:lnSpc>
                <a:spcPct val="100000"/>
              </a:lnSpc>
            </a:pPr>
            <a:endParaRPr lang="en-US" sz="1600" dirty="0"/>
          </a:p>
        </p:txBody>
      </p:sp>
      <p:sp>
        <p:nvSpPr>
          <p:cNvPr id="9" name="Shape 6"/>
          <p:cNvSpPr/>
          <p:nvPr/>
        </p:nvSpPr>
        <p:spPr>
          <a:xfrm rot="15060000" flipH="1">
            <a:off x="10623533" y="4245026"/>
            <a:ext cx="1958340" cy="1694329"/>
          </a:xfrm>
          <a:custGeom>
            <a:avLst/>
            <a:gdLst/>
            <a:ahLst/>
            <a:cxnLst/>
            <a:rect l="l" t="t" r="r" b="b"/>
            <a:pathLst>
              <a:path w="1958340" h="1694329">
                <a:moveTo>
                  <a:pt x="250190" y="1632094"/>
                </a:moveTo>
                <a:lnTo>
                  <a:pt x="525780" y="1632094"/>
                </a:lnTo>
                <a:lnTo>
                  <a:pt x="349885" y="1694329"/>
                </a:lnTo>
                <a:lnTo>
                  <a:pt x="309245" y="1694329"/>
                </a:lnTo>
                <a:cubicBezTo>
                  <a:pt x="288290" y="1675277"/>
                  <a:pt x="265430" y="1651780"/>
                  <a:pt x="250190" y="1632094"/>
                </a:cubicBezTo>
                <a:close/>
                <a:moveTo>
                  <a:pt x="173990" y="1537470"/>
                </a:moveTo>
                <a:lnTo>
                  <a:pt x="793750" y="1537470"/>
                </a:lnTo>
                <a:lnTo>
                  <a:pt x="626745" y="1596530"/>
                </a:lnTo>
                <a:lnTo>
                  <a:pt x="217805" y="1596530"/>
                </a:lnTo>
                <a:cubicBezTo>
                  <a:pt x="202565" y="1578114"/>
                  <a:pt x="186055" y="1556522"/>
                  <a:pt x="173990" y="1537470"/>
                </a:cubicBezTo>
                <a:close/>
                <a:moveTo>
                  <a:pt x="114935" y="1439672"/>
                </a:moveTo>
                <a:lnTo>
                  <a:pt x="1071245" y="1439672"/>
                </a:lnTo>
                <a:lnTo>
                  <a:pt x="899795" y="1500637"/>
                </a:lnTo>
                <a:lnTo>
                  <a:pt x="149225" y="1500637"/>
                </a:lnTo>
                <a:cubicBezTo>
                  <a:pt x="137795" y="1481585"/>
                  <a:pt x="125095" y="1458723"/>
                  <a:pt x="114935" y="1439672"/>
                </a:cubicBezTo>
                <a:close/>
                <a:moveTo>
                  <a:pt x="68580" y="1343778"/>
                </a:moveTo>
                <a:lnTo>
                  <a:pt x="1343660" y="1343778"/>
                </a:lnTo>
                <a:lnTo>
                  <a:pt x="1176655" y="1402203"/>
                </a:lnTo>
                <a:lnTo>
                  <a:pt x="95250" y="1402203"/>
                </a:lnTo>
                <a:cubicBezTo>
                  <a:pt x="90170" y="1393313"/>
                  <a:pt x="85090" y="1380611"/>
                  <a:pt x="81280" y="1372356"/>
                </a:cubicBezTo>
                <a:cubicBezTo>
                  <a:pt x="77470" y="1362830"/>
                  <a:pt x="72390" y="1350764"/>
                  <a:pt x="68580" y="1343778"/>
                </a:cubicBezTo>
                <a:close/>
                <a:moveTo>
                  <a:pt x="35560" y="1245345"/>
                </a:moveTo>
                <a:lnTo>
                  <a:pt x="1621155" y="1245345"/>
                </a:lnTo>
                <a:lnTo>
                  <a:pt x="1445260" y="1307580"/>
                </a:lnTo>
                <a:lnTo>
                  <a:pt x="54610" y="1307580"/>
                </a:lnTo>
                <a:cubicBezTo>
                  <a:pt x="46990" y="1288528"/>
                  <a:pt x="40640" y="1265031"/>
                  <a:pt x="35560" y="1245345"/>
                </a:cubicBezTo>
                <a:close/>
                <a:moveTo>
                  <a:pt x="12700" y="1150721"/>
                </a:moveTo>
                <a:lnTo>
                  <a:pt x="1889125" y="1150721"/>
                </a:lnTo>
                <a:lnTo>
                  <a:pt x="1722120" y="1209781"/>
                </a:lnTo>
                <a:lnTo>
                  <a:pt x="26035" y="1209781"/>
                </a:lnTo>
                <a:cubicBezTo>
                  <a:pt x="24130" y="1200256"/>
                  <a:pt x="20955" y="1188189"/>
                  <a:pt x="19050" y="1179934"/>
                </a:cubicBezTo>
                <a:cubicBezTo>
                  <a:pt x="16510" y="1170408"/>
                  <a:pt x="13970" y="1158342"/>
                  <a:pt x="12700" y="1150721"/>
                </a:cubicBezTo>
                <a:close/>
                <a:moveTo>
                  <a:pt x="1270" y="1052923"/>
                </a:moveTo>
                <a:lnTo>
                  <a:pt x="1957070" y="1052923"/>
                </a:lnTo>
                <a:cubicBezTo>
                  <a:pt x="1955165" y="1073879"/>
                  <a:pt x="1952625" y="1096741"/>
                  <a:pt x="1948815" y="1113888"/>
                </a:cubicBezTo>
                <a:lnTo>
                  <a:pt x="9525" y="1113888"/>
                </a:lnTo>
                <a:cubicBezTo>
                  <a:pt x="5080" y="1094836"/>
                  <a:pt x="3175" y="1071974"/>
                  <a:pt x="1270" y="1052923"/>
                </a:cubicBezTo>
                <a:close/>
                <a:moveTo>
                  <a:pt x="0" y="957029"/>
                </a:moveTo>
                <a:lnTo>
                  <a:pt x="1958340" y="957029"/>
                </a:lnTo>
                <a:lnTo>
                  <a:pt x="1958340" y="960204"/>
                </a:lnTo>
                <a:lnTo>
                  <a:pt x="1958340" y="960839"/>
                </a:lnTo>
                <a:lnTo>
                  <a:pt x="1958340" y="961475"/>
                </a:lnTo>
                <a:lnTo>
                  <a:pt x="1958340" y="962110"/>
                </a:lnTo>
                <a:lnTo>
                  <a:pt x="1958340" y="962745"/>
                </a:lnTo>
                <a:lnTo>
                  <a:pt x="1958340" y="963380"/>
                </a:lnTo>
                <a:lnTo>
                  <a:pt x="1958340" y="964015"/>
                </a:lnTo>
                <a:lnTo>
                  <a:pt x="1958340" y="979256"/>
                </a:lnTo>
                <a:lnTo>
                  <a:pt x="1958340" y="979891"/>
                </a:lnTo>
                <a:lnTo>
                  <a:pt x="1958340" y="980526"/>
                </a:lnTo>
                <a:lnTo>
                  <a:pt x="1958340" y="981796"/>
                </a:lnTo>
                <a:lnTo>
                  <a:pt x="1958340" y="982431"/>
                </a:lnTo>
                <a:lnTo>
                  <a:pt x="1958340" y="984337"/>
                </a:lnTo>
                <a:lnTo>
                  <a:pt x="1958340" y="991322"/>
                </a:lnTo>
                <a:lnTo>
                  <a:pt x="1958340" y="1018630"/>
                </a:lnTo>
                <a:lnTo>
                  <a:pt x="0" y="1018630"/>
                </a:lnTo>
                <a:lnTo>
                  <a:pt x="0" y="957029"/>
                </a:lnTo>
                <a:close/>
                <a:moveTo>
                  <a:pt x="5080" y="858596"/>
                </a:moveTo>
                <a:lnTo>
                  <a:pt x="1951355" y="858596"/>
                </a:lnTo>
                <a:cubicBezTo>
                  <a:pt x="1953895" y="873202"/>
                  <a:pt x="1954530" y="889078"/>
                  <a:pt x="1955165" y="901144"/>
                </a:cubicBezTo>
                <a:cubicBezTo>
                  <a:pt x="1955800" y="907495"/>
                  <a:pt x="1956435" y="916386"/>
                  <a:pt x="1957070" y="920831"/>
                </a:cubicBezTo>
                <a:lnTo>
                  <a:pt x="1270" y="920831"/>
                </a:lnTo>
                <a:cubicBezTo>
                  <a:pt x="1270" y="901144"/>
                  <a:pt x="3175" y="880822"/>
                  <a:pt x="5080" y="863041"/>
                </a:cubicBezTo>
                <a:lnTo>
                  <a:pt x="5080" y="861771"/>
                </a:lnTo>
                <a:lnTo>
                  <a:pt x="5080" y="861136"/>
                </a:lnTo>
                <a:lnTo>
                  <a:pt x="5080" y="859866"/>
                </a:lnTo>
                <a:lnTo>
                  <a:pt x="5080" y="858596"/>
                </a:lnTo>
                <a:close/>
                <a:moveTo>
                  <a:pt x="22225" y="763972"/>
                </a:moveTo>
                <a:lnTo>
                  <a:pt x="1934210" y="763972"/>
                </a:lnTo>
                <a:cubicBezTo>
                  <a:pt x="1938020" y="783024"/>
                  <a:pt x="1942465" y="805886"/>
                  <a:pt x="1945640" y="824938"/>
                </a:cubicBezTo>
                <a:lnTo>
                  <a:pt x="10795" y="824938"/>
                </a:lnTo>
                <a:cubicBezTo>
                  <a:pt x="14605" y="803981"/>
                  <a:pt x="19050" y="781119"/>
                  <a:pt x="22225" y="763972"/>
                </a:cubicBezTo>
                <a:close/>
                <a:moveTo>
                  <a:pt x="49530" y="666174"/>
                </a:moveTo>
                <a:lnTo>
                  <a:pt x="1908810" y="666174"/>
                </a:lnTo>
                <a:cubicBezTo>
                  <a:pt x="1911350" y="676334"/>
                  <a:pt x="1915160" y="689036"/>
                  <a:pt x="1917065" y="697291"/>
                </a:cubicBezTo>
                <a:cubicBezTo>
                  <a:pt x="1920240" y="706817"/>
                  <a:pt x="1923415" y="718248"/>
                  <a:pt x="1925955" y="727139"/>
                </a:cubicBezTo>
                <a:lnTo>
                  <a:pt x="32385" y="727139"/>
                </a:lnTo>
                <a:cubicBezTo>
                  <a:pt x="34925" y="713803"/>
                  <a:pt x="40005" y="698561"/>
                  <a:pt x="43180" y="687765"/>
                </a:cubicBezTo>
                <a:cubicBezTo>
                  <a:pt x="45720" y="680780"/>
                  <a:pt x="48260" y="671889"/>
                  <a:pt x="49530" y="666174"/>
                </a:cubicBezTo>
                <a:close/>
                <a:moveTo>
                  <a:pt x="86995" y="570280"/>
                </a:moveTo>
                <a:lnTo>
                  <a:pt x="1868170" y="570280"/>
                </a:lnTo>
                <a:cubicBezTo>
                  <a:pt x="1877060" y="589332"/>
                  <a:pt x="1887855" y="612829"/>
                  <a:pt x="1894840" y="631881"/>
                </a:cubicBezTo>
                <a:lnTo>
                  <a:pt x="62230" y="631881"/>
                </a:lnTo>
                <a:cubicBezTo>
                  <a:pt x="69850" y="610924"/>
                  <a:pt x="78105" y="587427"/>
                  <a:pt x="86995" y="570280"/>
                </a:cubicBezTo>
                <a:close/>
                <a:moveTo>
                  <a:pt x="140335" y="471846"/>
                </a:moveTo>
                <a:lnTo>
                  <a:pt x="1818640" y="471846"/>
                </a:lnTo>
                <a:cubicBezTo>
                  <a:pt x="1821815" y="477562"/>
                  <a:pt x="1825625" y="485183"/>
                  <a:pt x="1828165" y="488993"/>
                </a:cubicBezTo>
                <a:cubicBezTo>
                  <a:pt x="1835785" y="503599"/>
                  <a:pt x="1845310" y="520746"/>
                  <a:pt x="1851025" y="534082"/>
                </a:cubicBezTo>
                <a:lnTo>
                  <a:pt x="105410" y="534082"/>
                </a:lnTo>
                <a:cubicBezTo>
                  <a:pt x="111125" y="523921"/>
                  <a:pt x="118110" y="511220"/>
                  <a:pt x="123190" y="502964"/>
                </a:cubicBezTo>
                <a:cubicBezTo>
                  <a:pt x="128905" y="492803"/>
                  <a:pt x="135255" y="480737"/>
                  <a:pt x="140335" y="471846"/>
                </a:cubicBezTo>
                <a:close/>
                <a:moveTo>
                  <a:pt x="207010" y="377223"/>
                </a:moveTo>
                <a:lnTo>
                  <a:pt x="1751330" y="377223"/>
                </a:lnTo>
                <a:cubicBezTo>
                  <a:pt x="1766570" y="396275"/>
                  <a:pt x="1783080" y="419137"/>
                  <a:pt x="1795145" y="438189"/>
                </a:cubicBezTo>
                <a:lnTo>
                  <a:pt x="163195" y="438189"/>
                </a:lnTo>
                <a:cubicBezTo>
                  <a:pt x="175895" y="417232"/>
                  <a:pt x="193040" y="394370"/>
                  <a:pt x="207010" y="377223"/>
                </a:cubicBezTo>
                <a:close/>
                <a:moveTo>
                  <a:pt x="292100" y="281330"/>
                </a:moveTo>
                <a:lnTo>
                  <a:pt x="1664970" y="281330"/>
                </a:lnTo>
                <a:cubicBezTo>
                  <a:pt x="1683385" y="299746"/>
                  <a:pt x="1704975" y="321338"/>
                  <a:pt x="1722120" y="340390"/>
                </a:cubicBezTo>
                <a:lnTo>
                  <a:pt x="234315" y="340390"/>
                </a:lnTo>
                <a:cubicBezTo>
                  <a:pt x="251460" y="319433"/>
                  <a:pt x="273050" y="298476"/>
                  <a:pt x="292100" y="281330"/>
                </a:cubicBezTo>
                <a:close/>
                <a:moveTo>
                  <a:pt x="405765" y="183531"/>
                </a:moveTo>
                <a:lnTo>
                  <a:pt x="1550670" y="183531"/>
                </a:lnTo>
                <a:cubicBezTo>
                  <a:pt x="1577340" y="202583"/>
                  <a:pt x="1605280" y="226080"/>
                  <a:pt x="1627505" y="245132"/>
                </a:cubicBezTo>
                <a:lnTo>
                  <a:pt x="330835" y="245132"/>
                </a:lnTo>
                <a:cubicBezTo>
                  <a:pt x="353060" y="224175"/>
                  <a:pt x="382905" y="200678"/>
                  <a:pt x="405765" y="183531"/>
                </a:cubicBezTo>
                <a:close/>
                <a:moveTo>
                  <a:pt x="572770" y="88273"/>
                </a:moveTo>
                <a:lnTo>
                  <a:pt x="1384300" y="88273"/>
                </a:lnTo>
                <a:cubicBezTo>
                  <a:pt x="1423670" y="105419"/>
                  <a:pt x="1464310" y="127011"/>
                  <a:pt x="1497330" y="147333"/>
                </a:cubicBezTo>
                <a:lnTo>
                  <a:pt x="459740" y="147333"/>
                </a:lnTo>
                <a:cubicBezTo>
                  <a:pt x="495300" y="125106"/>
                  <a:pt x="537845" y="104149"/>
                  <a:pt x="572770" y="88273"/>
                </a:cubicBezTo>
                <a:close/>
                <a:moveTo>
                  <a:pt x="977900" y="0"/>
                </a:moveTo>
                <a:cubicBezTo>
                  <a:pt x="1087120" y="-1270"/>
                  <a:pt x="1203325" y="19687"/>
                  <a:pt x="1293495" y="51440"/>
                </a:cubicBezTo>
                <a:lnTo>
                  <a:pt x="661670" y="51440"/>
                </a:lnTo>
                <a:cubicBezTo>
                  <a:pt x="759460" y="16511"/>
                  <a:pt x="878840" y="-635"/>
                  <a:pt x="977900"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13500000" scaled="1"/>
          </a:gradFill>
          <a:ln/>
        </p:spPr>
      </p:sp>
      <p:sp>
        <p:nvSpPr>
          <p:cNvPr id="10" name="Text 7"/>
          <p:cNvSpPr/>
          <p:nvPr/>
        </p:nvSpPr>
        <p:spPr>
          <a:xfrm rot="15060000">
            <a:off x="10623533" y="4245026"/>
            <a:ext cx="1958340" cy="1694329"/>
          </a:xfrm>
          <a:prstGeom prst="rect">
            <a:avLst/>
          </a:prstGeom>
          <a:noFill/>
          <a:ln/>
        </p:spPr>
        <p:txBody>
          <a:bodyPr wrap="square" lIns="45720" tIns="91440" rIns="91440" bIns="45720" rtlCol="0" anchor="t"/>
          <a:lstStyle/>
          <a:p>
            <a:pPr>
              <a:lnSpc>
                <a:spcPct val="100000"/>
              </a:lnSpc>
            </a:pPr>
            <a:endParaRPr lang="en-US" sz="1600" dirty="0"/>
          </a:p>
        </p:txBody>
      </p:sp>
      <p:sp>
        <p:nvSpPr>
          <p:cNvPr id="11" name="Shape 8"/>
          <p:cNvSpPr/>
          <p:nvPr/>
        </p:nvSpPr>
        <p:spPr>
          <a:xfrm rot="6540000">
            <a:off x="10932795" y="1224280"/>
            <a:ext cx="464185" cy="464185"/>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a:ln/>
        </p:spPr>
      </p:sp>
      <p:sp>
        <p:nvSpPr>
          <p:cNvPr id="12" name="Text 9"/>
          <p:cNvSpPr/>
          <p:nvPr/>
        </p:nvSpPr>
        <p:spPr>
          <a:xfrm rot="6540000">
            <a:off x="10932795" y="1224280"/>
            <a:ext cx="464185" cy="464185"/>
          </a:xfrm>
          <a:prstGeom prst="rect">
            <a:avLst/>
          </a:prstGeom>
          <a:noFill/>
          <a:ln/>
        </p:spPr>
        <p:txBody>
          <a:bodyPr wrap="square" lIns="45720" tIns="91440" rIns="91440" bIns="45720" rtlCol="0" anchor="t"/>
          <a:lstStyle/>
          <a:p>
            <a:pPr>
              <a:lnSpc>
                <a:spcPct val="100000"/>
              </a:lnSpc>
            </a:pPr>
            <a:endParaRPr lang="en-US" sz="1600" dirty="0"/>
          </a:p>
        </p:txBody>
      </p:sp>
      <p:sp>
        <p:nvSpPr>
          <p:cNvPr id="13" name="Shape 10"/>
          <p:cNvSpPr/>
          <p:nvPr/>
        </p:nvSpPr>
        <p:spPr>
          <a:xfrm>
            <a:off x="629920" y="1517650"/>
            <a:ext cx="91440" cy="1432560"/>
          </a:xfrm>
          <a:prstGeom prst="rect">
            <a:avLst/>
          </a:prstGeom>
          <a:solidFill>
            <a:srgbClr val="004CC0"/>
          </a:solidFill>
          <a:ln/>
        </p:spPr>
      </p:sp>
      <p:sp>
        <p:nvSpPr>
          <p:cNvPr id="14" name="Text 11"/>
          <p:cNvSpPr/>
          <p:nvPr/>
        </p:nvSpPr>
        <p:spPr>
          <a:xfrm>
            <a:off x="629920" y="1517650"/>
            <a:ext cx="9144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2"/>
          <p:cNvSpPr/>
          <p:nvPr/>
        </p:nvSpPr>
        <p:spPr>
          <a:xfrm>
            <a:off x="756920" y="1517650"/>
            <a:ext cx="9063990" cy="1432560"/>
          </a:xfrm>
          <a:prstGeom prst="rect">
            <a:avLst/>
          </a:prstGeom>
          <a:solidFill>
            <a:srgbClr val="FFFFFF"/>
          </a:solidFill>
          <a:ln w="19050">
            <a:solidFill>
              <a:srgbClr val="004CC0"/>
            </a:solidFill>
            <a:prstDash val="solid"/>
          </a:ln>
        </p:spPr>
      </p:sp>
      <p:sp>
        <p:nvSpPr>
          <p:cNvPr id="16" name="Text 13"/>
          <p:cNvSpPr/>
          <p:nvPr/>
        </p:nvSpPr>
        <p:spPr>
          <a:xfrm>
            <a:off x="756920" y="1517650"/>
            <a:ext cx="906399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4"/>
          <p:cNvSpPr/>
          <p:nvPr/>
        </p:nvSpPr>
        <p:spPr>
          <a:xfrm flipH="1" flipV="1">
            <a:off x="9592310" y="1517650"/>
            <a:ext cx="228600" cy="228600"/>
          </a:xfrm>
          <a:prstGeom prst="rtTriangle">
            <a:avLst/>
          </a:prstGeom>
          <a:solidFill>
            <a:srgbClr val="004CC0"/>
          </a:solidFill>
          <a:ln/>
        </p:spPr>
      </p:sp>
      <p:sp>
        <p:nvSpPr>
          <p:cNvPr id="18" name="Text 15"/>
          <p:cNvSpPr/>
          <p:nvPr/>
        </p:nvSpPr>
        <p:spPr>
          <a:xfrm>
            <a:off x="9592310" y="1517650"/>
            <a:ext cx="228600" cy="22860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6"/>
          <p:cNvSpPr/>
          <p:nvPr/>
        </p:nvSpPr>
        <p:spPr>
          <a:xfrm>
            <a:off x="629920" y="3169285"/>
            <a:ext cx="91440" cy="1432560"/>
          </a:xfrm>
          <a:prstGeom prst="rect">
            <a:avLst/>
          </a:prstGeom>
          <a:solidFill>
            <a:srgbClr val="004CC0"/>
          </a:solidFill>
          <a:ln/>
        </p:spPr>
      </p:sp>
      <p:sp>
        <p:nvSpPr>
          <p:cNvPr id="20" name="Text 17"/>
          <p:cNvSpPr/>
          <p:nvPr/>
        </p:nvSpPr>
        <p:spPr>
          <a:xfrm>
            <a:off x="629920" y="3169285"/>
            <a:ext cx="9144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8"/>
          <p:cNvSpPr/>
          <p:nvPr/>
        </p:nvSpPr>
        <p:spPr>
          <a:xfrm>
            <a:off x="756920" y="3169285"/>
            <a:ext cx="9063990" cy="1432560"/>
          </a:xfrm>
          <a:prstGeom prst="rect">
            <a:avLst/>
          </a:prstGeom>
          <a:solidFill>
            <a:srgbClr val="FFFFFF"/>
          </a:solidFill>
          <a:ln w="19050">
            <a:solidFill>
              <a:srgbClr val="004CC0"/>
            </a:solidFill>
            <a:prstDash val="solid"/>
          </a:ln>
        </p:spPr>
      </p:sp>
      <p:sp>
        <p:nvSpPr>
          <p:cNvPr id="22" name="Text 19"/>
          <p:cNvSpPr/>
          <p:nvPr/>
        </p:nvSpPr>
        <p:spPr>
          <a:xfrm>
            <a:off x="756920" y="3169285"/>
            <a:ext cx="906399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0"/>
          <p:cNvSpPr/>
          <p:nvPr/>
        </p:nvSpPr>
        <p:spPr>
          <a:xfrm flipH="1" flipV="1">
            <a:off x="9592310" y="3169285"/>
            <a:ext cx="228600" cy="228600"/>
          </a:xfrm>
          <a:prstGeom prst="rtTriangle">
            <a:avLst/>
          </a:prstGeom>
          <a:solidFill>
            <a:srgbClr val="004CC0"/>
          </a:solidFill>
          <a:ln/>
        </p:spPr>
      </p:sp>
      <p:sp>
        <p:nvSpPr>
          <p:cNvPr id="24" name="Text 21"/>
          <p:cNvSpPr/>
          <p:nvPr/>
        </p:nvSpPr>
        <p:spPr>
          <a:xfrm>
            <a:off x="9592310" y="3169285"/>
            <a:ext cx="228600" cy="228600"/>
          </a:xfrm>
          <a:prstGeom prst="rect">
            <a:avLst/>
          </a:prstGeom>
          <a:noFill/>
          <a:ln/>
        </p:spPr>
        <p:txBody>
          <a:bodyPr wrap="square" lIns="45720" tIns="91440" rIns="91440" bIns="45720" rtlCol="0" anchor="ctr"/>
          <a:lstStyle/>
          <a:p>
            <a:pPr>
              <a:lnSpc>
                <a:spcPct val="100000"/>
              </a:lnSpc>
            </a:pPr>
            <a:endParaRPr lang="en-US" sz="1600" dirty="0"/>
          </a:p>
        </p:txBody>
      </p:sp>
      <p:sp>
        <p:nvSpPr>
          <p:cNvPr id="25" name="Shape 22"/>
          <p:cNvSpPr/>
          <p:nvPr/>
        </p:nvSpPr>
        <p:spPr>
          <a:xfrm>
            <a:off x="629920" y="4820920"/>
            <a:ext cx="91440" cy="1432560"/>
          </a:xfrm>
          <a:prstGeom prst="rect">
            <a:avLst/>
          </a:prstGeom>
          <a:solidFill>
            <a:srgbClr val="004CC0"/>
          </a:solidFill>
          <a:ln/>
        </p:spPr>
      </p:sp>
      <p:sp>
        <p:nvSpPr>
          <p:cNvPr id="26" name="Text 23"/>
          <p:cNvSpPr/>
          <p:nvPr/>
        </p:nvSpPr>
        <p:spPr>
          <a:xfrm>
            <a:off x="629920" y="4820920"/>
            <a:ext cx="9144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4"/>
          <p:cNvSpPr/>
          <p:nvPr/>
        </p:nvSpPr>
        <p:spPr>
          <a:xfrm>
            <a:off x="756920" y="4820920"/>
            <a:ext cx="9063990" cy="1432560"/>
          </a:xfrm>
          <a:prstGeom prst="rect">
            <a:avLst/>
          </a:prstGeom>
          <a:solidFill>
            <a:srgbClr val="FFFFFF"/>
          </a:solidFill>
          <a:ln w="19050">
            <a:solidFill>
              <a:srgbClr val="004CC0"/>
            </a:solidFill>
            <a:prstDash val="solid"/>
          </a:ln>
        </p:spPr>
      </p:sp>
      <p:sp>
        <p:nvSpPr>
          <p:cNvPr id="28" name="Text 25"/>
          <p:cNvSpPr/>
          <p:nvPr/>
        </p:nvSpPr>
        <p:spPr>
          <a:xfrm>
            <a:off x="756920" y="4820920"/>
            <a:ext cx="906399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6"/>
          <p:cNvSpPr/>
          <p:nvPr/>
        </p:nvSpPr>
        <p:spPr>
          <a:xfrm flipH="1" flipV="1">
            <a:off x="9592310" y="4820920"/>
            <a:ext cx="228600" cy="228600"/>
          </a:xfrm>
          <a:prstGeom prst="rtTriangle">
            <a:avLst/>
          </a:prstGeom>
          <a:solidFill>
            <a:srgbClr val="004CC0"/>
          </a:solidFill>
          <a:ln/>
        </p:spPr>
      </p:sp>
      <p:sp>
        <p:nvSpPr>
          <p:cNvPr id="30" name="Text 27"/>
          <p:cNvSpPr/>
          <p:nvPr/>
        </p:nvSpPr>
        <p:spPr>
          <a:xfrm>
            <a:off x="9592310" y="4820920"/>
            <a:ext cx="228600" cy="228600"/>
          </a:xfrm>
          <a:prstGeom prst="rect">
            <a:avLst/>
          </a:prstGeom>
          <a:noFill/>
          <a:ln/>
        </p:spPr>
        <p:txBody>
          <a:bodyPr wrap="square" lIns="45720" tIns="91440" rIns="91440" bIns="45720" rtlCol="0" anchor="ctr"/>
          <a:lstStyle/>
          <a:p>
            <a:pPr>
              <a:lnSpc>
                <a:spcPct val="100000"/>
              </a:lnSpc>
            </a:pPr>
            <a:endParaRPr lang="en-US" sz="1600" dirty="0"/>
          </a:p>
        </p:txBody>
      </p:sp>
      <p:sp>
        <p:nvSpPr>
          <p:cNvPr id="31" name="Text 28"/>
          <p:cNvSpPr/>
          <p:nvPr/>
        </p:nvSpPr>
        <p:spPr>
          <a:xfrm>
            <a:off x="629920" y="547409"/>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02-Technical </a:t>
            </a:r>
            <a:r>
              <a:rPr lang="en-US" sz="3000" b="1" dirty="0">
                <a:solidFill>
                  <a:srgbClr val="000000"/>
                </a:solidFill>
                <a:latin typeface="MiSans" pitchFamily="34" charset="0"/>
                <a:ea typeface="MiSans" pitchFamily="34" charset="-122"/>
                <a:cs typeface="MiSans" pitchFamily="34" charset="-120"/>
              </a:rPr>
              <a:t>Challenges</a:t>
            </a:r>
            <a:endParaRPr lang="en-US" sz="1600" dirty="0"/>
          </a:p>
        </p:txBody>
      </p:sp>
      <p:sp>
        <p:nvSpPr>
          <p:cNvPr id="32" name="Text 29"/>
          <p:cNvSpPr/>
          <p:nvPr/>
        </p:nvSpPr>
        <p:spPr>
          <a:xfrm>
            <a:off x="843915" y="1557030"/>
            <a:ext cx="6934200" cy="400110"/>
          </a:xfrm>
          <a:prstGeom prst="rect">
            <a:avLst/>
          </a:prstGeom>
          <a:noFill/>
          <a:ln/>
        </p:spPr>
        <p:txBody>
          <a:bodyPr wrap="square" lIns="91440" tIns="45720" rIns="91440" bIns="45720" rtlCol="0" anchor="ctr">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K</a:t>
            </a:r>
            <a:r>
              <a:rPr lang="en-US" altLang="zh-CN" sz="2000" b="1">
                <a:solidFill>
                  <a:srgbClr val="1D3EBF"/>
                </a:solidFill>
                <a:latin typeface="MiSans" pitchFamily="34" charset="0"/>
                <a:ea typeface="MiSans" pitchFamily="34" charset="-122"/>
                <a:cs typeface="MiSans" pitchFamily="34" charset="-120"/>
              </a:rPr>
              <a:t>ey information extraction</a:t>
            </a:r>
            <a:endParaRPr lang="en-US" b="1" dirty="0"/>
          </a:p>
        </p:txBody>
      </p:sp>
      <p:sp>
        <p:nvSpPr>
          <p:cNvPr id="33" name="Text 30"/>
          <p:cNvSpPr/>
          <p:nvPr/>
        </p:nvSpPr>
        <p:spPr>
          <a:xfrm>
            <a:off x="895985" y="1991360"/>
            <a:ext cx="8798560" cy="909929"/>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Leverage advanced natural language processing techniques to accurately identify and extract critical log patterns and parameters from unstructured raw data, filtering out irrelevant noise while retaining intact semantic information to support precise anomaly analysis.</a:t>
            </a:r>
            <a:endParaRPr lang="en-US" sz="1600" b="1" dirty="0"/>
          </a:p>
        </p:txBody>
      </p:sp>
      <p:sp>
        <p:nvSpPr>
          <p:cNvPr id="34" name="Text 31"/>
          <p:cNvSpPr/>
          <p:nvPr/>
        </p:nvSpPr>
        <p:spPr>
          <a:xfrm>
            <a:off x="843915" y="3208665"/>
            <a:ext cx="6934200" cy="400110"/>
          </a:xfrm>
          <a:prstGeom prst="rect">
            <a:avLst/>
          </a:prstGeom>
          <a:noFill/>
          <a:ln/>
        </p:spPr>
        <p:txBody>
          <a:bodyPr wrap="square" lIns="91440" tIns="45720" rIns="91440" bIns="45720" rtlCol="0" anchor="ctr">
            <a:spAutoFit/>
          </a:bodyPr>
          <a:lstStyle/>
          <a:p>
            <a:pPr algn="just">
              <a:lnSpc>
                <a:spcPct val="100000"/>
              </a:lnSpc>
            </a:pPr>
            <a:r>
              <a:rPr lang="en-US" altLang="zh-CN" sz="2000" b="1">
                <a:solidFill>
                  <a:srgbClr val="1D3EBF"/>
                </a:solidFill>
                <a:latin typeface="MiSans" pitchFamily="34" charset="0"/>
                <a:ea typeface="MiSans" pitchFamily="34" charset="-122"/>
                <a:cs typeface="MiSans" pitchFamily="34" charset="-120"/>
              </a:rPr>
              <a:t>Priority Ranking</a:t>
            </a:r>
            <a:endParaRPr lang="en-US" b="1" dirty="0"/>
          </a:p>
        </p:txBody>
      </p:sp>
      <p:sp>
        <p:nvSpPr>
          <p:cNvPr id="35" name="Text 32"/>
          <p:cNvSpPr/>
          <p:nvPr/>
        </p:nvSpPr>
        <p:spPr>
          <a:xfrm>
            <a:off x="895985" y="3642995"/>
            <a:ext cx="8798560" cy="629852"/>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Develop intelligent ranking algorithms to automatically categorize detected anomalies based on severity and urgency levels, enabling developers to prioritize critical issues and significantly optimize troubleshooting workflows.</a:t>
            </a:r>
            <a:endParaRPr lang="en-US" sz="1600" b="1" dirty="0"/>
          </a:p>
        </p:txBody>
      </p:sp>
      <p:sp>
        <p:nvSpPr>
          <p:cNvPr id="36" name="Text 33"/>
          <p:cNvSpPr/>
          <p:nvPr/>
        </p:nvSpPr>
        <p:spPr>
          <a:xfrm>
            <a:off x="843915" y="4875689"/>
            <a:ext cx="6934200" cy="369332"/>
          </a:xfrm>
          <a:prstGeom prst="rect">
            <a:avLst/>
          </a:prstGeom>
          <a:noFill/>
          <a:ln/>
        </p:spPr>
        <p:txBody>
          <a:bodyPr wrap="square" lIns="91440" tIns="45720" rIns="91440" bIns="45720" rtlCol="0" anchor="ctr">
            <a:spAutoFit/>
          </a:bodyPr>
          <a:lstStyle/>
          <a:p>
            <a:pPr algn="just">
              <a:lnSpc>
                <a:spcPct val="100000"/>
              </a:lnSpc>
            </a:pPr>
            <a:r>
              <a:rPr lang="en-US" sz="1800" b="1" dirty="0">
                <a:solidFill>
                  <a:srgbClr val="1D3EBF"/>
                </a:solidFill>
                <a:latin typeface="MiSans" pitchFamily="34" charset="0"/>
                <a:ea typeface="MiSans" pitchFamily="34" charset="-122"/>
                <a:cs typeface="MiSans" pitchFamily="34" charset="-120"/>
              </a:rPr>
              <a:t>VS Code Integration</a:t>
            </a:r>
            <a:endParaRPr lang="en-US" sz="1600" b="1" dirty="0"/>
          </a:p>
        </p:txBody>
      </p:sp>
      <p:sp>
        <p:nvSpPr>
          <p:cNvPr id="37" name="Text 34"/>
          <p:cNvSpPr/>
          <p:nvPr/>
        </p:nvSpPr>
        <p:spPr>
          <a:xfrm>
            <a:off x="895985" y="5294630"/>
            <a:ext cx="8798560" cy="909929"/>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Seamlessly embed the log anomaly detection engine into the VS Code extension ecosystem, ensuring real-time monitoring capabilities, native UI component compatibility, and non-intrusive performance within the developer's existing workflow.</a:t>
            </a:r>
            <a:endParaRPr lang="en-US" sz="1600" b="1"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756C-EE1D-5A96-F79C-00D860A0D8D8}"/>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ACDCED27-C7E7-9D11-B530-55622E9ED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5427" y="78039"/>
            <a:ext cx="7787742" cy="6284617"/>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C4D2164C-4176-B3FA-6901-C26BF34A92D5}"/>
              </a:ext>
            </a:extLst>
          </p:cNvPr>
          <p:cNvSpPr/>
          <p:nvPr/>
        </p:nvSpPr>
        <p:spPr>
          <a:xfrm>
            <a:off x="369697" y="495344"/>
            <a:ext cx="10151745" cy="338554"/>
          </a:xfrm>
          <a:prstGeom prst="rect">
            <a:avLst/>
          </a:prstGeom>
          <a:noFill/>
          <a:ln/>
        </p:spPr>
        <p:txBody>
          <a:bodyPr wrap="square" lIns="91440" tIns="45720" rIns="91440" bIns="45720" rtlCol="0" anchor="t">
            <a:spAutoFit/>
          </a:bodyPr>
          <a:lstStyle/>
          <a:p>
            <a:pPr>
              <a:lnSpc>
                <a:spcPct val="100000"/>
              </a:lnSpc>
            </a:pPr>
            <a:endParaRPr lang="en-US" sz="1600" dirty="0"/>
          </a:p>
        </p:txBody>
      </p:sp>
      <p:pic>
        <p:nvPicPr>
          <p:cNvPr id="3" name="Image 0" descr="https://kimi-img.moonshot.cn/pub/slides/slides_tmpl/image/25-10-09-17:19:39-d3jnsaos8jdo4os5dltg.svg">
            <a:extLst>
              <a:ext uri="{FF2B5EF4-FFF2-40B4-BE49-F238E27FC236}">
                <a16:creationId xmlns:a16="http://schemas.microsoft.com/office/drawing/2014/main" id="{ACBC0A53-39E4-9A79-EE3C-4662E53A26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6000115"/>
            <a:ext cx="12191365" cy="857885"/>
          </a:xfrm>
          <a:prstGeom prst="rect">
            <a:avLst/>
          </a:prstGeom>
        </p:spPr>
      </p:pic>
      <p:sp>
        <p:nvSpPr>
          <p:cNvPr id="4" name="Shape 1">
            <a:extLst>
              <a:ext uri="{FF2B5EF4-FFF2-40B4-BE49-F238E27FC236}">
                <a16:creationId xmlns:a16="http://schemas.microsoft.com/office/drawing/2014/main" id="{F4011A65-8B90-E62B-3E52-506E299A9F31}"/>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5" name="Shape 2">
            <a:extLst>
              <a:ext uri="{FF2B5EF4-FFF2-40B4-BE49-F238E27FC236}">
                <a16:creationId xmlns:a16="http://schemas.microsoft.com/office/drawing/2014/main" id="{A59F490D-0005-0BFE-CBD7-72F75E768797}"/>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6" name="Shape 3">
            <a:extLst>
              <a:ext uri="{FF2B5EF4-FFF2-40B4-BE49-F238E27FC236}">
                <a16:creationId xmlns:a16="http://schemas.microsoft.com/office/drawing/2014/main" id="{796F6D11-CFEC-6C82-10C6-21BFA4C9DD33}"/>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9" name="Text 8">
            <a:extLst>
              <a:ext uri="{FF2B5EF4-FFF2-40B4-BE49-F238E27FC236}">
                <a16:creationId xmlns:a16="http://schemas.microsoft.com/office/drawing/2014/main" id="{84BB47BA-3A0C-CE4F-595E-07D7BEC548E5}"/>
              </a:ext>
            </a:extLst>
          </p:cNvPr>
          <p:cNvSpPr/>
          <p:nvPr/>
        </p:nvSpPr>
        <p:spPr>
          <a:xfrm>
            <a:off x="258831" y="326066"/>
            <a:ext cx="10151745" cy="1015663"/>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02- System Architecture </a:t>
            </a:r>
          </a:p>
          <a:p>
            <a:pPr>
              <a:lnSpc>
                <a:spcPct val="100000"/>
              </a:lnSpc>
            </a:pPr>
            <a:r>
              <a:rPr lang="en-US" sz="3000" b="1">
                <a:solidFill>
                  <a:srgbClr val="000000"/>
                </a:solidFill>
                <a:latin typeface="MiSans" pitchFamily="34" charset="0"/>
                <a:ea typeface="MiSans" pitchFamily="34" charset="-122"/>
                <a:cs typeface="MiSans" pitchFamily="34" charset="-120"/>
              </a:rPr>
              <a:t>Diagram</a:t>
            </a:r>
            <a:endParaRPr lang="en-US" sz="1600" dirty="0"/>
          </a:p>
        </p:txBody>
      </p:sp>
      <p:sp>
        <p:nvSpPr>
          <p:cNvPr id="7" name="Text 32">
            <a:extLst>
              <a:ext uri="{FF2B5EF4-FFF2-40B4-BE49-F238E27FC236}">
                <a16:creationId xmlns:a16="http://schemas.microsoft.com/office/drawing/2014/main" id="{C116ED7D-9497-B3C3-9643-F3B00CFC09D7}"/>
              </a:ext>
            </a:extLst>
          </p:cNvPr>
          <p:cNvSpPr/>
          <p:nvPr/>
        </p:nvSpPr>
        <p:spPr>
          <a:xfrm>
            <a:off x="332356" y="1869426"/>
            <a:ext cx="3284334" cy="3990772"/>
          </a:xfrm>
          <a:prstGeom prst="rect">
            <a:avLst/>
          </a:prstGeom>
          <a:noFill/>
          <a:ln/>
        </p:spPr>
        <p:txBody>
          <a:bodyPr wrap="square" lIns="91440" tIns="45720" rIns="91440" bIns="45720" rtlCol="0" anchor="t">
            <a:spAutoFit/>
          </a:bodyPr>
          <a:lstStyle/>
          <a:p>
            <a:pPr algn="just" eaLnBrk="0" latinLnBrk="1">
              <a:lnSpc>
                <a:spcPct val="130000"/>
              </a:lnSpc>
            </a:pPr>
            <a:r>
              <a:rPr lang="en-US" sz="1400" b="1">
                <a:solidFill>
                  <a:srgbClr val="000000"/>
                </a:solidFill>
                <a:latin typeface="MiSans" pitchFamily="34" charset="0"/>
                <a:ea typeface="MiSans" pitchFamily="34" charset="-122"/>
                <a:cs typeface="MiSans" pitchFamily="34" charset="-120"/>
              </a:rPr>
              <a:t>This figure illustrates the system architecture of the VS Code plugin for anomaly log parsing based on LogLLM, which consists of three core components: left-side External Services (LLM APIs, Log Processing Server), middle VS Code Plugin System backend (Node.js-based for core logic/communication), and right front-end WebView .</a:t>
            </a:r>
          </a:p>
          <a:p>
            <a:pPr algn="just" eaLnBrk="0" latinLnBrk="1">
              <a:lnSpc>
                <a:spcPct val="130000"/>
              </a:lnSpc>
            </a:pPr>
            <a:r>
              <a:rPr lang="en-US" sz="1400" b="1">
                <a:solidFill>
                  <a:srgbClr val="000000"/>
                </a:solidFill>
                <a:latin typeface="MiSans" pitchFamily="34" charset="0"/>
                <a:ea typeface="MiSans" pitchFamily="34" charset="-122"/>
                <a:cs typeface="MiSans" pitchFamily="34" charset="-120"/>
              </a:rPr>
              <a:t>A clear data flow links user requests, the log processing/anomaly detection pipeline (BERT+Projector+Llama model architecture), and result presentation, creating an efficient, secure IDE-integrated log analysis solution.</a:t>
            </a:r>
            <a:endParaRPr lang="en-US" sz="1600" b="1" dirty="0"/>
          </a:p>
        </p:txBody>
      </p:sp>
    </p:spTree>
    <p:extLst>
      <p:ext uri="{BB962C8B-B14F-4D97-AF65-F5344CB8AC3E}">
        <p14:creationId xmlns:p14="http://schemas.microsoft.com/office/powerpoint/2010/main" val="152317880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flipH="1" flipV="1">
            <a:off x="6218738" y="1422400"/>
            <a:ext cx="5348515" cy="4749800"/>
          </a:xfrm>
          <a:prstGeom prst="round2DiagRect">
            <a:avLst/>
          </a:prstGeom>
          <a:solidFill>
            <a:schemeClr val="bg1"/>
          </a:solidFill>
          <a:ln w="19050">
            <a:solidFill>
              <a:srgbClr val="004CC0"/>
            </a:solidFill>
          </a:ln>
        </p:spPr>
        <p:txBody>
          <a:bodyPr/>
          <a:lstStyle/>
          <a:p>
            <a:endParaRPr lang="zh-CN" altLang="en-US"/>
          </a:p>
        </p:txBody>
      </p:sp>
      <p:sp>
        <p:nvSpPr>
          <p:cNvPr id="3" name="Text 1"/>
          <p:cNvSpPr/>
          <p:nvPr/>
        </p:nvSpPr>
        <p:spPr>
          <a:xfrm>
            <a:off x="6171957" y="1422400"/>
            <a:ext cx="5348515" cy="47498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flipV="1">
            <a:off x="671527" y="1422400"/>
            <a:ext cx="5348515" cy="4749800"/>
          </a:xfrm>
          <a:prstGeom prst="round2DiagRect">
            <a:avLst/>
          </a:prstGeom>
          <a:solidFill>
            <a:srgbClr val="1D3EBF"/>
          </a:solidFill>
          <a:ln w="19050">
            <a:solidFill>
              <a:srgbClr val="004CC0"/>
            </a:solidFill>
            <a:prstDash val="solid"/>
          </a:ln>
        </p:spPr>
      </p:sp>
      <p:sp>
        <p:nvSpPr>
          <p:cNvPr id="5" name="Text 3"/>
          <p:cNvSpPr/>
          <p:nvPr/>
        </p:nvSpPr>
        <p:spPr>
          <a:xfrm>
            <a:off x="671527" y="1422400"/>
            <a:ext cx="5348515" cy="474980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1219835" y="584835"/>
            <a:ext cx="10151745" cy="338554"/>
          </a:xfrm>
          <a:prstGeom prst="rect">
            <a:avLst/>
          </a:prstGeom>
          <a:noFill/>
          <a:ln/>
        </p:spPr>
        <p:txBody>
          <a:bodyPr wrap="square" lIns="91440" tIns="45720" rIns="91440" bIns="45720" rtlCol="0" anchor="t">
            <a:spAutoFit/>
          </a:bodyPr>
          <a:lstStyle/>
          <a:p>
            <a:pPr>
              <a:lnSpc>
                <a:spcPct val="100000"/>
              </a:lnSpc>
            </a:pPr>
            <a:endParaRPr lang="en-US" sz="1600" dirty="0">
              <a:solidFill>
                <a:srgbClr val="C00000"/>
              </a:solidFill>
            </a:endParaRPr>
          </a:p>
        </p:txBody>
      </p:sp>
      <p:sp>
        <p:nvSpPr>
          <p:cNvPr id="7" name="Shape 5"/>
          <p:cNvSpPr/>
          <p:nvPr/>
        </p:nvSpPr>
        <p:spPr>
          <a:xfrm>
            <a:off x="11106785" y="693737"/>
            <a:ext cx="235520" cy="0"/>
          </a:xfrm>
          <a:prstGeom prst="line">
            <a:avLst/>
          </a:prstGeom>
          <a:noFill/>
          <a:ln w="31750">
            <a:solidFill>
              <a:srgbClr val="004CC0"/>
            </a:solidFill>
            <a:prstDash val="solid"/>
            <a:headEnd type="none"/>
            <a:tailEnd type="none"/>
          </a:ln>
        </p:spPr>
      </p:sp>
      <p:sp>
        <p:nvSpPr>
          <p:cNvPr id="8" name="Shape 6"/>
          <p:cNvSpPr/>
          <p:nvPr/>
        </p:nvSpPr>
        <p:spPr>
          <a:xfrm>
            <a:off x="11106785" y="754697"/>
            <a:ext cx="235520" cy="0"/>
          </a:xfrm>
          <a:prstGeom prst="line">
            <a:avLst/>
          </a:prstGeom>
          <a:noFill/>
          <a:ln w="31750">
            <a:solidFill>
              <a:srgbClr val="004CC0"/>
            </a:solidFill>
            <a:prstDash val="solid"/>
            <a:headEnd type="none"/>
            <a:tailEnd type="none"/>
          </a:ln>
        </p:spPr>
      </p:sp>
      <p:sp>
        <p:nvSpPr>
          <p:cNvPr id="9" name="Shape 7"/>
          <p:cNvSpPr/>
          <p:nvPr/>
        </p:nvSpPr>
        <p:spPr>
          <a:xfrm>
            <a:off x="11106785" y="815657"/>
            <a:ext cx="235520" cy="0"/>
          </a:xfrm>
          <a:prstGeom prst="line">
            <a:avLst/>
          </a:prstGeom>
          <a:noFill/>
          <a:ln w="31750">
            <a:solidFill>
              <a:srgbClr val="004CC0"/>
            </a:solidFill>
            <a:prstDash val="solid"/>
            <a:headEnd type="none"/>
            <a:tailEnd type="none"/>
          </a:ln>
        </p:spPr>
      </p:sp>
      <p:sp>
        <p:nvSpPr>
          <p:cNvPr id="10" name="Text 8"/>
          <p:cNvSpPr/>
          <p:nvPr/>
        </p:nvSpPr>
        <p:spPr>
          <a:xfrm>
            <a:off x="1044961" y="2148861"/>
            <a:ext cx="4285712" cy="523220"/>
          </a:xfrm>
          <a:prstGeom prst="rect">
            <a:avLst/>
          </a:prstGeom>
          <a:noFill/>
          <a:ln/>
        </p:spPr>
        <p:txBody>
          <a:bodyPr wrap="square" lIns="91440" tIns="45720" rIns="91440" bIns="45720" rtlCol="0" anchor="ctr">
            <a:spAutoFit/>
          </a:bodyPr>
          <a:lstStyle/>
          <a:p>
            <a:pPr algn="just">
              <a:lnSpc>
                <a:spcPct val="100000"/>
              </a:lnSpc>
            </a:pPr>
            <a:r>
              <a:rPr lang="en-US" sz="2800">
                <a:solidFill>
                  <a:schemeClr val="bg1"/>
                </a:solidFill>
                <a:latin typeface="MiSans" pitchFamily="34" charset="0"/>
                <a:ea typeface="MiSans" pitchFamily="34" charset="-122"/>
                <a:cs typeface="MiSans" pitchFamily="34" charset="-120"/>
              </a:rPr>
              <a:t>back</a:t>
            </a:r>
            <a:endParaRPr lang="en-US" sz="1600" dirty="0">
              <a:solidFill>
                <a:schemeClr val="bg1"/>
              </a:solidFill>
            </a:endParaRPr>
          </a:p>
        </p:txBody>
      </p:sp>
      <p:sp>
        <p:nvSpPr>
          <p:cNvPr id="11" name="Text 9"/>
          <p:cNvSpPr/>
          <p:nvPr/>
        </p:nvSpPr>
        <p:spPr>
          <a:xfrm>
            <a:off x="1080309" y="2894305"/>
            <a:ext cx="4215624" cy="2283702"/>
          </a:xfrm>
          <a:prstGeom prst="rect">
            <a:avLst/>
          </a:prstGeom>
          <a:noFill/>
          <a:ln/>
        </p:spPr>
        <p:txBody>
          <a:bodyPr wrap="square" lIns="91440" tIns="45720" rIns="91440" bIns="45720" rtlCol="0" anchor="t">
            <a:spAutoFit/>
          </a:bodyPr>
          <a:lstStyle/>
          <a:p>
            <a:pPr algn="just">
              <a:lnSpc>
                <a:spcPct val="120000"/>
              </a:lnSpc>
            </a:pPr>
            <a:r>
              <a:rPr lang="en-US" sz="2000">
                <a:solidFill>
                  <a:schemeClr val="bg1"/>
                </a:solidFill>
                <a:latin typeface="MiSans" pitchFamily="34" charset="0"/>
                <a:ea typeface="MiSans" pitchFamily="34" charset="-122"/>
                <a:cs typeface="MiSans" pitchFamily="34" charset="-120"/>
              </a:rPr>
              <a:t>The plugin's frontend is a Vue.js single-page application embedded in the VS Code WebView, sending and receiving messages via postMessage, and updating the UI through Pinia to achieve real-time interaction.</a:t>
            </a:r>
            <a:endParaRPr lang="en-US" sz="1600" dirty="0">
              <a:solidFill>
                <a:schemeClr val="bg1"/>
              </a:solidFill>
            </a:endParaRPr>
          </a:p>
        </p:txBody>
      </p:sp>
      <p:sp>
        <p:nvSpPr>
          <p:cNvPr id="12" name="Text 10"/>
          <p:cNvSpPr/>
          <p:nvPr/>
        </p:nvSpPr>
        <p:spPr>
          <a:xfrm>
            <a:off x="6612782" y="2087518"/>
            <a:ext cx="4285712" cy="523220"/>
          </a:xfrm>
          <a:prstGeom prst="rect">
            <a:avLst/>
          </a:prstGeom>
          <a:noFill/>
          <a:ln/>
        </p:spPr>
        <p:txBody>
          <a:bodyPr wrap="square" lIns="91440" tIns="45720" rIns="91440" bIns="45720" rtlCol="0" anchor="ctr">
            <a:spAutoFit/>
          </a:bodyPr>
          <a:lstStyle/>
          <a:p>
            <a:pPr algn="r">
              <a:lnSpc>
                <a:spcPct val="100000"/>
              </a:lnSpc>
            </a:pPr>
            <a:r>
              <a:rPr lang="en-US" sz="2800">
                <a:solidFill>
                  <a:srgbClr val="1D3EBF"/>
                </a:solidFill>
                <a:latin typeface="MiSans" pitchFamily="34" charset="0"/>
                <a:ea typeface="MiSans" pitchFamily="34" charset="-122"/>
                <a:cs typeface="MiSans" pitchFamily="34" charset="-120"/>
              </a:rPr>
              <a:t>front</a:t>
            </a:r>
          </a:p>
        </p:txBody>
      </p:sp>
      <p:sp>
        <p:nvSpPr>
          <p:cNvPr id="13" name="Text 11"/>
          <p:cNvSpPr/>
          <p:nvPr/>
        </p:nvSpPr>
        <p:spPr>
          <a:xfrm>
            <a:off x="6682870" y="2894305"/>
            <a:ext cx="4215624" cy="2653034"/>
          </a:xfrm>
          <a:prstGeom prst="rect">
            <a:avLst/>
          </a:prstGeom>
          <a:noFill/>
          <a:ln/>
        </p:spPr>
        <p:txBody>
          <a:bodyPr wrap="square" lIns="91440" tIns="45720" rIns="91440" bIns="45720" rtlCol="0" anchor="t">
            <a:spAutoFit/>
          </a:bodyPr>
          <a:lstStyle/>
          <a:p>
            <a:pPr algn="just">
              <a:lnSpc>
                <a:spcPct val="120000"/>
              </a:lnSpc>
            </a:pPr>
            <a:r>
              <a:rPr lang="en-US" sz="2000">
                <a:solidFill>
                  <a:srgbClr val="1D3EBF"/>
                </a:solidFill>
                <a:latin typeface="MiSans" pitchFamily="34" charset="0"/>
                <a:ea typeface="MiSans" pitchFamily="34" charset="-122"/>
                <a:cs typeface="MiSans" pitchFamily="34" charset="-120"/>
              </a:rPr>
              <a:t>The plugin's backend runs in the Node.js environment provided by VS Code, monitors frontend messages, processes core business logic, returns results via encapsulated interfaces, and ensures the security of sensitive information.</a:t>
            </a:r>
            <a:endParaRPr lang="en-US" sz="1600" dirty="0">
              <a:solidFill>
                <a:srgbClr val="1D3EBF"/>
              </a:solidFill>
            </a:endParaRPr>
          </a:p>
        </p:txBody>
      </p:sp>
      <p:sp>
        <p:nvSpPr>
          <p:cNvPr id="14" name="Text 17">
            <a:extLst>
              <a:ext uri="{FF2B5EF4-FFF2-40B4-BE49-F238E27FC236}">
                <a16:creationId xmlns:a16="http://schemas.microsoft.com/office/drawing/2014/main" id="{FE91244E-0915-A740-C8CF-B93A889D3B46}"/>
              </a:ext>
            </a:extLst>
          </p:cNvPr>
          <p:cNvSpPr/>
          <p:nvPr/>
        </p:nvSpPr>
        <p:spPr>
          <a:xfrm>
            <a:off x="671527" y="338614"/>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solidFill>
                  <a:srgbClr val="000000"/>
                </a:solidFill>
                <a:latin typeface="MiSans" pitchFamily="34" charset="0"/>
                <a:ea typeface="MiSans" pitchFamily="34" charset="-122"/>
                <a:cs typeface="MiSans" pitchFamily="34" charset="-120"/>
              </a:rPr>
              <a:t>02- </a:t>
            </a:r>
            <a:r>
              <a:rPr kumimoji="0" lang="en-US" altLang="zh-CN"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back &amp; front</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848360" y="6346190"/>
            <a:ext cx="163338" cy="153035"/>
          </a:xfrm>
          <a:prstGeom prst="rect">
            <a:avLst/>
          </a:prstGeom>
          <a:solidFill>
            <a:srgbClr val="004CC0"/>
          </a:solidFill>
          <a:ln/>
        </p:spPr>
      </p:sp>
      <p:sp>
        <p:nvSpPr>
          <p:cNvPr id="8" name="Text 6"/>
          <p:cNvSpPr/>
          <p:nvPr/>
        </p:nvSpPr>
        <p:spPr>
          <a:xfrm>
            <a:off x="848360"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1122291" y="6346190"/>
            <a:ext cx="163338" cy="153035"/>
          </a:xfrm>
          <a:prstGeom prst="rect">
            <a:avLst/>
          </a:prstGeom>
          <a:solidFill>
            <a:srgbClr val="004CC0"/>
          </a:solidFill>
          <a:ln/>
        </p:spPr>
      </p:sp>
      <p:sp>
        <p:nvSpPr>
          <p:cNvPr id="10" name="Text 8"/>
          <p:cNvSpPr/>
          <p:nvPr/>
        </p:nvSpPr>
        <p:spPr>
          <a:xfrm>
            <a:off x="1122291"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Shape 9"/>
          <p:cNvSpPr/>
          <p:nvPr/>
        </p:nvSpPr>
        <p:spPr>
          <a:xfrm>
            <a:off x="1396222" y="6346190"/>
            <a:ext cx="163338" cy="153035"/>
          </a:xfrm>
          <a:prstGeom prst="rect">
            <a:avLst/>
          </a:prstGeom>
          <a:solidFill>
            <a:srgbClr val="004CC0"/>
          </a:solidFill>
          <a:ln/>
        </p:spPr>
      </p:sp>
      <p:sp>
        <p:nvSpPr>
          <p:cNvPr id="12" name="Text 10"/>
          <p:cNvSpPr/>
          <p:nvPr/>
        </p:nvSpPr>
        <p:spPr>
          <a:xfrm>
            <a:off x="1396222"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1"/>
          <p:cNvSpPr/>
          <p:nvPr/>
        </p:nvSpPr>
        <p:spPr>
          <a:xfrm>
            <a:off x="252467" y="1397000"/>
            <a:ext cx="5931163" cy="4222750"/>
          </a:xfrm>
          <a:custGeom>
            <a:avLst/>
            <a:gdLst/>
            <a:ahLst/>
            <a:cxnLst/>
            <a:rect l="l" t="t" r="r" b="b"/>
            <a:pathLst>
              <a:path w="4817110" h="4079875">
                <a:moveTo>
                  <a:pt x="603" y="679979"/>
                </a:moveTo>
                <a:lnTo>
                  <a:pt x="0" y="661895"/>
                </a:lnTo>
                <a:cubicBezTo>
                  <a:pt x="-10849" y="288750"/>
                  <a:pt x="364659" y="-8439"/>
                  <a:pt x="663618" y="0"/>
                </a:cubicBezTo>
                <a:lnTo>
                  <a:pt x="679892" y="0"/>
                </a:lnTo>
                <a:lnTo>
                  <a:pt x="4137218" y="0"/>
                </a:lnTo>
                <a:lnTo>
                  <a:pt x="4155300" y="0"/>
                </a:lnTo>
                <a:cubicBezTo>
                  <a:pt x="4528397" y="-10851"/>
                  <a:pt x="4825548" y="364705"/>
                  <a:pt x="4817110" y="663703"/>
                </a:cubicBezTo>
                <a:lnTo>
                  <a:pt x="4817110" y="679979"/>
                </a:lnTo>
                <a:lnTo>
                  <a:pt x="4817110" y="3399896"/>
                </a:lnTo>
                <a:lnTo>
                  <a:pt x="4817110" y="3417980"/>
                </a:lnTo>
                <a:cubicBezTo>
                  <a:pt x="4827959" y="3791125"/>
                  <a:pt x="4452451" y="4088314"/>
                  <a:pt x="4153492" y="4079875"/>
                </a:cubicBezTo>
                <a:lnTo>
                  <a:pt x="4137218" y="4079875"/>
                </a:lnTo>
                <a:lnTo>
                  <a:pt x="779345" y="4079875"/>
                </a:lnTo>
                <a:lnTo>
                  <a:pt x="784769" y="4079875"/>
                </a:lnTo>
                <a:lnTo>
                  <a:pt x="789591" y="4079875"/>
                </a:lnTo>
                <a:lnTo>
                  <a:pt x="603" y="4079875"/>
                </a:lnTo>
                <a:lnTo>
                  <a:pt x="603" y="3428831"/>
                </a:lnTo>
                <a:lnTo>
                  <a:pt x="0" y="3416172"/>
                </a:lnTo>
                <a:lnTo>
                  <a:pt x="603" y="3399896"/>
                </a:lnTo>
                <a:lnTo>
                  <a:pt x="603" y="3300431"/>
                </a:lnTo>
                <a:lnTo>
                  <a:pt x="603" y="3299225"/>
                </a:lnTo>
                <a:lnTo>
                  <a:pt x="0" y="3277524"/>
                </a:lnTo>
                <a:lnTo>
                  <a:pt x="603" y="3255219"/>
                </a:lnTo>
                <a:lnTo>
                  <a:pt x="603" y="679979"/>
                </a:lnTo>
                <a:close/>
                <a:moveTo>
                  <a:pt x="824550" y="4079875"/>
                </a:moveTo>
                <a:lnTo>
                  <a:pt x="789591" y="4079875"/>
                </a:lnTo>
                <a:lnTo>
                  <a:pt x="804660" y="4079875"/>
                </a:lnTo>
                <a:lnTo>
                  <a:pt x="824550" y="4079875"/>
                </a:lnTo>
                <a:close/>
              </a:path>
            </a:pathLst>
          </a:custGeom>
          <a:solidFill>
            <a:srgbClr val="000000">
              <a:alpha val="0"/>
            </a:srgbClr>
          </a:solidFill>
          <a:ln w="19050">
            <a:solidFill>
              <a:srgbClr val="1D3EBF"/>
            </a:solidFill>
            <a:prstDash val="solid"/>
          </a:ln>
        </p:spPr>
      </p:sp>
      <p:sp>
        <p:nvSpPr>
          <p:cNvPr id="14" name="Text 12"/>
          <p:cNvSpPr/>
          <p:nvPr/>
        </p:nvSpPr>
        <p:spPr>
          <a:xfrm>
            <a:off x="1101090" y="1397000"/>
            <a:ext cx="4817110" cy="407987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p:cNvSpPr/>
          <p:nvPr/>
        </p:nvSpPr>
        <p:spPr>
          <a:xfrm>
            <a:off x="672465" y="4773295"/>
            <a:ext cx="1233170" cy="1233170"/>
          </a:xfrm>
          <a:prstGeom prst="ellipse">
            <a:avLst/>
          </a:prstGeom>
          <a:solidFill>
            <a:srgbClr val="FFFFFF">
              <a:alpha val="0"/>
            </a:srgbClr>
          </a:solidFill>
          <a:ln/>
        </p:spPr>
      </p:sp>
      <p:sp>
        <p:nvSpPr>
          <p:cNvPr id="16" name="Text 14"/>
          <p:cNvSpPr/>
          <p:nvPr/>
        </p:nvSpPr>
        <p:spPr>
          <a:xfrm>
            <a:off x="672465" y="4773295"/>
            <a:ext cx="1233170" cy="1233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5"/>
          <p:cNvSpPr/>
          <p:nvPr/>
        </p:nvSpPr>
        <p:spPr>
          <a:xfrm>
            <a:off x="365991" y="4972396"/>
            <a:ext cx="1008957" cy="1008957"/>
          </a:xfrm>
          <a:prstGeom prst="ellipse">
            <a:avLst/>
          </a:prstGeom>
          <a:solidFill>
            <a:srgbClr val="1D3EBF"/>
          </a:solidFill>
          <a:ln/>
        </p:spPr>
      </p:sp>
      <p:sp>
        <p:nvSpPr>
          <p:cNvPr id="18" name="Text 16"/>
          <p:cNvSpPr/>
          <p:nvPr/>
        </p:nvSpPr>
        <p:spPr>
          <a:xfrm>
            <a:off x="784571" y="4885401"/>
            <a:ext cx="1008957" cy="1008957"/>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7"/>
          <p:cNvSpPr/>
          <p:nvPr/>
        </p:nvSpPr>
        <p:spPr>
          <a:xfrm>
            <a:off x="6305237" y="1381125"/>
            <a:ext cx="5884374" cy="5118099"/>
          </a:xfrm>
          <a:custGeom>
            <a:avLst/>
            <a:gdLst/>
            <a:ahLst/>
            <a:cxnLst/>
            <a:rect l="l" t="t" r="r" b="b"/>
            <a:pathLst>
              <a:path w="4817110" h="4079875">
                <a:moveTo>
                  <a:pt x="603" y="679979"/>
                </a:moveTo>
                <a:lnTo>
                  <a:pt x="0" y="661895"/>
                </a:lnTo>
                <a:cubicBezTo>
                  <a:pt x="-10849" y="288750"/>
                  <a:pt x="364659" y="-8439"/>
                  <a:pt x="663618" y="0"/>
                </a:cubicBezTo>
                <a:lnTo>
                  <a:pt x="679892" y="0"/>
                </a:lnTo>
                <a:lnTo>
                  <a:pt x="4137218" y="0"/>
                </a:lnTo>
                <a:lnTo>
                  <a:pt x="4155300" y="0"/>
                </a:lnTo>
                <a:cubicBezTo>
                  <a:pt x="4528397" y="-10851"/>
                  <a:pt x="4825548" y="364705"/>
                  <a:pt x="4817110" y="663703"/>
                </a:cubicBezTo>
                <a:lnTo>
                  <a:pt x="4817110" y="679979"/>
                </a:lnTo>
                <a:lnTo>
                  <a:pt x="4817110" y="3399896"/>
                </a:lnTo>
                <a:lnTo>
                  <a:pt x="4817110" y="3417980"/>
                </a:lnTo>
                <a:cubicBezTo>
                  <a:pt x="4827959" y="3791125"/>
                  <a:pt x="4452451" y="4088314"/>
                  <a:pt x="4153492" y="4079875"/>
                </a:cubicBezTo>
                <a:lnTo>
                  <a:pt x="4137218" y="4079875"/>
                </a:lnTo>
                <a:lnTo>
                  <a:pt x="779345" y="4079875"/>
                </a:lnTo>
                <a:lnTo>
                  <a:pt x="784769" y="4079875"/>
                </a:lnTo>
                <a:lnTo>
                  <a:pt x="789591" y="4079875"/>
                </a:lnTo>
                <a:lnTo>
                  <a:pt x="603" y="4079875"/>
                </a:lnTo>
                <a:lnTo>
                  <a:pt x="603" y="3428831"/>
                </a:lnTo>
                <a:lnTo>
                  <a:pt x="0" y="3416172"/>
                </a:lnTo>
                <a:lnTo>
                  <a:pt x="603" y="3399896"/>
                </a:lnTo>
                <a:lnTo>
                  <a:pt x="603" y="3300431"/>
                </a:lnTo>
                <a:lnTo>
                  <a:pt x="603" y="3299225"/>
                </a:lnTo>
                <a:lnTo>
                  <a:pt x="0" y="3277524"/>
                </a:lnTo>
                <a:lnTo>
                  <a:pt x="603" y="3255219"/>
                </a:lnTo>
                <a:lnTo>
                  <a:pt x="603" y="679979"/>
                </a:lnTo>
                <a:close/>
                <a:moveTo>
                  <a:pt x="824550" y="4079875"/>
                </a:moveTo>
                <a:lnTo>
                  <a:pt x="789591" y="4079875"/>
                </a:lnTo>
                <a:lnTo>
                  <a:pt x="804660" y="4079875"/>
                </a:lnTo>
                <a:lnTo>
                  <a:pt x="824550" y="4079875"/>
                </a:lnTo>
                <a:close/>
              </a:path>
            </a:pathLst>
          </a:custGeom>
          <a:solidFill>
            <a:srgbClr val="000000">
              <a:alpha val="0"/>
            </a:srgbClr>
          </a:solidFill>
          <a:ln w="19050">
            <a:solidFill>
              <a:srgbClr val="1D3EBF"/>
            </a:solidFill>
            <a:prstDash val="solid"/>
          </a:ln>
        </p:spPr>
      </p:sp>
      <p:sp>
        <p:nvSpPr>
          <p:cNvPr id="20" name="Text 18"/>
          <p:cNvSpPr/>
          <p:nvPr/>
        </p:nvSpPr>
        <p:spPr>
          <a:xfrm>
            <a:off x="6592570" y="1397000"/>
            <a:ext cx="4817110" cy="407987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9"/>
          <p:cNvSpPr/>
          <p:nvPr/>
        </p:nvSpPr>
        <p:spPr>
          <a:xfrm>
            <a:off x="6163945" y="4773295"/>
            <a:ext cx="1233170" cy="1233170"/>
          </a:xfrm>
          <a:prstGeom prst="ellipse">
            <a:avLst/>
          </a:prstGeom>
          <a:solidFill>
            <a:srgbClr val="FFFFFF">
              <a:alpha val="0"/>
            </a:srgbClr>
          </a:solidFill>
          <a:ln/>
        </p:spPr>
      </p:sp>
      <p:sp>
        <p:nvSpPr>
          <p:cNvPr id="22" name="Text 20"/>
          <p:cNvSpPr/>
          <p:nvPr/>
        </p:nvSpPr>
        <p:spPr>
          <a:xfrm>
            <a:off x="6163945" y="4773295"/>
            <a:ext cx="1233170" cy="1233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Shape 21"/>
          <p:cNvSpPr/>
          <p:nvPr/>
        </p:nvSpPr>
        <p:spPr>
          <a:xfrm>
            <a:off x="5594031" y="5763343"/>
            <a:ext cx="1008957" cy="1008957"/>
          </a:xfrm>
          <a:prstGeom prst="ellipse">
            <a:avLst/>
          </a:prstGeom>
          <a:solidFill>
            <a:srgbClr val="1D3EBF"/>
          </a:solidFill>
          <a:ln/>
        </p:spPr>
      </p:sp>
      <p:sp>
        <p:nvSpPr>
          <p:cNvPr id="24" name="Text 22"/>
          <p:cNvSpPr/>
          <p:nvPr/>
        </p:nvSpPr>
        <p:spPr>
          <a:xfrm>
            <a:off x="6276051" y="4885401"/>
            <a:ext cx="1008957" cy="1008957"/>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3"/>
          <p:cNvSpPr/>
          <p:nvPr/>
        </p:nvSpPr>
        <p:spPr>
          <a:xfrm>
            <a:off x="582930" y="211455"/>
            <a:ext cx="10151745" cy="584775"/>
          </a:xfrm>
          <a:prstGeom prst="rect">
            <a:avLst/>
          </a:prstGeom>
          <a:noFill/>
          <a:ln/>
        </p:spPr>
        <p:txBody>
          <a:bodyPr wrap="square" lIns="91440" tIns="45720" rIns="91440" bIns="45720" rtlCol="0" anchor="t">
            <a:spAutoFit/>
          </a:bodyPr>
          <a:lstStyle/>
          <a:p>
            <a:pPr lvl="0">
              <a:defRPr/>
            </a:pPr>
            <a:r>
              <a:rPr kumimoji="0" lang="en-US" altLang="zh-CN"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02- </a:t>
            </a:r>
            <a:r>
              <a:rPr lang="en-US" altLang="zh-CN" sz="3200" b="1">
                <a:solidFill>
                  <a:srgbClr val="000000"/>
                </a:solidFill>
                <a:latin typeface="MiSans" pitchFamily="34" charset="0"/>
                <a:ea typeface="MiSans" pitchFamily="34" charset="-122"/>
                <a:cs typeface="MiSans" pitchFamily="34" charset="-120"/>
              </a:rPr>
              <a:t>Log Preprocessing</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4"/>
          <p:cNvSpPr/>
          <p:nvPr/>
        </p:nvSpPr>
        <p:spPr>
          <a:xfrm>
            <a:off x="476453" y="5121737"/>
            <a:ext cx="788035" cy="552450"/>
          </a:xfrm>
          <a:prstGeom prst="rect">
            <a:avLst/>
          </a:prstGeom>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5"/>
          <p:cNvSpPr/>
          <p:nvPr/>
        </p:nvSpPr>
        <p:spPr>
          <a:xfrm>
            <a:off x="1249680" y="1918970"/>
            <a:ext cx="4465320" cy="400110"/>
          </a:xfrm>
          <a:prstGeom prst="rect">
            <a:avLst/>
          </a:prstGeom>
          <a:noFill/>
          <a:ln/>
        </p:spPr>
        <p:txBody>
          <a:bodyPr wrap="square" lIns="91440" tIns="45720" rIns="91440" bIns="45720" rtlCol="0" anchor="t">
            <a:spAutoFit/>
          </a:bodyPr>
          <a:lstStyle/>
          <a:p>
            <a:pPr lvl="0" algn="just">
              <a:defRPr/>
            </a:pPr>
            <a:r>
              <a:rPr lang="en-US" altLang="zh-CN" sz="2000" b="1">
                <a:solidFill>
                  <a:srgbClr val="1D3EBF"/>
                </a:solidFill>
                <a:latin typeface="MiSans" pitchFamily="34" charset="0"/>
                <a:ea typeface="MiSans" pitchFamily="34" charset="-122"/>
                <a:cs typeface="MiSans" pitchFamily="34" charset="-120"/>
              </a:rPr>
              <a:t>Regular Expression De-sensitization</a:t>
            </a:r>
          </a:p>
        </p:txBody>
      </p:sp>
      <p:sp>
        <p:nvSpPr>
          <p:cNvPr id="29" name="Text 27"/>
          <p:cNvSpPr/>
          <p:nvPr/>
        </p:nvSpPr>
        <p:spPr>
          <a:xfrm>
            <a:off x="5683350" y="5910434"/>
            <a:ext cx="788035" cy="552450"/>
          </a:xfrm>
          <a:prstGeom prst="rect">
            <a:avLst/>
          </a:prstGeom>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8"/>
          <p:cNvSpPr/>
          <p:nvPr/>
        </p:nvSpPr>
        <p:spPr>
          <a:xfrm>
            <a:off x="6655995" y="1426477"/>
            <a:ext cx="4465320" cy="400110"/>
          </a:xfrm>
          <a:prstGeom prst="rect">
            <a:avLst/>
          </a:prstGeom>
          <a:noFill/>
          <a:ln/>
        </p:spPr>
        <p:txBody>
          <a:bodyPr wrap="square" lIns="91440" tIns="45720" rIns="91440" bIns="45720" rtlCol="0" anchor="t">
            <a:spAutoFit/>
          </a:bodyPr>
          <a:lstStyle/>
          <a:p>
            <a:pPr lvl="0" algn="just">
              <a:defRPr/>
            </a:pPr>
            <a:r>
              <a:rPr lang="en-US" altLang="zh-CN" sz="2000" b="1">
                <a:solidFill>
                  <a:srgbClr val="1D3EBF"/>
                </a:solidFill>
                <a:latin typeface="MiSans" pitchFamily="34" charset="0"/>
                <a:ea typeface="MiSans" pitchFamily="34" charset="-122"/>
                <a:cs typeface="MiSans" pitchFamily="34" charset="-120"/>
              </a:rPr>
              <a:t>Slicing Strategy</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CF971D30-846E-5ACA-C0D1-ECE00910C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1150" y="4410143"/>
            <a:ext cx="5665848" cy="173028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2" name="表格 31">
            <a:extLst>
              <a:ext uri="{FF2B5EF4-FFF2-40B4-BE49-F238E27FC236}">
                <a16:creationId xmlns:a16="http://schemas.microsoft.com/office/drawing/2014/main" id="{FFB9A3C8-0021-5B25-6DAC-5FE6BBF70880}"/>
              </a:ext>
            </a:extLst>
          </p:cNvPr>
          <p:cNvGraphicFramePr>
            <a:graphicFrameLocks noGrp="1"/>
          </p:cNvGraphicFramePr>
          <p:nvPr>
            <p:extLst>
              <p:ext uri="{D42A27DB-BD31-4B8C-83A1-F6EECF244321}">
                <p14:modId xmlns:p14="http://schemas.microsoft.com/office/powerpoint/2010/main" val="4132511821"/>
              </p:ext>
            </p:extLst>
          </p:nvPr>
        </p:nvGraphicFramePr>
        <p:xfrm>
          <a:off x="363295" y="2388350"/>
          <a:ext cx="5731510" cy="2621280"/>
        </p:xfrm>
        <a:graphic>
          <a:graphicData uri="http://schemas.openxmlformats.org/drawingml/2006/table">
            <a:tbl>
              <a:tblPr/>
              <a:tblGrid>
                <a:gridCol w="5731510">
                  <a:extLst>
                    <a:ext uri="{9D8B030D-6E8A-4147-A177-3AD203B41FA5}">
                      <a16:colId xmlns:a16="http://schemas.microsoft.com/office/drawing/2014/main" val="2789571658"/>
                    </a:ext>
                  </a:extLst>
                </a:gridCol>
              </a:tblGrid>
              <a:tr h="0">
                <a:tc>
                  <a:txBody>
                    <a:bodyPr/>
                    <a:lstStyle/>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a:solidFill>
                            <a:srgbClr val="080808"/>
                          </a:solidFill>
                          <a:effectLst/>
                          <a:latin typeface="Courier New" panose="02070309020205020404" pitchFamily="49" charset="0"/>
                          <a:ea typeface="宋体" panose="02010600030101010101" pitchFamily="2" charset="-122"/>
                          <a:cs typeface="Courier New" panose="02070309020205020404" pitchFamily="49" charset="0"/>
                        </a:rPr>
                        <a:t>Pattern:</a:t>
                      </a:r>
                      <a:endParaRPr lang="en-US" sz="1100" kern="10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a:effectLst/>
                          <a:latin typeface="Courier New" panose="02070309020205020404" pitchFamily="49" charset="0"/>
                          <a:ea typeface="宋体" panose="02010600030101010101" pitchFamily="2" charset="-122"/>
                        </a:rPr>
                        <a:t>IP address: '\d{1,3}\.\d{1,3}\.\d{1,3}\.\d{1,3}(:\d{1,5})?',</a:t>
                      </a:r>
                      <a:endParaRPr lang="en-US" sz="1100" kern="10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a:effectLst/>
                          <a:latin typeface="Courier New" panose="02070309020205020404" pitchFamily="49" charset="0"/>
                          <a:ea typeface="宋体" panose="02010600030101010101" pitchFamily="2" charset="-122"/>
                        </a:rPr>
                        <a:t>MAC address: '([0-9A-Fa-f]{2}:){11}[0-9A-Fa-f]{2}',</a:t>
                      </a:r>
                      <a:endParaRPr lang="en-US" sz="1100" kern="10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a:effectLst/>
                          <a:latin typeface="Courier New" panose="02070309020205020404" pitchFamily="49" charset="0"/>
                          <a:ea typeface="宋体" panose="02010600030101010101" pitchFamily="2" charset="-122"/>
                        </a:rPr>
                        <a:t>File Path: '[a-zA-Z0-9]*[:\.]*([/\\]+[^/\\\s\[\]]+)+[/\\]*'</a:t>
                      </a:r>
                      <a:endParaRPr lang="en-US" sz="1100" kern="100">
                        <a:effectLst/>
                        <a:latin typeface="Times New Roman" panose="02020603050405020304" pitchFamily="18" charset="0"/>
                        <a:ea typeface="等线" panose="02010600030101010101" pitchFamily="2" charset="-122"/>
                      </a:endParaRPr>
                    </a:p>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a:solidFill>
                            <a:srgbClr val="080808"/>
                          </a:solidFill>
                          <a:effectLst/>
                          <a:latin typeface="宋体" panose="02010600030101010101" pitchFamily="2" charset="-122"/>
                          <a:ea typeface="宋体" panose="02010600030101010101" pitchFamily="2" charset="-122"/>
                          <a:cs typeface="Courier New" panose="02070309020205020404" pitchFamily="49" charset="0"/>
                        </a:rPr>
                        <a:t> </a:t>
                      </a:r>
                      <a:endParaRPr lang="en-US" sz="1100" kern="100">
                        <a:effectLst/>
                        <a:latin typeface="Times New Roman" panose="02020603050405020304" pitchFamily="18" charset="0"/>
                        <a:ea typeface="等线" panose="02010600030101010101" pitchFamily="2" charset="-122"/>
                      </a:endParaRPr>
                    </a:p>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a:solidFill>
                            <a:srgbClr val="080808"/>
                          </a:solidFill>
                          <a:effectLst/>
                          <a:latin typeface="Courier New" panose="02070309020205020404" pitchFamily="49" charset="0"/>
                          <a:ea typeface="宋体" panose="02010600030101010101" pitchFamily="2" charset="-122"/>
                          <a:cs typeface="Courier New" panose="02070309020205020404" pitchFamily="49" charset="0"/>
                        </a:rPr>
                        <a:t>Before:</a:t>
                      </a:r>
                      <a:br>
                        <a:rPr lang="en-US" sz="800" b="1"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2354412 floating point alignment exceptions ;-; 2354412 floating point alignment exceptions</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iar 001061e8 dear 0247015c ;-; iar 00106200 dear 0247016c ;-; iar 001061b4 dear 024701dc</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ciod: Received signal 15, code=0, errno=0, address=0x000001f2</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10668 total interrupts. 0 critical input interrupts. 0 microseconds total spent on critical input interrupts</a:t>
                      </a:r>
                      <a:br>
                        <a:rPr lang="en-US" sz="800" b="0" kern="0">
                          <a:solidFill>
                            <a:srgbClr val="080808"/>
                          </a:solidFill>
                          <a:effectLst/>
                          <a:latin typeface="Courier New" panose="02070309020205020404" pitchFamily="49" charset="0"/>
                          <a:ea typeface="宋体" panose="02010600030101010101" pitchFamily="2" charset="-122"/>
                        </a:rPr>
                      </a:br>
                      <a:br>
                        <a:rPr lang="en-US" sz="800" b="1" kern="0">
                          <a:solidFill>
                            <a:srgbClr val="080808"/>
                          </a:solidFill>
                          <a:effectLst/>
                          <a:latin typeface="Courier New" panose="02070309020205020404" pitchFamily="49" charset="0"/>
                          <a:ea typeface="宋体" panose="02010600030101010101" pitchFamily="2" charset="-122"/>
                        </a:rPr>
                      </a:br>
                      <a:r>
                        <a:rPr lang="en-US" sz="800" b="1" kern="0">
                          <a:solidFill>
                            <a:srgbClr val="080808"/>
                          </a:solidFill>
                          <a:effectLst/>
                          <a:latin typeface="Courier New" panose="02070309020205020404" pitchFamily="49" charset="0"/>
                          <a:ea typeface="宋体" panose="02010600030101010101" pitchFamily="2" charset="-122"/>
                        </a:rPr>
                        <a:t>After:</a:t>
                      </a:r>
                      <a:br>
                        <a:rPr lang="en-US" sz="800" b="1"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&lt;*&gt; floating point alignment exceptions ;-; &lt;*&gt; floating point alignment exceptions ;-; &lt;*&gt; floating point alignment exceptions</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iar &lt;*&gt; dear &lt;*&gt; ;-; iar &lt;*&gt; dear &lt;*&gt; ;-; iar &lt;*&gt; dear &lt;*&gt; ;-; iar &lt;*&gt; dear &lt;*&gt; ;-; iar &lt;*&gt; dear &lt;*&gt;</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ciod: Received signal &lt;*&gt;, code=&lt;*&gt;, errno=&lt;*&gt;, address=&lt;*&gt;</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&lt;*&gt; total interrupts. &lt;*&gt; critical input interrupts. &lt;*&gt; microseconds total spent on critical input interrupts</a:t>
                      </a:r>
                      <a:endParaRPr lang="en-US" sz="1100" kern="100">
                        <a:effectLst/>
                        <a:latin typeface="Times New Roman" panose="02020603050405020304" pitchFamily="18" charset="0"/>
                        <a:ea typeface="等线" panose="02010600030101010101" pitchFamily="2" charset="-122"/>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1939221"/>
                  </a:ext>
                </a:extLst>
              </a:tr>
            </a:tbl>
          </a:graphicData>
        </a:graphic>
      </p:graphicFrame>
      <p:pic>
        <p:nvPicPr>
          <p:cNvPr id="33" name="Picture 1">
            <a:extLst>
              <a:ext uri="{FF2B5EF4-FFF2-40B4-BE49-F238E27FC236}">
                <a16:creationId xmlns:a16="http://schemas.microsoft.com/office/drawing/2014/main" id="{AE7A1CF2-5F4E-2EF7-28DA-3CA76C9865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4406" y="1793902"/>
            <a:ext cx="5646035" cy="26702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8">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98118" y="1980398"/>
            <a:ext cx="6926566" cy="4117788"/>
          </a:xfrm>
          <a:prstGeom prst="rect">
            <a:avLst/>
          </a:prstGeom>
          <a:solidFill>
            <a:srgbClr val="FFFFFF"/>
          </a:solidFill>
          <a:ln w="19050">
            <a:solidFill>
              <a:srgbClr val="004CC0"/>
            </a:solidFill>
            <a:prstDash val="solid"/>
          </a:ln>
        </p:spPr>
      </p:sp>
      <p:sp>
        <p:nvSpPr>
          <p:cNvPr id="9" name="Text 7"/>
          <p:cNvSpPr/>
          <p:nvPr/>
        </p:nvSpPr>
        <p:spPr>
          <a:xfrm>
            <a:off x="3992450" y="406718"/>
            <a:ext cx="7413420" cy="312102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8"/>
          <p:cNvSpPr/>
          <p:nvPr/>
        </p:nvSpPr>
        <p:spPr>
          <a:xfrm>
            <a:off x="1477891" y="1102690"/>
            <a:ext cx="4330700" cy="435610"/>
          </a:xfrm>
          <a:prstGeom prst="rect">
            <a:avLst/>
          </a:prstGeom>
          <a:noFill/>
          <a:ln/>
        </p:spPr>
        <p:txBody>
          <a:bodyPr wrap="square" lIns="0" tIns="0" rIns="0" bIns="0" rtlCol="0" anchor="ctr"/>
          <a:lstStyle/>
          <a:p>
            <a:pPr algn="just">
              <a:lnSpc>
                <a:spcPct val="100000"/>
              </a:lnSpc>
            </a:pPr>
            <a:r>
              <a:rPr lang="en-US" sz="1800" b="1" dirty="0">
                <a:solidFill>
                  <a:srgbClr val="004CC0"/>
                </a:solidFill>
                <a:latin typeface="MiSans" pitchFamily="34" charset="0"/>
                <a:ea typeface="MiSans" pitchFamily="34" charset="-122"/>
                <a:cs typeface="MiSans" pitchFamily="34" charset="-120"/>
              </a:rPr>
              <a:t> LogLLM Framework</a:t>
            </a:r>
            <a:endParaRPr lang="en-US" sz="1600" dirty="0"/>
          </a:p>
        </p:txBody>
      </p:sp>
      <p:grpSp>
        <p:nvGrpSpPr>
          <p:cNvPr id="48" name="组合 47">
            <a:extLst>
              <a:ext uri="{FF2B5EF4-FFF2-40B4-BE49-F238E27FC236}">
                <a16:creationId xmlns:a16="http://schemas.microsoft.com/office/drawing/2014/main" id="{08BDDE9F-AE98-3318-A444-3BD06CA43362}"/>
              </a:ext>
            </a:extLst>
          </p:cNvPr>
          <p:cNvGrpSpPr/>
          <p:nvPr/>
        </p:nvGrpSpPr>
        <p:grpSpPr>
          <a:xfrm>
            <a:off x="885237" y="1110071"/>
            <a:ext cx="438785" cy="434340"/>
            <a:chOff x="757237" y="1748473"/>
            <a:chExt cx="438785" cy="434340"/>
          </a:xfrm>
        </p:grpSpPr>
        <p:sp>
          <p:nvSpPr>
            <p:cNvPr id="11" name="Shape 9"/>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p:cNvSpPr/>
            <p:nvPr/>
          </p:nvSpPr>
          <p:spPr>
            <a:xfrm>
              <a:off x="919480" y="1881505"/>
              <a:ext cx="113665" cy="168910"/>
            </a:xfrm>
            <a:prstGeom prst="chevron">
              <a:avLst>
                <a:gd name="adj" fmla="val 64013"/>
              </a:avLst>
            </a:prstGeom>
            <a:solidFill>
              <a:srgbClr val="FFFFFF"/>
            </a:solidFill>
            <a:ln/>
          </p:spPr>
        </p:sp>
      </p:grpSp>
      <p:grpSp>
        <p:nvGrpSpPr>
          <p:cNvPr id="47" name="组合 46">
            <a:extLst>
              <a:ext uri="{FF2B5EF4-FFF2-40B4-BE49-F238E27FC236}">
                <a16:creationId xmlns:a16="http://schemas.microsoft.com/office/drawing/2014/main" id="{88538BEF-2B45-0BBE-D041-0D7F13EA0E36}"/>
              </a:ext>
            </a:extLst>
          </p:cNvPr>
          <p:cNvGrpSpPr/>
          <p:nvPr/>
        </p:nvGrpSpPr>
        <p:grpSpPr>
          <a:xfrm>
            <a:off x="7170056" y="748872"/>
            <a:ext cx="4826873" cy="3121025"/>
            <a:chOff x="757237" y="4000390"/>
            <a:chExt cx="4217100" cy="2032194"/>
          </a:xfrm>
        </p:grpSpPr>
        <p:sp>
          <p:nvSpPr>
            <p:cNvPr id="13" name="Shape 11"/>
            <p:cNvSpPr/>
            <p:nvPr/>
          </p:nvSpPr>
          <p:spPr>
            <a:xfrm>
              <a:off x="760731" y="4000390"/>
              <a:ext cx="4213606" cy="2032194"/>
            </a:xfrm>
            <a:prstGeom prst="rect">
              <a:avLst/>
            </a:prstGeom>
            <a:solidFill>
              <a:srgbClr val="FFFFFF"/>
            </a:solidFill>
            <a:ln w="19050">
              <a:solidFill>
                <a:srgbClr val="004CC0"/>
              </a:solidFill>
              <a:prstDash val="solid"/>
            </a:ln>
          </p:spPr>
          <p:txBody>
            <a:bodyPr/>
            <a:lstStyle/>
            <a:p>
              <a:endParaRPr lang="zh-CN" altLang="en-US"/>
            </a:p>
          </p:txBody>
        </p:sp>
        <p:sp>
          <p:nvSpPr>
            <p:cNvPr id="16" name="Text 14"/>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7" name="Shape 15"/>
            <p:cNvSpPr/>
            <p:nvPr/>
          </p:nvSpPr>
          <p:spPr>
            <a:xfrm flipV="1">
              <a:off x="875754" y="4144633"/>
              <a:ext cx="215699" cy="108423"/>
            </a:xfrm>
            <a:prstGeom prst="chevron">
              <a:avLst>
                <a:gd name="adj" fmla="val 64013"/>
              </a:avLst>
            </a:prstGeom>
            <a:solidFill>
              <a:srgbClr val="FFFFFF"/>
            </a:solidFill>
            <a:ln/>
          </p:spPr>
          <p:txBody>
            <a:bodyPr/>
            <a:lstStyle/>
            <a:p>
              <a:endParaRPr lang="zh-CN" altLang="en-US"/>
            </a:p>
          </p:txBody>
        </p:sp>
        <p:sp>
          <p:nvSpPr>
            <p:cNvPr id="18" name="Text 16"/>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22" name="Text 20"/>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3" name="Shape 21"/>
          <p:cNvSpPr/>
          <p:nvPr/>
        </p:nvSpPr>
        <p:spPr>
          <a:xfrm>
            <a:off x="6435725" y="1881505"/>
            <a:ext cx="113665" cy="168910"/>
          </a:xfrm>
          <a:prstGeom prst="chevron">
            <a:avLst>
              <a:gd name="adj" fmla="val 64013"/>
            </a:avLst>
          </a:prstGeom>
          <a:solidFill>
            <a:srgbClr val="FFFFFF"/>
          </a:solidFill>
          <a:ln/>
        </p:spPr>
      </p:sp>
      <p:sp>
        <p:nvSpPr>
          <p:cNvPr id="24" name="Text 22"/>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6" name="Text 24"/>
          <p:cNvSpPr/>
          <p:nvPr/>
        </p:nvSpPr>
        <p:spPr>
          <a:xfrm>
            <a:off x="1486266" y="1524913"/>
            <a:ext cx="4329430" cy="356592"/>
          </a:xfrm>
          <a:prstGeom prst="rect">
            <a:avLst/>
          </a:prstGeom>
          <a:noFill/>
          <a:ln/>
        </p:spPr>
        <p:txBody>
          <a:bodyPr wrap="square" lIns="0" tIns="0" rIns="0" bIns="0" rtlCol="0" anchor="t">
            <a:spAutoFit/>
          </a:bodyPr>
          <a:lstStyle/>
          <a:p>
            <a:pPr algn="just">
              <a:lnSpc>
                <a:spcPct val="130000"/>
              </a:lnSpc>
            </a:pPr>
            <a:r>
              <a:rPr lang="en-US" sz="1800" dirty="0">
                <a:solidFill>
                  <a:srgbClr val="000000"/>
                </a:solidFill>
                <a:latin typeface="MiSans" pitchFamily="34" charset="0"/>
                <a:ea typeface="MiSans" pitchFamily="34" charset="-122"/>
                <a:cs typeface="MiSans" pitchFamily="34" charset="-120"/>
              </a:rPr>
              <a:t>Bert+Lama+Projector</a:t>
            </a:r>
            <a:endParaRPr lang="en-US" sz="1600" dirty="0"/>
          </a:p>
        </p:txBody>
      </p:sp>
      <p:grpSp>
        <p:nvGrpSpPr>
          <p:cNvPr id="43" name="组合 42">
            <a:extLst>
              <a:ext uri="{FF2B5EF4-FFF2-40B4-BE49-F238E27FC236}">
                <a16:creationId xmlns:a16="http://schemas.microsoft.com/office/drawing/2014/main" id="{AA71AB6C-1AF2-1B9D-ED73-6D69C936E45F}"/>
              </a:ext>
            </a:extLst>
          </p:cNvPr>
          <p:cNvGrpSpPr/>
          <p:nvPr/>
        </p:nvGrpSpPr>
        <p:grpSpPr>
          <a:xfrm>
            <a:off x="7170055" y="4039292"/>
            <a:ext cx="4826874" cy="2154056"/>
            <a:chOff x="6273482" y="4028211"/>
            <a:chExt cx="5132389" cy="2109554"/>
          </a:xfrm>
        </p:grpSpPr>
        <p:sp>
          <p:nvSpPr>
            <p:cNvPr id="25" name="Shape 23"/>
            <p:cNvSpPr/>
            <p:nvPr/>
          </p:nvSpPr>
          <p:spPr>
            <a:xfrm>
              <a:off x="6273483" y="4028211"/>
              <a:ext cx="5132388" cy="2109554"/>
            </a:xfrm>
            <a:prstGeom prst="rect">
              <a:avLst/>
            </a:prstGeom>
            <a:solidFill>
              <a:srgbClr val="FFFFFF"/>
            </a:solidFill>
            <a:ln w="19050">
              <a:solidFill>
                <a:srgbClr val="004CC0"/>
              </a:solidFill>
              <a:prstDash val="solid"/>
            </a:ln>
          </p:spPr>
          <p:txBody>
            <a:bodyPr/>
            <a:lstStyle/>
            <a:p>
              <a:endParaRPr lang="zh-CN" altLang="en-US"/>
            </a:p>
          </p:txBody>
        </p:sp>
        <p:sp>
          <p:nvSpPr>
            <p:cNvPr id="27" name="Shape 25"/>
            <p:cNvSpPr/>
            <p:nvPr/>
          </p:nvSpPr>
          <p:spPr>
            <a:xfrm rot="5400000">
              <a:off x="6281741" y="4178571"/>
              <a:ext cx="434340" cy="438786"/>
            </a:xfrm>
            <a:prstGeom prst="roundRect">
              <a:avLst>
                <a:gd name="adj" fmla="val 0"/>
              </a:avLst>
            </a:prstGeom>
            <a:gradFill flip="none" rotWithShape="1">
              <a:gsLst>
                <a:gs pos="0">
                  <a:srgbClr val="2078FF"/>
                </a:gs>
                <a:gs pos="100000">
                  <a:srgbClr val="004CC0"/>
                </a:gs>
              </a:gsLst>
              <a:lin ang="13200000" scaled="1"/>
            </a:gradFill>
            <a:ln/>
          </p:spPr>
          <p:txBody>
            <a:bodyPr/>
            <a:lstStyle/>
            <a:p>
              <a:endParaRPr lang="zh-CN" altLang="en-US"/>
            </a:p>
          </p:txBody>
        </p:sp>
        <p:sp>
          <p:nvSpPr>
            <p:cNvPr id="28" name="Text 26"/>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9" name="Shape 27"/>
            <p:cNvSpPr/>
            <p:nvPr/>
          </p:nvSpPr>
          <p:spPr>
            <a:xfrm>
              <a:off x="6435725" y="4313509"/>
              <a:ext cx="113665" cy="168910"/>
            </a:xfrm>
            <a:prstGeom prst="chevron">
              <a:avLst>
                <a:gd name="adj" fmla="val 64013"/>
              </a:avLst>
            </a:prstGeom>
            <a:solidFill>
              <a:srgbClr val="FFFFFF"/>
            </a:solidFill>
            <a:ln/>
          </p:spPr>
          <p:txBody>
            <a:bodyPr/>
            <a:lstStyle/>
            <a:p>
              <a:endParaRPr lang="zh-CN" altLang="en-US"/>
            </a:p>
          </p:txBody>
        </p:sp>
        <p:sp>
          <p:nvSpPr>
            <p:cNvPr id="30" name="Text 28"/>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31" name="Text 29"/>
          <p:cNvSpPr/>
          <p:nvPr/>
        </p:nvSpPr>
        <p:spPr>
          <a:xfrm>
            <a:off x="614108" y="384948"/>
            <a:ext cx="10151745" cy="553998"/>
          </a:xfrm>
          <a:prstGeom prst="rect">
            <a:avLst/>
          </a:prstGeom>
          <a:noFill/>
          <a:ln/>
        </p:spPr>
        <p:txBody>
          <a:bodyPr wrap="square" lIns="91440" tIns="45720" rIns="91440" bIns="45720" rtlCol="0" anchor="t">
            <a:spAutoFit/>
          </a:bodyPr>
          <a:lstStyle/>
          <a:p>
            <a:pPr>
              <a:lnSpc>
                <a:spcPct val="100000"/>
              </a:lnSpc>
            </a:pPr>
            <a:r>
              <a:rPr lang="en-US" altLang="zh-CN" sz="3000" b="1">
                <a:solidFill>
                  <a:srgbClr val="000000"/>
                </a:solidFill>
                <a:latin typeface="MiSans" pitchFamily="34" charset="0"/>
                <a:ea typeface="MiSans" pitchFamily="34" charset="-122"/>
                <a:cs typeface="MiSans" pitchFamily="34" charset="-120"/>
              </a:rPr>
              <a:t>02- LogLLM</a:t>
            </a:r>
            <a:r>
              <a:rPr lang="zh-CN" altLang="en-US" sz="3000" b="1">
                <a:solidFill>
                  <a:srgbClr val="000000"/>
                </a:solidFill>
                <a:latin typeface="MiSans" pitchFamily="34" charset="0"/>
                <a:ea typeface="MiSans" pitchFamily="34" charset="-122"/>
                <a:cs typeface="MiSans" pitchFamily="34" charset="-120"/>
              </a:rPr>
              <a:t> </a:t>
            </a:r>
            <a:r>
              <a:rPr lang="en-US" altLang="zh-CN" sz="3000" b="1">
                <a:solidFill>
                  <a:srgbClr val="000000"/>
                </a:solidFill>
                <a:latin typeface="MiSans" pitchFamily="34" charset="0"/>
                <a:ea typeface="MiSans" pitchFamily="34" charset="-122"/>
                <a:cs typeface="MiSans" pitchFamily="34" charset="-120"/>
              </a:rPr>
              <a:t>Model</a:t>
            </a:r>
            <a:endParaRPr lang="en-US" sz="1600" dirty="0"/>
          </a:p>
        </p:txBody>
      </p:sp>
      <p:sp>
        <p:nvSpPr>
          <p:cNvPr id="37" name="Text 33"/>
          <p:cNvSpPr/>
          <p:nvPr/>
        </p:nvSpPr>
        <p:spPr>
          <a:xfrm>
            <a:off x="7763182" y="4264961"/>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Evaluation Metircs</a:t>
            </a:r>
            <a:endParaRPr lang="en-US" sz="1600" dirty="0"/>
          </a:p>
        </p:txBody>
      </p:sp>
      <p:sp>
        <p:nvSpPr>
          <p:cNvPr id="38" name="Text 34"/>
          <p:cNvSpPr/>
          <p:nvPr/>
        </p:nvSpPr>
        <p:spPr>
          <a:xfrm>
            <a:off x="7821658" y="809576"/>
            <a:ext cx="4330700" cy="435610"/>
          </a:xfrm>
          <a:prstGeom prst="rect">
            <a:avLst/>
          </a:prstGeom>
          <a:noFill/>
          <a:ln/>
        </p:spPr>
        <p:txBody>
          <a:bodyPr wrap="square" lIns="0" tIns="0" rIns="0" bIns="0" rtlCol="0" anchor="ctr"/>
          <a:lstStyle/>
          <a:p>
            <a:pPr algn="just">
              <a:lnSpc>
                <a:spcPct val="100000"/>
              </a:lnSpc>
            </a:pPr>
            <a:r>
              <a:rPr lang="en-US" sz="1800" b="1" dirty="0">
                <a:solidFill>
                  <a:srgbClr val="004CC0"/>
                </a:solidFill>
                <a:latin typeface="MiSans" pitchFamily="34" charset="0"/>
                <a:ea typeface="MiSans" pitchFamily="34" charset="-122"/>
                <a:cs typeface="MiSans" pitchFamily="34" charset="-120"/>
              </a:rPr>
              <a:t>Datasets</a:t>
            </a:r>
            <a:endParaRPr lang="en-US" sz="1600" dirty="0"/>
          </a:p>
        </p:txBody>
      </p:sp>
      <p:sp>
        <p:nvSpPr>
          <p:cNvPr id="45" name="Text 24">
            <a:extLst>
              <a:ext uri="{FF2B5EF4-FFF2-40B4-BE49-F238E27FC236}">
                <a16:creationId xmlns:a16="http://schemas.microsoft.com/office/drawing/2014/main" id="{513BBA09-E335-11F7-00D4-787367F259AD}"/>
              </a:ext>
            </a:extLst>
          </p:cNvPr>
          <p:cNvSpPr/>
          <p:nvPr/>
        </p:nvSpPr>
        <p:spPr>
          <a:xfrm>
            <a:off x="7733576" y="4807106"/>
            <a:ext cx="3970909" cy="964367"/>
          </a:xfrm>
          <a:prstGeom prst="rect">
            <a:avLst/>
          </a:prstGeom>
          <a:noFill/>
          <a:ln/>
        </p:spPr>
        <p:txBody>
          <a:bodyPr wrap="square" lIns="0" tIns="0" rIns="0" bIns="0" rtlCol="0" anchor="t">
            <a:spAutoFit/>
          </a:bodyPr>
          <a:lstStyle/>
          <a:p>
            <a:pPr algn="just">
              <a:lnSpc>
                <a:spcPct val="130000"/>
              </a:lnSpc>
            </a:pPr>
            <a:r>
              <a:rPr lang="en-US" sz="1600" b="1">
                <a:solidFill>
                  <a:srgbClr val="000000"/>
                </a:solidFill>
                <a:latin typeface="Times New Roman" panose="02020603050405020304" pitchFamily="18" charset="0"/>
                <a:ea typeface="MiSans" pitchFamily="34" charset="-122"/>
                <a:cs typeface="Times New Roman" panose="02020603050405020304" pitchFamily="18" charset="0"/>
              </a:rPr>
              <a:t>Precision</a:t>
            </a:r>
            <a:r>
              <a:rPr lang="en-US" sz="1600">
                <a:solidFill>
                  <a:srgbClr val="000000"/>
                </a:solidFill>
                <a:latin typeface="Times New Roman" panose="02020603050405020304" pitchFamily="18" charset="0"/>
                <a:ea typeface="MiSans" pitchFamily="34" charset="-122"/>
                <a:cs typeface="Times New Roman" panose="02020603050405020304" pitchFamily="18" charset="0"/>
              </a:rPr>
              <a:t>:Reduce false positives</a:t>
            </a:r>
          </a:p>
          <a:p>
            <a:pPr algn="just">
              <a:lnSpc>
                <a:spcPct val="130000"/>
              </a:lnSpc>
            </a:pPr>
            <a:r>
              <a:rPr lang="en-US" sz="1600" b="1">
                <a:solidFill>
                  <a:srgbClr val="000000"/>
                </a:solidFill>
                <a:latin typeface="Times New Roman" panose="02020603050405020304" pitchFamily="18" charset="0"/>
                <a:ea typeface="MiSans" pitchFamily="34" charset="-122"/>
                <a:cs typeface="Times New Roman" panose="02020603050405020304" pitchFamily="18" charset="0"/>
              </a:rPr>
              <a:t>Recall</a:t>
            </a:r>
            <a:r>
              <a:rPr lang="en-US" sz="1600">
                <a:solidFill>
                  <a:srgbClr val="000000"/>
                </a:solidFill>
                <a:latin typeface="Times New Roman" panose="02020603050405020304" pitchFamily="18" charset="0"/>
                <a:ea typeface="MiSans" pitchFamily="34" charset="-122"/>
                <a:cs typeface="Times New Roman" panose="02020603050405020304" pitchFamily="18" charset="0"/>
              </a:rPr>
              <a:t>: Reduce false negatives</a:t>
            </a:r>
          </a:p>
          <a:p>
            <a:pPr algn="just">
              <a:lnSpc>
                <a:spcPct val="130000"/>
              </a:lnSpc>
            </a:pPr>
            <a:r>
              <a:rPr lang="en-US" sz="1600" b="1">
                <a:solidFill>
                  <a:srgbClr val="000000"/>
                </a:solidFill>
                <a:latin typeface="Times New Roman" panose="02020603050405020304" pitchFamily="18" charset="0"/>
                <a:ea typeface="MiSans" pitchFamily="34" charset="-122"/>
                <a:cs typeface="Times New Roman" panose="02020603050405020304" pitchFamily="18" charset="0"/>
              </a:rPr>
              <a:t>F1-score</a:t>
            </a:r>
            <a:r>
              <a:rPr lang="en-US" sz="1600">
                <a:solidFill>
                  <a:srgbClr val="000000"/>
                </a:solidFill>
                <a:latin typeface="Times New Roman" panose="02020603050405020304" pitchFamily="18" charset="0"/>
                <a:ea typeface="MiSans" pitchFamily="34" charset="-122"/>
                <a:cs typeface="Times New Roman" panose="02020603050405020304" pitchFamily="18" charset="0"/>
              </a:rPr>
              <a:t>:Comprehensive perrformance</a:t>
            </a:r>
            <a:endParaRPr lang="en-US" sz="1600" dirty="0">
              <a:latin typeface="Times New Roman" panose="02020603050405020304" pitchFamily="18" charset="0"/>
              <a:cs typeface="Times New Roman" panose="02020603050405020304" pitchFamily="18" charset="0"/>
            </a:endParaRPr>
          </a:p>
        </p:txBody>
      </p:sp>
      <p:pic>
        <p:nvPicPr>
          <p:cNvPr id="39" name="图片 38">
            <a:extLst>
              <a:ext uri="{FF2B5EF4-FFF2-40B4-BE49-F238E27FC236}">
                <a16:creationId xmlns:a16="http://schemas.microsoft.com/office/drawing/2014/main" id="{6C094460-32F8-2F47-A096-2DBAEED73B01}"/>
              </a:ext>
            </a:extLst>
          </p:cNvPr>
          <p:cNvPicPr>
            <a:picLocks noChangeAspect="1"/>
          </p:cNvPicPr>
          <p:nvPr/>
        </p:nvPicPr>
        <p:blipFill>
          <a:blip r:embed="rId3"/>
          <a:stretch>
            <a:fillRect/>
          </a:stretch>
        </p:blipFill>
        <p:spPr>
          <a:xfrm>
            <a:off x="98117" y="2207674"/>
            <a:ext cx="6926566" cy="3890512"/>
          </a:xfrm>
          <a:prstGeom prst="rect">
            <a:avLst/>
          </a:prstGeom>
        </p:spPr>
      </p:pic>
      <p:graphicFrame>
        <p:nvGraphicFramePr>
          <p:cNvPr id="52" name="表格 51">
            <a:extLst>
              <a:ext uri="{FF2B5EF4-FFF2-40B4-BE49-F238E27FC236}">
                <a16:creationId xmlns:a16="http://schemas.microsoft.com/office/drawing/2014/main" id="{DD6E016A-5D21-AB1B-56A3-811A839B68CC}"/>
              </a:ext>
            </a:extLst>
          </p:cNvPr>
          <p:cNvGraphicFramePr>
            <a:graphicFrameLocks noGrp="1"/>
          </p:cNvGraphicFramePr>
          <p:nvPr>
            <p:extLst>
              <p:ext uri="{D42A27DB-BD31-4B8C-83A1-F6EECF244321}">
                <p14:modId xmlns:p14="http://schemas.microsoft.com/office/powerpoint/2010/main" val="3859965780"/>
              </p:ext>
            </p:extLst>
          </p:nvPr>
        </p:nvGraphicFramePr>
        <p:xfrm>
          <a:off x="7234474" y="1300064"/>
          <a:ext cx="4702036" cy="2416351"/>
        </p:xfrm>
        <a:graphic>
          <a:graphicData uri="http://schemas.openxmlformats.org/drawingml/2006/table">
            <a:tbl>
              <a:tblPr/>
              <a:tblGrid>
                <a:gridCol w="836278">
                  <a:extLst>
                    <a:ext uri="{9D8B030D-6E8A-4147-A177-3AD203B41FA5}">
                      <a16:colId xmlns:a16="http://schemas.microsoft.com/office/drawing/2014/main" val="2452525548"/>
                    </a:ext>
                  </a:extLst>
                </a:gridCol>
                <a:gridCol w="1985975">
                  <a:extLst>
                    <a:ext uri="{9D8B030D-6E8A-4147-A177-3AD203B41FA5}">
                      <a16:colId xmlns:a16="http://schemas.microsoft.com/office/drawing/2014/main" val="858696949"/>
                    </a:ext>
                  </a:extLst>
                </a:gridCol>
                <a:gridCol w="1148962">
                  <a:extLst>
                    <a:ext uri="{9D8B030D-6E8A-4147-A177-3AD203B41FA5}">
                      <a16:colId xmlns:a16="http://schemas.microsoft.com/office/drawing/2014/main" val="3517549486"/>
                    </a:ext>
                  </a:extLst>
                </a:gridCol>
                <a:gridCol w="730821">
                  <a:extLst>
                    <a:ext uri="{9D8B030D-6E8A-4147-A177-3AD203B41FA5}">
                      <a16:colId xmlns:a16="http://schemas.microsoft.com/office/drawing/2014/main" val="3949706560"/>
                    </a:ext>
                  </a:extLst>
                </a:gridCol>
              </a:tblGrid>
              <a:tr h="345716">
                <a:tc>
                  <a:txBody>
                    <a:bodyPr/>
                    <a:lstStyle/>
                    <a:p>
                      <a:pPr marL="0" marR="0" algn="ctr">
                        <a:buNone/>
                      </a:pPr>
                      <a:r>
                        <a:rPr lang="en-US" sz="1600" kern="100">
                          <a:effectLst/>
                          <a:latin typeface="Times New Roman" panose="02020603050405020304" pitchFamily="18" charset="0"/>
                          <a:ea typeface="等线" panose="02010600030101010101" pitchFamily="2" charset="-122"/>
                        </a:rPr>
                        <a:t>Dataset</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600" kern="100">
                          <a:effectLst/>
                          <a:latin typeface="Times New Roman" panose="02020603050405020304" pitchFamily="18" charset="0"/>
                          <a:ea typeface="等线" panose="02010600030101010101" pitchFamily="2" charset="-122"/>
                        </a:rPr>
                        <a:t>Description</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600" kern="100">
                          <a:effectLst/>
                          <a:latin typeface="Times New Roman" panose="02020603050405020304" pitchFamily="18" charset="0"/>
                          <a:ea typeface="等线" panose="02010600030101010101" pitchFamily="2" charset="-122"/>
                        </a:rPr>
                        <a:t>Type</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600" kern="100">
                          <a:effectLst/>
                          <a:latin typeface="Times New Roman" panose="02020603050405020304" pitchFamily="18" charset="0"/>
                          <a:ea typeface="等线" panose="02010600030101010101" pitchFamily="2" charset="-122"/>
                        </a:rPr>
                        <a:t>Size</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221703"/>
                  </a:ext>
                </a:extLst>
              </a:tr>
              <a:tr h="449396">
                <a:tc>
                  <a:txBody>
                    <a:bodyPr/>
                    <a:lstStyle/>
                    <a:p>
                      <a:pPr marL="0" marR="0" algn="l">
                        <a:buNone/>
                      </a:pPr>
                      <a:r>
                        <a:rPr lang="en-US" sz="1200" kern="100">
                          <a:effectLst/>
                          <a:latin typeface="Times New Roman" panose="02020603050405020304" pitchFamily="18" charset="0"/>
                          <a:ea typeface="等线" panose="02010600030101010101" pitchFamily="2" charset="-122"/>
                        </a:rPr>
                        <a:t>HDFS</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Hadoop distributed file system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Distributed system</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1.47GB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76173948"/>
                  </a:ext>
                </a:extLst>
              </a:tr>
              <a:tr h="449396">
                <a:tc>
                  <a:txBody>
                    <a:bodyPr/>
                    <a:lstStyle/>
                    <a:p>
                      <a:pPr marL="0" marR="0" algn="l">
                        <a:buNone/>
                      </a:pPr>
                      <a:r>
                        <a:rPr lang="en-US" sz="1200" kern="100">
                          <a:effectLst/>
                          <a:latin typeface="Times New Roman" panose="02020603050405020304" pitchFamily="18" charset="0"/>
                          <a:ea typeface="等线" panose="02010600030101010101" pitchFamily="2" charset="-122"/>
                        </a:rPr>
                        <a:t>BGL</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it-IT" sz="1200" kern="100">
                          <a:effectLst/>
                          <a:latin typeface="Times New Roman" panose="02020603050405020304" pitchFamily="18" charset="0"/>
                          <a:ea typeface="等线" panose="02010600030101010101" pitchFamily="2" charset="-122"/>
                        </a:rPr>
                        <a:t>Blue Gene/L supercomputer log</a:t>
                      </a:r>
                      <a:endParaRPr lang="it-IT"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Super computer</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708.76MB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1502744141"/>
                  </a:ext>
                </a:extLst>
              </a:tr>
              <a:tr h="418162">
                <a:tc>
                  <a:txBody>
                    <a:bodyPr/>
                    <a:lstStyle/>
                    <a:p>
                      <a:pPr marL="0" marR="0" algn="l">
                        <a:buNone/>
                      </a:pPr>
                      <a:r>
                        <a:rPr lang="en-US" sz="1200" kern="100">
                          <a:effectLst/>
                          <a:latin typeface="Times New Roman" panose="02020603050405020304" pitchFamily="18" charset="0"/>
                          <a:ea typeface="等线" panose="02010600030101010101" pitchFamily="2" charset="-122"/>
                        </a:rPr>
                        <a:t>Thunderbird</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Thunderbird supercomputer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Super computer</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29.60GB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3257098544"/>
                  </a:ext>
                </a:extLst>
              </a:tr>
              <a:tr h="280873">
                <a:tc>
                  <a:txBody>
                    <a:bodyPr/>
                    <a:lstStyle/>
                    <a:p>
                      <a:pPr marL="0" marR="0" algn="l">
                        <a:buNone/>
                      </a:pPr>
                      <a:r>
                        <a:rPr lang="en-US" sz="1200" kern="100">
                          <a:effectLst/>
                          <a:latin typeface="Times New Roman" panose="02020603050405020304" pitchFamily="18" charset="0"/>
                          <a:ea typeface="等线" panose="02010600030101010101" pitchFamily="2" charset="-122"/>
                        </a:rPr>
                        <a:t>Linux</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Linux system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Opreating system</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2.25MB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1424917435"/>
                  </a:ext>
                </a:extLst>
              </a:tr>
              <a:tr h="449396">
                <a:tc>
                  <a:txBody>
                    <a:bodyPr/>
                    <a:lstStyle/>
                    <a:p>
                      <a:pPr marL="0" marR="0" algn="l">
                        <a:buNone/>
                      </a:pPr>
                      <a:r>
                        <a:rPr lang="en-US" sz="1200" kern="100">
                          <a:effectLst/>
                          <a:latin typeface="Times New Roman" panose="02020603050405020304" pitchFamily="18" charset="0"/>
                          <a:ea typeface="等线" panose="02010600030101010101" pitchFamily="2" charset="-122"/>
                        </a:rPr>
                        <a:t>Apache</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Web server error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Server application</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4.90MB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764418"/>
                  </a:ext>
                </a:extLst>
              </a:tr>
            </a:tbl>
          </a:graphicData>
        </a:graphic>
      </p:graphicFrame>
      <p:sp>
        <p:nvSpPr>
          <p:cNvPr id="53" name="Shape 25">
            <a:extLst>
              <a:ext uri="{FF2B5EF4-FFF2-40B4-BE49-F238E27FC236}">
                <a16:creationId xmlns:a16="http://schemas.microsoft.com/office/drawing/2014/main" id="{F594792E-32AB-F0A0-73AB-B425DD344E23}"/>
              </a:ext>
            </a:extLst>
          </p:cNvPr>
          <p:cNvSpPr/>
          <p:nvPr/>
        </p:nvSpPr>
        <p:spPr>
          <a:xfrm rot="5400000">
            <a:off x="7160314" y="837493"/>
            <a:ext cx="443503" cy="412666"/>
          </a:xfrm>
          <a:prstGeom prst="roundRect">
            <a:avLst>
              <a:gd name="adj" fmla="val 0"/>
            </a:avLst>
          </a:prstGeom>
          <a:gradFill flip="none" rotWithShape="1">
            <a:gsLst>
              <a:gs pos="0">
                <a:srgbClr val="2078FF"/>
              </a:gs>
              <a:gs pos="100000">
                <a:srgbClr val="004CC0"/>
              </a:gs>
            </a:gsLst>
            <a:lin ang="13200000" scaled="1"/>
          </a:gradFill>
          <a:ln/>
        </p:spPr>
        <p:txBody>
          <a:bodyPr/>
          <a:lstStyle/>
          <a:p>
            <a:endParaRPr lang="zh-CN" altLang="en-US"/>
          </a:p>
        </p:txBody>
      </p:sp>
      <p:sp>
        <p:nvSpPr>
          <p:cNvPr id="55" name="Shape 27">
            <a:extLst>
              <a:ext uri="{FF2B5EF4-FFF2-40B4-BE49-F238E27FC236}">
                <a16:creationId xmlns:a16="http://schemas.microsoft.com/office/drawing/2014/main" id="{C8A1FB9C-B972-75FD-2ECE-3F20F26A30F3}"/>
              </a:ext>
            </a:extLst>
          </p:cNvPr>
          <p:cNvSpPr/>
          <p:nvPr/>
        </p:nvSpPr>
        <p:spPr>
          <a:xfrm>
            <a:off x="7337508" y="957910"/>
            <a:ext cx="106899" cy="172473"/>
          </a:xfrm>
          <a:prstGeom prst="chevron">
            <a:avLst>
              <a:gd name="adj" fmla="val 64013"/>
            </a:avLst>
          </a:prstGeom>
          <a:solidFill>
            <a:srgbClr val="FFFFFF"/>
          </a:solidFill>
          <a:ln/>
        </p:spPr>
        <p:txBody>
          <a:bodyPr/>
          <a:lstStyle/>
          <a:p>
            <a:endParaRPr lang="zh-CN" alt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flipH="1">
            <a:off x="6098239" y="0"/>
            <a:ext cx="6087733" cy="1800860"/>
          </a:xfrm>
          <a:prstGeom prst="round1Rect">
            <a:avLst>
              <a:gd name="adj" fmla="val 27449"/>
            </a:avLst>
          </a:prstGeom>
          <a:solidFill>
            <a:srgbClr val="004CC0"/>
          </a:solidFill>
          <a:ln w="19050">
            <a:solidFill>
              <a:srgbClr val="004CC0"/>
            </a:solidFill>
            <a:prstDash val="solid"/>
          </a:ln>
        </p:spPr>
      </p:sp>
      <p:sp>
        <p:nvSpPr>
          <p:cNvPr id="8" name="Text 6"/>
          <p:cNvSpPr/>
          <p:nvPr/>
        </p:nvSpPr>
        <p:spPr>
          <a:xfrm>
            <a:off x="6098239" y="0"/>
            <a:ext cx="6087733" cy="180086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6668" y="0"/>
            <a:ext cx="6087733" cy="1800860"/>
          </a:xfrm>
          <a:prstGeom prst="round1Rect">
            <a:avLst>
              <a:gd name="adj" fmla="val 27414"/>
            </a:avLst>
          </a:prstGeom>
          <a:solidFill>
            <a:srgbClr val="004CC0"/>
          </a:solidFill>
          <a:ln w="19050">
            <a:solidFill>
              <a:srgbClr val="004CC0"/>
            </a:solidFill>
            <a:prstDash val="solid"/>
          </a:ln>
        </p:spPr>
      </p:sp>
      <p:sp>
        <p:nvSpPr>
          <p:cNvPr id="10" name="Text 8"/>
          <p:cNvSpPr/>
          <p:nvPr/>
        </p:nvSpPr>
        <p:spPr>
          <a:xfrm>
            <a:off x="6668" y="0"/>
            <a:ext cx="6087733" cy="180086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1" name="Image 0" descr="https://kimi-img.moonshot.cn/pub/slides/slides_tmpl/image/25-09-04-15:50:53-d2sk9ne1bb2p4onbqegg.png"/>
          <p:cNvPicPr>
            <a:picLocks noChangeAspect="1"/>
          </p:cNvPicPr>
          <p:nvPr/>
        </p:nvPicPr>
        <p:blipFill>
          <a:blip r:embed="rId3"/>
          <a:stretch>
            <a:fillRect/>
          </a:stretch>
        </p:blipFill>
        <p:spPr>
          <a:xfrm>
            <a:off x="606425" y="293370"/>
            <a:ext cx="1395730" cy="450850"/>
          </a:xfrm>
          <a:prstGeom prst="rect">
            <a:avLst/>
          </a:prstGeom>
        </p:spPr>
      </p:pic>
      <p:sp>
        <p:nvSpPr>
          <p:cNvPr id="12" name="Shape 9"/>
          <p:cNvSpPr/>
          <p:nvPr/>
        </p:nvSpPr>
        <p:spPr>
          <a:xfrm>
            <a:off x="848360" y="6346190"/>
            <a:ext cx="163338" cy="153035"/>
          </a:xfrm>
          <a:prstGeom prst="rect">
            <a:avLst/>
          </a:prstGeom>
          <a:solidFill>
            <a:srgbClr val="004CC0"/>
          </a:solidFill>
          <a:ln/>
        </p:spPr>
      </p:sp>
      <p:sp>
        <p:nvSpPr>
          <p:cNvPr id="13" name="Text 10"/>
          <p:cNvSpPr/>
          <p:nvPr/>
        </p:nvSpPr>
        <p:spPr>
          <a:xfrm>
            <a:off x="848360"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Shape 11"/>
          <p:cNvSpPr/>
          <p:nvPr/>
        </p:nvSpPr>
        <p:spPr>
          <a:xfrm>
            <a:off x="1122291" y="6346190"/>
            <a:ext cx="163338" cy="153035"/>
          </a:xfrm>
          <a:prstGeom prst="rect">
            <a:avLst/>
          </a:prstGeom>
          <a:solidFill>
            <a:srgbClr val="004CC0"/>
          </a:solidFill>
          <a:ln/>
        </p:spPr>
      </p:sp>
      <p:sp>
        <p:nvSpPr>
          <p:cNvPr id="15" name="Text 12"/>
          <p:cNvSpPr/>
          <p:nvPr/>
        </p:nvSpPr>
        <p:spPr>
          <a:xfrm>
            <a:off x="1122291"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Shape 13"/>
          <p:cNvSpPr/>
          <p:nvPr/>
        </p:nvSpPr>
        <p:spPr>
          <a:xfrm>
            <a:off x="1396222" y="6346190"/>
            <a:ext cx="163338" cy="153035"/>
          </a:xfrm>
          <a:prstGeom prst="rect">
            <a:avLst/>
          </a:prstGeom>
          <a:solidFill>
            <a:srgbClr val="004CC0"/>
          </a:solidFill>
          <a:ln/>
        </p:spPr>
      </p:sp>
      <p:sp>
        <p:nvSpPr>
          <p:cNvPr id="17" name="Text 14"/>
          <p:cNvSpPr/>
          <p:nvPr/>
        </p:nvSpPr>
        <p:spPr>
          <a:xfrm>
            <a:off x="1396222"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5"/>
          <p:cNvSpPr/>
          <p:nvPr/>
        </p:nvSpPr>
        <p:spPr>
          <a:xfrm>
            <a:off x="443865" y="756920"/>
            <a:ext cx="11138535" cy="584775"/>
          </a:xfrm>
          <a:prstGeom prst="rect">
            <a:avLst/>
          </a:prstGeom>
          <a:noFill/>
          <a:ln/>
        </p:spPr>
        <p:txBody>
          <a:bodyPr wrap="square" lIns="91440" tIns="45720" rIns="91440" bIns="45720" rtlCol="0" anchor="t">
            <a:spAutoFit/>
          </a:bodyPr>
          <a:lstStyle/>
          <a:p>
            <a:pPr lvl="0">
              <a:defRPr/>
            </a:pPr>
            <a:r>
              <a:rPr kumimoji="0" lang="en-US" sz="3200" b="1"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02- </a:t>
            </a:r>
            <a:r>
              <a:rPr lang="en-US" sz="3200" b="1">
                <a:solidFill>
                  <a:srgbClr val="FFFFFF"/>
                </a:solidFill>
                <a:latin typeface="MiSans" pitchFamily="34" charset="0"/>
                <a:ea typeface="MiSans" pitchFamily="34" charset="-122"/>
                <a:cs typeface="MiSans" pitchFamily="34" charset="-120"/>
              </a:rPr>
              <a:t>Frontend Frameworks and CommunicationProcesses</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6"/>
          <p:cNvSpPr/>
          <p:nvPr/>
        </p:nvSpPr>
        <p:spPr>
          <a:xfrm>
            <a:off x="351790" y="191770"/>
            <a:ext cx="76200" cy="1282065"/>
          </a:xfrm>
          <a:prstGeom prst="rect">
            <a:avLst/>
          </a:prstGeom>
          <a:solidFill>
            <a:srgbClr val="FFFFFF"/>
          </a:solidFill>
          <a:ln/>
        </p:spPr>
      </p:sp>
      <p:sp>
        <p:nvSpPr>
          <p:cNvPr id="20" name="Text 17"/>
          <p:cNvSpPr/>
          <p:nvPr/>
        </p:nvSpPr>
        <p:spPr>
          <a:xfrm>
            <a:off x="351790" y="191770"/>
            <a:ext cx="76200" cy="128206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8"/>
          <p:cNvSpPr/>
          <p:nvPr/>
        </p:nvSpPr>
        <p:spPr>
          <a:xfrm>
            <a:off x="915670" y="2287905"/>
            <a:ext cx="10361295" cy="3719830"/>
          </a:xfrm>
          <a:prstGeom prst="roundRect">
            <a:avLst>
              <a:gd name="adj" fmla="val 6943"/>
            </a:avLst>
          </a:prstGeom>
          <a:solidFill>
            <a:srgbClr val="004CC0"/>
          </a:solidFill>
          <a:ln/>
        </p:spPr>
      </p:sp>
      <p:sp>
        <p:nvSpPr>
          <p:cNvPr id="22" name="Text 19"/>
          <p:cNvSpPr/>
          <p:nvPr/>
        </p:nvSpPr>
        <p:spPr>
          <a:xfrm>
            <a:off x="915670" y="2287905"/>
            <a:ext cx="10361295" cy="37198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Shape 20"/>
          <p:cNvSpPr/>
          <p:nvPr/>
        </p:nvSpPr>
        <p:spPr>
          <a:xfrm>
            <a:off x="4453255" y="2034540"/>
            <a:ext cx="3286760" cy="4281170"/>
          </a:xfrm>
          <a:prstGeom prst="roundRect">
            <a:avLst>
              <a:gd name="adj" fmla="val 6943"/>
            </a:avLst>
          </a:prstGeom>
          <a:solidFill>
            <a:srgbClr val="FFFFFF"/>
          </a:solidFill>
          <a:ln w="19050">
            <a:solidFill>
              <a:srgbClr val="004CC0"/>
            </a:solidFill>
            <a:prstDash val="solid"/>
          </a:ln>
        </p:spPr>
      </p:sp>
      <p:sp>
        <p:nvSpPr>
          <p:cNvPr id="24" name="Text 21"/>
          <p:cNvSpPr/>
          <p:nvPr/>
        </p:nvSpPr>
        <p:spPr>
          <a:xfrm>
            <a:off x="4453255" y="2034540"/>
            <a:ext cx="3286760" cy="4281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2"/>
          <p:cNvSpPr/>
          <p:nvPr/>
        </p:nvSpPr>
        <p:spPr>
          <a:xfrm>
            <a:off x="1224280" y="2650490"/>
            <a:ext cx="2782570" cy="400110"/>
          </a:xfrm>
          <a:prstGeom prst="rect">
            <a:avLst/>
          </a:prstGeom>
          <a:noFill/>
          <a:ln/>
        </p:spPr>
        <p:txBody>
          <a:bodyPr wrap="square" lIns="91440" tIns="45720" rIns="91440" bIns="45720" rtlCol="0" anchor="t">
            <a:spAutoFit/>
          </a:bodyPr>
          <a:lstStyle/>
          <a:p>
            <a:pPr lvl="0" algn="just">
              <a:defRPr/>
            </a:pPr>
            <a:r>
              <a:rPr lang="en-US" sz="2000" b="1">
                <a:solidFill>
                  <a:srgbClr val="FFFFFF"/>
                </a:solidFill>
                <a:latin typeface="MiSans" pitchFamily="34" charset="0"/>
                <a:ea typeface="MiSans" pitchFamily="34" charset="-122"/>
                <a:cs typeface="MiSans" pitchFamily="34" charset="-120"/>
              </a:rPr>
              <a:t>Frontend Framework</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3"/>
          <p:cNvSpPr/>
          <p:nvPr/>
        </p:nvSpPr>
        <p:spPr>
          <a:xfrm>
            <a:off x="1224280" y="3368675"/>
            <a:ext cx="2781300" cy="1750159"/>
          </a:xfrm>
          <a:prstGeom prst="rect">
            <a:avLst/>
          </a:prstGeom>
          <a:noFill/>
          <a:ln/>
        </p:spPr>
        <p:txBody>
          <a:bodyPr wrap="square" lIns="91440" tIns="45720" rIns="91440" bIns="45720" rtlCol="0" anchor="t">
            <a:spAutoFit/>
          </a:bodyPr>
          <a:lstStyle/>
          <a:p>
            <a:pPr lvl="0" algn="just">
              <a:lnSpc>
                <a:spcPct val="130000"/>
              </a:lnSpc>
              <a:defRPr/>
            </a:pPr>
            <a:r>
              <a:rPr lang="en-US" sz="1400" b="1">
                <a:solidFill>
                  <a:srgbClr val="FFFFFF"/>
                </a:solidFill>
                <a:latin typeface="MiSans" pitchFamily="34" charset="0"/>
                <a:ea typeface="MiSans" pitchFamily="34" charset="-122"/>
                <a:cs typeface="MiSans" pitchFamily="34" charset="-120"/>
              </a:rPr>
              <a:t>The frontend adopts a WebView +Node.jsbackendarchitecture.WebView handles rendering theVue interface, while Node childprocesses host LogLLM and scoringservices.</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4"/>
          <p:cNvSpPr/>
          <p:nvPr/>
        </p:nvSpPr>
        <p:spPr>
          <a:xfrm>
            <a:off x="4716779" y="2294890"/>
            <a:ext cx="3023235" cy="400110"/>
          </a:xfrm>
          <a:prstGeom prst="rect">
            <a:avLst/>
          </a:prstGeom>
          <a:noFill/>
          <a:ln/>
        </p:spPr>
        <p:txBody>
          <a:bodyPr wrap="square" lIns="91440" tIns="45720" rIns="91440" bIns="45720" rtlCol="0" anchor="t">
            <a:spAutoFit/>
          </a:bodyPr>
          <a:lstStyle/>
          <a:p>
            <a:pPr lvl="0" algn="just">
              <a:defRPr/>
            </a:pPr>
            <a:r>
              <a:rPr lang="en-US" sz="2000" b="1">
                <a:solidFill>
                  <a:srgbClr val="000000"/>
                </a:solidFill>
                <a:latin typeface="MiSans" pitchFamily="34" charset="0"/>
                <a:ea typeface="MiSans" pitchFamily="34" charset="-122"/>
                <a:cs typeface="MiSans" pitchFamily="34" charset="-120"/>
              </a:rPr>
              <a:t>Communication FlowFlow</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5"/>
          <p:cNvSpPr/>
          <p:nvPr/>
        </p:nvSpPr>
        <p:spPr>
          <a:xfrm>
            <a:off x="4716780" y="3013075"/>
            <a:ext cx="2781300" cy="1750159"/>
          </a:xfrm>
          <a:prstGeom prst="rect">
            <a:avLst/>
          </a:prstGeom>
          <a:noFill/>
          <a:ln/>
        </p:spPr>
        <p:txBody>
          <a:bodyPr wrap="square" lIns="91440" tIns="45720" rIns="91440" bIns="45720" rtlCol="0" anchor="t">
            <a:spAutoFit/>
          </a:bodyPr>
          <a:lstStyle/>
          <a:p>
            <a:pPr lvl="0" algn="just">
              <a:lnSpc>
                <a:spcPct val="130000"/>
              </a:lnSpc>
              <a:defRPr/>
            </a:pPr>
            <a:r>
              <a:rPr lang="en-US" sz="1400" b="1">
                <a:solidFill>
                  <a:srgbClr val="000000"/>
                </a:solidFill>
                <a:latin typeface="MiSans" pitchFamily="34" charset="0"/>
                <a:ea typeface="MiSans" pitchFamily="34" charset="-122"/>
                <a:cs typeface="MiSans" pitchFamily="34" charset="-120"/>
              </a:rPr>
              <a:t>Bidirectionalcommunication viavia the VS Code APlenablescommand invocation and resultresult feedback,ensuring seamlessseamlessfrontend-backendcoordination.</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26"/>
          <p:cNvSpPr/>
          <p:nvPr/>
        </p:nvSpPr>
        <p:spPr>
          <a:xfrm>
            <a:off x="8158480" y="2650490"/>
            <a:ext cx="2782570" cy="400110"/>
          </a:xfrm>
          <a:prstGeom prst="rect">
            <a:avLst/>
          </a:prstGeom>
          <a:noFill/>
          <a:ln/>
        </p:spPr>
        <p:txBody>
          <a:bodyPr wrap="square" lIns="91440" tIns="45720" rIns="91440" bIns="45720" rtlCol="0" anchor="t">
            <a:spAutoFit/>
          </a:bodyPr>
          <a:lstStyle/>
          <a:p>
            <a:pPr lvl="0" algn="just">
              <a:defRPr/>
            </a:pPr>
            <a:r>
              <a:rPr lang="en-US" sz="2000" b="1">
                <a:solidFill>
                  <a:srgbClr val="FFFFFF"/>
                </a:solidFill>
                <a:latin typeface="MiSans" pitchFamily="34" charset="0"/>
                <a:ea typeface="MiSans" pitchFamily="34" charset="-122"/>
                <a:cs typeface="MiSans" pitchFamily="34" charset="-120"/>
              </a:rPr>
              <a:t>Message Sequencing</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7"/>
          <p:cNvSpPr/>
          <p:nvPr/>
        </p:nvSpPr>
        <p:spPr>
          <a:xfrm>
            <a:off x="8158480" y="3368675"/>
            <a:ext cx="2781300" cy="1470082"/>
          </a:xfrm>
          <a:prstGeom prst="rect">
            <a:avLst/>
          </a:prstGeom>
          <a:noFill/>
          <a:ln/>
        </p:spPr>
        <p:txBody>
          <a:bodyPr wrap="square" lIns="91440" tIns="45720" rIns="91440" bIns="45720" rtlCol="0" anchor="t">
            <a:spAutoFit/>
          </a:bodyPr>
          <a:lstStyle/>
          <a:p>
            <a:pPr lvl="0" algn="just">
              <a:lnSpc>
                <a:spcPct val="130000"/>
              </a:lnSpc>
              <a:defRPr/>
            </a:pPr>
            <a:r>
              <a:rPr lang="en-US" sz="1400" b="1">
                <a:solidFill>
                  <a:srgbClr val="FFFFFF"/>
                </a:solidFill>
                <a:latin typeface="MiSans" pitchFamily="34" charset="0"/>
                <a:ea typeface="MiSans" pitchFamily="34" charset="-122"/>
                <a:cs typeface="MiSans" pitchFamily="34" charset="-120"/>
              </a:rPr>
              <a:t>Defined message sequences andexceptioncallbackmechanismsguarantee system stabilityandenhance user experience.</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8DB78-1075-6D37-658F-E8595736D6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05111A-3EFD-C0FD-CCF3-7DD0FF0E676D}"/>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28569999-E8B1-91AE-95E6-31D20F74C129}"/>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2F53B6F2-FF37-D58C-F3C2-5C60FB8B2023}"/>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3E9C5976-6121-D9FB-98F0-DA490F01734A}"/>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74578884-7745-1F31-0D9A-14FFECF8D6E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492D23E8-7586-7921-1A3B-3CF310F4BE5C}"/>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AA7BF182-BD63-4142-8500-F3E59624A845}"/>
              </a:ext>
            </a:extLst>
          </p:cNvPr>
          <p:cNvSpPr/>
          <p:nvPr/>
        </p:nvSpPr>
        <p:spPr>
          <a:xfrm>
            <a:off x="786130" y="1744954"/>
            <a:ext cx="5494166" cy="4551518"/>
          </a:xfrm>
          <a:prstGeom prst="rect">
            <a:avLst/>
          </a:prstGeom>
          <a:solidFill>
            <a:srgbClr val="FFFFFF"/>
          </a:solidFill>
          <a:ln w="19050">
            <a:solidFill>
              <a:srgbClr val="004CC0"/>
            </a:solidFill>
            <a:prstDash val="solid"/>
          </a:ln>
        </p:spPr>
      </p:sp>
      <p:sp>
        <p:nvSpPr>
          <p:cNvPr id="9" name="Text 7">
            <a:extLst>
              <a:ext uri="{FF2B5EF4-FFF2-40B4-BE49-F238E27FC236}">
                <a16:creationId xmlns:a16="http://schemas.microsoft.com/office/drawing/2014/main" id="{DF25DD1D-2CC1-B4AD-8CBD-945896D94DBA}"/>
              </a:ext>
            </a:extLst>
          </p:cNvPr>
          <p:cNvSpPr/>
          <p:nvPr/>
        </p:nvSpPr>
        <p:spPr>
          <a:xfrm>
            <a:off x="3992450" y="406718"/>
            <a:ext cx="7413420" cy="312102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8">
            <a:extLst>
              <a:ext uri="{FF2B5EF4-FFF2-40B4-BE49-F238E27FC236}">
                <a16:creationId xmlns:a16="http://schemas.microsoft.com/office/drawing/2014/main" id="{DCCBD4DC-FFA4-3CFA-9287-E0A58EEB4067}"/>
              </a:ext>
            </a:extLst>
          </p:cNvPr>
          <p:cNvSpPr/>
          <p:nvPr/>
        </p:nvSpPr>
        <p:spPr>
          <a:xfrm>
            <a:off x="1477891" y="1102690"/>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  </a:t>
            </a:r>
            <a:r>
              <a:rPr lang="en-US" sz="2400" b="1">
                <a:solidFill>
                  <a:srgbClr val="004CC0"/>
                </a:solidFill>
                <a:latin typeface="Times New Roman" panose="02020603050405020304" pitchFamily="18" charset="0"/>
                <a:ea typeface="MiSans" pitchFamily="34" charset="-122"/>
                <a:cs typeface="Times New Roman" panose="02020603050405020304" pitchFamily="18" charset="0"/>
              </a:rPr>
              <a:t>Framework of Front-end</a:t>
            </a:r>
            <a:endParaRPr lang="en-US" sz="1600" dirty="0">
              <a:latin typeface="Times New Roman" panose="02020603050405020304" pitchFamily="18" charset="0"/>
              <a:cs typeface="Times New Roman" panose="02020603050405020304" pitchFamily="18" charset="0"/>
            </a:endParaRPr>
          </a:p>
        </p:txBody>
      </p:sp>
      <p:grpSp>
        <p:nvGrpSpPr>
          <p:cNvPr id="48" name="组合 47">
            <a:extLst>
              <a:ext uri="{FF2B5EF4-FFF2-40B4-BE49-F238E27FC236}">
                <a16:creationId xmlns:a16="http://schemas.microsoft.com/office/drawing/2014/main" id="{C932229F-69AE-30C2-ABF7-C8F0A838A790}"/>
              </a:ext>
            </a:extLst>
          </p:cNvPr>
          <p:cNvGrpSpPr/>
          <p:nvPr/>
        </p:nvGrpSpPr>
        <p:grpSpPr>
          <a:xfrm>
            <a:off x="885237" y="1110071"/>
            <a:ext cx="438785" cy="434340"/>
            <a:chOff x="757237" y="1748473"/>
            <a:chExt cx="438785" cy="434340"/>
          </a:xfrm>
        </p:grpSpPr>
        <p:sp>
          <p:nvSpPr>
            <p:cNvPr id="11" name="Shape 9">
              <a:extLst>
                <a:ext uri="{FF2B5EF4-FFF2-40B4-BE49-F238E27FC236}">
                  <a16:creationId xmlns:a16="http://schemas.microsoft.com/office/drawing/2014/main" id="{5FC6F49D-9F01-4974-9CC5-D71CE9FE3CB7}"/>
                </a:ext>
              </a:extLst>
            </p:cNvPr>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8052DB32-F988-F029-9666-D6726F7E3500}"/>
                </a:ext>
              </a:extLst>
            </p:cNvPr>
            <p:cNvSpPr/>
            <p:nvPr/>
          </p:nvSpPr>
          <p:spPr>
            <a:xfrm>
              <a:off x="919480" y="1881505"/>
              <a:ext cx="113665" cy="168910"/>
            </a:xfrm>
            <a:prstGeom prst="chevron">
              <a:avLst>
                <a:gd name="adj" fmla="val 64013"/>
              </a:avLst>
            </a:prstGeom>
            <a:solidFill>
              <a:srgbClr val="FFFFFF"/>
            </a:solidFill>
            <a:ln/>
          </p:spPr>
        </p:sp>
      </p:grpSp>
      <p:grpSp>
        <p:nvGrpSpPr>
          <p:cNvPr id="47" name="组合 46">
            <a:extLst>
              <a:ext uri="{FF2B5EF4-FFF2-40B4-BE49-F238E27FC236}">
                <a16:creationId xmlns:a16="http://schemas.microsoft.com/office/drawing/2014/main" id="{09A1080B-FCBA-F4BE-B19C-3674B0C915F4}"/>
              </a:ext>
            </a:extLst>
          </p:cNvPr>
          <p:cNvGrpSpPr/>
          <p:nvPr/>
        </p:nvGrpSpPr>
        <p:grpSpPr>
          <a:xfrm>
            <a:off x="6601474" y="428243"/>
            <a:ext cx="5181647" cy="5058157"/>
            <a:chOff x="757237" y="4000390"/>
            <a:chExt cx="4217100" cy="2032194"/>
          </a:xfrm>
        </p:grpSpPr>
        <p:sp>
          <p:nvSpPr>
            <p:cNvPr id="13" name="Shape 11">
              <a:extLst>
                <a:ext uri="{FF2B5EF4-FFF2-40B4-BE49-F238E27FC236}">
                  <a16:creationId xmlns:a16="http://schemas.microsoft.com/office/drawing/2014/main" id="{E95DCD92-C40E-3F6B-7C21-C7EA88213898}"/>
                </a:ext>
              </a:extLst>
            </p:cNvPr>
            <p:cNvSpPr/>
            <p:nvPr/>
          </p:nvSpPr>
          <p:spPr>
            <a:xfrm>
              <a:off x="760731" y="4000390"/>
              <a:ext cx="4213606" cy="2032194"/>
            </a:xfrm>
            <a:prstGeom prst="rect">
              <a:avLst/>
            </a:prstGeom>
            <a:solidFill>
              <a:srgbClr val="FFFFFF"/>
            </a:solidFill>
            <a:ln w="19050">
              <a:solidFill>
                <a:srgbClr val="004CC0"/>
              </a:solidFill>
              <a:prstDash val="solid"/>
            </a:ln>
          </p:spPr>
          <p:txBody>
            <a:bodyPr/>
            <a:lstStyle/>
            <a:p>
              <a:endParaRPr lang="zh-CN" altLang="en-US"/>
            </a:p>
          </p:txBody>
        </p:sp>
        <p:sp>
          <p:nvSpPr>
            <p:cNvPr id="16" name="Text 14">
              <a:extLst>
                <a:ext uri="{FF2B5EF4-FFF2-40B4-BE49-F238E27FC236}">
                  <a16:creationId xmlns:a16="http://schemas.microsoft.com/office/drawing/2014/main" id="{421944FA-3461-BB43-F981-B4AE8D34FD20}"/>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7" name="Shape 15">
              <a:extLst>
                <a:ext uri="{FF2B5EF4-FFF2-40B4-BE49-F238E27FC236}">
                  <a16:creationId xmlns:a16="http://schemas.microsoft.com/office/drawing/2014/main" id="{9905C6C8-FCF3-52AD-D9E4-9E6CD00A2BBD}"/>
                </a:ext>
              </a:extLst>
            </p:cNvPr>
            <p:cNvSpPr/>
            <p:nvPr/>
          </p:nvSpPr>
          <p:spPr>
            <a:xfrm flipV="1">
              <a:off x="875754" y="4144633"/>
              <a:ext cx="215699" cy="108423"/>
            </a:xfrm>
            <a:prstGeom prst="chevron">
              <a:avLst>
                <a:gd name="adj" fmla="val 64013"/>
              </a:avLst>
            </a:prstGeom>
            <a:solidFill>
              <a:srgbClr val="FFFFFF"/>
            </a:solidFill>
            <a:ln/>
          </p:spPr>
          <p:txBody>
            <a:bodyPr/>
            <a:lstStyle/>
            <a:p>
              <a:endParaRPr lang="zh-CN" altLang="en-US"/>
            </a:p>
          </p:txBody>
        </p:sp>
        <p:sp>
          <p:nvSpPr>
            <p:cNvPr id="18" name="Text 16">
              <a:extLst>
                <a:ext uri="{FF2B5EF4-FFF2-40B4-BE49-F238E27FC236}">
                  <a16:creationId xmlns:a16="http://schemas.microsoft.com/office/drawing/2014/main" id="{5B636DD9-92CC-F955-ABA3-B9069A502AD6}"/>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22" name="Text 20">
            <a:extLst>
              <a:ext uri="{FF2B5EF4-FFF2-40B4-BE49-F238E27FC236}">
                <a16:creationId xmlns:a16="http://schemas.microsoft.com/office/drawing/2014/main" id="{E89F2B07-E887-DDC2-EC9E-BD68CB539482}"/>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3" name="Shape 21">
            <a:extLst>
              <a:ext uri="{FF2B5EF4-FFF2-40B4-BE49-F238E27FC236}">
                <a16:creationId xmlns:a16="http://schemas.microsoft.com/office/drawing/2014/main" id="{D63521C8-59C5-73DD-E75A-24AF68FE398A}"/>
              </a:ext>
            </a:extLst>
          </p:cNvPr>
          <p:cNvSpPr/>
          <p:nvPr/>
        </p:nvSpPr>
        <p:spPr>
          <a:xfrm>
            <a:off x="6435725" y="1881505"/>
            <a:ext cx="113665" cy="168910"/>
          </a:xfrm>
          <a:prstGeom prst="chevron">
            <a:avLst>
              <a:gd name="adj" fmla="val 64013"/>
            </a:avLst>
          </a:prstGeom>
          <a:solidFill>
            <a:srgbClr val="FFFFFF"/>
          </a:solidFill>
          <a:ln/>
        </p:spPr>
      </p:sp>
      <p:sp>
        <p:nvSpPr>
          <p:cNvPr id="24" name="Text 22">
            <a:extLst>
              <a:ext uri="{FF2B5EF4-FFF2-40B4-BE49-F238E27FC236}">
                <a16:creationId xmlns:a16="http://schemas.microsoft.com/office/drawing/2014/main" id="{A4BA4DE5-7087-C8DC-54B4-61832448BD18}"/>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1" name="Text 29">
            <a:extLst>
              <a:ext uri="{FF2B5EF4-FFF2-40B4-BE49-F238E27FC236}">
                <a16:creationId xmlns:a16="http://schemas.microsoft.com/office/drawing/2014/main" id="{F2672DB9-FE27-3EE7-203B-CA6495E3D404}"/>
              </a:ext>
            </a:extLst>
          </p:cNvPr>
          <p:cNvSpPr/>
          <p:nvPr/>
        </p:nvSpPr>
        <p:spPr>
          <a:xfrm>
            <a:off x="1237195" y="393358"/>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02- </a:t>
            </a:r>
            <a:r>
              <a:rPr lang="en-US" altLang="zh-CN" sz="3000" b="1">
                <a:solidFill>
                  <a:srgbClr val="000000"/>
                </a:solidFill>
                <a:latin typeface="MiSans" pitchFamily="34" charset="0"/>
                <a:ea typeface="MiSans" pitchFamily="34" charset="-122"/>
                <a:cs typeface="MiSans" pitchFamily="34" charset="-120"/>
              </a:rPr>
              <a:t>Front-end Implementation</a:t>
            </a:r>
            <a:endParaRPr lang="en-US" sz="1600" dirty="0"/>
          </a:p>
        </p:txBody>
      </p:sp>
      <p:sp>
        <p:nvSpPr>
          <p:cNvPr id="38" name="Text 34">
            <a:extLst>
              <a:ext uri="{FF2B5EF4-FFF2-40B4-BE49-F238E27FC236}">
                <a16:creationId xmlns:a16="http://schemas.microsoft.com/office/drawing/2014/main" id="{D6310891-E266-9189-BDC1-B9356455CC2A}"/>
              </a:ext>
            </a:extLst>
          </p:cNvPr>
          <p:cNvSpPr/>
          <p:nvPr/>
        </p:nvSpPr>
        <p:spPr>
          <a:xfrm>
            <a:off x="7821658" y="809576"/>
            <a:ext cx="4330700" cy="435610"/>
          </a:xfrm>
          <a:prstGeom prst="rect">
            <a:avLst/>
          </a:prstGeom>
          <a:noFill/>
          <a:ln/>
        </p:spPr>
        <p:txBody>
          <a:bodyPr wrap="square" lIns="0" tIns="0" rIns="0" bIns="0" rtlCol="0" anchor="ctr"/>
          <a:lstStyle/>
          <a:p>
            <a:pPr algn="just">
              <a:lnSpc>
                <a:spcPct val="100000"/>
              </a:lnSpc>
            </a:pPr>
            <a:endParaRPr lang="en-US" sz="1600" dirty="0"/>
          </a:p>
        </p:txBody>
      </p:sp>
      <p:sp>
        <p:nvSpPr>
          <p:cNvPr id="55" name="Shape 27">
            <a:extLst>
              <a:ext uri="{FF2B5EF4-FFF2-40B4-BE49-F238E27FC236}">
                <a16:creationId xmlns:a16="http://schemas.microsoft.com/office/drawing/2014/main" id="{BF276720-7795-6A6C-64E1-12A6770A8241}"/>
              </a:ext>
            </a:extLst>
          </p:cNvPr>
          <p:cNvSpPr/>
          <p:nvPr/>
        </p:nvSpPr>
        <p:spPr>
          <a:xfrm>
            <a:off x="7337508" y="957910"/>
            <a:ext cx="106899" cy="172473"/>
          </a:xfrm>
          <a:prstGeom prst="chevron">
            <a:avLst>
              <a:gd name="adj" fmla="val 64013"/>
            </a:avLst>
          </a:prstGeom>
          <a:solidFill>
            <a:srgbClr val="FFFFFF"/>
          </a:solidFill>
          <a:ln/>
        </p:spPr>
        <p:txBody>
          <a:bodyPr/>
          <a:lstStyle/>
          <a:p>
            <a:endParaRPr lang="zh-CN" altLang="en-US"/>
          </a:p>
        </p:txBody>
      </p:sp>
      <p:pic>
        <p:nvPicPr>
          <p:cNvPr id="10241" name="Picture 1">
            <a:extLst>
              <a:ext uri="{FF2B5EF4-FFF2-40B4-BE49-F238E27FC236}">
                <a16:creationId xmlns:a16="http://schemas.microsoft.com/office/drawing/2014/main" id="{DCCC51A0-7E31-C8D0-5B57-BDAFCFBAE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291" y="1834236"/>
            <a:ext cx="4858747" cy="441882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4DFAC696-6C65-AD68-5623-3C28E5E99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099" y="627712"/>
            <a:ext cx="4779095" cy="4551519"/>
          </a:xfrm>
          <a:prstGeom prst="rect">
            <a:avLst/>
          </a:prstGeom>
          <a:noFill/>
          <a:extLst>
            <a:ext uri="{909E8E84-426E-40DD-AFC4-6F175D3DCCD1}">
              <a14:hiddenFill xmlns:a14="http://schemas.microsoft.com/office/drawing/2010/main">
                <a:solidFill>
                  <a:srgbClr val="FFFFFF"/>
                </a:solidFill>
              </a14:hiddenFill>
            </a:ext>
          </a:extLst>
        </p:spPr>
      </p:pic>
      <p:sp>
        <p:nvSpPr>
          <p:cNvPr id="15" name="Text 11">
            <a:extLst>
              <a:ext uri="{FF2B5EF4-FFF2-40B4-BE49-F238E27FC236}">
                <a16:creationId xmlns:a16="http://schemas.microsoft.com/office/drawing/2014/main" id="{1705BBB3-FED6-EFA0-B04D-37E76249399D}"/>
              </a:ext>
            </a:extLst>
          </p:cNvPr>
          <p:cNvSpPr/>
          <p:nvPr/>
        </p:nvSpPr>
        <p:spPr>
          <a:xfrm>
            <a:off x="7917722" y="5716446"/>
            <a:ext cx="3929089" cy="461665"/>
          </a:xfrm>
          <a:prstGeom prst="rect">
            <a:avLst/>
          </a:prstGeom>
          <a:noFill/>
          <a:ln/>
        </p:spPr>
        <p:txBody>
          <a:bodyPr wrap="square" lIns="91440" tIns="45720" rIns="91440" bIns="45720" rtlCol="0" anchor="ctr">
            <a:spAutoFit/>
          </a:bodyPr>
          <a:lstStyle/>
          <a:p>
            <a:pPr algn="just">
              <a:lnSpc>
                <a:spcPct val="100000"/>
              </a:lnSpc>
            </a:pPr>
            <a:r>
              <a:rPr lang="en-US" sz="2400" b="1">
                <a:solidFill>
                  <a:srgbClr val="1D3EBF"/>
                </a:solidFill>
                <a:latin typeface="Times New Roman" panose="02020603050405020304" pitchFamily="18" charset="0"/>
                <a:ea typeface="MiSans" pitchFamily="34" charset="-122"/>
                <a:cs typeface="Times New Roman" panose="02020603050405020304" pitchFamily="18" charset="0"/>
              </a:rPr>
              <a:t>Front-end interaction</a:t>
            </a:r>
            <a:endParaRPr lang="en-US" sz="1600" b="1" dirty="0">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AAB4FD81-5F76-1DBF-7C81-AD9FFB6F7FB4}"/>
              </a:ext>
            </a:extLst>
          </p:cNvPr>
          <p:cNvGrpSpPr/>
          <p:nvPr/>
        </p:nvGrpSpPr>
        <p:grpSpPr>
          <a:xfrm>
            <a:off x="7284117" y="5704403"/>
            <a:ext cx="438785" cy="434340"/>
            <a:chOff x="757237" y="1748473"/>
            <a:chExt cx="438785" cy="434340"/>
          </a:xfrm>
        </p:grpSpPr>
        <p:sp>
          <p:nvSpPr>
            <p:cNvPr id="20" name="Shape 9">
              <a:extLst>
                <a:ext uri="{FF2B5EF4-FFF2-40B4-BE49-F238E27FC236}">
                  <a16:creationId xmlns:a16="http://schemas.microsoft.com/office/drawing/2014/main" id="{83685820-23AC-B797-376D-49A8DF5A4418}"/>
                </a:ext>
              </a:extLst>
            </p:cNvPr>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21" name="Shape 10">
              <a:extLst>
                <a:ext uri="{FF2B5EF4-FFF2-40B4-BE49-F238E27FC236}">
                  <a16:creationId xmlns:a16="http://schemas.microsoft.com/office/drawing/2014/main" id="{7CF79FA3-B21A-C15A-F099-A9C425B93397}"/>
                </a:ext>
              </a:extLst>
            </p:cNvPr>
            <p:cNvSpPr/>
            <p:nvPr/>
          </p:nvSpPr>
          <p:spPr>
            <a:xfrm>
              <a:off x="919480" y="1881505"/>
              <a:ext cx="113665" cy="168910"/>
            </a:xfrm>
            <a:prstGeom prst="chevron">
              <a:avLst>
                <a:gd name="adj" fmla="val 64013"/>
              </a:avLst>
            </a:prstGeom>
            <a:solidFill>
              <a:srgbClr val="FFFFFF"/>
            </a:solidFill>
            <a:ln/>
          </p:spPr>
        </p:sp>
      </p:grpSp>
    </p:spTree>
    <p:extLst>
      <p:ext uri="{BB962C8B-B14F-4D97-AF65-F5344CB8AC3E}">
        <p14:creationId xmlns:p14="http://schemas.microsoft.com/office/powerpoint/2010/main" val="2833361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en-US" altLang="zh-CN" sz="6000">
                <a:solidFill>
                  <a:srgbClr val="000000"/>
                </a:solidFill>
                <a:latin typeface="MiSans" pitchFamily="34" charset="0"/>
                <a:ea typeface="MiSans" pitchFamily="34" charset="-122"/>
              </a:rPr>
              <a:t>Agile Development Process</a:t>
            </a:r>
            <a:endParaRPr lang="en-US"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03</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7" name="Image 0" descr="https://kimi-img.moonshot.cn/pub/slides/slides_tmpl/image/25-09-04-15:50:54-d2sk9nm1bb2p4onbqekg.png"/>
          <p:cNvPicPr>
            <a:picLocks noChangeAspect="1"/>
          </p:cNvPicPr>
          <p:nvPr/>
        </p:nvPicPr>
        <p:blipFill>
          <a:blip r:embed="rId3"/>
          <a:stretch>
            <a:fillRect/>
          </a:stretch>
        </p:blipFill>
        <p:spPr>
          <a:xfrm>
            <a:off x="0" y="1542415"/>
            <a:ext cx="12192000" cy="5315585"/>
          </a:xfrm>
          <a:prstGeom prst="rect">
            <a:avLst/>
          </a:prstGeom>
        </p:spPr>
      </p:pic>
      <p:sp>
        <p:nvSpPr>
          <p:cNvPr id="8" name="Shape 5"/>
          <p:cNvSpPr/>
          <p:nvPr/>
        </p:nvSpPr>
        <p:spPr>
          <a:xfrm>
            <a:off x="6291731" y="8722360"/>
            <a:ext cx="287989" cy="6985"/>
          </a:xfrm>
          <a:custGeom>
            <a:avLst/>
            <a:gdLst/>
            <a:ahLst/>
            <a:cxnLst/>
            <a:rect l="l" t="t" r="r" b="b"/>
            <a:pathLst>
              <a:path w="287989" h="6985">
                <a:moveTo>
                  <a:pt x="287989" y="0"/>
                </a:moveTo>
                <a:lnTo>
                  <a:pt x="260078" y="2540"/>
                </a:lnTo>
                <a:lnTo>
                  <a:pt x="221384" y="5080"/>
                </a:lnTo>
                <a:lnTo>
                  <a:pt x="182689" y="6350"/>
                </a:lnTo>
                <a:lnTo>
                  <a:pt x="143995" y="6985"/>
                </a:lnTo>
                <a:lnTo>
                  <a:pt x="104666" y="6350"/>
                </a:lnTo>
                <a:lnTo>
                  <a:pt x="65971" y="5080"/>
                </a:lnTo>
                <a:lnTo>
                  <a:pt x="27911" y="2540"/>
                </a:lnTo>
                <a:lnTo>
                  <a:pt x="0" y="0"/>
                </a:lnTo>
                <a:lnTo>
                  <a:pt x="287989" y="0"/>
                </a:lnTo>
                <a:close/>
              </a:path>
            </a:pathLst>
          </a:custGeom>
          <a:solidFill>
            <a:srgbClr val="FFFFFF"/>
          </a:solidFill>
          <a:ln/>
        </p:spPr>
      </p:sp>
      <p:sp>
        <p:nvSpPr>
          <p:cNvPr id="9" name="Text 6"/>
          <p:cNvSpPr/>
          <p:nvPr/>
        </p:nvSpPr>
        <p:spPr>
          <a:xfrm>
            <a:off x="6291731" y="8722360"/>
            <a:ext cx="287989" cy="698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7"/>
          <p:cNvSpPr/>
          <p:nvPr/>
        </p:nvSpPr>
        <p:spPr>
          <a:xfrm>
            <a:off x="582930" y="211455"/>
            <a:ext cx="10151745" cy="584775"/>
          </a:xfrm>
          <a:prstGeom prst="rect">
            <a:avLst/>
          </a:prstGeom>
          <a:noFill/>
          <a:ln/>
        </p:spPr>
        <p:txBody>
          <a:bodyPr wrap="square" lIns="91440" tIns="45720" rIns="91440" bIns="45720" rtlCol="0" anchor="t">
            <a:spAutoFit/>
          </a:bodyPr>
          <a:lstStyle/>
          <a:p>
            <a:pPr lvl="0">
              <a:defRPr/>
            </a:pPr>
            <a:r>
              <a:rPr lang="en-US" sz="3200" b="1">
                <a:solidFill>
                  <a:srgbClr val="000000"/>
                </a:solidFill>
                <a:latin typeface="MiSans" pitchFamily="34" charset="0"/>
                <a:ea typeface="MiSans" pitchFamily="34" charset="-122"/>
                <a:cs typeface="MiSans" pitchFamily="34" charset="-120"/>
              </a:rPr>
              <a:t>03-Testing Optimization and Deliverables (Sprint 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Text 8"/>
          <p:cNvSpPr/>
          <p:nvPr/>
        </p:nvSpPr>
        <p:spPr>
          <a:xfrm>
            <a:off x="1679598" y="2715638"/>
            <a:ext cx="1148388"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9"/>
          <p:cNvSpPr/>
          <p:nvPr/>
        </p:nvSpPr>
        <p:spPr>
          <a:xfrm>
            <a:off x="966118" y="3329501"/>
            <a:ext cx="3354091" cy="337421"/>
          </a:xfrm>
          <a:prstGeom prst="rect">
            <a:avLst/>
          </a:prstGeom>
          <a:noFill/>
          <a:ln/>
        </p:spPr>
        <p:txBody>
          <a:bodyPr wrap="square" lIns="0" tIns="0" rIns="0" bIns="0" rtlCol="0" anchor="ctr"/>
          <a:lstStyle/>
          <a:p>
            <a:pPr lvl="0" algn="just">
              <a:defRPr/>
            </a:pPr>
            <a:r>
              <a:rPr lang="en-US" sz="2400" b="1">
                <a:solidFill>
                  <a:srgbClr val="FFFFFF"/>
                </a:solidFill>
                <a:latin typeface="MiSans" pitchFamily="34" charset="0"/>
                <a:ea typeface="MiSans" pitchFamily="34" charset="-122"/>
                <a:cs typeface="MiSans" pitchFamily="34" charset="-120"/>
              </a:rPr>
              <a:t>Requirement Clarification</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0"/>
          <p:cNvSpPr/>
          <p:nvPr/>
        </p:nvSpPr>
        <p:spPr>
          <a:xfrm>
            <a:off x="966118" y="3845586"/>
            <a:ext cx="2575045" cy="2495876"/>
          </a:xfrm>
          <a:prstGeom prst="rect">
            <a:avLst/>
          </a:prstGeom>
          <a:solidFill>
            <a:srgbClr val="000000">
              <a:alpha val="0"/>
            </a:srgbClr>
          </a:solidFill>
          <a:ln/>
        </p:spPr>
      </p:sp>
      <p:sp>
        <p:nvSpPr>
          <p:cNvPr id="14" name="Text 11"/>
          <p:cNvSpPr/>
          <p:nvPr/>
        </p:nvSpPr>
        <p:spPr>
          <a:xfrm>
            <a:off x="966118" y="3845586"/>
            <a:ext cx="2575045" cy="2495876"/>
          </a:xfrm>
          <a:prstGeom prst="rect">
            <a:avLst/>
          </a:prstGeom>
          <a:noFill/>
          <a:ln/>
        </p:spPr>
        <p:txBody>
          <a:bodyPr wrap="square" lIns="0" tIns="0" rIns="0" bIns="0" rtlCol="0" anchor="t"/>
          <a:lstStyle/>
          <a:p>
            <a:pPr lvl="0" algn="just">
              <a:lnSpc>
                <a:spcPct val="130000"/>
              </a:lnSpc>
              <a:defRPr/>
            </a:pPr>
            <a:r>
              <a:rPr lang="en-US" altLang="zh-CN" sz="1400" b="1">
                <a:solidFill>
                  <a:srgbClr val="FFFFFF"/>
                </a:solidFill>
                <a:latin typeface="MiSans" pitchFamily="34" charset="0"/>
                <a:ea typeface="MiSans" pitchFamily="34" charset="-122"/>
                <a:cs typeface="MiSans" pitchFamily="34" charset="-120"/>
              </a:rPr>
              <a:t>Focus on Requirements Analysisand Architecture Design</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Text 12"/>
          <p:cNvSpPr/>
          <p:nvPr/>
        </p:nvSpPr>
        <p:spPr>
          <a:xfrm>
            <a:off x="5545973" y="2707386"/>
            <a:ext cx="1148388"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Text 13"/>
          <p:cNvSpPr/>
          <p:nvPr/>
        </p:nvSpPr>
        <p:spPr>
          <a:xfrm>
            <a:off x="5286327" y="3329501"/>
            <a:ext cx="2426438" cy="392628"/>
          </a:xfrm>
          <a:prstGeom prst="rect">
            <a:avLst/>
          </a:prstGeom>
          <a:noFill/>
          <a:ln/>
        </p:spPr>
        <p:txBody>
          <a:bodyPr wrap="square" lIns="0" tIns="0" rIns="0" bIns="0" rtlCol="0" anchor="ctr"/>
          <a:lstStyle/>
          <a:p>
            <a:pPr lvl="0" algn="just">
              <a:defRPr/>
            </a:pPr>
            <a:r>
              <a:rPr lang="en-US" altLang="zh-CN" sz="2400" b="1">
                <a:solidFill>
                  <a:srgbClr val="FFFFFF"/>
                </a:solidFill>
                <a:latin typeface="MiSans" pitchFamily="34" charset="0"/>
                <a:ea typeface="MiSans" pitchFamily="34" charset="-122"/>
                <a:cs typeface="MiSans" pitchFamily="34" charset="-120"/>
              </a:rPr>
              <a:t>User Stories</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4"/>
          <p:cNvSpPr/>
          <p:nvPr/>
        </p:nvSpPr>
        <p:spPr>
          <a:xfrm>
            <a:off x="4833128" y="3837334"/>
            <a:ext cx="2575045" cy="2495876"/>
          </a:xfrm>
          <a:prstGeom prst="rect">
            <a:avLst/>
          </a:prstGeom>
          <a:solidFill>
            <a:srgbClr val="000000">
              <a:alpha val="0"/>
            </a:srgbClr>
          </a:solidFill>
          <a:ln/>
        </p:spPr>
      </p:sp>
      <p:sp>
        <p:nvSpPr>
          <p:cNvPr id="18" name="Text 15"/>
          <p:cNvSpPr/>
          <p:nvPr/>
        </p:nvSpPr>
        <p:spPr>
          <a:xfrm>
            <a:off x="4833128" y="3837334"/>
            <a:ext cx="2575045" cy="2495876"/>
          </a:xfrm>
          <a:prstGeom prst="rect">
            <a:avLst/>
          </a:prstGeom>
          <a:noFill/>
          <a:ln/>
        </p:spPr>
        <p:txBody>
          <a:bodyPr wrap="square" lIns="0" tIns="0" rIns="0" bIns="0" rtlCol="0" anchor="t"/>
          <a:lstStyle/>
          <a:p>
            <a:pPr lvl="0" algn="just">
              <a:lnSpc>
                <a:spcPct val="130000"/>
              </a:lnSpc>
              <a:defRPr/>
            </a:pPr>
            <a:r>
              <a:rPr lang="en-US" altLang="zh-CN" sz="1400" b="1">
                <a:solidFill>
                  <a:srgbClr val="FFFFFF"/>
                </a:solidFill>
                <a:latin typeface="MiSans" pitchFamily="34" charset="0"/>
                <a:ea typeface="MiSans" pitchFamily="34" charset="-122"/>
                <a:cs typeface="MiSans" pitchFamily="34" charset="-120"/>
              </a:rPr>
              <a:t>Conduct requirement workshopsto define user stories and validatefeasibility through technicalresearch</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6"/>
          <p:cNvSpPr/>
          <p:nvPr/>
        </p:nvSpPr>
        <p:spPr>
          <a:xfrm>
            <a:off x="9412983" y="2707386"/>
            <a:ext cx="1148389"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03</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Text 17"/>
          <p:cNvSpPr/>
          <p:nvPr/>
        </p:nvSpPr>
        <p:spPr>
          <a:xfrm>
            <a:off x="8229599" y="3312544"/>
            <a:ext cx="3617843" cy="392629"/>
          </a:xfrm>
          <a:prstGeom prst="rect">
            <a:avLst/>
          </a:prstGeom>
          <a:noFill/>
          <a:ln/>
        </p:spPr>
        <p:txBody>
          <a:bodyPr wrap="square" lIns="0" tIns="0" rIns="0" bIns="0" rtlCol="0" anchor="ctr"/>
          <a:lstStyle/>
          <a:p>
            <a:pPr lvl="0" algn="just">
              <a:defRPr/>
            </a:pPr>
            <a:r>
              <a:rPr lang="en-US" altLang="zh-CN" sz="2400" b="1">
                <a:solidFill>
                  <a:srgbClr val="FFFFFF"/>
                </a:solidFill>
                <a:latin typeface="MiSans" pitchFamily="34" charset="0"/>
                <a:ea typeface="MiSans" pitchFamily="34" charset="-122"/>
                <a:cs typeface="MiSans" pitchFamily="34" charset="-120"/>
              </a:rPr>
              <a:t>SpecificationDocumentation</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8"/>
          <p:cNvSpPr/>
          <p:nvPr/>
        </p:nvSpPr>
        <p:spPr>
          <a:xfrm>
            <a:off x="8699503" y="3837334"/>
            <a:ext cx="2575045" cy="2495876"/>
          </a:xfrm>
          <a:prstGeom prst="rect">
            <a:avLst/>
          </a:prstGeom>
          <a:solidFill>
            <a:srgbClr val="000000">
              <a:alpha val="0"/>
            </a:srgbClr>
          </a:solidFill>
          <a:ln/>
        </p:spPr>
      </p:sp>
      <p:sp>
        <p:nvSpPr>
          <p:cNvPr id="22" name="Text 19"/>
          <p:cNvSpPr/>
          <p:nvPr/>
        </p:nvSpPr>
        <p:spPr>
          <a:xfrm>
            <a:off x="8413055" y="3898131"/>
            <a:ext cx="3147939" cy="2148176"/>
          </a:xfrm>
          <a:prstGeom prst="rect">
            <a:avLst/>
          </a:prstGeom>
          <a:noFill/>
          <a:ln/>
        </p:spPr>
        <p:txBody>
          <a:bodyPr wrap="square" lIns="0" tIns="0" rIns="0" bIns="0" rtlCol="0" anchor="t"/>
          <a:lstStyle/>
          <a:p>
            <a:pPr lvl="0" algn="just">
              <a:lnSpc>
                <a:spcPct val="130000"/>
              </a:lnSpc>
              <a:defRPr/>
            </a:pPr>
            <a:r>
              <a:rPr lang="en-US" altLang="zh-CN" sz="1400" b="1">
                <a:solidFill>
                  <a:srgbClr val="FFFFFF"/>
                </a:solidFill>
                <a:latin typeface="MiSans" pitchFamily="34" charset="0"/>
                <a:ea typeface="MiSans" pitchFamily="34" charset="-122"/>
                <a:cs typeface="MiSans" pitchFamily="34" charset="-120"/>
              </a:rPr>
              <a:t>Configure the developmentenvironment and produce therequirements specificationdocument and system architecturediagram</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9" name="Text 6"/>
          <p:cNvSpPr/>
          <p:nvPr/>
        </p:nvSpPr>
        <p:spPr>
          <a:xfrm>
            <a:off x="7287895" y="-6350"/>
            <a:ext cx="488442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flipV="1">
            <a:off x="-1905" y="0"/>
            <a:ext cx="7306945" cy="6858000"/>
          </a:xfrm>
          <a:prstGeom prst="round1Rect">
            <a:avLst>
              <a:gd name="adj" fmla="val 16667"/>
            </a:avLst>
          </a:prstGeom>
          <a:solidFill>
            <a:srgbClr val="000000">
              <a:alpha val="0"/>
            </a:srgbClr>
          </a:solidFill>
          <a:ln/>
        </p:spPr>
      </p:sp>
      <p:sp>
        <p:nvSpPr>
          <p:cNvPr id="11" name="Text 8"/>
          <p:cNvSpPr/>
          <p:nvPr/>
        </p:nvSpPr>
        <p:spPr>
          <a:xfrm>
            <a:off x="-1905" y="0"/>
            <a:ext cx="7306945"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a:off x="848360" y="6346190"/>
            <a:ext cx="163338" cy="153035"/>
          </a:xfrm>
          <a:prstGeom prst="rect">
            <a:avLst/>
          </a:prstGeom>
          <a:solidFill>
            <a:srgbClr val="004CC0"/>
          </a:solidFill>
          <a:ln/>
        </p:spPr>
      </p:sp>
      <p:sp>
        <p:nvSpPr>
          <p:cNvPr id="13" name="Text 10"/>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1122291" y="6346190"/>
            <a:ext cx="163338" cy="153035"/>
          </a:xfrm>
          <a:prstGeom prst="rect">
            <a:avLst/>
          </a:prstGeom>
          <a:solidFill>
            <a:srgbClr val="004CC0"/>
          </a:solidFill>
          <a:ln/>
        </p:spPr>
      </p:sp>
      <p:sp>
        <p:nvSpPr>
          <p:cNvPr id="15" name="Text 12"/>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p:cNvSpPr/>
          <p:nvPr/>
        </p:nvSpPr>
        <p:spPr>
          <a:xfrm>
            <a:off x="1396222" y="6346190"/>
            <a:ext cx="163338" cy="153035"/>
          </a:xfrm>
          <a:prstGeom prst="rect">
            <a:avLst/>
          </a:prstGeom>
          <a:solidFill>
            <a:srgbClr val="004CC0"/>
          </a:solidFill>
          <a:ln/>
        </p:spPr>
      </p:sp>
      <p:sp>
        <p:nvSpPr>
          <p:cNvPr id="17" name="Text 14"/>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5"/>
          <p:cNvSpPr/>
          <p:nvPr/>
        </p:nvSpPr>
        <p:spPr>
          <a:xfrm>
            <a:off x="340918" y="229994"/>
            <a:ext cx="10115041" cy="1077218"/>
          </a:xfrm>
          <a:prstGeom prst="rect">
            <a:avLst/>
          </a:prstGeom>
          <a:noFill/>
          <a:ln/>
        </p:spPr>
        <p:txBody>
          <a:bodyPr wrap="square" lIns="91440" tIns="45720" rIns="91440" bIns="45720" rtlCol="0" anchor="t">
            <a:spAutoFit/>
          </a:bodyPr>
          <a:lstStyle/>
          <a:p>
            <a:pPr>
              <a:lnSpc>
                <a:spcPct val="100000"/>
              </a:lnSpc>
            </a:pPr>
            <a:r>
              <a:rPr lang="en-US" sz="3200" b="1">
                <a:solidFill>
                  <a:srgbClr val="000000"/>
                </a:solidFill>
                <a:latin typeface="MiSans" pitchFamily="34" charset="0"/>
                <a:ea typeface="MiSans" pitchFamily="34" charset="-122"/>
                <a:cs typeface="MiSans" pitchFamily="34" charset="-120"/>
              </a:rPr>
              <a:t>03-Frontend and Backend Developmentwith ModelIntegration (Sprint 2)</a:t>
            </a:r>
            <a:endParaRPr lang="en-US" altLang="zh-CN" sz="3200" b="1">
              <a:solidFill>
                <a:srgbClr val="000000"/>
              </a:solidFill>
              <a:latin typeface="MiSans" pitchFamily="34" charset="0"/>
              <a:ea typeface="MiSans" pitchFamily="34" charset="-122"/>
              <a:cs typeface="MiSans" pitchFamily="34" charset="-120"/>
            </a:endParaRPr>
          </a:p>
        </p:txBody>
      </p:sp>
      <p:sp>
        <p:nvSpPr>
          <p:cNvPr id="20" name="Text 17"/>
          <p:cNvSpPr/>
          <p:nvPr/>
        </p:nvSpPr>
        <p:spPr>
          <a:xfrm>
            <a:off x="6159661" y="5695950"/>
            <a:ext cx="2279328" cy="116205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8"/>
          <p:cNvSpPr/>
          <p:nvPr/>
        </p:nvSpPr>
        <p:spPr>
          <a:xfrm flipH="1">
            <a:off x="11388725" y="422910"/>
            <a:ext cx="614680" cy="575310"/>
          </a:xfrm>
          <a:custGeom>
            <a:avLst/>
            <a:gdLst/>
            <a:ahLst/>
            <a:cxnLst/>
            <a:rect l="l" t="t" r="r" b="b"/>
            <a:pathLst>
              <a:path w="614680" h="575310">
                <a:moveTo>
                  <a:pt x="614680" y="287655"/>
                </a:moveTo>
                <a:lnTo>
                  <a:pt x="606766" y="287655"/>
                </a:lnTo>
                <a:lnTo>
                  <a:pt x="598851" y="287655"/>
                </a:lnTo>
                <a:lnTo>
                  <a:pt x="592256" y="287655"/>
                </a:lnTo>
                <a:lnTo>
                  <a:pt x="592256" y="287655"/>
                </a:lnTo>
                <a:lnTo>
                  <a:pt x="600170" y="287655"/>
                </a:lnTo>
                <a:lnTo>
                  <a:pt x="606766" y="287655"/>
                </a:lnTo>
                <a:lnTo>
                  <a:pt x="614680" y="287655"/>
                </a:lnTo>
                <a:close/>
                <a:moveTo>
                  <a:pt x="592256" y="287655"/>
                </a:moveTo>
                <a:cubicBezTo>
                  <a:pt x="444522" y="290294"/>
                  <a:pt x="302064" y="120076"/>
                  <a:pt x="307340" y="0"/>
                </a:cubicBezTo>
                <a:cubicBezTo>
                  <a:pt x="309978" y="151745"/>
                  <a:pt x="149053" y="286335"/>
                  <a:pt x="22424" y="287655"/>
                </a:cubicBezTo>
                <a:cubicBezTo>
                  <a:pt x="170158" y="285016"/>
                  <a:pt x="312616" y="455234"/>
                  <a:pt x="307340" y="575310"/>
                </a:cubicBezTo>
                <a:cubicBezTo>
                  <a:pt x="304702" y="424885"/>
                  <a:pt x="465627" y="290294"/>
                  <a:pt x="592256" y="287655"/>
                </a:cubicBezTo>
                <a:close/>
                <a:moveTo>
                  <a:pt x="22424" y="287655"/>
                </a:moveTo>
                <a:lnTo>
                  <a:pt x="21105" y="287655"/>
                </a:lnTo>
                <a:lnTo>
                  <a:pt x="14510" y="287655"/>
                </a:lnTo>
                <a:lnTo>
                  <a:pt x="6595" y="287655"/>
                </a:lnTo>
                <a:lnTo>
                  <a:pt x="0" y="287655"/>
                </a:lnTo>
                <a:lnTo>
                  <a:pt x="7914" y="287655"/>
                </a:lnTo>
                <a:lnTo>
                  <a:pt x="15829" y="287655"/>
                </a:lnTo>
                <a:lnTo>
                  <a:pt x="22424" y="287655"/>
                </a:lnTo>
                <a:close/>
              </a:path>
            </a:pathLst>
          </a:custGeom>
          <a:solidFill>
            <a:srgbClr val="FFFFFF"/>
          </a:solidFill>
          <a:ln/>
        </p:spPr>
      </p:sp>
      <p:sp>
        <p:nvSpPr>
          <p:cNvPr id="22" name="Text 19"/>
          <p:cNvSpPr/>
          <p:nvPr/>
        </p:nvSpPr>
        <p:spPr>
          <a:xfrm>
            <a:off x="11388725" y="422910"/>
            <a:ext cx="614680" cy="57531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0"/>
          <p:cNvSpPr/>
          <p:nvPr/>
        </p:nvSpPr>
        <p:spPr>
          <a:xfrm flipH="1">
            <a:off x="11549380" y="559816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4" name="Text 21"/>
          <p:cNvSpPr/>
          <p:nvPr/>
        </p:nvSpPr>
        <p:spPr>
          <a:xfrm>
            <a:off x="11549380" y="559816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5" name="Shape 22"/>
          <p:cNvSpPr/>
          <p:nvPr/>
        </p:nvSpPr>
        <p:spPr>
          <a:xfrm flipH="1">
            <a:off x="11549380" y="612521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6" name="Text 23"/>
          <p:cNvSpPr/>
          <p:nvPr/>
        </p:nvSpPr>
        <p:spPr>
          <a:xfrm>
            <a:off x="11549380" y="612521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4"/>
          <p:cNvSpPr/>
          <p:nvPr/>
        </p:nvSpPr>
        <p:spPr>
          <a:xfrm flipH="1">
            <a:off x="11549380" y="507111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8" name="Text 25"/>
          <p:cNvSpPr/>
          <p:nvPr/>
        </p:nvSpPr>
        <p:spPr>
          <a:xfrm>
            <a:off x="11549380" y="507111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6"/>
          <p:cNvSpPr/>
          <p:nvPr/>
        </p:nvSpPr>
        <p:spPr>
          <a:xfrm>
            <a:off x="11696065" y="1156335"/>
            <a:ext cx="0" cy="3600000"/>
          </a:xfrm>
          <a:prstGeom prst="line">
            <a:avLst/>
          </a:prstGeom>
          <a:noFill/>
          <a:ln w="19050">
            <a:solidFill>
              <a:srgbClr val="FFFFFF"/>
            </a:solidFill>
            <a:prstDash val="solid"/>
            <a:headEnd type="none"/>
            <a:tailEnd type="none"/>
          </a:ln>
        </p:spPr>
      </p:sp>
      <p:pic>
        <p:nvPicPr>
          <p:cNvPr id="30" name="Image 1" descr="https://kimi-img.moonshot.cn/pub/slides/slides_tmpl/image/25-09-04-15:50:52-d2sk9n61bb2p4onbqeeg.png"/>
          <p:cNvPicPr>
            <a:picLocks noChangeAspect="1"/>
          </p:cNvPicPr>
          <p:nvPr/>
        </p:nvPicPr>
        <p:blipFill>
          <a:blip r:embed="rId3"/>
          <a:srcRect/>
          <a:stretch/>
        </p:blipFill>
        <p:spPr>
          <a:xfrm>
            <a:off x="1396221" y="1612444"/>
            <a:ext cx="9585963" cy="546100"/>
          </a:xfrm>
          <a:prstGeom prst="rect">
            <a:avLst/>
          </a:prstGeom>
        </p:spPr>
      </p:pic>
      <p:pic>
        <p:nvPicPr>
          <p:cNvPr id="31" name="Image 2" descr="https://kimi-img.moonshot.cn/pub/slides/slides_tmpl/image/25-09-04-15:50:52-d2sk9n61bb2p4onbqef0.png"/>
          <p:cNvPicPr>
            <a:picLocks noChangeAspect="1"/>
          </p:cNvPicPr>
          <p:nvPr/>
        </p:nvPicPr>
        <p:blipFill>
          <a:blip r:embed="rId4"/>
          <a:srcRect/>
          <a:stretch/>
        </p:blipFill>
        <p:spPr>
          <a:xfrm>
            <a:off x="1396220" y="3998740"/>
            <a:ext cx="9585957" cy="546100"/>
          </a:xfrm>
          <a:prstGeom prst="rect">
            <a:avLst/>
          </a:prstGeom>
        </p:spPr>
      </p:pic>
      <p:sp>
        <p:nvSpPr>
          <p:cNvPr id="32" name="Shape 27"/>
          <p:cNvSpPr/>
          <p:nvPr/>
        </p:nvSpPr>
        <p:spPr>
          <a:xfrm flipH="1" flipV="1">
            <a:off x="11056781" y="0"/>
            <a:ext cx="1135219" cy="1058229"/>
          </a:xfrm>
          <a:custGeom>
            <a:avLst/>
            <a:gdLst/>
            <a:ahLst/>
            <a:cxnLst/>
            <a:rect l="l" t="t" r="r" b="b"/>
            <a:pathLst>
              <a:path w="1135219" h="1058229">
                <a:moveTo>
                  <a:pt x="1135219" y="1046802"/>
                </a:moveTo>
                <a:cubicBezTo>
                  <a:pt x="586022" y="1056325"/>
                  <a:pt x="55237" y="468490"/>
                  <a:pt x="0" y="0"/>
                </a:cubicBezTo>
                <a:lnTo>
                  <a:pt x="0" y="1058229"/>
                </a:lnTo>
                <a:lnTo>
                  <a:pt x="1017761" y="1058229"/>
                </a:lnTo>
                <a:cubicBezTo>
                  <a:pt x="1057760" y="1051246"/>
                  <a:pt x="1097124" y="1047437"/>
                  <a:pt x="1135219" y="1046802"/>
                </a:cubicBezTo>
                <a:close/>
              </a:path>
            </a:pathLst>
          </a:custGeom>
          <a:solidFill>
            <a:srgbClr val="004CC0"/>
          </a:solidFill>
          <a:ln/>
        </p:spPr>
      </p:sp>
      <p:sp>
        <p:nvSpPr>
          <p:cNvPr id="33" name="Text 28"/>
          <p:cNvSpPr/>
          <p:nvPr/>
        </p:nvSpPr>
        <p:spPr>
          <a:xfrm>
            <a:off x="11056781" y="0"/>
            <a:ext cx="1135219" cy="1058229"/>
          </a:xfrm>
          <a:prstGeom prst="rect">
            <a:avLst/>
          </a:prstGeom>
          <a:noFill/>
          <a:ln/>
        </p:spPr>
        <p:txBody>
          <a:bodyPr wrap="square" lIns="45720" tIns="91440" rIns="91440" bIns="45720" rtlCol="0" anchor="ctr"/>
          <a:lstStyle/>
          <a:p>
            <a:pPr>
              <a:lnSpc>
                <a:spcPct val="100000"/>
              </a:lnSpc>
            </a:pPr>
            <a:endParaRPr lang="en-US" sz="1600" dirty="0"/>
          </a:p>
        </p:txBody>
      </p:sp>
      <p:sp>
        <p:nvSpPr>
          <p:cNvPr id="34" name="Text 29"/>
          <p:cNvSpPr/>
          <p:nvPr/>
        </p:nvSpPr>
        <p:spPr>
          <a:xfrm>
            <a:off x="3268506" y="1669007"/>
            <a:ext cx="5901055" cy="461665"/>
          </a:xfrm>
          <a:prstGeom prst="rect">
            <a:avLst/>
          </a:prstGeom>
          <a:noFill/>
          <a:ln/>
        </p:spPr>
        <p:txBody>
          <a:bodyPr wrap="square" lIns="91440" tIns="45720" rIns="91440" bIns="45720" rtlCol="0" anchor="t">
            <a:spAutoFit/>
          </a:bodyPr>
          <a:lstStyle/>
          <a:p>
            <a:pPr algn="ctr">
              <a:lnSpc>
                <a:spcPct val="100000"/>
              </a:lnSpc>
            </a:pPr>
            <a:r>
              <a:rPr lang="en-US" sz="2400" b="1">
                <a:solidFill>
                  <a:srgbClr val="FFFFFF"/>
                </a:solidFill>
                <a:latin typeface="MiSans" pitchFamily="34" charset="0"/>
                <a:ea typeface="MiSans" pitchFamily="34" charset="-122"/>
                <a:cs typeface="MiSans" pitchFamily="34" charset="-120"/>
              </a:rPr>
              <a:t>Frontend and Backend Development</a:t>
            </a:r>
            <a:endParaRPr lang="en-US" b="1" dirty="0"/>
          </a:p>
        </p:txBody>
      </p:sp>
      <p:sp>
        <p:nvSpPr>
          <p:cNvPr id="35" name="Text 30"/>
          <p:cNvSpPr/>
          <p:nvPr/>
        </p:nvSpPr>
        <p:spPr>
          <a:xfrm>
            <a:off x="1396222" y="2406274"/>
            <a:ext cx="9336431" cy="1260345"/>
          </a:xfrm>
          <a:prstGeom prst="rect">
            <a:avLst/>
          </a:prstGeom>
          <a:noFill/>
          <a:ln/>
        </p:spPr>
        <p:txBody>
          <a:bodyPr wrap="square" lIns="91440" tIns="45720" rIns="91440" bIns="45720" rtlCol="0" anchor="t">
            <a:spAutoFit/>
          </a:bodyPr>
          <a:lstStyle/>
          <a:p>
            <a:pPr algn="just">
              <a:lnSpc>
                <a:spcPct val="130000"/>
              </a:lnSpc>
            </a:pPr>
            <a:r>
              <a:rPr lang="en-US" altLang="zh-CN" sz="2000" b="1">
                <a:solidFill>
                  <a:srgbClr val="000000"/>
                </a:solidFill>
                <a:latin typeface="MiSans" pitchFamily="34" charset="0"/>
                <a:ea typeface="MiSans" pitchFamily="34" charset="-122"/>
                <a:cs typeface="MiSans" pitchFamily="34" charset="-120"/>
              </a:rPr>
              <a:t>Frontend and Backend DevelopmentFrontend and Backend Development, encompassing backend servicesetup and LogLLM model integration,frontend interfaceimplementation, and frontend-backend data communication integration</a:t>
            </a:r>
            <a:endParaRPr lang="en-US" sz="2000" b="1" dirty="0"/>
          </a:p>
        </p:txBody>
      </p:sp>
      <p:sp>
        <p:nvSpPr>
          <p:cNvPr id="36" name="Text 31"/>
          <p:cNvSpPr/>
          <p:nvPr/>
        </p:nvSpPr>
        <p:spPr>
          <a:xfrm>
            <a:off x="3209133" y="4004685"/>
            <a:ext cx="5901055" cy="461665"/>
          </a:xfrm>
          <a:prstGeom prst="rect">
            <a:avLst/>
          </a:prstGeom>
          <a:noFill/>
          <a:ln/>
        </p:spPr>
        <p:txBody>
          <a:bodyPr wrap="square" lIns="91440" tIns="45720" rIns="91440" bIns="45720" rtlCol="0" anchor="t">
            <a:spAutoFit/>
          </a:bodyPr>
          <a:lstStyle/>
          <a:p>
            <a:pPr algn="ctr">
              <a:lnSpc>
                <a:spcPct val="100000"/>
              </a:lnSpc>
            </a:pPr>
            <a:r>
              <a:rPr lang="en-US" sz="2400" b="1">
                <a:solidFill>
                  <a:srgbClr val="FFFFFF"/>
                </a:solidFill>
                <a:latin typeface="MiSans" pitchFamily="34" charset="0"/>
                <a:ea typeface="MiSans" pitchFamily="34" charset="-122"/>
                <a:cs typeface="MiSans" pitchFamily="34" charset="-120"/>
              </a:rPr>
              <a:t>Model Integration and Delivery</a:t>
            </a:r>
            <a:endParaRPr lang="en-US" b="1" dirty="0"/>
          </a:p>
        </p:txBody>
      </p:sp>
      <p:sp>
        <p:nvSpPr>
          <p:cNvPr id="37" name="Text 32"/>
          <p:cNvSpPr/>
          <p:nvPr/>
        </p:nvSpPr>
        <p:spPr>
          <a:xfrm>
            <a:off x="1522314" y="4756335"/>
            <a:ext cx="9274692" cy="860235"/>
          </a:xfrm>
          <a:prstGeom prst="rect">
            <a:avLst/>
          </a:prstGeom>
          <a:noFill/>
          <a:ln/>
        </p:spPr>
        <p:txBody>
          <a:bodyPr wrap="square" lIns="91440" tIns="45720" rIns="91440" bIns="45720" rtlCol="0" anchor="t">
            <a:spAutoFit/>
          </a:bodyPr>
          <a:lstStyle/>
          <a:p>
            <a:pPr algn="just">
              <a:lnSpc>
                <a:spcPct val="130000"/>
              </a:lnSpc>
            </a:pPr>
            <a:r>
              <a:rPr lang="en-US" altLang="zh-CN" sz="2000" b="1">
                <a:solidFill>
                  <a:srgbClr val="000000"/>
                </a:solidFill>
                <a:latin typeface="MiSans" pitchFamily="34" charset="0"/>
                <a:ea typeface="MiSans" pitchFamily="34" charset="-122"/>
                <a:cs typeface="MiSans" pitchFamily="34" charset="-120"/>
              </a:rPr>
              <a:t>Includes refinement of features such as custom prompts, delivering afunctional plugin prototype.</a:t>
            </a:r>
            <a:endParaRPr lang="en-US" sz="2000" b="1"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7" name="Shape 5"/>
          <p:cNvSpPr/>
          <p:nvPr/>
        </p:nvSpPr>
        <p:spPr>
          <a:xfrm>
            <a:off x="-14605" y="6308725"/>
            <a:ext cx="12221210" cy="548640"/>
          </a:xfrm>
          <a:prstGeom prst="roundRect">
            <a:avLst>
              <a:gd name="adj" fmla="val 0"/>
            </a:avLst>
          </a:prstGeom>
          <a:solidFill>
            <a:srgbClr val="004CC0"/>
          </a:solidFill>
          <a:ln/>
        </p:spPr>
      </p:sp>
      <p:sp>
        <p:nvSpPr>
          <p:cNvPr id="8" name="Text 6"/>
          <p:cNvSpPr/>
          <p:nvPr/>
        </p:nvSpPr>
        <p:spPr>
          <a:xfrm>
            <a:off x="-14605" y="6308725"/>
            <a:ext cx="12221210" cy="54864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754380" y="1522010"/>
            <a:ext cx="3212560" cy="4269096"/>
          </a:xfrm>
          <a:prstGeom prst="rect">
            <a:avLst/>
          </a:prstGeom>
          <a:solidFill>
            <a:srgbClr val="FFFFFF"/>
          </a:solidFill>
          <a:ln w="19050">
            <a:solidFill>
              <a:srgbClr val="004CC0"/>
            </a:solidFill>
            <a:prstDash val="solid"/>
          </a:ln>
        </p:spPr>
      </p:sp>
      <p:sp>
        <p:nvSpPr>
          <p:cNvPr id="10" name="Text 8"/>
          <p:cNvSpPr/>
          <p:nvPr/>
        </p:nvSpPr>
        <p:spPr>
          <a:xfrm>
            <a:off x="754380" y="1522010"/>
            <a:ext cx="3212560" cy="4269096"/>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1008434" y="3047060"/>
            <a:ext cx="2704451" cy="37276"/>
          </a:xfrm>
          <a:prstGeom prst="rect">
            <a:avLst/>
          </a:prstGeom>
          <a:solidFill>
            <a:srgbClr val="004CC0"/>
          </a:solidFill>
          <a:ln/>
        </p:spPr>
      </p:sp>
      <p:sp>
        <p:nvSpPr>
          <p:cNvPr id="12" name="Text 10"/>
          <p:cNvSpPr/>
          <p:nvPr/>
        </p:nvSpPr>
        <p:spPr>
          <a:xfrm>
            <a:off x="1008434" y="3047060"/>
            <a:ext cx="2704451" cy="37276"/>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4480513" y="1262385"/>
            <a:ext cx="3212560" cy="4269096"/>
          </a:xfrm>
          <a:prstGeom prst="rect">
            <a:avLst/>
          </a:prstGeom>
          <a:solidFill>
            <a:srgbClr val="FFFFFF"/>
          </a:solidFill>
          <a:ln w="19050">
            <a:solidFill>
              <a:srgbClr val="004CC0"/>
            </a:solidFill>
            <a:prstDash val="solid"/>
          </a:ln>
        </p:spPr>
      </p:sp>
      <p:sp>
        <p:nvSpPr>
          <p:cNvPr id="14" name="Text 12"/>
          <p:cNvSpPr/>
          <p:nvPr/>
        </p:nvSpPr>
        <p:spPr>
          <a:xfrm>
            <a:off x="4480513" y="1262385"/>
            <a:ext cx="3212560" cy="4269096"/>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3"/>
          <p:cNvSpPr/>
          <p:nvPr/>
        </p:nvSpPr>
        <p:spPr>
          <a:xfrm>
            <a:off x="4734567" y="2787435"/>
            <a:ext cx="2704451" cy="37276"/>
          </a:xfrm>
          <a:prstGeom prst="rect">
            <a:avLst/>
          </a:prstGeom>
          <a:solidFill>
            <a:srgbClr val="004CC0"/>
          </a:solidFill>
          <a:ln/>
        </p:spPr>
      </p:sp>
      <p:sp>
        <p:nvSpPr>
          <p:cNvPr id="16" name="Text 14"/>
          <p:cNvSpPr/>
          <p:nvPr/>
        </p:nvSpPr>
        <p:spPr>
          <a:xfrm>
            <a:off x="4734567" y="2787435"/>
            <a:ext cx="2704451" cy="37276"/>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5"/>
          <p:cNvSpPr/>
          <p:nvPr/>
        </p:nvSpPr>
        <p:spPr>
          <a:xfrm>
            <a:off x="8206645" y="1002760"/>
            <a:ext cx="3212560" cy="4269096"/>
          </a:xfrm>
          <a:prstGeom prst="rect">
            <a:avLst/>
          </a:prstGeom>
          <a:solidFill>
            <a:srgbClr val="FFFFFF"/>
          </a:solidFill>
          <a:ln w="19050">
            <a:solidFill>
              <a:srgbClr val="004CC0"/>
            </a:solidFill>
            <a:prstDash val="solid"/>
          </a:ln>
        </p:spPr>
      </p:sp>
      <p:sp>
        <p:nvSpPr>
          <p:cNvPr id="18" name="Text 16"/>
          <p:cNvSpPr/>
          <p:nvPr/>
        </p:nvSpPr>
        <p:spPr>
          <a:xfrm>
            <a:off x="8206645" y="1002760"/>
            <a:ext cx="3212560" cy="4269096"/>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8460699" y="2527811"/>
            <a:ext cx="2704451" cy="37276"/>
          </a:xfrm>
          <a:prstGeom prst="rect">
            <a:avLst/>
          </a:prstGeom>
          <a:solidFill>
            <a:srgbClr val="004CC0"/>
          </a:solidFill>
          <a:ln/>
        </p:spPr>
      </p:sp>
      <p:sp>
        <p:nvSpPr>
          <p:cNvPr id="20" name="Text 18"/>
          <p:cNvSpPr/>
          <p:nvPr/>
        </p:nvSpPr>
        <p:spPr>
          <a:xfrm>
            <a:off x="8460699" y="2527811"/>
            <a:ext cx="2704451" cy="37276"/>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9"/>
          <p:cNvSpPr/>
          <p:nvPr/>
        </p:nvSpPr>
        <p:spPr>
          <a:xfrm>
            <a:off x="3964208" y="1275464"/>
            <a:ext cx="527914" cy="4519565"/>
          </a:xfrm>
          <a:custGeom>
            <a:avLst/>
            <a:gdLst/>
            <a:ahLst/>
            <a:cxnLst/>
            <a:rect l="l" t="t" r="r" b="b"/>
            <a:pathLst>
              <a:path w="527914" h="4519565">
                <a:moveTo>
                  <a:pt x="527914" y="0"/>
                </a:moveTo>
                <a:lnTo>
                  <a:pt x="0" y="241314"/>
                </a:lnTo>
                <a:lnTo>
                  <a:pt x="0" y="4519565"/>
                </a:lnTo>
                <a:lnTo>
                  <a:pt x="518353" y="4254708"/>
                </a:lnTo>
                <a:lnTo>
                  <a:pt x="527914" y="0"/>
                </a:lnTo>
                <a:close/>
              </a:path>
            </a:pathLst>
          </a:custGeom>
          <a:solidFill>
            <a:srgbClr val="004CC0"/>
          </a:solidFill>
          <a:ln/>
        </p:spPr>
      </p:sp>
      <p:sp>
        <p:nvSpPr>
          <p:cNvPr id="22" name="Text 20"/>
          <p:cNvSpPr/>
          <p:nvPr/>
        </p:nvSpPr>
        <p:spPr>
          <a:xfrm>
            <a:off x="3964208" y="1275464"/>
            <a:ext cx="527914" cy="4519565"/>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1"/>
          <p:cNvSpPr/>
          <p:nvPr/>
        </p:nvSpPr>
        <p:spPr>
          <a:xfrm>
            <a:off x="7688292" y="999490"/>
            <a:ext cx="527914" cy="4545724"/>
          </a:xfrm>
          <a:custGeom>
            <a:avLst/>
            <a:gdLst/>
            <a:ahLst/>
            <a:cxnLst/>
            <a:rect l="l" t="t" r="r" b="b"/>
            <a:pathLst>
              <a:path w="527914" h="4545724">
                <a:moveTo>
                  <a:pt x="527914" y="0"/>
                </a:moveTo>
                <a:lnTo>
                  <a:pt x="0" y="242710"/>
                </a:lnTo>
                <a:lnTo>
                  <a:pt x="0" y="4545724"/>
                </a:lnTo>
                <a:lnTo>
                  <a:pt x="518353" y="4279334"/>
                </a:lnTo>
                <a:lnTo>
                  <a:pt x="527914" y="0"/>
                </a:lnTo>
                <a:close/>
              </a:path>
            </a:pathLst>
          </a:custGeom>
          <a:solidFill>
            <a:srgbClr val="004CC0"/>
          </a:solidFill>
          <a:ln/>
        </p:spPr>
      </p:sp>
      <p:sp>
        <p:nvSpPr>
          <p:cNvPr id="24" name="Text 22"/>
          <p:cNvSpPr/>
          <p:nvPr/>
        </p:nvSpPr>
        <p:spPr>
          <a:xfrm>
            <a:off x="7688292" y="999490"/>
            <a:ext cx="527914" cy="4545724"/>
          </a:xfrm>
          <a:prstGeom prst="rect">
            <a:avLst/>
          </a:prstGeom>
          <a:noFill/>
          <a:ln/>
        </p:spPr>
        <p:txBody>
          <a:bodyPr wrap="square" lIns="45720" tIns="91440" rIns="91440" bIns="45720" rtlCol="0" anchor="ctr"/>
          <a:lstStyle/>
          <a:p>
            <a:pPr>
              <a:lnSpc>
                <a:spcPct val="100000"/>
              </a:lnSpc>
            </a:pPr>
            <a:endParaRPr lang="en-US" sz="1600" dirty="0"/>
          </a:p>
        </p:txBody>
      </p:sp>
      <p:sp>
        <p:nvSpPr>
          <p:cNvPr id="25" name="Text 23"/>
          <p:cNvSpPr/>
          <p:nvPr/>
        </p:nvSpPr>
        <p:spPr>
          <a:xfrm>
            <a:off x="582930" y="211455"/>
            <a:ext cx="10151745" cy="1077218"/>
          </a:xfrm>
          <a:prstGeom prst="rect">
            <a:avLst/>
          </a:prstGeom>
          <a:noFill/>
          <a:ln/>
        </p:spPr>
        <p:txBody>
          <a:bodyPr wrap="square" lIns="91440" tIns="45720" rIns="91440" bIns="45720" rtlCol="0" anchor="t">
            <a:spAutoFit/>
          </a:bodyPr>
          <a:lstStyle/>
          <a:p>
            <a:pPr>
              <a:lnSpc>
                <a:spcPct val="100000"/>
              </a:lnSpc>
            </a:pPr>
            <a:r>
              <a:rPr lang="en-US" sz="3200" b="1">
                <a:solidFill>
                  <a:srgbClr val="000000"/>
                </a:solidFill>
                <a:latin typeface="MiSans" pitchFamily="34" charset="0"/>
                <a:ea typeface="MiSans" pitchFamily="34" charset="-122"/>
                <a:cs typeface="MiSans" pitchFamily="34" charset="-120"/>
              </a:rPr>
              <a:t>03- Testing Optimization and Deliverables (Sprint 3)</a:t>
            </a:r>
            <a:endParaRPr lang="en-US" sz="1600" dirty="0"/>
          </a:p>
        </p:txBody>
      </p:sp>
      <p:sp>
        <p:nvSpPr>
          <p:cNvPr id="26" name="Text 24"/>
          <p:cNvSpPr/>
          <p:nvPr/>
        </p:nvSpPr>
        <p:spPr>
          <a:xfrm>
            <a:off x="964726" y="1682885"/>
            <a:ext cx="642649" cy="429617"/>
          </a:xfrm>
          <a:prstGeom prst="rect">
            <a:avLst/>
          </a:prstGeom>
          <a:solidFill>
            <a:srgbClr val="004CC0"/>
          </a:solidFill>
          <a:ln/>
        </p:spPr>
        <p:txBody>
          <a:bodyPr wrap="square" lIns="91440" tIns="45720" rIns="91440" bIns="45720" rtlCol="0" anchor="t">
            <a:spAutoFit/>
          </a:bodyPr>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01</a:t>
            </a:r>
            <a:endParaRPr lang="en-US" sz="1600" dirty="0"/>
          </a:p>
        </p:txBody>
      </p:sp>
      <p:sp>
        <p:nvSpPr>
          <p:cNvPr id="27" name="Text 25"/>
          <p:cNvSpPr/>
          <p:nvPr/>
        </p:nvSpPr>
        <p:spPr>
          <a:xfrm>
            <a:off x="931945" y="2320503"/>
            <a:ext cx="2857430" cy="707886"/>
          </a:xfrm>
          <a:prstGeom prst="rect">
            <a:avLst/>
          </a:prstGeom>
          <a:noFill/>
          <a:ln/>
        </p:spPr>
        <p:txBody>
          <a:bodyPr wrap="square" lIns="91440" tIns="45720" rIns="91440" bIns="45720" rtlCol="0" anchor="t">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Multi-DimensionalTesting</a:t>
            </a:r>
            <a:endParaRPr lang="en-US" sz="1600" b="1" dirty="0"/>
          </a:p>
        </p:txBody>
      </p:sp>
      <p:sp>
        <p:nvSpPr>
          <p:cNvPr id="28" name="Text 26"/>
          <p:cNvSpPr/>
          <p:nvPr/>
        </p:nvSpPr>
        <p:spPr>
          <a:xfrm>
            <a:off x="932628" y="3153003"/>
            <a:ext cx="2856064" cy="1162113"/>
          </a:xfrm>
          <a:prstGeom prst="rect">
            <a:avLst/>
          </a:prstGeom>
          <a:noFill/>
          <a:ln/>
        </p:spPr>
        <p:txBody>
          <a:bodyPr wrap="square" lIns="91440" tIns="45720" rIns="91440" bIns="45720" rtlCol="0" anchor="t">
            <a:spAutoFit/>
          </a:bodyPr>
          <a:lstStyle/>
          <a:p>
            <a:pPr algn="just">
              <a:lnSpc>
                <a:spcPct val="110000"/>
              </a:lnSpc>
            </a:pPr>
            <a:r>
              <a:rPr lang="en-US" sz="1600" b="1">
                <a:solidFill>
                  <a:srgbClr val="000000"/>
                </a:solidFill>
                <a:latin typeface="MiSans" pitchFamily="34" charset="0"/>
                <a:ea typeface="MiSans" pitchFamily="34" charset="-122"/>
                <a:cs typeface="MiSans" pitchFamily="34" charset="-120"/>
              </a:rPr>
              <a:t>Conductfunctional,performance,security,andcompatibility testing to ensuresystem stability and reliability.</a:t>
            </a:r>
            <a:endParaRPr lang="en-US" sz="1600" b="1" dirty="0"/>
          </a:p>
        </p:txBody>
      </p:sp>
      <p:sp>
        <p:nvSpPr>
          <p:cNvPr id="29" name="Text 27"/>
          <p:cNvSpPr/>
          <p:nvPr/>
        </p:nvSpPr>
        <p:spPr>
          <a:xfrm>
            <a:off x="4690859" y="1423261"/>
            <a:ext cx="695918" cy="616691"/>
          </a:xfrm>
          <a:prstGeom prst="rect">
            <a:avLst/>
          </a:prstGeom>
          <a:solidFill>
            <a:srgbClr val="004CC0"/>
          </a:solidFill>
          <a:ln/>
        </p:spPr>
        <p:txBody>
          <a:bodyPr wrap="square" lIns="91440" tIns="45720" rIns="91440" bIns="45720" rtlCol="0" anchor="t"/>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02</a:t>
            </a:r>
            <a:endParaRPr lang="en-US" sz="1600" dirty="0"/>
          </a:p>
        </p:txBody>
      </p:sp>
      <p:sp>
        <p:nvSpPr>
          <p:cNvPr id="30" name="Text 28"/>
          <p:cNvSpPr/>
          <p:nvPr/>
        </p:nvSpPr>
        <p:spPr>
          <a:xfrm>
            <a:off x="4658077" y="2060878"/>
            <a:ext cx="2857430" cy="707886"/>
          </a:xfrm>
          <a:prstGeom prst="rect">
            <a:avLst/>
          </a:prstGeom>
          <a:noFill/>
          <a:ln/>
        </p:spPr>
        <p:txBody>
          <a:bodyPr wrap="square" lIns="91440" tIns="45720" rIns="91440" bIns="45720" rtlCol="0" anchor="t">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OptimizationandImprovements</a:t>
            </a:r>
            <a:endParaRPr lang="en-US" sz="1600" b="1" dirty="0"/>
          </a:p>
        </p:txBody>
      </p:sp>
      <p:sp>
        <p:nvSpPr>
          <p:cNvPr id="31" name="Text 29"/>
          <p:cNvSpPr/>
          <p:nvPr/>
        </p:nvSpPr>
        <p:spPr>
          <a:xfrm>
            <a:off x="4658760" y="2893378"/>
            <a:ext cx="2856064" cy="1703800"/>
          </a:xfrm>
          <a:prstGeom prst="rect">
            <a:avLst/>
          </a:prstGeom>
          <a:noFill/>
          <a:ln/>
        </p:spPr>
        <p:txBody>
          <a:bodyPr wrap="square" lIns="91440" tIns="45720" rIns="91440" bIns="45720" rtlCol="0" anchor="t">
            <a:spAutoFit/>
          </a:bodyPr>
          <a:lstStyle/>
          <a:p>
            <a:pPr algn="just">
              <a:lnSpc>
                <a:spcPct val="110000"/>
              </a:lnSpc>
            </a:pPr>
            <a:r>
              <a:rPr lang="en-US" sz="1600" b="1">
                <a:solidFill>
                  <a:srgbClr val="000000"/>
                </a:solidFill>
                <a:latin typeface="MiSans" pitchFamily="34" charset="0"/>
                <a:ea typeface="MiSans" pitchFamily="34" charset="-122"/>
                <a:cs typeface="MiSans" pitchFamily="34" charset="-120"/>
              </a:rPr>
              <a:t>Fixed memory leaks and longlong log blocking issues. AddedAdded a dark theme andkeyboard shortcuts to enhanceenhance user experience.</a:t>
            </a:r>
            <a:endParaRPr lang="en-US" sz="1600" b="1" dirty="0"/>
          </a:p>
        </p:txBody>
      </p:sp>
      <p:sp>
        <p:nvSpPr>
          <p:cNvPr id="32" name="Text 30"/>
          <p:cNvSpPr/>
          <p:nvPr/>
        </p:nvSpPr>
        <p:spPr>
          <a:xfrm>
            <a:off x="8416991" y="1163636"/>
            <a:ext cx="695918" cy="616691"/>
          </a:xfrm>
          <a:prstGeom prst="rect">
            <a:avLst/>
          </a:prstGeom>
          <a:solidFill>
            <a:srgbClr val="004CC0"/>
          </a:solidFill>
          <a:ln/>
        </p:spPr>
        <p:txBody>
          <a:bodyPr wrap="square" lIns="91440" tIns="45720" rIns="91440" bIns="45720" rtlCol="0" anchor="t"/>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03</a:t>
            </a:r>
            <a:endParaRPr lang="en-US" sz="1600" dirty="0"/>
          </a:p>
        </p:txBody>
      </p:sp>
      <p:sp>
        <p:nvSpPr>
          <p:cNvPr id="33" name="Text 31"/>
          <p:cNvSpPr/>
          <p:nvPr/>
        </p:nvSpPr>
        <p:spPr>
          <a:xfrm>
            <a:off x="8384210" y="1890970"/>
            <a:ext cx="2857430" cy="400110"/>
          </a:xfrm>
          <a:prstGeom prst="rect">
            <a:avLst/>
          </a:prstGeom>
          <a:noFill/>
          <a:ln/>
        </p:spPr>
        <p:txBody>
          <a:bodyPr wrap="square" lIns="91440" tIns="45720" rIns="91440" bIns="45720" rtlCol="0" anchor="t">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Deliverables</a:t>
            </a:r>
            <a:endParaRPr lang="en-US" sz="1600" b="1" dirty="0"/>
          </a:p>
        </p:txBody>
      </p:sp>
      <p:sp>
        <p:nvSpPr>
          <p:cNvPr id="34" name="Text 32"/>
          <p:cNvSpPr/>
          <p:nvPr/>
        </p:nvSpPr>
        <p:spPr>
          <a:xfrm>
            <a:off x="8384893" y="2633753"/>
            <a:ext cx="2856064" cy="891270"/>
          </a:xfrm>
          <a:prstGeom prst="rect">
            <a:avLst/>
          </a:prstGeom>
          <a:noFill/>
          <a:ln/>
        </p:spPr>
        <p:txBody>
          <a:bodyPr wrap="square" lIns="91440" tIns="45720" rIns="91440" bIns="45720" rtlCol="0" anchor="t">
            <a:spAutoFit/>
          </a:bodyPr>
          <a:lstStyle/>
          <a:p>
            <a:pPr algn="just">
              <a:lnSpc>
                <a:spcPct val="110000"/>
              </a:lnSpc>
            </a:pPr>
            <a:r>
              <a:rPr lang="en-US" sz="1600" b="1">
                <a:solidFill>
                  <a:srgbClr val="000000"/>
                </a:solidFill>
                <a:latin typeface="MiSans" pitchFamily="34" charset="0"/>
                <a:ea typeface="MiSans" pitchFamily="34" charset="-122"/>
                <a:cs typeface="MiSans" pitchFamily="34" charset="-120"/>
              </a:rPr>
              <a:t>Compiled test reports and usermanuals, delivering the v1.0plugin package.</a:t>
            </a:r>
            <a:endParaRPr lang="en-US" sz="1600" b="1"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3">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Text 0"/>
          <p:cNvSpPr/>
          <p:nvPr/>
        </p:nvSpPr>
        <p:spPr>
          <a:xfrm>
            <a:off x="369697" y="495344"/>
            <a:ext cx="10151745" cy="338554"/>
          </a:xfrm>
          <a:prstGeom prst="rect">
            <a:avLst/>
          </a:prstGeom>
          <a:noFill/>
          <a:ln/>
        </p:spPr>
        <p:txBody>
          <a:bodyPr wrap="square" lIns="91440" tIns="45720" rIns="91440" bIns="45720" rtlCol="0" anchor="t">
            <a:spAutoFit/>
          </a:bodyPr>
          <a:lstStyle/>
          <a:p>
            <a:pPr>
              <a:lnSpc>
                <a:spcPct val="100000"/>
              </a:lnSpc>
            </a:pPr>
            <a:endParaRPr lang="en-US" sz="1600" dirty="0"/>
          </a:p>
        </p:txBody>
      </p:sp>
      <p:pic>
        <p:nvPicPr>
          <p:cNvPr id="3" name="Image 0" descr="https://kimi-img.moonshot.cn/pub/slides/slides_tmpl/image/25-10-09-17:19:39-d3jnsaos8jdo4os5dltg.sv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000115"/>
            <a:ext cx="12191365" cy="857885"/>
          </a:xfrm>
          <a:prstGeom prst="rect">
            <a:avLst/>
          </a:prstGeom>
        </p:spPr>
      </p:pic>
      <p:sp>
        <p:nvSpPr>
          <p:cNvPr id="4" name="Shape 1"/>
          <p:cNvSpPr/>
          <p:nvPr/>
        </p:nvSpPr>
        <p:spPr>
          <a:xfrm>
            <a:off x="11106785" y="693737"/>
            <a:ext cx="235520" cy="0"/>
          </a:xfrm>
          <a:prstGeom prst="line">
            <a:avLst/>
          </a:prstGeom>
          <a:noFill/>
          <a:ln w="31750">
            <a:solidFill>
              <a:srgbClr val="004CC0"/>
            </a:solidFill>
            <a:prstDash val="solid"/>
            <a:headEnd type="none"/>
            <a:tailEnd type="none"/>
          </a:ln>
        </p:spPr>
      </p:sp>
      <p:sp>
        <p:nvSpPr>
          <p:cNvPr id="5" name="Shape 2"/>
          <p:cNvSpPr/>
          <p:nvPr/>
        </p:nvSpPr>
        <p:spPr>
          <a:xfrm>
            <a:off x="11106785" y="754697"/>
            <a:ext cx="235520" cy="0"/>
          </a:xfrm>
          <a:prstGeom prst="line">
            <a:avLst/>
          </a:prstGeom>
          <a:noFill/>
          <a:ln w="31750">
            <a:solidFill>
              <a:srgbClr val="004CC0"/>
            </a:solidFill>
            <a:prstDash val="solid"/>
            <a:headEnd type="none"/>
            <a:tailEnd type="none"/>
          </a:ln>
        </p:spPr>
      </p:sp>
      <p:sp>
        <p:nvSpPr>
          <p:cNvPr id="6" name="Shape 3"/>
          <p:cNvSpPr/>
          <p:nvPr/>
        </p:nvSpPr>
        <p:spPr>
          <a:xfrm>
            <a:off x="11106785" y="815657"/>
            <a:ext cx="235520" cy="0"/>
          </a:xfrm>
          <a:prstGeom prst="line">
            <a:avLst/>
          </a:prstGeom>
          <a:noFill/>
          <a:ln w="31750">
            <a:solidFill>
              <a:srgbClr val="004CC0"/>
            </a:solidFill>
            <a:prstDash val="solid"/>
            <a:headEnd type="none"/>
            <a:tailEnd type="none"/>
          </a:ln>
        </p:spPr>
      </p:sp>
      <p:pic>
        <p:nvPicPr>
          <p:cNvPr id="7" name="Image 1" descr="https://kimi-img.moonshot.cn/pub/slides/25-11-15-22:36:45-d4c8vv81gem7o9i48nk0.jpg"/>
          <p:cNvPicPr>
            <a:picLocks noChangeAspect="1"/>
          </p:cNvPicPr>
          <p:nvPr/>
        </p:nvPicPr>
        <p:blipFill>
          <a:blip r:embed="rId5"/>
          <a:stretch>
            <a:fillRect/>
          </a:stretch>
        </p:blipFill>
        <p:spPr>
          <a:xfrm>
            <a:off x="4682391" y="133917"/>
            <a:ext cx="7139912" cy="5817707"/>
          </a:xfrm>
          <a:prstGeom prst="rect">
            <a:avLst/>
          </a:prstGeom>
        </p:spPr>
      </p:pic>
      <p:sp>
        <p:nvSpPr>
          <p:cNvPr id="8" name="Text 6">
            <a:extLst>
              <a:ext uri="{FF2B5EF4-FFF2-40B4-BE49-F238E27FC236}">
                <a16:creationId xmlns:a16="http://schemas.microsoft.com/office/drawing/2014/main" id="{3AFE4206-7B97-E553-27AE-502F208371BE}"/>
              </a:ext>
            </a:extLst>
          </p:cNvPr>
          <p:cNvSpPr/>
          <p:nvPr/>
        </p:nvSpPr>
        <p:spPr>
          <a:xfrm>
            <a:off x="447622" y="277502"/>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03- B</a:t>
            </a:r>
            <a:r>
              <a:rPr lang="en-US" altLang="zh-CN" sz="3000" b="1">
                <a:solidFill>
                  <a:srgbClr val="000000"/>
                </a:solidFill>
                <a:latin typeface="MiSans" pitchFamily="34" charset="0"/>
                <a:ea typeface="MiSans" pitchFamily="34" charset="-122"/>
                <a:cs typeface="MiSans" pitchFamily="34" charset="-120"/>
              </a:rPr>
              <a:t>urndown Chart</a:t>
            </a:r>
            <a:endParaRPr lang="en-US" sz="1600" dirty="0"/>
          </a:p>
        </p:txBody>
      </p:sp>
      <p:grpSp>
        <p:nvGrpSpPr>
          <p:cNvPr id="9" name="组合 8">
            <a:extLst>
              <a:ext uri="{FF2B5EF4-FFF2-40B4-BE49-F238E27FC236}">
                <a16:creationId xmlns:a16="http://schemas.microsoft.com/office/drawing/2014/main" id="{6FC50FA1-5CFE-B21B-146E-A63B39C6BDBC}"/>
              </a:ext>
            </a:extLst>
          </p:cNvPr>
          <p:cNvGrpSpPr/>
          <p:nvPr/>
        </p:nvGrpSpPr>
        <p:grpSpPr>
          <a:xfrm>
            <a:off x="369697" y="1509452"/>
            <a:ext cx="4041486" cy="4165600"/>
            <a:chOff x="793750" y="1744980"/>
            <a:chExt cx="5896610" cy="4165600"/>
          </a:xfrm>
        </p:grpSpPr>
        <p:sp>
          <p:nvSpPr>
            <p:cNvPr id="10" name="Shape 5">
              <a:extLst>
                <a:ext uri="{FF2B5EF4-FFF2-40B4-BE49-F238E27FC236}">
                  <a16:creationId xmlns:a16="http://schemas.microsoft.com/office/drawing/2014/main" id="{BEA3EAB8-013B-3400-8CF7-1AC7A45C7F32}"/>
                </a:ext>
              </a:extLst>
            </p:cNvPr>
            <p:cNvSpPr/>
            <p:nvPr/>
          </p:nvSpPr>
          <p:spPr>
            <a:xfrm>
              <a:off x="793750" y="1744980"/>
              <a:ext cx="5769610" cy="4038600"/>
            </a:xfrm>
            <a:prstGeom prst="round2DiagRect">
              <a:avLst>
                <a:gd name="adj1" fmla="val 16667"/>
                <a:gd name="adj2" fmla="val 0"/>
              </a:avLst>
            </a:prstGeom>
            <a:solidFill>
              <a:srgbClr val="004CC0"/>
            </a:solidFill>
            <a:ln w="19050">
              <a:solidFill>
                <a:srgbClr val="004CC0"/>
              </a:solidFill>
              <a:prstDash val="solid"/>
            </a:ln>
          </p:spPr>
        </p:sp>
        <p:sp>
          <p:nvSpPr>
            <p:cNvPr id="11" name="Text 6">
              <a:extLst>
                <a:ext uri="{FF2B5EF4-FFF2-40B4-BE49-F238E27FC236}">
                  <a16:creationId xmlns:a16="http://schemas.microsoft.com/office/drawing/2014/main" id="{0CA7376D-3AFF-7D00-3D52-3F1C5B224E2E}"/>
                </a:ext>
              </a:extLst>
            </p:cNvPr>
            <p:cNvSpPr/>
            <p:nvPr/>
          </p:nvSpPr>
          <p:spPr>
            <a:xfrm>
              <a:off x="793750" y="1744980"/>
              <a:ext cx="5769610" cy="40386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7">
              <a:extLst>
                <a:ext uri="{FF2B5EF4-FFF2-40B4-BE49-F238E27FC236}">
                  <a16:creationId xmlns:a16="http://schemas.microsoft.com/office/drawing/2014/main" id="{78C690DF-A275-04A0-0371-893D50B63927}"/>
                </a:ext>
              </a:extLst>
            </p:cNvPr>
            <p:cNvSpPr/>
            <p:nvPr/>
          </p:nvSpPr>
          <p:spPr>
            <a:xfrm>
              <a:off x="920750" y="1871980"/>
              <a:ext cx="5769610" cy="4038600"/>
            </a:xfrm>
            <a:prstGeom prst="round2DiagRect">
              <a:avLst>
                <a:gd name="adj1" fmla="val 16667"/>
                <a:gd name="adj2" fmla="val 0"/>
              </a:avLst>
            </a:prstGeom>
            <a:solidFill>
              <a:srgbClr val="FFFFFF"/>
            </a:solidFill>
            <a:ln w="19050">
              <a:solidFill>
                <a:srgbClr val="004CC0"/>
              </a:solidFill>
              <a:prstDash val="solid"/>
            </a:ln>
          </p:spPr>
        </p:sp>
        <p:sp>
          <p:nvSpPr>
            <p:cNvPr id="13" name="Text 8">
              <a:extLst>
                <a:ext uri="{FF2B5EF4-FFF2-40B4-BE49-F238E27FC236}">
                  <a16:creationId xmlns:a16="http://schemas.microsoft.com/office/drawing/2014/main" id="{AAEDB906-6F3C-916C-2679-DCFAC2E5AD6A}"/>
                </a:ext>
              </a:extLst>
            </p:cNvPr>
            <p:cNvSpPr/>
            <p:nvPr/>
          </p:nvSpPr>
          <p:spPr>
            <a:xfrm>
              <a:off x="920750" y="1871980"/>
              <a:ext cx="5769610" cy="403860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7">
              <a:extLst>
                <a:ext uri="{FF2B5EF4-FFF2-40B4-BE49-F238E27FC236}">
                  <a16:creationId xmlns:a16="http://schemas.microsoft.com/office/drawing/2014/main" id="{03EAB012-73B9-9BD7-5B86-C603E989F64F}"/>
                </a:ext>
              </a:extLst>
            </p:cNvPr>
            <p:cNvSpPr/>
            <p:nvPr/>
          </p:nvSpPr>
          <p:spPr>
            <a:xfrm>
              <a:off x="1195705" y="3183255"/>
              <a:ext cx="5215890" cy="0"/>
            </a:xfrm>
            <a:prstGeom prst="line">
              <a:avLst/>
            </a:prstGeom>
            <a:noFill/>
            <a:ln w="12700">
              <a:solidFill>
                <a:srgbClr val="004CC0"/>
              </a:solidFill>
              <a:prstDash val="solid"/>
              <a:headEnd type="none"/>
              <a:tailEnd type="none"/>
            </a:ln>
          </p:spPr>
        </p:sp>
        <p:sp>
          <p:nvSpPr>
            <p:cNvPr id="15" name="Shape 18">
              <a:extLst>
                <a:ext uri="{FF2B5EF4-FFF2-40B4-BE49-F238E27FC236}">
                  <a16:creationId xmlns:a16="http://schemas.microsoft.com/office/drawing/2014/main" id="{AB39CCAA-F7CC-5533-1396-F768FE2AC1DC}"/>
                </a:ext>
              </a:extLst>
            </p:cNvPr>
            <p:cNvSpPr/>
            <p:nvPr/>
          </p:nvSpPr>
          <p:spPr>
            <a:xfrm>
              <a:off x="1195705" y="3145155"/>
              <a:ext cx="543560" cy="76200"/>
            </a:xfrm>
            <a:prstGeom prst="rect">
              <a:avLst/>
            </a:prstGeom>
            <a:solidFill>
              <a:srgbClr val="004CC0"/>
            </a:solidFill>
            <a:ln/>
          </p:spPr>
        </p:sp>
        <p:sp>
          <p:nvSpPr>
            <p:cNvPr id="16" name="Text 19">
              <a:extLst>
                <a:ext uri="{FF2B5EF4-FFF2-40B4-BE49-F238E27FC236}">
                  <a16:creationId xmlns:a16="http://schemas.microsoft.com/office/drawing/2014/main" id="{A7987F3E-6B0B-6CCE-715E-79CE7D8F9C74}"/>
                </a:ext>
              </a:extLst>
            </p:cNvPr>
            <p:cNvSpPr/>
            <p:nvPr/>
          </p:nvSpPr>
          <p:spPr>
            <a:xfrm>
              <a:off x="1195705" y="3145155"/>
              <a:ext cx="543560"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34">
              <a:extLst>
                <a:ext uri="{FF2B5EF4-FFF2-40B4-BE49-F238E27FC236}">
                  <a16:creationId xmlns:a16="http://schemas.microsoft.com/office/drawing/2014/main" id="{2A178D49-55DA-D7C0-DABA-3C76ECCD6A9D}"/>
                </a:ext>
              </a:extLst>
            </p:cNvPr>
            <p:cNvSpPr/>
            <p:nvPr/>
          </p:nvSpPr>
          <p:spPr>
            <a:xfrm>
              <a:off x="1195388" y="2172018"/>
              <a:ext cx="5216400" cy="461665"/>
            </a:xfrm>
            <a:prstGeom prst="rect">
              <a:avLst/>
            </a:prstGeom>
            <a:noFill/>
            <a:ln/>
          </p:spPr>
          <p:txBody>
            <a:bodyPr wrap="square" lIns="91440" tIns="45720" rIns="91440" bIns="45720" rtlCol="0" anchor="t">
              <a:spAutoFit/>
            </a:bodyPr>
            <a:lstStyle/>
            <a:p>
              <a:pPr algn="just">
                <a:lnSpc>
                  <a:spcPct val="100000"/>
                </a:lnSpc>
              </a:pPr>
              <a:r>
                <a:rPr lang="en-US" sz="2400" b="1">
                  <a:solidFill>
                    <a:srgbClr val="000000"/>
                  </a:solidFill>
                  <a:latin typeface="MiSans" pitchFamily="34" charset="0"/>
                  <a:ea typeface="MiSans" pitchFamily="34" charset="-122"/>
                  <a:cs typeface="MiSans" pitchFamily="34" charset="-120"/>
                </a:rPr>
                <a:t>Burndown Chart Display</a:t>
              </a:r>
              <a:endParaRPr lang="en-US" sz="1600" b="1" dirty="0"/>
            </a:p>
          </p:txBody>
        </p:sp>
        <p:sp>
          <p:nvSpPr>
            <p:cNvPr id="18" name="Text 35">
              <a:extLst>
                <a:ext uri="{FF2B5EF4-FFF2-40B4-BE49-F238E27FC236}">
                  <a16:creationId xmlns:a16="http://schemas.microsoft.com/office/drawing/2014/main" id="{73CBBC37-72C8-5669-9A9D-220D36BB676E}"/>
                </a:ext>
              </a:extLst>
            </p:cNvPr>
            <p:cNvSpPr/>
            <p:nvPr/>
          </p:nvSpPr>
          <p:spPr>
            <a:xfrm>
              <a:off x="1195706" y="3272790"/>
              <a:ext cx="5215890" cy="2223814"/>
            </a:xfrm>
            <a:prstGeom prst="rect">
              <a:avLst/>
            </a:prstGeom>
            <a:noFill/>
            <a:ln/>
          </p:spPr>
          <p:txBody>
            <a:bodyPr wrap="square" lIns="91440" tIns="45720" rIns="91440" bIns="45720" rtlCol="0" anchor="t">
              <a:spAutoFit/>
            </a:bodyPr>
            <a:lstStyle/>
            <a:p>
              <a:pPr algn="just">
                <a:lnSpc>
                  <a:spcPct val="130000"/>
                </a:lnSpc>
              </a:pPr>
              <a:r>
                <a:rPr lang="en-US" b="1">
                  <a:solidFill>
                    <a:srgbClr val="000000"/>
                  </a:solidFill>
                  <a:latin typeface="MiSans" pitchFamily="34" charset="0"/>
                  <a:ea typeface="MiSans" pitchFamily="34" charset="-122"/>
                  <a:cs typeface="MiSans" pitchFamily="34" charset="-120"/>
                </a:rPr>
                <a:t>Burndown Chart DisplayDisplaying Sprint 1-4 burndowncharts, with the vertical axisrepresenting remaining Story Pointsand the horizontal axis showingweeks.The curve exhibits a steadydecline.</a:t>
              </a:r>
              <a:endParaRPr lang="en-US" sz="1600" b="1" dirty="0"/>
            </a:p>
          </p:txBody>
        </p:sp>
      </p:gr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001078" y="2994025"/>
            <a:ext cx="8070574" cy="1807845"/>
          </a:xfrm>
          <a:prstGeom prst="rect">
            <a:avLst/>
          </a:prstGeom>
          <a:noFill/>
          <a:ln/>
        </p:spPr>
        <p:txBody>
          <a:bodyPr wrap="square" lIns="91440" tIns="45720" rIns="91440" bIns="45720" rtlCol="0" anchor="t"/>
          <a:lstStyle/>
          <a:p>
            <a:pPr algn="ctr">
              <a:lnSpc>
                <a:spcPct val="100000"/>
              </a:lnSpc>
            </a:pPr>
            <a:r>
              <a:rPr lang="en-US" altLang="zh-CN" sz="5400">
                <a:solidFill>
                  <a:srgbClr val="000000"/>
                </a:solidFill>
                <a:latin typeface="MiSans" pitchFamily="34" charset="0"/>
                <a:ea typeface="MiSans" pitchFamily="34" charset="-122"/>
                <a:cs typeface="MiSans" pitchFamily="34" charset="-120"/>
              </a:rPr>
              <a:t>Testing and Experimental Results</a:t>
            </a:r>
            <a:endParaRPr lang="en-US" sz="1600"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04</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3">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C3E6EE37-7236-3A53-DCBE-9CE6992D9771}"/>
              </a:ext>
            </a:extLst>
          </p:cNvPr>
          <p:cNvGrpSpPr/>
          <p:nvPr/>
        </p:nvGrpSpPr>
        <p:grpSpPr>
          <a:xfrm>
            <a:off x="755528" y="1111312"/>
            <a:ext cx="438785" cy="434340"/>
            <a:chOff x="736916" y="1494914"/>
            <a:chExt cx="438785" cy="434340"/>
          </a:xfrm>
        </p:grpSpPr>
        <p:sp>
          <p:nvSpPr>
            <p:cNvPr id="10" name="Shape 8"/>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p:cNvSpPr/>
            <p:nvPr/>
          </p:nvSpPr>
          <p:spPr>
            <a:xfrm>
              <a:off x="914156" y="1636943"/>
              <a:ext cx="113665" cy="168910"/>
            </a:xfrm>
            <a:prstGeom prst="chevron">
              <a:avLst>
                <a:gd name="adj" fmla="val 64013"/>
              </a:avLst>
            </a:prstGeom>
            <a:solidFill>
              <a:srgbClr val="FFFFFF"/>
            </a:solidFill>
            <a:ln/>
          </p:spPr>
        </p:sp>
        <p:sp>
          <p:nvSpPr>
            <p:cNvPr id="13" name="Text 11"/>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p:cNvSpPr/>
          <p:nvPr/>
        </p:nvSpPr>
        <p:spPr>
          <a:xfrm>
            <a:off x="919480" y="4202430"/>
            <a:ext cx="113665" cy="168910"/>
          </a:xfrm>
          <a:prstGeom prst="chevron">
            <a:avLst>
              <a:gd name="adj" fmla="val 64013"/>
            </a:avLst>
          </a:prstGeom>
          <a:solidFill>
            <a:srgbClr val="FFFFFF"/>
          </a:solidFill>
          <a:ln/>
        </p:spPr>
      </p:sp>
      <p:sp>
        <p:nvSpPr>
          <p:cNvPr id="19" name="Text 17"/>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p:cNvSpPr/>
          <p:nvPr/>
        </p:nvSpPr>
        <p:spPr>
          <a:xfrm>
            <a:off x="6435725" y="1881505"/>
            <a:ext cx="113665" cy="168910"/>
          </a:xfrm>
          <a:prstGeom prst="chevron">
            <a:avLst>
              <a:gd name="adj" fmla="val 64013"/>
            </a:avLst>
          </a:prstGeom>
          <a:solidFill>
            <a:srgbClr val="FFFFFF"/>
          </a:solidFill>
          <a:ln/>
        </p:spPr>
      </p:sp>
      <p:sp>
        <p:nvSpPr>
          <p:cNvPr id="25" name="Text 23"/>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p:cNvSpPr/>
          <p:nvPr/>
        </p:nvSpPr>
        <p:spPr>
          <a:xfrm>
            <a:off x="6435725" y="4202430"/>
            <a:ext cx="113665" cy="168910"/>
          </a:xfrm>
          <a:prstGeom prst="chevron">
            <a:avLst>
              <a:gd name="adj" fmla="val 64013"/>
            </a:avLst>
          </a:prstGeom>
          <a:solidFill>
            <a:srgbClr val="FFFFFF"/>
          </a:solidFill>
          <a:ln/>
        </p:spPr>
      </p:sp>
      <p:sp>
        <p:nvSpPr>
          <p:cNvPr id="31" name="Text 29"/>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Flow- 1</a:t>
            </a:r>
            <a:endParaRPr lang="en-US" sz="1600" dirty="0"/>
          </a:p>
        </p:txBody>
      </p:sp>
      <p:sp>
        <p:nvSpPr>
          <p:cNvPr id="33" name="Shape 31"/>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p:cNvSpPr/>
          <p:nvPr/>
        </p:nvSpPr>
        <p:spPr>
          <a:xfrm>
            <a:off x="1364615" y="1179418"/>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Log File Upload </a:t>
            </a:r>
          </a:p>
          <a:p>
            <a:pPr algn="just">
              <a:lnSpc>
                <a:spcPct val="100000"/>
              </a:lnSpc>
            </a:pPr>
            <a:r>
              <a:rPr lang="en-US" sz="1800" b="1">
                <a:solidFill>
                  <a:srgbClr val="004CC0"/>
                </a:solidFill>
                <a:latin typeface="MiSans" pitchFamily="34" charset="0"/>
                <a:ea typeface="MiSans" pitchFamily="34" charset="-122"/>
                <a:cs typeface="MiSans" pitchFamily="34" charset="-120"/>
              </a:rPr>
              <a:t>Interface</a:t>
            </a:r>
            <a:endParaRPr lang="en-US" sz="1600" dirty="0"/>
          </a:p>
        </p:txBody>
      </p:sp>
      <p:sp>
        <p:nvSpPr>
          <p:cNvPr id="37" name="Text 35"/>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4098" name="Picture 2">
            <a:extLst>
              <a:ext uri="{FF2B5EF4-FFF2-40B4-BE49-F238E27FC236}">
                <a16:creationId xmlns:a16="http://schemas.microsoft.com/office/drawing/2014/main" id="{D9345619-96AB-5F54-E67F-0386B742B0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5546" y="986089"/>
            <a:ext cx="8115274" cy="5274928"/>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0">
            <a:extLst>
              <a:ext uri="{FF2B5EF4-FFF2-40B4-BE49-F238E27FC236}">
                <a16:creationId xmlns:a16="http://schemas.microsoft.com/office/drawing/2014/main" id="{75218E13-AFBF-620E-C06C-3709017DC092}"/>
              </a:ext>
            </a:extLst>
          </p:cNvPr>
          <p:cNvSpPr/>
          <p:nvPr/>
        </p:nvSpPr>
        <p:spPr>
          <a:xfrm>
            <a:off x="912648" y="2430135"/>
            <a:ext cx="2249170" cy="1750159"/>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Display the log file uploadinterface, highlighting itszero-configuration setup forquick access, enabling usersto import logs rapidly.</a:t>
            </a:r>
            <a:endParaRPr lang="en-US" sz="1600" b="1" dirty="0"/>
          </a:p>
        </p:txBody>
      </p:sp>
    </p:spTree>
  </p:cSld>
  <p:clrMapOvr>
    <a:masterClrMapping/>
  </p:clrMapOvr>
  <p:transition>
    <p:fade/>
  </p:transition>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990C-2336-2B1C-A440-B9A8039B15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BE1CBD-CD9D-44D0-9378-AC4AFE68E365}"/>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B1E602FC-3B75-0AFF-52D8-CA5A1EF1B8D2}"/>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0D717C36-7D99-DA16-80AB-54BD60AE6441}"/>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5CEAA8A6-E201-3281-50B6-10146016447F}"/>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F4741ADE-A32E-DD48-D6CB-F6AD2F14E36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770E8598-A208-874F-684E-2B0EF144E943}"/>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BB81DA6F-7948-A3CF-4552-9D5704ADE699}"/>
              </a:ext>
            </a:extLst>
          </p:cNvPr>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a:extLst>
              <a:ext uri="{FF2B5EF4-FFF2-40B4-BE49-F238E27FC236}">
                <a16:creationId xmlns:a16="http://schemas.microsoft.com/office/drawing/2014/main" id="{5AC03032-D8DD-A14A-8DCA-DF6267F2B98B}"/>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0AA27B88-83A4-FD7D-DCF7-158B52322DCD}"/>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4A025937-5373-FBA4-1540-481351468D65}"/>
              </a:ext>
            </a:extLst>
          </p:cNvPr>
          <p:cNvGrpSpPr/>
          <p:nvPr/>
        </p:nvGrpSpPr>
        <p:grpSpPr>
          <a:xfrm>
            <a:off x="755528" y="1111312"/>
            <a:ext cx="438785" cy="434340"/>
            <a:chOff x="736916" y="1494914"/>
            <a:chExt cx="438785" cy="434340"/>
          </a:xfrm>
        </p:grpSpPr>
        <p:sp>
          <p:nvSpPr>
            <p:cNvPr id="10" name="Shape 8">
              <a:extLst>
                <a:ext uri="{FF2B5EF4-FFF2-40B4-BE49-F238E27FC236}">
                  <a16:creationId xmlns:a16="http://schemas.microsoft.com/office/drawing/2014/main" id="{003A35BA-EED2-B882-E5AA-525ED6AA35C9}"/>
                </a:ext>
              </a:extLst>
            </p:cNvPr>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8CB70744-3AFD-C4DF-4551-B28AD1838E3C}"/>
                </a:ext>
              </a:extLst>
            </p:cNvPr>
            <p:cNvSpPr/>
            <p:nvPr/>
          </p:nvSpPr>
          <p:spPr>
            <a:xfrm>
              <a:off x="914156" y="1636943"/>
              <a:ext cx="113665" cy="168910"/>
            </a:xfrm>
            <a:prstGeom prst="chevron">
              <a:avLst>
                <a:gd name="adj" fmla="val 64013"/>
              </a:avLst>
            </a:prstGeom>
            <a:solidFill>
              <a:srgbClr val="FFFFFF"/>
            </a:solidFill>
            <a:ln/>
          </p:spPr>
        </p:sp>
        <p:sp>
          <p:nvSpPr>
            <p:cNvPr id="13" name="Text 11">
              <a:extLst>
                <a:ext uri="{FF2B5EF4-FFF2-40B4-BE49-F238E27FC236}">
                  <a16:creationId xmlns:a16="http://schemas.microsoft.com/office/drawing/2014/main" id="{7C178597-159B-F8BB-6CFA-630866308885}"/>
                </a:ext>
              </a:extLst>
            </p:cNvPr>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a:extLst>
              <a:ext uri="{FF2B5EF4-FFF2-40B4-BE49-F238E27FC236}">
                <a16:creationId xmlns:a16="http://schemas.microsoft.com/office/drawing/2014/main" id="{4E007BEC-821E-ADDE-003A-BD1BE41F5245}"/>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3A2DE9F1-CE1C-9E23-41D9-7397CBFC0E7C}"/>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D1F2E76C-EC9D-CCBE-E662-C80C8F317B0A}"/>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B0D103A5-0507-B612-1A3E-3852E0DE7C13}"/>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937FB16C-EFD6-A6F0-4A4C-8BDC4EE6D579}"/>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A696FF18-1CE7-1CF5-7EC6-056AEDA4549B}"/>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A2E1FB94-368F-F1D7-B386-1177824BF351}"/>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F3D132A5-EA0F-8ACA-F9A7-D7A8FAC35E4A}"/>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D6EDBAA8-1662-F310-2EF2-14E6A377B61B}"/>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a:extLst>
              <a:ext uri="{FF2B5EF4-FFF2-40B4-BE49-F238E27FC236}">
                <a16:creationId xmlns:a16="http://schemas.microsoft.com/office/drawing/2014/main" id="{875DE607-131D-34AD-906F-E4F401597B74}"/>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BF7F7FF3-27B1-1D53-68C8-2FDA432CF578}"/>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1CB7679C-E2B1-5EEA-7D98-5DF8AECED248}"/>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2601A35F-63FA-2959-1524-CF50530A309A}"/>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Flow- 2</a:t>
            </a:r>
            <a:endParaRPr lang="en-US" sz="1600" dirty="0"/>
          </a:p>
        </p:txBody>
      </p:sp>
      <p:sp>
        <p:nvSpPr>
          <p:cNvPr id="33" name="Shape 31">
            <a:extLst>
              <a:ext uri="{FF2B5EF4-FFF2-40B4-BE49-F238E27FC236}">
                <a16:creationId xmlns:a16="http://schemas.microsoft.com/office/drawing/2014/main" id="{9C9CF411-65BF-3A1B-BDEF-0EAFCFECC806}"/>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31AA0723-6586-1357-3AE3-4C25AD9A5EFA}"/>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75459E78-249B-1A99-8D8D-FCB19E7A539D}"/>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a:extLst>
              <a:ext uri="{FF2B5EF4-FFF2-40B4-BE49-F238E27FC236}">
                <a16:creationId xmlns:a16="http://schemas.microsoft.com/office/drawing/2014/main" id="{DCB100CD-B2E6-ED1E-668F-E83A179484AB}"/>
              </a:ext>
            </a:extLst>
          </p:cNvPr>
          <p:cNvSpPr/>
          <p:nvPr/>
        </p:nvSpPr>
        <p:spPr>
          <a:xfrm>
            <a:off x="1364615" y="1179418"/>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Highlighted </a:t>
            </a:r>
          </a:p>
          <a:p>
            <a:pPr algn="just">
              <a:lnSpc>
                <a:spcPct val="100000"/>
              </a:lnSpc>
            </a:pPr>
            <a:r>
              <a:rPr lang="en-US" sz="1800" b="1">
                <a:solidFill>
                  <a:srgbClr val="004CC0"/>
                </a:solidFill>
                <a:latin typeface="MiSans" pitchFamily="34" charset="0"/>
                <a:ea typeface="MiSans" pitchFamily="34" charset="-122"/>
                <a:cs typeface="MiSans" pitchFamily="34" charset="-120"/>
              </a:rPr>
              <a:t>Abnormal Content </a:t>
            </a:r>
            <a:endParaRPr lang="en-US" sz="1600" dirty="0"/>
          </a:p>
        </p:txBody>
      </p:sp>
      <p:sp>
        <p:nvSpPr>
          <p:cNvPr id="37" name="Text 35">
            <a:extLst>
              <a:ext uri="{FF2B5EF4-FFF2-40B4-BE49-F238E27FC236}">
                <a16:creationId xmlns:a16="http://schemas.microsoft.com/office/drawing/2014/main" id="{CAE9D7E2-54AA-D831-B74C-1E38335A5CF2}"/>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0FD3BA1B-07E5-32CB-2497-FF6BAA97A707}"/>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9E2A4A9D-FB9B-F63B-C90A-D2DC362A9532}"/>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CDE73760-EBD1-17CD-3E3D-0CF259DC26D1}"/>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9217" name="Picture 1">
            <a:extLst>
              <a:ext uri="{FF2B5EF4-FFF2-40B4-BE49-F238E27FC236}">
                <a16:creationId xmlns:a16="http://schemas.microsoft.com/office/drawing/2014/main" id="{ED247906-B1F5-9836-6DA1-78B1BB4FA9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5082" y="1010686"/>
            <a:ext cx="8042791" cy="5227814"/>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3">
            <a:extLst>
              <a:ext uri="{FF2B5EF4-FFF2-40B4-BE49-F238E27FC236}">
                <a16:creationId xmlns:a16="http://schemas.microsoft.com/office/drawing/2014/main" id="{1D0F8CE9-B928-D970-39AF-01BBF06F3353}"/>
              </a:ext>
            </a:extLst>
          </p:cNvPr>
          <p:cNvSpPr/>
          <p:nvPr/>
        </p:nvSpPr>
        <p:spPr>
          <a:xfrm>
            <a:off x="1075690" y="2511511"/>
            <a:ext cx="1754505" cy="2310312"/>
          </a:xfrm>
          <a:prstGeom prst="rect">
            <a:avLst/>
          </a:prstGeom>
          <a:noFill/>
          <a:ln/>
        </p:spPr>
        <p:txBody>
          <a:bodyPr wrap="square" lIns="91440" tIns="45720" rIns="91440" bIns="45720" rtlCol="0" anchor="t">
            <a:spAutoFit/>
          </a:bodyPr>
          <a:lstStyle/>
          <a:p>
            <a:pPr>
              <a:lnSpc>
                <a:spcPct val="130000"/>
              </a:lnSpc>
            </a:pPr>
            <a:r>
              <a:rPr lang="en-US" sz="1400" b="1">
                <a:solidFill>
                  <a:srgbClr val="000000"/>
                </a:solidFill>
                <a:latin typeface="MiSans" pitchFamily="34" charset="0"/>
                <a:ea typeface="MiSans" pitchFamily="34" charset="-122"/>
                <a:cs typeface="MiSans" pitchFamily="34" charset="-120"/>
              </a:rPr>
              <a:t>Display abnormalcontent with ahighlighted effect tohelp users quicklypinpoint issues andimprovetroubleshootingefficiency.</a:t>
            </a:r>
            <a:endParaRPr lang="en-US" sz="1600" b="1" dirty="0"/>
          </a:p>
        </p:txBody>
      </p:sp>
    </p:spTree>
    <p:extLst>
      <p:ext uri="{BB962C8B-B14F-4D97-AF65-F5344CB8AC3E}">
        <p14:creationId xmlns:p14="http://schemas.microsoft.com/office/powerpoint/2010/main" val="1215704504"/>
      </p:ext>
    </p:extLst>
  </p:cSld>
  <p:clrMapOvr>
    <a:masterClrMapping/>
  </p:clrMapOvr>
  <p:transition>
    <p:fade/>
  </p:transition>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55448-2683-8BD6-8AB0-6D354896B8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C74692-CC10-FDE2-1DA8-A49EF9476902}"/>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E45102FA-29C6-B14D-6E7E-D6D236288C94}"/>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5A81B649-1415-E7C1-AFD7-42A05F836076}"/>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4F2A3EEB-87D3-0350-71C8-908320C837F2}"/>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717EFF63-2851-3FE3-76FC-1A4726E5910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42013D29-4D25-53DA-7874-7FDE9F5E35C7}"/>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6BE22569-9FC9-E71A-39FC-3D5CC47E5330}"/>
              </a:ext>
            </a:extLst>
          </p:cNvPr>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a:extLst>
              <a:ext uri="{FF2B5EF4-FFF2-40B4-BE49-F238E27FC236}">
                <a16:creationId xmlns:a16="http://schemas.microsoft.com/office/drawing/2014/main" id="{877EBD60-FBA8-85FB-0EE6-02561F52AB0B}"/>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070A08C1-410A-B4FD-E831-B76A834952F6}"/>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09631040-5D28-D89C-CA04-3300EFB7BFD3}"/>
              </a:ext>
            </a:extLst>
          </p:cNvPr>
          <p:cNvGrpSpPr/>
          <p:nvPr/>
        </p:nvGrpSpPr>
        <p:grpSpPr>
          <a:xfrm>
            <a:off x="755528" y="1111312"/>
            <a:ext cx="438785" cy="434340"/>
            <a:chOff x="736916" y="1494914"/>
            <a:chExt cx="438785" cy="434340"/>
          </a:xfrm>
        </p:grpSpPr>
        <p:sp>
          <p:nvSpPr>
            <p:cNvPr id="10" name="Shape 8">
              <a:extLst>
                <a:ext uri="{FF2B5EF4-FFF2-40B4-BE49-F238E27FC236}">
                  <a16:creationId xmlns:a16="http://schemas.microsoft.com/office/drawing/2014/main" id="{1372DB8F-C73E-AB84-5B1D-F8D89056B00C}"/>
                </a:ext>
              </a:extLst>
            </p:cNvPr>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D13F1C22-5653-1997-20E0-D4C8A8416A84}"/>
                </a:ext>
              </a:extLst>
            </p:cNvPr>
            <p:cNvSpPr/>
            <p:nvPr/>
          </p:nvSpPr>
          <p:spPr>
            <a:xfrm>
              <a:off x="914156" y="1636943"/>
              <a:ext cx="113665" cy="168910"/>
            </a:xfrm>
            <a:prstGeom prst="chevron">
              <a:avLst>
                <a:gd name="adj" fmla="val 64013"/>
              </a:avLst>
            </a:prstGeom>
            <a:solidFill>
              <a:srgbClr val="FFFFFF"/>
            </a:solidFill>
            <a:ln/>
          </p:spPr>
        </p:sp>
        <p:sp>
          <p:nvSpPr>
            <p:cNvPr id="13" name="Text 11">
              <a:extLst>
                <a:ext uri="{FF2B5EF4-FFF2-40B4-BE49-F238E27FC236}">
                  <a16:creationId xmlns:a16="http://schemas.microsoft.com/office/drawing/2014/main" id="{D2377BC0-BD00-74DF-D7CE-B9C5C6F3D907}"/>
                </a:ext>
              </a:extLst>
            </p:cNvPr>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a:extLst>
              <a:ext uri="{FF2B5EF4-FFF2-40B4-BE49-F238E27FC236}">
                <a16:creationId xmlns:a16="http://schemas.microsoft.com/office/drawing/2014/main" id="{D5B0B748-0DFF-EBDA-D11D-E9FE1503E256}"/>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7D198BAB-D082-2DD1-F7CD-3A7043BC991D}"/>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1A3C5899-77EC-786E-FFBD-D3212C52403F}"/>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B2185C01-46F0-970A-8F03-5372D97A2FF9}"/>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73660717-B1CA-9F75-45EE-3FA15A71FC8A}"/>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B2184509-158A-A983-09CE-503BF2B35ACA}"/>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E84E7C5B-6A0F-2416-0FE9-59559CEE99FB}"/>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480DE9B3-0EC7-28D2-6799-0B6533F05266}"/>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42790DA6-8DC2-EA2E-7175-E5C4D1EC0AFA}"/>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a:extLst>
              <a:ext uri="{FF2B5EF4-FFF2-40B4-BE49-F238E27FC236}">
                <a16:creationId xmlns:a16="http://schemas.microsoft.com/office/drawing/2014/main" id="{BF22C9A6-5F51-DCA1-160B-1115E7FDED02}"/>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3F00028E-893E-FA7A-0C45-B953AE744A8B}"/>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C7F4F100-4533-1A5B-52D6-9A932E367FA1}"/>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F8E01097-4384-68B9-7AAC-577BC260EF6F}"/>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Flow- 3</a:t>
            </a:r>
            <a:endParaRPr lang="en-US" sz="1600" dirty="0"/>
          </a:p>
        </p:txBody>
      </p:sp>
      <p:sp>
        <p:nvSpPr>
          <p:cNvPr id="33" name="Shape 31">
            <a:extLst>
              <a:ext uri="{FF2B5EF4-FFF2-40B4-BE49-F238E27FC236}">
                <a16:creationId xmlns:a16="http://schemas.microsoft.com/office/drawing/2014/main" id="{A13D941E-129B-A1A4-8D55-03D3E1D3D6E3}"/>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8BE1B9B8-3AB2-F700-6B3A-DCD04D3CBC4E}"/>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8DDD1791-288A-DCF5-83AA-98C35D9E67FF}"/>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a:extLst>
              <a:ext uri="{FF2B5EF4-FFF2-40B4-BE49-F238E27FC236}">
                <a16:creationId xmlns:a16="http://schemas.microsoft.com/office/drawing/2014/main" id="{CC92CB58-DEBD-C946-8F97-3C216B5DFF06}"/>
              </a:ext>
            </a:extLst>
          </p:cNvPr>
          <p:cNvSpPr/>
          <p:nvPr/>
        </p:nvSpPr>
        <p:spPr>
          <a:xfrm>
            <a:off x="1351005" y="1489626"/>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 AI Model’s </a:t>
            </a:r>
          </a:p>
          <a:p>
            <a:pPr algn="just">
              <a:lnSpc>
                <a:spcPct val="100000"/>
              </a:lnSpc>
            </a:pPr>
            <a:r>
              <a:rPr lang="en-US" sz="1800" b="1">
                <a:solidFill>
                  <a:srgbClr val="004CC0"/>
                </a:solidFill>
                <a:latin typeface="MiSans" pitchFamily="34" charset="0"/>
                <a:ea typeface="MiSans" pitchFamily="34" charset="-122"/>
                <a:cs typeface="MiSans" pitchFamily="34" charset="-120"/>
              </a:rPr>
              <a:t>In-depth Analysis </a:t>
            </a:r>
          </a:p>
          <a:p>
            <a:pPr algn="just">
              <a:lnSpc>
                <a:spcPct val="100000"/>
              </a:lnSpc>
            </a:pPr>
            <a:r>
              <a:rPr lang="en-US" sz="1800" b="1">
                <a:solidFill>
                  <a:srgbClr val="004CC0"/>
                </a:solidFill>
                <a:latin typeface="MiSans" pitchFamily="34" charset="0"/>
                <a:ea typeface="MiSans" pitchFamily="34" charset="-122"/>
                <a:cs typeface="MiSans" pitchFamily="34" charset="-120"/>
              </a:rPr>
              <a:t>Report on </a:t>
            </a:r>
          </a:p>
          <a:p>
            <a:pPr algn="just">
              <a:lnSpc>
                <a:spcPct val="100000"/>
              </a:lnSpc>
            </a:pPr>
            <a:r>
              <a:rPr lang="en-US" sz="1800" b="1">
                <a:solidFill>
                  <a:srgbClr val="004CC0"/>
                </a:solidFill>
                <a:latin typeface="MiSans" pitchFamily="34" charset="0"/>
                <a:ea typeface="MiSans" pitchFamily="34" charset="-122"/>
                <a:cs typeface="MiSans" pitchFamily="34" charset="-120"/>
              </a:rPr>
              <a:t>Log Anomalies</a:t>
            </a:r>
            <a:endParaRPr lang="en-US" sz="1600" dirty="0"/>
          </a:p>
        </p:txBody>
      </p:sp>
      <p:sp>
        <p:nvSpPr>
          <p:cNvPr id="37" name="Text 35">
            <a:extLst>
              <a:ext uri="{FF2B5EF4-FFF2-40B4-BE49-F238E27FC236}">
                <a16:creationId xmlns:a16="http://schemas.microsoft.com/office/drawing/2014/main" id="{3749CD5D-C08B-BE02-A4D4-827CAE6A209F}"/>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45568AE8-642B-5D26-454C-3DFE51F0BE92}"/>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9D2A80FC-12FF-905D-C1F5-7985251A949D}"/>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037F4040-96F3-FB10-B658-467F9CA1BDB0}"/>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8193" name="Picture 1">
            <a:extLst>
              <a:ext uri="{FF2B5EF4-FFF2-40B4-BE49-F238E27FC236}">
                <a16:creationId xmlns:a16="http://schemas.microsoft.com/office/drawing/2014/main" id="{DCA02E22-88D8-F4D1-D773-7EE003BBE0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879" y="946150"/>
            <a:ext cx="8223981" cy="534558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26">
            <a:extLst>
              <a:ext uri="{FF2B5EF4-FFF2-40B4-BE49-F238E27FC236}">
                <a16:creationId xmlns:a16="http://schemas.microsoft.com/office/drawing/2014/main" id="{7F606DF4-E25D-440B-2FB5-90811EFE0BBF}"/>
              </a:ext>
            </a:extLst>
          </p:cNvPr>
          <p:cNvSpPr/>
          <p:nvPr/>
        </p:nvSpPr>
        <p:spPr>
          <a:xfrm>
            <a:off x="967402" y="2814123"/>
            <a:ext cx="2249805" cy="2030236"/>
          </a:xfrm>
          <a:prstGeom prst="rect">
            <a:avLst/>
          </a:prstGeom>
          <a:noFill/>
          <a:ln/>
        </p:spPr>
        <p:txBody>
          <a:bodyPr wrap="square" lIns="91440" tIns="45720" rIns="91440" bIns="45720" rtlCol="0" anchor="t">
            <a:spAutoFit/>
          </a:bodyPr>
          <a:lstStyle/>
          <a:p>
            <a:pPr algn="just">
              <a:lnSpc>
                <a:spcPct val="130000"/>
              </a:lnSpc>
            </a:pPr>
            <a:r>
              <a:rPr lang="en-US" altLang="zh-CN" sz="1400" b="1">
                <a:solidFill>
                  <a:srgbClr val="000000"/>
                </a:solidFill>
                <a:latin typeface="MiSans" pitchFamily="34" charset="0"/>
                <a:ea typeface="MiSans" pitchFamily="34" charset="-122"/>
                <a:cs typeface="MiSans" pitchFamily="34" charset="-120"/>
              </a:rPr>
              <a:t>Solutions prioritized byissue urgency. Present Al in-depthanalysisreportshighlightingtraceableconclusionstoproviderobust support for problemresolution.</a:t>
            </a:r>
            <a:endParaRPr lang="en-US" sz="1600" b="1" dirty="0"/>
          </a:p>
        </p:txBody>
      </p:sp>
    </p:spTree>
    <p:extLst>
      <p:ext uri="{BB962C8B-B14F-4D97-AF65-F5344CB8AC3E}">
        <p14:creationId xmlns:p14="http://schemas.microsoft.com/office/powerpoint/2010/main" val="3497632674"/>
      </p:ext>
    </p:extLst>
  </p:cSld>
  <p:clrMapOvr>
    <a:masterClrMapping/>
  </p:clrMapOvr>
  <p:transition>
    <p:fade/>
  </p:transition>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14605" y="5470525"/>
            <a:ext cx="12221210" cy="1386840"/>
          </a:xfrm>
          <a:prstGeom prst="roundRect">
            <a:avLst>
              <a:gd name="adj" fmla="val 0"/>
            </a:avLst>
          </a:prstGeom>
          <a:solidFill>
            <a:srgbClr val="004CC0"/>
          </a:solidFill>
          <a:ln/>
        </p:spPr>
      </p:sp>
      <p:sp>
        <p:nvSpPr>
          <p:cNvPr id="8" name="Text 6"/>
          <p:cNvSpPr/>
          <p:nvPr/>
        </p:nvSpPr>
        <p:spPr>
          <a:xfrm>
            <a:off x="-14605" y="5470525"/>
            <a:ext cx="12221210" cy="138684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Shape 11"/>
          <p:cNvSpPr/>
          <p:nvPr/>
        </p:nvSpPr>
        <p:spPr>
          <a:xfrm>
            <a:off x="4380230" y="1472565"/>
            <a:ext cx="3170555" cy="4673600"/>
          </a:xfrm>
          <a:prstGeom prst="roundRect">
            <a:avLst>
              <a:gd name="adj" fmla="val 5503"/>
            </a:avLst>
          </a:prstGeom>
          <a:solidFill>
            <a:srgbClr val="FFFFFF"/>
          </a:solidFill>
          <a:ln w="19050">
            <a:solidFill>
              <a:srgbClr val="004CC0"/>
            </a:solidFill>
            <a:prstDash val="solid"/>
          </a:ln>
        </p:spPr>
      </p:sp>
      <p:sp>
        <p:nvSpPr>
          <p:cNvPr id="15" name="Text 12"/>
          <p:cNvSpPr/>
          <p:nvPr/>
        </p:nvSpPr>
        <p:spPr>
          <a:xfrm>
            <a:off x="4380230" y="1472565"/>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Shape 13"/>
          <p:cNvSpPr/>
          <p:nvPr/>
        </p:nvSpPr>
        <p:spPr>
          <a:xfrm>
            <a:off x="5362575" y="1701800"/>
            <a:ext cx="1206500" cy="1192530"/>
          </a:xfrm>
          <a:prstGeom prst="ellipse">
            <a:avLst/>
          </a:prstGeom>
          <a:solidFill>
            <a:srgbClr val="004CC0"/>
          </a:solidFill>
          <a:ln/>
        </p:spPr>
      </p:sp>
      <p:sp>
        <p:nvSpPr>
          <p:cNvPr id="17" name="Text 14"/>
          <p:cNvSpPr/>
          <p:nvPr/>
        </p:nvSpPr>
        <p:spPr>
          <a:xfrm>
            <a:off x="5362575" y="1701800"/>
            <a:ext cx="1206500"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8" name="Image 1" descr="https://kimi-img.moonshot.cn/pub/slides/slides_tmpl/image/25-09-04-15:50:53-d2sk9ne1bb2p4onbqeig.png"/>
          <p:cNvPicPr>
            <a:picLocks noChangeAspect="1"/>
          </p:cNvPicPr>
          <p:nvPr/>
        </p:nvPicPr>
        <p:blipFill>
          <a:blip r:embed="rId4"/>
          <a:srcRect l="59" t="-59" r="59" b="59"/>
          <a:stretch/>
        </p:blipFill>
        <p:spPr>
          <a:xfrm>
            <a:off x="5677255" y="2013160"/>
            <a:ext cx="577140" cy="570488"/>
          </a:xfrm>
          <a:prstGeom prst="rect">
            <a:avLst/>
          </a:prstGeom>
        </p:spPr>
      </p:pic>
      <p:sp>
        <p:nvSpPr>
          <p:cNvPr id="19" name="Shape 15"/>
          <p:cNvSpPr/>
          <p:nvPr/>
        </p:nvSpPr>
        <p:spPr>
          <a:xfrm>
            <a:off x="8000365" y="1472565"/>
            <a:ext cx="3170555" cy="4673600"/>
          </a:xfrm>
          <a:prstGeom prst="roundRect">
            <a:avLst>
              <a:gd name="adj" fmla="val 5503"/>
            </a:avLst>
          </a:prstGeom>
          <a:solidFill>
            <a:srgbClr val="FFFFFF"/>
          </a:solidFill>
          <a:ln w="19050">
            <a:solidFill>
              <a:srgbClr val="004CC0"/>
            </a:solidFill>
            <a:prstDash val="solid"/>
          </a:ln>
        </p:spPr>
      </p:sp>
      <p:sp>
        <p:nvSpPr>
          <p:cNvPr id="20" name="Text 16"/>
          <p:cNvSpPr/>
          <p:nvPr/>
        </p:nvSpPr>
        <p:spPr>
          <a:xfrm>
            <a:off x="8000365" y="1472565"/>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7"/>
          <p:cNvSpPr/>
          <p:nvPr/>
        </p:nvSpPr>
        <p:spPr>
          <a:xfrm>
            <a:off x="8982710" y="1701800"/>
            <a:ext cx="1206500" cy="1192530"/>
          </a:xfrm>
          <a:prstGeom prst="ellipse">
            <a:avLst/>
          </a:prstGeom>
          <a:solidFill>
            <a:srgbClr val="004CC0"/>
          </a:solidFill>
          <a:ln/>
        </p:spPr>
      </p:sp>
      <p:sp>
        <p:nvSpPr>
          <p:cNvPr id="22" name="Text 18"/>
          <p:cNvSpPr/>
          <p:nvPr/>
        </p:nvSpPr>
        <p:spPr>
          <a:xfrm>
            <a:off x="8982710" y="1701800"/>
            <a:ext cx="1206500"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3" name="Image 2" descr="https://kimi-img.moonshot.cn/pub/slides/slides_tmpl/image/25-09-04-15:50:53-d2sk9ne1bb2p4onbqej0.png"/>
          <p:cNvPicPr>
            <a:picLocks noChangeAspect="1"/>
          </p:cNvPicPr>
          <p:nvPr/>
        </p:nvPicPr>
        <p:blipFill>
          <a:blip r:embed="rId5"/>
          <a:srcRect l="59" t="-59" r="59" b="59"/>
          <a:stretch/>
        </p:blipFill>
        <p:spPr>
          <a:xfrm>
            <a:off x="9297390" y="2013160"/>
            <a:ext cx="577140" cy="570488"/>
          </a:xfrm>
          <a:prstGeom prst="rect">
            <a:avLst/>
          </a:prstGeom>
        </p:spPr>
      </p:pic>
      <p:sp>
        <p:nvSpPr>
          <p:cNvPr id="24" name="Text 19"/>
          <p:cNvSpPr/>
          <p:nvPr/>
        </p:nvSpPr>
        <p:spPr>
          <a:xfrm>
            <a:off x="582930" y="211455"/>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04-</a:t>
            </a:r>
            <a:r>
              <a:rPr kumimoji="0" lang="zh-CN" altLang="en-US" sz="3200" b="1"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测试</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33" name="组合 32">
            <a:extLst>
              <a:ext uri="{FF2B5EF4-FFF2-40B4-BE49-F238E27FC236}">
                <a16:creationId xmlns:a16="http://schemas.microsoft.com/office/drawing/2014/main" id="{4D1FE622-54D3-C213-FB38-D89625B7C6BA}"/>
              </a:ext>
            </a:extLst>
          </p:cNvPr>
          <p:cNvGrpSpPr/>
          <p:nvPr/>
        </p:nvGrpSpPr>
        <p:grpSpPr>
          <a:xfrm>
            <a:off x="760730" y="1472565"/>
            <a:ext cx="3170555" cy="4673600"/>
            <a:chOff x="760730" y="1472565"/>
            <a:chExt cx="3170555" cy="4673600"/>
          </a:xfrm>
        </p:grpSpPr>
        <p:sp>
          <p:nvSpPr>
            <p:cNvPr id="9" name="Shape 7"/>
            <p:cNvSpPr/>
            <p:nvPr/>
          </p:nvSpPr>
          <p:spPr>
            <a:xfrm>
              <a:off x="760730" y="1472565"/>
              <a:ext cx="3170555" cy="4673600"/>
            </a:xfrm>
            <a:prstGeom prst="roundRect">
              <a:avLst>
                <a:gd name="adj" fmla="val 5503"/>
              </a:avLst>
            </a:prstGeom>
            <a:solidFill>
              <a:srgbClr val="FFFFFF"/>
            </a:solidFill>
            <a:ln w="19050">
              <a:solidFill>
                <a:srgbClr val="004CC0"/>
              </a:solidFill>
              <a:prstDash val="solid"/>
            </a:ln>
          </p:spPr>
        </p:sp>
        <p:sp>
          <p:nvSpPr>
            <p:cNvPr id="10" name="Text 8"/>
            <p:cNvSpPr/>
            <p:nvPr/>
          </p:nvSpPr>
          <p:spPr>
            <a:xfrm>
              <a:off x="760730" y="1472565"/>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31" name="组合 30">
              <a:extLst>
                <a:ext uri="{FF2B5EF4-FFF2-40B4-BE49-F238E27FC236}">
                  <a16:creationId xmlns:a16="http://schemas.microsoft.com/office/drawing/2014/main" id="{D9996DAE-258F-F2F0-8F1E-EE41D6859E7B}"/>
                </a:ext>
              </a:extLst>
            </p:cNvPr>
            <p:cNvGrpSpPr/>
            <p:nvPr/>
          </p:nvGrpSpPr>
          <p:grpSpPr>
            <a:xfrm>
              <a:off x="947420" y="1701800"/>
              <a:ext cx="2983865" cy="3062474"/>
              <a:chOff x="947420" y="1701800"/>
              <a:chExt cx="2983865" cy="3062474"/>
            </a:xfrm>
          </p:grpSpPr>
          <p:sp>
            <p:nvSpPr>
              <p:cNvPr id="11" name="Shape 9"/>
              <p:cNvSpPr/>
              <p:nvPr/>
            </p:nvSpPr>
            <p:spPr>
              <a:xfrm>
                <a:off x="1743075" y="1701800"/>
                <a:ext cx="1206543" cy="1192530"/>
              </a:xfrm>
              <a:prstGeom prst="ellipse">
                <a:avLst/>
              </a:prstGeom>
              <a:solidFill>
                <a:srgbClr val="004CC0"/>
              </a:solidFill>
              <a:ln/>
            </p:spPr>
          </p:sp>
          <p:sp>
            <p:nvSpPr>
              <p:cNvPr id="12" name="Text 10"/>
              <p:cNvSpPr/>
              <p:nvPr/>
            </p:nvSpPr>
            <p:spPr>
              <a:xfrm>
                <a:off x="1743075" y="1701800"/>
                <a:ext cx="1206543"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3" name="Image 0" descr="https://kimi-img.moonshot.cn/pub/slides/slides_tmpl/image/25-09-04-15:50:53-d2sk9ne1bb2p4onbqei0.svg"/>
              <p:cNvPicPr>
                <a:picLocks noChangeAspect="1"/>
              </p:cNvPicPr>
              <p:nvPr/>
            </p:nvPicPr>
            <p:blipFill>
              <a:blip r:embed="rId6">
                <a:extLst>
                  <a:ext uri="{96DAC541-7B7A-43D3-8B79-37D633B846F1}">
                    <asvg:svgBlip xmlns:asvg="http://schemas.microsoft.com/office/drawing/2016/SVG/main" r:embed="rId7"/>
                  </a:ext>
                </a:extLst>
              </a:blip>
              <a:srcRect l="50" t="644" r="-50" b="644"/>
              <a:stretch/>
            </p:blipFill>
            <p:spPr>
              <a:xfrm>
                <a:off x="2057766" y="2013160"/>
                <a:ext cx="577160" cy="570488"/>
              </a:xfrm>
              <a:prstGeom prst="rect">
                <a:avLst/>
              </a:prstGeom>
            </p:spPr>
          </p:pic>
          <p:sp>
            <p:nvSpPr>
              <p:cNvPr id="25" name="Text 20"/>
              <p:cNvSpPr/>
              <p:nvPr/>
            </p:nvSpPr>
            <p:spPr>
              <a:xfrm>
                <a:off x="947420" y="3009265"/>
                <a:ext cx="2797175" cy="669925"/>
              </a:xfrm>
              <a:prstGeom prst="rect">
                <a:avLst/>
              </a:prstGeom>
              <a:noFill/>
              <a:ln/>
            </p:spPr>
            <p:txBody>
              <a:bodyPr wrap="square" lIns="91440" tIns="45720" rIns="91440" bIns="45720" rtlCol="0" anchor="t"/>
              <a:lstStyle/>
              <a:p>
                <a:pPr lvl="0" algn="ctr">
                  <a:defRPr/>
                </a:pPr>
                <a:r>
                  <a:rPr lang="en-US" b="1">
                    <a:solidFill>
                      <a:srgbClr val="004CC0"/>
                    </a:solidFill>
                    <a:latin typeface="MiSans" pitchFamily="34" charset="0"/>
                    <a:ea typeface="MiSans" pitchFamily="34" charset="-122"/>
                    <a:cs typeface="MiSans" pitchFamily="34" charset="-120"/>
                  </a:rPr>
                  <a:t>Test Preparation</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1"/>
              <p:cNvSpPr/>
              <p:nvPr/>
            </p:nvSpPr>
            <p:spPr>
              <a:xfrm>
                <a:off x="948055" y="3655060"/>
                <a:ext cx="2983230" cy="1109214"/>
              </a:xfrm>
              <a:prstGeom prst="rect">
                <a:avLst/>
              </a:prstGeom>
              <a:noFill/>
              <a:ln/>
            </p:spPr>
            <p:txBody>
              <a:bodyPr wrap="square" lIns="91440" tIns="45720" rIns="91440" bIns="45720" rtlCol="0" anchor="t">
                <a:spAutoFit/>
              </a:bodyPr>
              <a:lstStyle/>
              <a:p>
                <a:pPr lvl="0" algn="just">
                  <a:lnSpc>
                    <a:spcPct val="120000"/>
                  </a:lnSpc>
                  <a:defRPr/>
                </a:pPr>
                <a:r>
                  <a:rPr lang="en-US" altLang="zh-CN" sz="1400" b="1" dirty="0">
                    <a:solidFill>
                      <a:srgbClr val="000000"/>
                    </a:solidFill>
                    <a:latin typeface="MiSans" pitchFamily="34" charset="0"/>
                    <a:ea typeface="MiSans" pitchFamily="34" charset="-122"/>
                    <a:cs typeface="MiSans" pitchFamily="34" charset="-120"/>
                  </a:rPr>
                  <a:t>Establish a multi-</a:t>
                </a:r>
                <a:r>
                  <a:rPr lang="en-US" altLang="zh-CN" sz="1400" b="1" dirty="0" err="1">
                    <a:solidFill>
                      <a:srgbClr val="000000"/>
                    </a:solidFill>
                    <a:latin typeface="MiSans" pitchFamily="34" charset="0"/>
                    <a:ea typeface="MiSans" pitchFamily="34" charset="-122"/>
                    <a:cs typeface="MiSans" pitchFamily="34" charset="-120"/>
                  </a:rPr>
                  <a:t>environmenttesting</a:t>
                </a:r>
                <a:r>
                  <a:rPr lang="en-US" altLang="zh-CN" sz="1400" b="1" dirty="0">
                    <a:solidFill>
                      <a:srgbClr val="000000"/>
                    </a:solidFill>
                    <a:latin typeface="MiSans" pitchFamily="34" charset="0"/>
                    <a:ea typeface="MiSans" pitchFamily="34" charset="-122"/>
                    <a:cs typeface="MiSans" pitchFamily="34" charset="-120"/>
                  </a:rPr>
                  <a:t> matrix, prepare test </a:t>
                </a:r>
                <a:r>
                  <a:rPr lang="en-US" altLang="zh-CN" sz="1400" b="1" dirty="0" err="1">
                    <a:solidFill>
                      <a:srgbClr val="000000"/>
                    </a:solidFill>
                    <a:latin typeface="MiSans" pitchFamily="34" charset="0"/>
                    <a:ea typeface="MiSans" pitchFamily="34" charset="-122"/>
                    <a:cs typeface="MiSans" pitchFamily="34" charset="-120"/>
                  </a:rPr>
                  <a:t>dataand</a:t>
                </a:r>
                <a:r>
                  <a:rPr lang="en-US" altLang="zh-CN" sz="1400" b="1" dirty="0">
                    <a:solidFill>
                      <a:srgbClr val="000000"/>
                    </a:solidFill>
                    <a:latin typeface="MiSans" pitchFamily="34" charset="0"/>
                    <a:ea typeface="MiSans" pitchFamily="34" charset="-122"/>
                    <a:cs typeface="MiSans" pitchFamily="34" charset="-120"/>
                  </a:rPr>
                  <a:t> tools, organize tester </a:t>
                </a:r>
                <a:r>
                  <a:rPr lang="en-US" altLang="zh-CN" sz="1400" b="1" dirty="0" err="1">
                    <a:solidFill>
                      <a:srgbClr val="000000"/>
                    </a:solidFill>
                    <a:latin typeface="MiSans" pitchFamily="34" charset="0"/>
                    <a:ea typeface="MiSans" pitchFamily="34" charset="-122"/>
                    <a:cs typeface="MiSans" pitchFamily="34" charset="-120"/>
                  </a:rPr>
                  <a:t>training,and</a:t>
                </a:r>
                <a:r>
                  <a:rPr lang="en-US" altLang="zh-CN" sz="1400" b="1" dirty="0">
                    <a:solidFill>
                      <a:srgbClr val="000000"/>
                    </a:solidFill>
                    <a:latin typeface="MiSans" pitchFamily="34" charset="0"/>
                    <a:ea typeface="MiSans" pitchFamily="34" charset="-122"/>
                    <a:cs typeface="MiSans" pitchFamily="34" charset="-120"/>
                  </a:rPr>
                  <a:t> lay the foundation for end-to-end testing</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grpSp>
      <p:sp>
        <p:nvSpPr>
          <p:cNvPr id="27" name="Text 22"/>
          <p:cNvSpPr/>
          <p:nvPr/>
        </p:nvSpPr>
        <p:spPr>
          <a:xfrm>
            <a:off x="4566920" y="3019425"/>
            <a:ext cx="2797175" cy="669925"/>
          </a:xfrm>
          <a:prstGeom prst="rect">
            <a:avLst/>
          </a:prstGeom>
          <a:noFill/>
          <a:ln/>
        </p:spPr>
        <p:txBody>
          <a:bodyPr wrap="square" lIns="91440" tIns="45720" rIns="91440" bIns="45720" rtlCol="0" anchor="t"/>
          <a:lstStyle/>
          <a:p>
            <a:pPr lvl="0" algn="ctr">
              <a:defRPr/>
            </a:pPr>
            <a:r>
              <a:rPr lang="en-US" altLang="zh-CN" b="1">
                <a:solidFill>
                  <a:srgbClr val="004CC0"/>
                </a:solidFill>
                <a:latin typeface="MiSans" pitchFamily="34" charset="0"/>
                <a:ea typeface="MiSans" pitchFamily="34" charset="-122"/>
                <a:cs typeface="MiSans" pitchFamily="34" charset="-120"/>
              </a:rPr>
              <a:t>Test Case Execution</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3"/>
          <p:cNvSpPr/>
          <p:nvPr/>
        </p:nvSpPr>
        <p:spPr>
          <a:xfrm>
            <a:off x="4473892" y="3679190"/>
            <a:ext cx="2983230" cy="1626279"/>
          </a:xfrm>
          <a:prstGeom prst="rect">
            <a:avLst/>
          </a:prstGeom>
          <a:noFill/>
          <a:ln/>
        </p:spPr>
        <p:txBody>
          <a:bodyPr wrap="square" lIns="91440" tIns="45720" rIns="91440" bIns="45720" rtlCol="0" anchor="t">
            <a:spAutoFit/>
          </a:bodyPr>
          <a:lstStyle/>
          <a:p>
            <a:pPr lvl="0" algn="just">
              <a:lnSpc>
                <a:spcPct val="120000"/>
              </a:lnSpc>
              <a:defRPr/>
            </a:pPr>
            <a:r>
              <a:rPr lang="en-US" altLang="zh-CN" sz="1400" b="1" dirty="0">
                <a:solidFill>
                  <a:srgbClr val="000000"/>
                </a:solidFill>
                <a:latin typeface="MiSans" pitchFamily="34" charset="0"/>
                <a:ea typeface="MiSans" pitchFamily="34" charset="-122"/>
                <a:cs typeface="MiSans" pitchFamily="34" charset="-120"/>
              </a:rPr>
              <a:t>Execute test cases according </a:t>
            </a:r>
            <a:r>
              <a:rPr lang="en-US" altLang="zh-CN" sz="1400" b="1" dirty="0" err="1">
                <a:solidFill>
                  <a:srgbClr val="000000"/>
                </a:solidFill>
                <a:latin typeface="MiSans" pitchFamily="34" charset="0"/>
                <a:ea typeface="MiSans" pitchFamily="34" charset="-122"/>
                <a:cs typeface="MiSans" pitchFamily="34" charset="-120"/>
              </a:rPr>
              <a:t>topriority</a:t>
            </a:r>
            <a:r>
              <a:rPr lang="en-US" altLang="zh-CN" sz="1400" b="1" dirty="0">
                <a:solidFill>
                  <a:srgbClr val="000000"/>
                </a:solidFill>
                <a:latin typeface="MiSans" pitchFamily="34" charset="0"/>
                <a:ea typeface="MiSans" pitchFamily="34" charset="-122"/>
                <a:cs typeface="MiSans" pitchFamily="34" charset="-120"/>
              </a:rPr>
              <a:t>: PO(Blocking)→P1(</a:t>
            </a:r>
            <a:r>
              <a:rPr lang="en-US" altLang="zh-CN" sz="1400" b="1" dirty="0" err="1">
                <a:solidFill>
                  <a:srgbClr val="000000"/>
                </a:solidFill>
                <a:latin typeface="MiSans" pitchFamily="34" charset="0"/>
                <a:ea typeface="MiSans" pitchFamily="34" charset="-122"/>
                <a:cs typeface="MiSans" pitchFamily="34" charset="-120"/>
              </a:rPr>
              <a:t>HighPriority</a:t>
            </a:r>
            <a:r>
              <a:rPr lang="en-US" altLang="zh-CN" sz="1400" b="1" dirty="0">
                <a:solidFill>
                  <a:srgbClr val="000000"/>
                </a:solidFill>
                <a:latin typeface="MiSans" pitchFamily="34" charset="0"/>
                <a:ea typeface="MiSans" pitchFamily="34" charset="-122"/>
                <a:cs typeface="MiSans" pitchFamily="34" charset="-120"/>
              </a:rPr>
              <a:t>)→P2 (Medium Priority)P3(Low Priority). </a:t>
            </a:r>
            <a:r>
              <a:rPr lang="en-US" altLang="zh-CN" sz="1400" b="1" dirty="0" err="1">
                <a:solidFill>
                  <a:srgbClr val="000000"/>
                </a:solidFill>
                <a:latin typeface="MiSans" pitchFamily="34" charset="0"/>
                <a:ea typeface="MiSans" pitchFamily="34" charset="-122"/>
                <a:cs typeface="MiSans" pitchFamily="34" charset="-120"/>
              </a:rPr>
              <a:t>Documentexecution</a:t>
            </a:r>
            <a:r>
              <a:rPr lang="en-US" altLang="zh-CN" sz="1400" b="1" dirty="0">
                <a:solidFill>
                  <a:srgbClr val="000000"/>
                </a:solidFill>
                <a:latin typeface="MiSans" pitchFamily="34" charset="0"/>
                <a:ea typeface="MiSans" pitchFamily="34" charset="-122"/>
                <a:cs typeface="MiSans" pitchFamily="34" charset="-120"/>
              </a:rPr>
              <a:t> results and </a:t>
            </a:r>
            <a:r>
              <a:rPr lang="en-US" altLang="zh-CN" sz="1400" b="1" dirty="0" err="1">
                <a:solidFill>
                  <a:srgbClr val="000000"/>
                </a:solidFill>
                <a:latin typeface="MiSans" pitchFamily="34" charset="0"/>
                <a:ea typeface="MiSans" pitchFamily="34" charset="-122"/>
                <a:cs typeface="MiSans" pitchFamily="34" charset="-120"/>
              </a:rPr>
              <a:t>defectinformation</a:t>
            </a:r>
            <a:r>
              <a:rPr lang="en-US" altLang="zh-CN" sz="1400" b="1" dirty="0">
                <a:solidFill>
                  <a:srgbClr val="000000"/>
                </a:solidFill>
                <a:latin typeface="MiSans" pitchFamily="34" charset="0"/>
                <a:ea typeface="MiSans" pitchFamily="34" charset="-122"/>
                <a:cs typeface="MiSans" pitchFamily="34" charset="-120"/>
              </a:rPr>
              <a:t> in detail.</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24"/>
          <p:cNvSpPr/>
          <p:nvPr/>
        </p:nvSpPr>
        <p:spPr>
          <a:xfrm>
            <a:off x="8187055" y="3019425"/>
            <a:ext cx="2797175" cy="669925"/>
          </a:xfrm>
          <a:prstGeom prst="rect">
            <a:avLst/>
          </a:prstGeom>
          <a:noFill/>
          <a:ln/>
        </p:spPr>
        <p:txBody>
          <a:bodyPr wrap="square" lIns="91440" tIns="45720" rIns="91440" bIns="45720" rtlCol="0" anchor="t"/>
          <a:lstStyle/>
          <a:p>
            <a:pPr lvl="0" algn="ctr">
              <a:defRPr/>
            </a:pPr>
            <a:r>
              <a:rPr lang="en-US" altLang="zh-CN" b="1">
                <a:solidFill>
                  <a:srgbClr val="004CC0"/>
                </a:solidFill>
                <a:latin typeface="MiSans" pitchFamily="34" charset="0"/>
                <a:ea typeface="MiSans" pitchFamily="34" charset="-122"/>
                <a:cs typeface="MiSans" pitchFamily="34" charset="-120"/>
              </a:rPr>
              <a:t>Defect Management</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5"/>
          <p:cNvSpPr/>
          <p:nvPr/>
        </p:nvSpPr>
        <p:spPr>
          <a:xfrm>
            <a:off x="8187690" y="3665220"/>
            <a:ext cx="2796540" cy="1884811"/>
          </a:xfrm>
          <a:prstGeom prst="rect">
            <a:avLst/>
          </a:prstGeom>
          <a:noFill/>
          <a:ln/>
        </p:spPr>
        <p:txBody>
          <a:bodyPr wrap="square" lIns="91440" tIns="45720" rIns="91440" bIns="45720" rtlCol="0" anchor="t">
            <a:spAutoFit/>
          </a:bodyPr>
          <a:lstStyle/>
          <a:p>
            <a:pPr lvl="0" algn="just">
              <a:lnSpc>
                <a:spcPct val="120000"/>
              </a:lnSpc>
              <a:defRPr/>
            </a:pPr>
            <a:r>
              <a:rPr lang="en-US" altLang="zh-CN" sz="1400" b="1" dirty="0">
                <a:solidFill>
                  <a:srgbClr val="000000"/>
                </a:solidFill>
                <a:latin typeface="MiSans" pitchFamily="34" charset="0"/>
                <a:ea typeface="MiSans" pitchFamily="34" charset="-122"/>
                <a:cs typeface="MiSans" pitchFamily="34" charset="-120"/>
              </a:rPr>
              <a:t>Record defects in Jira (including(including reproduction </a:t>
            </a:r>
            <a:r>
              <a:rPr lang="en-US" altLang="zh-CN" sz="1400" b="1" dirty="0" err="1">
                <a:solidFill>
                  <a:srgbClr val="000000"/>
                </a:solidFill>
                <a:latin typeface="MiSans" pitchFamily="34" charset="0"/>
                <a:ea typeface="MiSans" pitchFamily="34" charset="-122"/>
                <a:cs typeface="MiSans" pitchFamily="34" charset="-120"/>
              </a:rPr>
              <a:t>steps,expected</a:t>
            </a:r>
            <a:r>
              <a:rPr lang="en-US" altLang="zh-CN" sz="1400" b="1" dirty="0">
                <a:solidFill>
                  <a:srgbClr val="000000"/>
                </a:solidFill>
                <a:latin typeface="MiSans" pitchFamily="34" charset="0"/>
                <a:ea typeface="MiSans" pitchFamily="34" charset="-122"/>
                <a:cs typeface="MiSans" pitchFamily="34" charset="-120"/>
              </a:rPr>
              <a:t>/actual </a:t>
            </a:r>
            <a:r>
              <a:rPr lang="en-US" altLang="zh-CN" sz="1400" b="1" dirty="0" err="1">
                <a:solidFill>
                  <a:srgbClr val="000000"/>
                </a:solidFill>
                <a:latin typeface="MiSans" pitchFamily="34" charset="0"/>
                <a:ea typeface="MiSans" pitchFamily="34" charset="-122"/>
                <a:cs typeface="MiSans" pitchFamily="34" charset="-120"/>
              </a:rPr>
              <a:t>results,andscreenshots</a:t>
            </a:r>
            <a:r>
              <a:rPr lang="en-US" altLang="zh-CN" sz="1400" b="1" dirty="0">
                <a:solidFill>
                  <a:srgbClr val="000000"/>
                </a:solidFill>
                <a:latin typeface="MiSans" pitchFamily="34" charset="0"/>
                <a:ea typeface="MiSans" pitchFamily="34" charset="-122"/>
                <a:cs typeface="MiSans" pitchFamily="34" charset="-120"/>
              </a:rPr>
              <a:t>),track </a:t>
            </a:r>
            <a:r>
              <a:rPr lang="en-US" altLang="zh-CN" sz="1400" b="1" dirty="0" err="1">
                <a:solidFill>
                  <a:srgbClr val="000000"/>
                </a:solidFill>
                <a:latin typeface="MiSans" pitchFamily="34" charset="0"/>
                <a:ea typeface="MiSans" pitchFamily="34" charset="-122"/>
                <a:cs typeface="MiSans" pitchFamily="34" charset="-120"/>
              </a:rPr>
              <a:t>resolutionprogress</a:t>
            </a:r>
            <a:r>
              <a:rPr lang="en-US" altLang="zh-CN" sz="1400" b="1" dirty="0">
                <a:solidFill>
                  <a:srgbClr val="000000"/>
                </a:solidFill>
                <a:latin typeface="MiSans" pitchFamily="34" charset="0"/>
                <a:ea typeface="MiSans" pitchFamily="34" charset="-122"/>
                <a:cs typeface="MiSans" pitchFamily="34" charset="-120"/>
              </a:rPr>
              <a:t>, and conduct </a:t>
            </a:r>
            <a:r>
              <a:rPr lang="en-US" altLang="zh-CN" sz="1400" b="1" dirty="0" err="1">
                <a:solidFill>
                  <a:srgbClr val="000000"/>
                </a:solidFill>
                <a:latin typeface="MiSans" pitchFamily="34" charset="0"/>
                <a:ea typeface="MiSans" pitchFamily="34" charset="-122"/>
                <a:cs typeface="MiSans" pitchFamily="34" charset="-120"/>
              </a:rPr>
              <a:t>regressionregression</a:t>
            </a:r>
            <a:r>
              <a:rPr lang="en-US" altLang="zh-CN" sz="1400" b="1" dirty="0">
                <a:solidFill>
                  <a:srgbClr val="000000"/>
                </a:solidFill>
                <a:latin typeface="MiSans" pitchFamily="34" charset="0"/>
                <a:ea typeface="MiSans" pitchFamily="34" charset="-122"/>
                <a:cs typeface="MiSans" pitchFamily="34" charset="-120"/>
              </a:rPr>
              <a:t> testing for </a:t>
            </a:r>
            <a:r>
              <a:rPr lang="en-US" altLang="zh-CN" sz="1400" b="1" dirty="0" err="1">
                <a:solidFill>
                  <a:srgbClr val="000000"/>
                </a:solidFill>
                <a:latin typeface="MiSans" pitchFamily="34" charset="0"/>
                <a:ea typeface="MiSans" pitchFamily="34" charset="-122"/>
                <a:cs typeface="MiSans" pitchFamily="34" charset="-120"/>
              </a:rPr>
              <a:t>resolveddefects</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82DDC-F1D3-941A-0CF2-64A043D5C5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31E309-7A27-67C6-6D7A-07C21B21B51B}"/>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E8C964E0-97AE-05CB-BE36-7EF8610F1DAA}"/>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DC29C288-548C-88D9-487E-A614E3A94BD9}"/>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51B3494C-3097-E6DB-F4F0-A2AB922645DF}"/>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2F220608-45FF-F11A-33D0-05750564379C}"/>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6215A574-4C1F-AC88-0074-278D42026283}"/>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A0F4762A-22D8-9E59-4DFA-AA562D5BDC2A}"/>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5" name="Text 13">
            <a:extLst>
              <a:ext uri="{FF2B5EF4-FFF2-40B4-BE49-F238E27FC236}">
                <a16:creationId xmlns:a16="http://schemas.microsoft.com/office/drawing/2014/main" id="{F72EB2FA-EC44-3235-F97B-5BD5B19105BE}"/>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138AB8A2-45CB-8AFC-F7BC-6C14E8862A72}"/>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73714DF5-6633-5629-3FDD-84B6FF38CB54}"/>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28804621-9298-F563-1793-C284D260FC08}"/>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2BC401AA-4B7F-EFF2-244C-BA16F0C9BD1A}"/>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CAD1A438-1703-19CB-3AE0-8CFAD2069CA6}"/>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2BA45B4E-12E5-9334-0B58-9D646DAA551A}"/>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0D65269C-423C-02AB-BFBA-A499D9668092}"/>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F934A211-78C8-BE30-41FE-800222147B40}"/>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F9D2A890-0D00-474E-4875-218749CD710F}"/>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36135101-620E-7270-AE83-6B3271B889AA}"/>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T</a:t>
            </a:r>
            <a:r>
              <a:rPr lang="en-US" altLang="zh-CN" sz="3000" b="1">
                <a:solidFill>
                  <a:srgbClr val="000000"/>
                </a:solidFill>
                <a:latin typeface="MiSans" pitchFamily="34" charset="0"/>
                <a:ea typeface="MiSans" pitchFamily="34" charset="-122"/>
                <a:cs typeface="MiSans" pitchFamily="34" charset="-120"/>
              </a:rPr>
              <a:t>esting Result</a:t>
            </a:r>
            <a:endParaRPr lang="en-US" sz="1600" dirty="0"/>
          </a:p>
        </p:txBody>
      </p:sp>
      <p:sp>
        <p:nvSpPr>
          <p:cNvPr id="33" name="Shape 31">
            <a:extLst>
              <a:ext uri="{FF2B5EF4-FFF2-40B4-BE49-F238E27FC236}">
                <a16:creationId xmlns:a16="http://schemas.microsoft.com/office/drawing/2014/main" id="{F187A182-266E-C0A4-FC9D-70ADE7532F6A}"/>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E496EC3D-F423-2296-2B5F-14A758C769AB}"/>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E9DED49B-016A-4478-C33E-3BF9EDA21825}"/>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7" name="Text 35">
            <a:extLst>
              <a:ext uri="{FF2B5EF4-FFF2-40B4-BE49-F238E27FC236}">
                <a16:creationId xmlns:a16="http://schemas.microsoft.com/office/drawing/2014/main" id="{1D32E09F-C57A-5299-893A-825CA2F8F1A9}"/>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CA7ECFFB-74D5-4DE6-699E-43576AD28D3B}"/>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66A3DD2F-8092-8C21-68AA-219FAF8091AF}"/>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01A0D3D2-E679-16F4-DBB9-92C32399190A}"/>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20" name="图片 19">
            <a:extLst>
              <a:ext uri="{FF2B5EF4-FFF2-40B4-BE49-F238E27FC236}">
                <a16:creationId xmlns:a16="http://schemas.microsoft.com/office/drawing/2014/main" id="{0B32CA02-7B9A-AAC7-7CA2-E10FF9A4396A}"/>
              </a:ext>
            </a:extLst>
          </p:cNvPr>
          <p:cNvPicPr>
            <a:picLocks noChangeAspect="1"/>
          </p:cNvPicPr>
          <p:nvPr/>
        </p:nvPicPr>
        <p:blipFill>
          <a:blip r:embed="rId4"/>
          <a:stretch>
            <a:fillRect/>
          </a:stretch>
        </p:blipFill>
        <p:spPr>
          <a:xfrm>
            <a:off x="690586" y="1345589"/>
            <a:ext cx="3108966" cy="2377445"/>
          </a:xfrm>
          <a:prstGeom prst="rect">
            <a:avLst/>
          </a:prstGeom>
        </p:spPr>
      </p:pic>
      <p:pic>
        <p:nvPicPr>
          <p:cNvPr id="48" name="图片 47">
            <a:extLst>
              <a:ext uri="{FF2B5EF4-FFF2-40B4-BE49-F238E27FC236}">
                <a16:creationId xmlns:a16="http://schemas.microsoft.com/office/drawing/2014/main" id="{277233BC-2EF8-84B5-F2F9-52E101F34B6E}"/>
              </a:ext>
            </a:extLst>
          </p:cNvPr>
          <p:cNvPicPr>
            <a:picLocks noChangeAspect="1"/>
          </p:cNvPicPr>
          <p:nvPr/>
        </p:nvPicPr>
        <p:blipFill>
          <a:blip r:embed="rId5"/>
          <a:stretch>
            <a:fillRect/>
          </a:stretch>
        </p:blipFill>
        <p:spPr>
          <a:xfrm>
            <a:off x="7475061" y="1226451"/>
            <a:ext cx="3586553" cy="2742659"/>
          </a:xfrm>
          <a:prstGeom prst="rect">
            <a:avLst/>
          </a:prstGeom>
        </p:spPr>
      </p:pic>
      <p:pic>
        <p:nvPicPr>
          <p:cNvPr id="50" name="图片 49">
            <a:extLst>
              <a:ext uri="{FF2B5EF4-FFF2-40B4-BE49-F238E27FC236}">
                <a16:creationId xmlns:a16="http://schemas.microsoft.com/office/drawing/2014/main" id="{70E3695A-F0F6-E7AF-CE09-6F0E143E94F6}"/>
              </a:ext>
            </a:extLst>
          </p:cNvPr>
          <p:cNvPicPr>
            <a:picLocks noChangeAspect="1"/>
          </p:cNvPicPr>
          <p:nvPr/>
        </p:nvPicPr>
        <p:blipFill>
          <a:blip r:embed="rId6"/>
          <a:stretch>
            <a:fillRect/>
          </a:stretch>
        </p:blipFill>
        <p:spPr>
          <a:xfrm>
            <a:off x="3934653" y="1475599"/>
            <a:ext cx="3108966" cy="2194564"/>
          </a:xfrm>
          <a:prstGeom prst="rect">
            <a:avLst/>
          </a:prstGeom>
        </p:spPr>
      </p:pic>
      <p:sp>
        <p:nvSpPr>
          <p:cNvPr id="54" name="Text 25">
            <a:extLst>
              <a:ext uri="{FF2B5EF4-FFF2-40B4-BE49-F238E27FC236}">
                <a16:creationId xmlns:a16="http://schemas.microsoft.com/office/drawing/2014/main" id="{3FCCD4A9-9E44-2865-45E0-0441696E6DD7}"/>
              </a:ext>
            </a:extLst>
          </p:cNvPr>
          <p:cNvSpPr/>
          <p:nvPr/>
        </p:nvSpPr>
        <p:spPr>
          <a:xfrm>
            <a:off x="535572" y="4071355"/>
            <a:ext cx="2857430" cy="400110"/>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1D3EBF"/>
                </a:solidFill>
                <a:latin typeface="MiSans" pitchFamily="34" charset="0"/>
                <a:ea typeface="MiSans" pitchFamily="34" charset="-122"/>
                <a:cs typeface="MiSans" pitchFamily="34" charset="-120"/>
              </a:rPr>
              <a:t>Latency Performance</a:t>
            </a:r>
            <a:endParaRPr lang="en-US" sz="1600" b="1" dirty="0"/>
          </a:p>
        </p:txBody>
      </p:sp>
      <p:sp>
        <p:nvSpPr>
          <p:cNvPr id="57" name="Text 25">
            <a:extLst>
              <a:ext uri="{FF2B5EF4-FFF2-40B4-BE49-F238E27FC236}">
                <a16:creationId xmlns:a16="http://schemas.microsoft.com/office/drawing/2014/main" id="{6F807190-A93A-F580-8170-3FCC536687EB}"/>
              </a:ext>
            </a:extLst>
          </p:cNvPr>
          <p:cNvSpPr/>
          <p:nvPr/>
        </p:nvSpPr>
        <p:spPr>
          <a:xfrm>
            <a:off x="4265330" y="4275251"/>
            <a:ext cx="2857430" cy="400110"/>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1D3EBF"/>
                </a:solidFill>
                <a:latin typeface="MiSans" pitchFamily="34" charset="0"/>
                <a:ea typeface="MiSans" pitchFamily="34" charset="-122"/>
                <a:cs typeface="MiSans" pitchFamily="34" charset="-120"/>
              </a:rPr>
              <a:t>Success Rate</a:t>
            </a:r>
            <a:endParaRPr lang="en-US" sz="1600" b="1" dirty="0"/>
          </a:p>
        </p:txBody>
      </p:sp>
      <p:sp>
        <p:nvSpPr>
          <p:cNvPr id="58" name="Text 25">
            <a:extLst>
              <a:ext uri="{FF2B5EF4-FFF2-40B4-BE49-F238E27FC236}">
                <a16:creationId xmlns:a16="http://schemas.microsoft.com/office/drawing/2014/main" id="{0653191C-CBAE-E2A0-9FCC-67471D1E7C67}"/>
              </a:ext>
            </a:extLst>
          </p:cNvPr>
          <p:cNvSpPr/>
          <p:nvPr/>
        </p:nvSpPr>
        <p:spPr>
          <a:xfrm>
            <a:off x="8095826" y="4061364"/>
            <a:ext cx="2857430" cy="400110"/>
          </a:xfrm>
          <a:prstGeom prst="rect">
            <a:avLst/>
          </a:prstGeom>
          <a:noFill/>
          <a:ln/>
        </p:spPr>
        <p:txBody>
          <a:bodyPr wrap="square" lIns="91440" tIns="45720" rIns="91440" bIns="45720" rtlCol="0" anchor="t">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Resource Utilization</a:t>
            </a:r>
            <a:endParaRPr lang="en-US" sz="1600" b="1" dirty="0"/>
          </a:p>
        </p:txBody>
      </p:sp>
      <p:sp>
        <p:nvSpPr>
          <p:cNvPr id="59" name="Text 26">
            <a:extLst>
              <a:ext uri="{FF2B5EF4-FFF2-40B4-BE49-F238E27FC236}">
                <a16:creationId xmlns:a16="http://schemas.microsoft.com/office/drawing/2014/main" id="{D9143947-B52A-07C7-E3BA-3A725C424C91}"/>
              </a:ext>
            </a:extLst>
          </p:cNvPr>
          <p:cNvSpPr/>
          <p:nvPr/>
        </p:nvSpPr>
        <p:spPr>
          <a:xfrm>
            <a:off x="535572" y="4864181"/>
            <a:ext cx="2580849" cy="1162113"/>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Avg/95th/99th latency rises with 0-200 concurrent users, staying within acceptable limits.</a:t>
            </a:r>
            <a:endParaRPr lang="en-US" sz="1600" b="1" dirty="0"/>
          </a:p>
        </p:txBody>
      </p:sp>
      <p:sp>
        <p:nvSpPr>
          <p:cNvPr id="60" name="Text 26">
            <a:extLst>
              <a:ext uri="{FF2B5EF4-FFF2-40B4-BE49-F238E27FC236}">
                <a16:creationId xmlns:a16="http://schemas.microsoft.com/office/drawing/2014/main" id="{498462B8-ACBF-CEB8-C44A-E194F7880243}"/>
              </a:ext>
            </a:extLst>
          </p:cNvPr>
          <p:cNvSpPr/>
          <p:nvPr/>
        </p:nvSpPr>
        <p:spPr>
          <a:xfrm>
            <a:off x="4204722" y="4998580"/>
            <a:ext cx="2856064" cy="891270"/>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Request success rate remains above 99% (near 100%) across 0-200 concurrent users.</a:t>
            </a:r>
            <a:endParaRPr lang="en-US" sz="1600" b="1" dirty="0"/>
          </a:p>
        </p:txBody>
      </p:sp>
      <p:sp>
        <p:nvSpPr>
          <p:cNvPr id="61" name="Text 26">
            <a:extLst>
              <a:ext uri="{FF2B5EF4-FFF2-40B4-BE49-F238E27FC236}">
                <a16:creationId xmlns:a16="http://schemas.microsoft.com/office/drawing/2014/main" id="{BB1C89BE-51CC-D218-93B8-949E47C04FD5}"/>
              </a:ext>
            </a:extLst>
          </p:cNvPr>
          <p:cNvSpPr/>
          <p:nvPr/>
        </p:nvSpPr>
        <p:spPr>
          <a:xfrm>
            <a:off x="8095826" y="4616454"/>
            <a:ext cx="2345024" cy="1162113"/>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GPU usage (&gt;70%) and memory (3000MB) grow with load at 200 concurrent users.</a:t>
            </a:r>
            <a:endParaRPr lang="en-US" sz="1600" b="1" dirty="0"/>
          </a:p>
        </p:txBody>
      </p:sp>
    </p:spTree>
    <p:extLst>
      <p:ext uri="{BB962C8B-B14F-4D97-AF65-F5344CB8AC3E}">
        <p14:creationId xmlns:p14="http://schemas.microsoft.com/office/powerpoint/2010/main" val="780035198"/>
      </p:ext>
    </p:extLst>
  </p:cSld>
  <p:clrMapOvr>
    <a:masterClrMapping/>
  </p:clrMapOvr>
  <p:transition>
    <p:fade/>
  </p:transition>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CA094-CEF5-0777-632A-DCEC8623F3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34D4D19-D44F-38CA-B647-5ECF507A29A0}"/>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6565E73F-837C-24E0-1830-994AD85C40C6}"/>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A563D041-FEA4-B834-43D8-1FFFE414107F}"/>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ABC002B5-F257-EC6B-56E7-F7CE0EF26C7B}"/>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614E4236-35F7-9662-2A3F-2DF9C1BA023B}"/>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817606D0-D458-F163-5FAA-7A93F901934D}"/>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9" name="Text 7">
            <a:extLst>
              <a:ext uri="{FF2B5EF4-FFF2-40B4-BE49-F238E27FC236}">
                <a16:creationId xmlns:a16="http://schemas.microsoft.com/office/drawing/2014/main" id="{61EE2B3D-5F26-B59B-BF70-10A10EA4D49D}"/>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48E7A1A7-7920-A8A0-7997-ED261AD6BDBA}"/>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5" name="Text 13">
            <a:extLst>
              <a:ext uri="{FF2B5EF4-FFF2-40B4-BE49-F238E27FC236}">
                <a16:creationId xmlns:a16="http://schemas.microsoft.com/office/drawing/2014/main" id="{C2995EEC-DDC1-8E98-7153-C7AF945C3C79}"/>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BF6BE90F-C903-A09E-9FEE-351C2A2AA30E}"/>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11948792-5000-F7AC-B096-6B6067B8372F}"/>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7F7DD7BD-D583-C127-F5A1-02DA317A5533}"/>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1F5F710C-7DB5-B16F-1A5A-D62DC149F4A2}"/>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B18D43BD-51E4-D0C7-9A83-113865033C8A}"/>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10D8272A-E4AC-FF21-A60B-521C923E1610}"/>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7865116D-DD6A-64FE-1695-0A3C7F443098}"/>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9" name="Text 27">
            <a:extLst>
              <a:ext uri="{FF2B5EF4-FFF2-40B4-BE49-F238E27FC236}">
                <a16:creationId xmlns:a16="http://schemas.microsoft.com/office/drawing/2014/main" id="{E72C8326-0B6A-7DD7-1398-5B08A5132192}"/>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7E59C061-158F-B987-9463-2146CC6B57A9}"/>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425D8804-0474-A7F8-CD3F-8B86CBA9CE38}"/>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4ECF3F21-AB00-1858-3A83-37B3FF6FB3E7}"/>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dirty="0">
                <a:solidFill>
                  <a:srgbClr val="000000"/>
                </a:solidFill>
                <a:latin typeface="MiSans" pitchFamily="34" charset="0"/>
                <a:ea typeface="MiSans" pitchFamily="34" charset="-122"/>
                <a:cs typeface="MiSans" pitchFamily="34" charset="-120"/>
              </a:rPr>
              <a:t>04- Testing Result: F1 Score Comparison</a:t>
            </a:r>
            <a:endParaRPr lang="en-US" sz="1600" dirty="0"/>
          </a:p>
        </p:txBody>
      </p:sp>
      <p:sp>
        <p:nvSpPr>
          <p:cNvPr id="33" name="Shape 31">
            <a:extLst>
              <a:ext uri="{FF2B5EF4-FFF2-40B4-BE49-F238E27FC236}">
                <a16:creationId xmlns:a16="http://schemas.microsoft.com/office/drawing/2014/main" id="{FFA1541C-7BEC-934D-6EF7-20E577027047}"/>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BA4C3C91-962D-4036-1B0E-5DD2099AF904}"/>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45DF9A92-8C50-9038-905D-ED7655096E62}"/>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7" name="Text 35">
            <a:extLst>
              <a:ext uri="{FF2B5EF4-FFF2-40B4-BE49-F238E27FC236}">
                <a16:creationId xmlns:a16="http://schemas.microsoft.com/office/drawing/2014/main" id="{FBDCA412-98C8-A3FE-9CEA-477B262011DE}"/>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B13A417F-1984-90B2-52EC-876C510D415B}"/>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CB8FACAF-DC02-399D-872C-4A8DBF7CD512}"/>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0E77424D-0BEF-92F1-BBCC-4D9EE95C4CA5}"/>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53" name="图片 52">
            <a:extLst>
              <a:ext uri="{FF2B5EF4-FFF2-40B4-BE49-F238E27FC236}">
                <a16:creationId xmlns:a16="http://schemas.microsoft.com/office/drawing/2014/main" id="{77F72F07-2A06-CCD3-CD63-07C36F78327D}"/>
              </a:ext>
            </a:extLst>
          </p:cNvPr>
          <p:cNvPicPr>
            <a:picLocks noChangeAspect="1"/>
          </p:cNvPicPr>
          <p:nvPr/>
        </p:nvPicPr>
        <p:blipFill>
          <a:blip r:embed="rId4"/>
          <a:stretch>
            <a:fillRect/>
          </a:stretch>
        </p:blipFill>
        <p:spPr>
          <a:xfrm>
            <a:off x="2191746" y="899681"/>
            <a:ext cx="7558636" cy="4667210"/>
          </a:xfrm>
          <a:prstGeom prst="rect">
            <a:avLst/>
          </a:prstGeom>
        </p:spPr>
      </p:pic>
      <p:sp>
        <p:nvSpPr>
          <p:cNvPr id="10" name="Text 26">
            <a:extLst>
              <a:ext uri="{FF2B5EF4-FFF2-40B4-BE49-F238E27FC236}">
                <a16:creationId xmlns:a16="http://schemas.microsoft.com/office/drawing/2014/main" id="{49C466C4-E0D3-B585-DA38-B0BC166D143E}"/>
              </a:ext>
            </a:extLst>
          </p:cNvPr>
          <p:cNvSpPr/>
          <p:nvPr/>
        </p:nvSpPr>
        <p:spPr>
          <a:xfrm>
            <a:off x="1672884" y="5641316"/>
            <a:ext cx="9258986" cy="891270"/>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This chart compares the F1 scores of multiple log analysis methods (e.g., </a:t>
            </a:r>
            <a:r>
              <a:rPr lang="en-US" sz="1600" b="1" dirty="0" err="1">
                <a:solidFill>
                  <a:srgbClr val="000000"/>
                </a:solidFill>
                <a:latin typeface="MiSans" pitchFamily="34" charset="0"/>
                <a:ea typeface="MiSans" pitchFamily="34" charset="-122"/>
                <a:cs typeface="MiSans" pitchFamily="34" charset="-120"/>
              </a:rPr>
              <a:t>FastLogD</a:t>
            </a:r>
            <a:r>
              <a:rPr lang="en-US" sz="1600" b="1" dirty="0">
                <a:solidFill>
                  <a:srgbClr val="000000"/>
                </a:solidFill>
                <a:latin typeface="MiSans" pitchFamily="34" charset="0"/>
                <a:ea typeface="MiSans" pitchFamily="34" charset="-122"/>
                <a:cs typeface="MiSans" pitchFamily="34" charset="-120"/>
              </a:rPr>
              <a:t>, </a:t>
            </a:r>
            <a:r>
              <a:rPr lang="en-US" sz="1600" b="1" dirty="0" err="1">
                <a:solidFill>
                  <a:srgbClr val="000000"/>
                </a:solidFill>
                <a:latin typeface="MiSans" pitchFamily="34" charset="0"/>
                <a:ea typeface="MiSans" pitchFamily="34" charset="-122"/>
                <a:cs typeface="MiSans" pitchFamily="34" charset="-120"/>
              </a:rPr>
              <a:t>LogLLM</a:t>
            </a:r>
            <a:r>
              <a:rPr lang="en-US" sz="1600" b="1" dirty="0">
                <a:solidFill>
                  <a:srgbClr val="000000"/>
                </a:solidFill>
                <a:latin typeface="MiSans" pitchFamily="34" charset="0"/>
                <a:ea typeface="MiSans" pitchFamily="34" charset="-122"/>
                <a:cs typeface="MiSans" pitchFamily="34" charset="-120"/>
              </a:rPr>
              <a:t>). </a:t>
            </a:r>
            <a:r>
              <a:rPr lang="en-US" sz="1600" b="1" dirty="0" err="1">
                <a:solidFill>
                  <a:srgbClr val="000000"/>
                </a:solidFill>
                <a:latin typeface="MiSans" pitchFamily="34" charset="0"/>
                <a:ea typeface="MiSans" pitchFamily="34" charset="-122"/>
                <a:cs typeface="MiSans" pitchFamily="34" charset="-120"/>
              </a:rPr>
              <a:t>LogLLM</a:t>
            </a:r>
            <a:r>
              <a:rPr lang="en-US" sz="1600" b="1" dirty="0">
                <a:solidFill>
                  <a:srgbClr val="000000"/>
                </a:solidFill>
                <a:latin typeface="MiSans" pitchFamily="34" charset="0"/>
                <a:ea typeface="MiSans" pitchFamily="34" charset="-122"/>
                <a:cs typeface="MiSans" pitchFamily="34" charset="-120"/>
              </a:rPr>
              <a:t> (rightmost) achieves the highest F1 score (near 1.0), outperforming other methods (e.g., HDFS, IGL) and exceeding the average F1 level significantly.</a:t>
            </a:r>
            <a:endParaRPr lang="en-US" sz="1600" b="1" dirty="0"/>
          </a:p>
        </p:txBody>
      </p:sp>
    </p:spTree>
    <p:extLst>
      <p:ext uri="{BB962C8B-B14F-4D97-AF65-F5344CB8AC3E}">
        <p14:creationId xmlns:p14="http://schemas.microsoft.com/office/powerpoint/2010/main" val="2325310340"/>
      </p:ext>
    </p:extLst>
  </p:cSld>
  <p:clrMapOvr>
    <a:masterClrMapping/>
  </p:clrMapOvr>
  <p:transition>
    <p:fade/>
  </p:transition>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AEA4F-CA12-F3D7-DE97-02B3A78EF7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25BEF0-0C2C-4C95-D2E8-81CC4015C550}"/>
              </a:ext>
            </a:extLst>
          </p:cNvPr>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a:extLst>
              <a:ext uri="{FF2B5EF4-FFF2-40B4-BE49-F238E27FC236}">
                <a16:creationId xmlns:a16="http://schemas.microsoft.com/office/drawing/2014/main" id="{A80B258D-A611-3113-E70C-423A3C3EC716}"/>
              </a:ext>
            </a:extLst>
          </p:cNvPr>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2E4318BC-65F5-7CE4-FA23-399E99FA785F}"/>
              </a:ext>
            </a:extLst>
          </p:cNvPr>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a:extLst>
              <a:ext uri="{FF2B5EF4-FFF2-40B4-BE49-F238E27FC236}">
                <a16:creationId xmlns:a16="http://schemas.microsoft.com/office/drawing/2014/main" id="{006C6FB1-7A82-AAD2-84D8-5C201E869FFF}"/>
              </a:ext>
            </a:extLst>
          </p:cNvPr>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FF9E9EA0-4CA5-E5D6-3748-D01101057DC6}"/>
              </a:ext>
            </a:extLst>
          </p:cNvPr>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a:extLst>
              <a:ext uri="{FF2B5EF4-FFF2-40B4-BE49-F238E27FC236}">
                <a16:creationId xmlns:a16="http://schemas.microsoft.com/office/drawing/2014/main" id="{EF254216-ADF2-A479-748D-77FA7AE83C04}"/>
              </a:ext>
            </a:extLst>
          </p:cNvPr>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a:extLst>
              <a:ext uri="{FF2B5EF4-FFF2-40B4-BE49-F238E27FC236}">
                <a16:creationId xmlns:a16="http://schemas.microsoft.com/office/drawing/2014/main" id="{D63E4F1F-B5F8-504A-C74F-DD16DB0727EA}"/>
              </a:ext>
            </a:extLst>
          </p:cNvPr>
          <p:cNvPicPr>
            <a:picLocks noChangeAspect="1"/>
          </p:cNvPicPr>
          <p:nvPr/>
        </p:nvPicPr>
        <p:blipFill>
          <a:blip r:embed="rId3"/>
          <a:stretch>
            <a:fillRect/>
          </a:stretch>
        </p:blipFill>
        <p:spPr>
          <a:xfrm>
            <a:off x="2904490" y="962025"/>
            <a:ext cx="6382385" cy="6108065"/>
          </a:xfrm>
          <a:prstGeom prst="rect">
            <a:avLst/>
          </a:prstGeom>
        </p:spPr>
      </p:pic>
      <p:sp>
        <p:nvSpPr>
          <p:cNvPr id="9" name="Text 6">
            <a:extLst>
              <a:ext uri="{FF2B5EF4-FFF2-40B4-BE49-F238E27FC236}">
                <a16:creationId xmlns:a16="http://schemas.microsoft.com/office/drawing/2014/main" id="{35D193DD-0F1E-CA52-BEB6-455BDC5ECAB3}"/>
              </a:ext>
            </a:extLst>
          </p:cNvPr>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en-US" altLang="zh-CN" sz="5400" b="1">
                <a:solidFill>
                  <a:srgbClr val="000000"/>
                </a:solidFill>
                <a:latin typeface="MiSans" pitchFamily="34" charset="0"/>
                <a:ea typeface="MiSans" pitchFamily="34" charset="-122"/>
                <a:cs typeface="MiSans" pitchFamily="34" charset="-120"/>
              </a:rPr>
              <a:t>Project Outcomes and Future Work</a:t>
            </a:r>
            <a:endParaRPr lang="en-US" sz="1600" b="1" dirty="0"/>
          </a:p>
        </p:txBody>
      </p:sp>
      <p:sp>
        <p:nvSpPr>
          <p:cNvPr id="10" name="Shape 7">
            <a:extLst>
              <a:ext uri="{FF2B5EF4-FFF2-40B4-BE49-F238E27FC236}">
                <a16:creationId xmlns:a16="http://schemas.microsoft.com/office/drawing/2014/main" id="{B62BC379-8A9A-80D1-54AC-3EC55DEA1ADB}"/>
              </a:ext>
            </a:extLst>
          </p:cNvPr>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a:extLst>
              <a:ext uri="{FF2B5EF4-FFF2-40B4-BE49-F238E27FC236}">
                <a16:creationId xmlns:a16="http://schemas.microsoft.com/office/drawing/2014/main" id="{7DDD1D00-1AD6-416C-4E88-EAE438A44F80}"/>
              </a:ext>
            </a:extLst>
          </p:cNvPr>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a:extLst>
              <a:ext uri="{FF2B5EF4-FFF2-40B4-BE49-F238E27FC236}">
                <a16:creationId xmlns:a16="http://schemas.microsoft.com/office/drawing/2014/main" id="{57B1DFF5-98C9-63BF-981D-33A213F3D0EF}"/>
              </a:ext>
            </a:extLst>
          </p:cNvPr>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a:extLst>
              <a:ext uri="{FF2B5EF4-FFF2-40B4-BE49-F238E27FC236}">
                <a16:creationId xmlns:a16="http://schemas.microsoft.com/office/drawing/2014/main" id="{687D33B8-5A12-DB5F-EDE2-D67A78C563EE}"/>
              </a:ext>
            </a:extLst>
          </p:cNvPr>
          <p:cNvSpPr/>
          <p:nvPr/>
        </p:nvSpPr>
        <p:spPr>
          <a:xfrm>
            <a:off x="2725420" y="1268730"/>
            <a:ext cx="6598920" cy="1807845"/>
          </a:xfrm>
          <a:prstGeom prst="rect">
            <a:avLst/>
          </a:prstGeom>
          <a:solidFill>
            <a:srgbClr val="000000">
              <a:alpha val="0"/>
            </a:srgbClr>
          </a:solidFill>
          <a:ln/>
        </p:spPr>
      </p:sp>
      <p:sp>
        <p:nvSpPr>
          <p:cNvPr id="14" name="Text 11">
            <a:extLst>
              <a:ext uri="{FF2B5EF4-FFF2-40B4-BE49-F238E27FC236}">
                <a16:creationId xmlns:a16="http://schemas.microsoft.com/office/drawing/2014/main" id="{A2824A2D-3174-504E-8583-65966BB08401}"/>
              </a:ext>
            </a:extLst>
          </p:cNvPr>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05</a:t>
            </a:r>
            <a:endParaRPr lang="en-US" sz="1600" dirty="0"/>
          </a:p>
        </p:txBody>
      </p:sp>
    </p:spTree>
    <p:extLst>
      <p:ext uri="{BB962C8B-B14F-4D97-AF65-F5344CB8AC3E}">
        <p14:creationId xmlns:p14="http://schemas.microsoft.com/office/powerpoint/2010/main" val="120475348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848360" y="6346190"/>
            <a:ext cx="163338" cy="153035"/>
          </a:xfrm>
          <a:prstGeom prst="rect">
            <a:avLst/>
          </a:prstGeom>
          <a:solidFill>
            <a:srgbClr val="004CC0"/>
          </a:solidFill>
          <a:ln/>
        </p:spPr>
      </p:sp>
      <p:sp>
        <p:nvSpPr>
          <p:cNvPr id="8" name="Text 6"/>
          <p:cNvSpPr/>
          <p:nvPr/>
        </p:nvSpPr>
        <p:spPr>
          <a:xfrm>
            <a:off x="848360"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1122291" y="6346190"/>
            <a:ext cx="163338" cy="153035"/>
          </a:xfrm>
          <a:prstGeom prst="rect">
            <a:avLst/>
          </a:prstGeom>
          <a:solidFill>
            <a:srgbClr val="004CC0"/>
          </a:solidFill>
          <a:ln/>
        </p:spPr>
      </p:sp>
      <p:sp>
        <p:nvSpPr>
          <p:cNvPr id="10" name="Text 8"/>
          <p:cNvSpPr/>
          <p:nvPr/>
        </p:nvSpPr>
        <p:spPr>
          <a:xfrm>
            <a:off x="1122291"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Shape 9"/>
          <p:cNvSpPr/>
          <p:nvPr/>
        </p:nvSpPr>
        <p:spPr>
          <a:xfrm>
            <a:off x="1396222" y="6346190"/>
            <a:ext cx="163338" cy="153035"/>
          </a:xfrm>
          <a:prstGeom prst="rect">
            <a:avLst/>
          </a:prstGeom>
          <a:solidFill>
            <a:srgbClr val="004CC0"/>
          </a:solidFill>
          <a:ln/>
        </p:spPr>
      </p:sp>
      <p:sp>
        <p:nvSpPr>
          <p:cNvPr id="12" name="Text 10"/>
          <p:cNvSpPr/>
          <p:nvPr/>
        </p:nvSpPr>
        <p:spPr>
          <a:xfrm>
            <a:off x="1396222"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1"/>
          <p:cNvSpPr/>
          <p:nvPr/>
        </p:nvSpPr>
        <p:spPr>
          <a:xfrm>
            <a:off x="663575" y="1241743"/>
            <a:ext cx="2590777" cy="4768850"/>
          </a:xfrm>
          <a:prstGeom prst="roundRect">
            <a:avLst>
              <a:gd name="adj" fmla="val 50000"/>
            </a:avLst>
          </a:prstGeom>
          <a:solidFill>
            <a:srgbClr val="000000">
              <a:alpha val="0"/>
            </a:srgbClr>
          </a:solidFill>
          <a:ln w="12700">
            <a:solidFill>
              <a:srgbClr val="004CC0"/>
            </a:solidFill>
            <a:prstDash val="solid"/>
          </a:ln>
        </p:spPr>
      </p:sp>
      <p:sp>
        <p:nvSpPr>
          <p:cNvPr id="14" name="Text 12"/>
          <p:cNvSpPr/>
          <p:nvPr/>
        </p:nvSpPr>
        <p:spPr>
          <a:xfrm>
            <a:off x="663575" y="1241743"/>
            <a:ext cx="2590777"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p:cNvSpPr/>
          <p:nvPr/>
        </p:nvSpPr>
        <p:spPr>
          <a:xfrm>
            <a:off x="3421992" y="1241743"/>
            <a:ext cx="2590165" cy="4768850"/>
          </a:xfrm>
          <a:prstGeom prst="roundRect">
            <a:avLst>
              <a:gd name="adj" fmla="val 50000"/>
            </a:avLst>
          </a:prstGeom>
          <a:solidFill>
            <a:srgbClr val="004CC0"/>
          </a:solidFill>
          <a:ln w="12700">
            <a:solidFill>
              <a:srgbClr val="004CC0"/>
            </a:solidFill>
            <a:prstDash val="solid"/>
          </a:ln>
        </p:spPr>
      </p:sp>
      <p:sp>
        <p:nvSpPr>
          <p:cNvPr id="16" name="Text 14"/>
          <p:cNvSpPr/>
          <p:nvPr/>
        </p:nvSpPr>
        <p:spPr>
          <a:xfrm>
            <a:off x="3421992" y="1241743"/>
            <a:ext cx="2590165"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5"/>
          <p:cNvSpPr/>
          <p:nvPr/>
        </p:nvSpPr>
        <p:spPr>
          <a:xfrm>
            <a:off x="6179797" y="1241743"/>
            <a:ext cx="2590165" cy="4768850"/>
          </a:xfrm>
          <a:prstGeom prst="roundRect">
            <a:avLst>
              <a:gd name="adj" fmla="val 50000"/>
            </a:avLst>
          </a:prstGeom>
          <a:solidFill>
            <a:srgbClr val="000000">
              <a:alpha val="0"/>
            </a:srgbClr>
          </a:solidFill>
          <a:ln w="12700">
            <a:solidFill>
              <a:srgbClr val="004CC0"/>
            </a:solidFill>
            <a:prstDash val="solid"/>
          </a:ln>
        </p:spPr>
      </p:sp>
      <p:sp>
        <p:nvSpPr>
          <p:cNvPr id="18" name="Text 16"/>
          <p:cNvSpPr/>
          <p:nvPr/>
        </p:nvSpPr>
        <p:spPr>
          <a:xfrm>
            <a:off x="6179797" y="1241743"/>
            <a:ext cx="2590165"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7"/>
          <p:cNvSpPr/>
          <p:nvPr/>
        </p:nvSpPr>
        <p:spPr>
          <a:xfrm>
            <a:off x="8937602" y="1241743"/>
            <a:ext cx="2590165" cy="4768850"/>
          </a:xfrm>
          <a:prstGeom prst="roundRect">
            <a:avLst>
              <a:gd name="adj" fmla="val 50000"/>
            </a:avLst>
          </a:prstGeom>
          <a:solidFill>
            <a:srgbClr val="004CC0"/>
          </a:solidFill>
          <a:ln w="12700">
            <a:solidFill>
              <a:srgbClr val="004CC0"/>
            </a:solidFill>
            <a:prstDash val="solid"/>
          </a:ln>
        </p:spPr>
      </p:sp>
      <p:sp>
        <p:nvSpPr>
          <p:cNvPr id="20" name="Text 18"/>
          <p:cNvSpPr/>
          <p:nvPr/>
        </p:nvSpPr>
        <p:spPr>
          <a:xfrm>
            <a:off x="8937602" y="1241743"/>
            <a:ext cx="2590165"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Text 19"/>
          <p:cNvSpPr/>
          <p:nvPr/>
        </p:nvSpPr>
        <p:spPr>
          <a:xfrm>
            <a:off x="582930" y="211455"/>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05-Process, Tech, Tools &amp; Team Outcomes</a:t>
            </a:r>
            <a:endPar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2" name="Text 20"/>
          <p:cNvSpPr/>
          <p:nvPr/>
        </p:nvSpPr>
        <p:spPr>
          <a:xfrm>
            <a:off x="921244" y="1770698"/>
            <a:ext cx="2350183"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4CC0"/>
                </a:solidFill>
                <a:effectLst/>
                <a:uLnTx/>
                <a:uFillTx/>
                <a:latin typeface="MiSans" pitchFamily="34" charset="0"/>
                <a:ea typeface="MiSans" pitchFamily="34" charset="-122"/>
                <a:cs typeface="MiSans" pitchFamily="34" charset="-120"/>
              </a:rPr>
              <a:t>Process Outcomes</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Text 21"/>
          <p:cNvSpPr/>
          <p:nvPr/>
        </p:nvSpPr>
        <p:spPr>
          <a:xfrm>
            <a:off x="789723" y="2477943"/>
            <a:ext cx="2427912" cy="2643505"/>
          </a:xfrm>
          <a:prstGeom prst="rect">
            <a:avLst/>
          </a:prstGeom>
          <a:noFill/>
          <a:ln/>
        </p:spPr>
        <p:txBody>
          <a:bodyPr wrap="square" lIns="0" tIns="0" rIns="0" bIns="0" rtlCol="0" anchor="t"/>
          <a:lstStyle/>
          <a:p>
            <a:pPr lvl="0" algn="just">
              <a:lnSpc>
                <a:spcPct val="130000"/>
              </a:lnSpc>
              <a:defRPr/>
            </a:pPr>
            <a:r>
              <a:rPr lang="en-US" altLang="zh-CN" sz="1600" b="1"/>
              <a:t>Adopted Agile Scrum framework (12 weeks, 3 Sprints) to standardize workflows (requirements gathering, prototyping, etc.). Sprint task completion rate exceeded 90%, aligned with burndown milestones to ensure on-time delivery.</a:t>
            </a: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Text 22"/>
          <p:cNvSpPr/>
          <p:nvPr/>
        </p:nvSpPr>
        <p:spPr>
          <a:xfrm>
            <a:off x="3559340" y="1770698"/>
            <a:ext cx="2416399"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Technical Outcomes</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3"/>
          <p:cNvSpPr/>
          <p:nvPr/>
        </p:nvSpPr>
        <p:spPr>
          <a:xfrm>
            <a:off x="3522922" y="2481263"/>
            <a:ext cx="2416399" cy="2643505"/>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Key innovations: ① On-premises LogLLM deployment (eliminated 3rd-party API dependency); ② Dynamic privacy masking (100% accuracy for sensitive data); ③ Anomaly priority ranking with solutions.</a:t>
            </a:r>
            <a:endParaRPr kumimoji="0" lang="en-US"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4"/>
          <p:cNvSpPr/>
          <p:nvPr/>
        </p:nvSpPr>
        <p:spPr>
          <a:xfrm>
            <a:off x="6557644" y="1770698"/>
            <a:ext cx="2092080"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4CC0"/>
                </a:solidFill>
                <a:effectLst/>
                <a:uLnTx/>
                <a:uFillTx/>
                <a:latin typeface="MiSans" pitchFamily="34" charset="0"/>
                <a:ea typeface="MiSans" pitchFamily="34" charset="-122"/>
                <a:cs typeface="MiSans" pitchFamily="34" charset="-120"/>
              </a:rPr>
              <a:t>Tool Outcomes</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5"/>
          <p:cNvSpPr/>
          <p:nvPr/>
        </p:nvSpPr>
        <p:spPr>
          <a:xfrm>
            <a:off x="6317168" y="2481263"/>
            <a:ext cx="2296138" cy="2643505"/>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Completed VS Code plugin: Supports unlimited log length (streaming/chunking), parses 8 anomaly types, 92.3% recognition accuracy, and faster response than tools like SigLLM.</a:t>
            </a:r>
            <a:endParaRPr kumimoji="0" lang="en-US"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6"/>
          <p:cNvSpPr/>
          <p:nvPr/>
        </p:nvSpPr>
        <p:spPr>
          <a:xfrm>
            <a:off x="9346316" y="1770698"/>
            <a:ext cx="2092080"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Team Outcomes</a:t>
            </a:r>
            <a:endParaRPr kumimoji="0" lang="en-US"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27"/>
          <p:cNvSpPr/>
          <p:nvPr/>
        </p:nvSpPr>
        <p:spPr>
          <a:xfrm>
            <a:off x="9195211" y="2481263"/>
            <a:ext cx="2092080" cy="2643505"/>
          </a:xfrm>
          <a:prstGeom prst="rect">
            <a:avLst/>
          </a:prstGeom>
          <a:noFill/>
          <a:ln/>
        </p:spPr>
        <p:txBody>
          <a:bodyPr wrap="square" lIns="0" tIns="0" rIns="0" bIns="0" rtlCol="0" anchor="t"/>
          <a:lstStyle/>
          <a:p>
            <a:pPr marL="0" marR="0" lvl="0" indent="0" algn="just" defTabSz="914400" rtl="0" eaLnBrk="0" fontAlgn="auto" latinLnBrk="1" hangingPunct="1">
              <a:lnSpc>
                <a:spcPct val="13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Cross-functional collaboration (front-end/back-end/algorithm teams) with 3 best practices: modular architecture, standardized API communication, log edge-case test design.</a:t>
            </a:r>
            <a:endParaRPr kumimoji="0" lang="en-US"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19">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42-d3jnsbgs8jdo4os5dm10.png"/>
          <p:cNvPicPr>
            <a:picLocks noChangeAspect="1"/>
          </p:cNvPicPr>
          <p:nvPr/>
        </p:nvPicPr>
        <p:blipFill>
          <a:blip r:embed="rId3"/>
          <a:srcRect t="84" b="84"/>
          <a:stretch/>
        </p:blipFill>
        <p:spPr>
          <a:xfrm>
            <a:off x="-7620" y="1355090"/>
            <a:ext cx="12192000" cy="2270125"/>
          </a:xfrm>
          <a:prstGeom prst="rect">
            <a:avLst/>
          </a:prstGeom>
        </p:spPr>
      </p:pic>
      <p:sp>
        <p:nvSpPr>
          <p:cNvPr id="3" name="Shape 0"/>
          <p:cNvSpPr/>
          <p:nvPr/>
        </p:nvSpPr>
        <p:spPr>
          <a:xfrm flipV="1">
            <a:off x="-7620" y="1355090"/>
            <a:ext cx="6114412" cy="2271395"/>
          </a:xfrm>
          <a:prstGeom prst="round1Rect">
            <a:avLst>
              <a:gd name="adj" fmla="val 31325"/>
            </a:avLst>
          </a:prstGeom>
          <a:gradFill flip="none" rotWithShape="1">
            <a:gsLst>
              <a:gs pos="0">
                <a:srgbClr val="004CC0">
                  <a:alpha val="62000"/>
                </a:srgbClr>
              </a:gs>
              <a:gs pos="29000">
                <a:srgbClr val="004CC0">
                  <a:alpha val="62000"/>
                </a:srgbClr>
              </a:gs>
              <a:gs pos="75000">
                <a:srgbClr val="004CC0">
                  <a:alpha val="80000"/>
                </a:srgbClr>
              </a:gs>
              <a:gs pos="100000">
                <a:srgbClr val="004CC0"/>
              </a:gs>
            </a:gsLst>
            <a:lin ang="16200000" scaled="1"/>
          </a:gradFill>
          <a:ln/>
        </p:spPr>
      </p:sp>
      <p:sp>
        <p:nvSpPr>
          <p:cNvPr id="4" name="Text 1"/>
          <p:cNvSpPr/>
          <p:nvPr/>
        </p:nvSpPr>
        <p:spPr>
          <a:xfrm>
            <a:off x="-7620" y="1355090"/>
            <a:ext cx="6114412" cy="2271395"/>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flipH="1" flipV="1">
            <a:off x="6093390" y="1355090"/>
            <a:ext cx="6114412" cy="2271395"/>
          </a:xfrm>
          <a:prstGeom prst="round1Rect">
            <a:avLst>
              <a:gd name="adj" fmla="val 31325"/>
            </a:avLst>
          </a:prstGeom>
          <a:gradFill flip="none" rotWithShape="1">
            <a:gsLst>
              <a:gs pos="0">
                <a:srgbClr val="004CC0">
                  <a:alpha val="62000"/>
                </a:srgbClr>
              </a:gs>
              <a:gs pos="29000">
                <a:srgbClr val="004CC0">
                  <a:alpha val="62000"/>
                </a:srgbClr>
              </a:gs>
              <a:gs pos="75000">
                <a:srgbClr val="004CC0">
                  <a:alpha val="80000"/>
                </a:srgbClr>
              </a:gs>
              <a:gs pos="100000">
                <a:srgbClr val="004CC0"/>
              </a:gs>
            </a:gsLst>
            <a:lin ang="16200000" scaled="1"/>
          </a:gradFill>
          <a:ln/>
        </p:spPr>
      </p:sp>
      <p:sp>
        <p:nvSpPr>
          <p:cNvPr id="6" name="Text 3"/>
          <p:cNvSpPr/>
          <p:nvPr/>
        </p:nvSpPr>
        <p:spPr>
          <a:xfrm>
            <a:off x="6093390" y="1355090"/>
            <a:ext cx="6114412" cy="227139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4"/>
          <p:cNvSpPr/>
          <p:nvPr/>
        </p:nvSpPr>
        <p:spPr>
          <a:xfrm>
            <a:off x="680720" y="6346190"/>
            <a:ext cx="163338" cy="153035"/>
          </a:xfrm>
          <a:prstGeom prst="rect">
            <a:avLst/>
          </a:prstGeom>
          <a:solidFill>
            <a:srgbClr val="004CC0"/>
          </a:solidFill>
          <a:ln/>
        </p:spPr>
      </p:sp>
      <p:sp>
        <p:nvSpPr>
          <p:cNvPr id="8" name="Text 5"/>
          <p:cNvSpPr/>
          <p:nvPr/>
        </p:nvSpPr>
        <p:spPr>
          <a:xfrm>
            <a:off x="68072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6"/>
          <p:cNvSpPr/>
          <p:nvPr/>
        </p:nvSpPr>
        <p:spPr>
          <a:xfrm>
            <a:off x="954651" y="6346190"/>
            <a:ext cx="163338" cy="153035"/>
          </a:xfrm>
          <a:prstGeom prst="rect">
            <a:avLst/>
          </a:prstGeom>
          <a:solidFill>
            <a:srgbClr val="004CC0"/>
          </a:solidFill>
          <a:ln/>
        </p:spPr>
      </p:sp>
      <p:sp>
        <p:nvSpPr>
          <p:cNvPr id="10" name="Text 7"/>
          <p:cNvSpPr/>
          <p:nvPr/>
        </p:nvSpPr>
        <p:spPr>
          <a:xfrm>
            <a:off x="95465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8"/>
          <p:cNvSpPr/>
          <p:nvPr/>
        </p:nvSpPr>
        <p:spPr>
          <a:xfrm>
            <a:off x="1228582" y="6346190"/>
            <a:ext cx="163338" cy="153035"/>
          </a:xfrm>
          <a:prstGeom prst="rect">
            <a:avLst/>
          </a:prstGeom>
          <a:solidFill>
            <a:srgbClr val="004CC0"/>
          </a:solidFill>
          <a:ln/>
        </p:spPr>
      </p:sp>
      <p:sp>
        <p:nvSpPr>
          <p:cNvPr id="12" name="Text 9"/>
          <p:cNvSpPr/>
          <p:nvPr/>
        </p:nvSpPr>
        <p:spPr>
          <a:xfrm>
            <a:off x="122858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3" name="Text 10"/>
          <p:cNvSpPr/>
          <p:nvPr/>
        </p:nvSpPr>
        <p:spPr>
          <a:xfrm>
            <a:off x="1200150" y="547370"/>
            <a:ext cx="10151745" cy="584775"/>
          </a:xfrm>
          <a:prstGeom prst="rect">
            <a:avLst/>
          </a:prstGeom>
          <a:noFill/>
          <a:ln/>
        </p:spPr>
        <p:txBody>
          <a:bodyPr wrap="square" lIns="91440" tIns="45720" rIns="91440" bIns="45720" rtlCol="0" anchor="t">
            <a:spAutoFit/>
          </a:bodyPr>
          <a:lstStyle/>
          <a:p>
            <a:pPr>
              <a:lnSpc>
                <a:spcPct val="100000"/>
              </a:lnSpc>
            </a:pPr>
            <a:r>
              <a:rPr lang="en-US" sz="3200" b="1">
                <a:solidFill>
                  <a:srgbClr val="000000"/>
                </a:solidFill>
                <a:latin typeface="MiSans" pitchFamily="34" charset="0"/>
                <a:ea typeface="MiSans" pitchFamily="34" charset="-122"/>
                <a:cs typeface="MiSans" pitchFamily="34" charset="-120"/>
              </a:rPr>
              <a:t>05- Competitive </a:t>
            </a:r>
            <a:r>
              <a:rPr lang="en-US" sz="3200" b="1" dirty="0">
                <a:solidFill>
                  <a:srgbClr val="000000"/>
                </a:solidFill>
                <a:latin typeface="MiSans" pitchFamily="34" charset="0"/>
                <a:ea typeface="MiSans" pitchFamily="34" charset="-122"/>
                <a:cs typeface="MiSans" pitchFamily="34" charset="-120"/>
              </a:rPr>
              <a:t>Analysis</a:t>
            </a:r>
            <a:endParaRPr lang="en-US" sz="1600" dirty="0"/>
          </a:p>
        </p:txBody>
      </p:sp>
      <p:sp>
        <p:nvSpPr>
          <p:cNvPr id="14" name="Shape 11"/>
          <p:cNvSpPr/>
          <p:nvPr/>
        </p:nvSpPr>
        <p:spPr>
          <a:xfrm>
            <a:off x="11106785" y="693737"/>
            <a:ext cx="235520" cy="0"/>
          </a:xfrm>
          <a:prstGeom prst="line">
            <a:avLst/>
          </a:prstGeom>
          <a:noFill/>
          <a:ln w="31750">
            <a:solidFill>
              <a:srgbClr val="004CC0"/>
            </a:solidFill>
            <a:prstDash val="solid"/>
            <a:headEnd type="none"/>
            <a:tailEnd type="none"/>
          </a:ln>
        </p:spPr>
      </p:sp>
      <p:sp>
        <p:nvSpPr>
          <p:cNvPr id="15" name="Shape 12"/>
          <p:cNvSpPr/>
          <p:nvPr/>
        </p:nvSpPr>
        <p:spPr>
          <a:xfrm>
            <a:off x="11106785" y="754697"/>
            <a:ext cx="235520" cy="0"/>
          </a:xfrm>
          <a:prstGeom prst="line">
            <a:avLst/>
          </a:prstGeom>
          <a:noFill/>
          <a:ln w="31750">
            <a:solidFill>
              <a:srgbClr val="004CC0"/>
            </a:solidFill>
            <a:prstDash val="solid"/>
            <a:headEnd type="none"/>
            <a:tailEnd type="none"/>
          </a:ln>
        </p:spPr>
      </p:sp>
      <p:sp>
        <p:nvSpPr>
          <p:cNvPr id="16" name="Shape 13"/>
          <p:cNvSpPr/>
          <p:nvPr/>
        </p:nvSpPr>
        <p:spPr>
          <a:xfrm>
            <a:off x="11106785" y="815657"/>
            <a:ext cx="235520" cy="0"/>
          </a:xfrm>
          <a:prstGeom prst="line">
            <a:avLst/>
          </a:prstGeom>
          <a:noFill/>
          <a:ln w="31750">
            <a:solidFill>
              <a:srgbClr val="004CC0"/>
            </a:solidFill>
            <a:prstDash val="solid"/>
            <a:headEnd type="none"/>
            <a:tailEnd type="none"/>
          </a:ln>
        </p:spPr>
      </p:sp>
      <p:sp>
        <p:nvSpPr>
          <p:cNvPr id="17" name="Text 14"/>
          <p:cNvSpPr/>
          <p:nvPr/>
        </p:nvSpPr>
        <p:spPr>
          <a:xfrm>
            <a:off x="566440" y="4022090"/>
            <a:ext cx="6018632" cy="36830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1D3EBF"/>
                </a:solidFill>
                <a:latin typeface="MiSans" pitchFamily="34" charset="0"/>
                <a:ea typeface="MiSans" pitchFamily="34" charset="-122"/>
                <a:cs typeface="MiSans" pitchFamily="34" charset="-120"/>
              </a:rPr>
              <a:t>Advantages Over Existing Solutions</a:t>
            </a:r>
            <a:endParaRPr lang="en-US" sz="1600" dirty="0"/>
          </a:p>
        </p:txBody>
      </p:sp>
      <p:sp>
        <p:nvSpPr>
          <p:cNvPr id="18" name="Text 15"/>
          <p:cNvSpPr/>
          <p:nvPr/>
        </p:nvSpPr>
        <p:spPr>
          <a:xfrm>
            <a:off x="601123" y="4518025"/>
            <a:ext cx="10673878" cy="713184"/>
          </a:xfrm>
          <a:prstGeom prst="rect">
            <a:avLst/>
          </a:prstGeom>
          <a:noFill/>
          <a:ln/>
        </p:spPr>
        <p:txBody>
          <a:bodyPr wrap="square" lIns="91440" tIns="45720" rIns="91440" bIns="45720" rtlCol="0" anchor="t">
            <a:spAutoFit/>
          </a:bodyPr>
          <a:lstStyle/>
          <a:p>
            <a:pPr algn="just">
              <a:lnSpc>
                <a:spcPct val="130000"/>
              </a:lnSpc>
            </a:pPr>
            <a:r>
              <a:rPr lang="en-US" sz="1800" dirty="0">
                <a:solidFill>
                  <a:srgbClr val="000000"/>
                </a:solidFill>
                <a:latin typeface="MiSans" pitchFamily="34" charset="0"/>
                <a:ea typeface="MiSans" pitchFamily="34" charset="-122"/>
                <a:cs typeface="MiSans" pitchFamily="34" charset="-120"/>
              </a:rPr>
              <a:t>Our plugin offers AI-powered anomaly detection, real-time analysis, semantic understanding, and native VS Code integration. These features set it apart from traditional tools.</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0">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flipH="1">
            <a:off x="6104271" y="1668780"/>
            <a:ext cx="6087733" cy="4074160"/>
          </a:xfrm>
          <a:prstGeom prst="round1Rect">
            <a:avLst/>
          </a:prstGeom>
          <a:solidFill>
            <a:srgbClr val="004CC0"/>
          </a:solidFill>
          <a:ln w="19050">
            <a:solidFill>
              <a:srgbClr val="004CC0"/>
            </a:solidFill>
            <a:prstDash val="solid"/>
          </a:ln>
        </p:spPr>
      </p:sp>
      <p:sp>
        <p:nvSpPr>
          <p:cNvPr id="3" name="Text 1"/>
          <p:cNvSpPr/>
          <p:nvPr/>
        </p:nvSpPr>
        <p:spPr>
          <a:xfrm>
            <a:off x="6104271" y="1668780"/>
            <a:ext cx="6087733" cy="407416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2700" y="1668780"/>
            <a:ext cx="6087733" cy="4074160"/>
          </a:xfrm>
          <a:prstGeom prst="round1Rect">
            <a:avLst/>
          </a:prstGeom>
          <a:solidFill>
            <a:srgbClr val="004CC0"/>
          </a:solidFill>
          <a:ln w="19050">
            <a:solidFill>
              <a:srgbClr val="004CC0"/>
            </a:solidFill>
            <a:prstDash val="solid"/>
          </a:ln>
        </p:spPr>
      </p:sp>
      <p:sp>
        <p:nvSpPr>
          <p:cNvPr id="5" name="Text 3"/>
          <p:cNvSpPr/>
          <p:nvPr/>
        </p:nvSpPr>
        <p:spPr>
          <a:xfrm>
            <a:off x="12700" y="1668780"/>
            <a:ext cx="6087733" cy="407416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710565" y="2973070"/>
            <a:ext cx="4860000" cy="101600"/>
          </a:xfrm>
          <a:prstGeom prst="roundRect">
            <a:avLst>
              <a:gd name="adj" fmla="val 50000"/>
            </a:avLst>
          </a:prstGeom>
          <a:gradFill flip="none" rotWithShape="1">
            <a:gsLst>
              <a:gs pos="0">
                <a:srgbClr val="FFFFFF"/>
              </a:gs>
              <a:gs pos="2000">
                <a:srgbClr val="FFFFFF"/>
              </a:gs>
              <a:gs pos="100000">
                <a:srgbClr val="FFFFFF">
                  <a:alpha val="0"/>
                </a:srgbClr>
              </a:gs>
            </a:gsLst>
            <a:lin ang="0" scaled="1"/>
          </a:gradFill>
          <a:ln/>
        </p:spPr>
      </p:sp>
      <p:sp>
        <p:nvSpPr>
          <p:cNvPr id="7" name="Text 5"/>
          <p:cNvSpPr/>
          <p:nvPr/>
        </p:nvSpPr>
        <p:spPr>
          <a:xfrm>
            <a:off x="710565" y="2973070"/>
            <a:ext cx="4860000" cy="1016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flipH="1">
            <a:off x="6806565" y="2973070"/>
            <a:ext cx="4860000" cy="101600"/>
          </a:xfrm>
          <a:prstGeom prst="roundRect">
            <a:avLst>
              <a:gd name="adj" fmla="val 50000"/>
            </a:avLst>
          </a:prstGeom>
          <a:gradFill flip="none" rotWithShape="1">
            <a:gsLst>
              <a:gs pos="0">
                <a:srgbClr val="FFFFFF"/>
              </a:gs>
              <a:gs pos="2000">
                <a:srgbClr val="FFFFFF"/>
              </a:gs>
              <a:gs pos="100000">
                <a:srgbClr val="FFFFFF">
                  <a:alpha val="0"/>
                </a:srgbClr>
              </a:gs>
            </a:gsLst>
            <a:lin ang="0" scaled="1"/>
          </a:gradFill>
          <a:ln/>
        </p:spPr>
      </p:sp>
      <p:sp>
        <p:nvSpPr>
          <p:cNvPr id="9" name="Text 7"/>
          <p:cNvSpPr/>
          <p:nvPr/>
        </p:nvSpPr>
        <p:spPr>
          <a:xfrm>
            <a:off x="6806565" y="2973070"/>
            <a:ext cx="4860000" cy="10160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848360" y="6346190"/>
            <a:ext cx="163338" cy="153035"/>
          </a:xfrm>
          <a:prstGeom prst="rect">
            <a:avLst/>
          </a:prstGeom>
          <a:solidFill>
            <a:srgbClr val="004CC0"/>
          </a:solidFill>
          <a:ln/>
        </p:spPr>
      </p:sp>
      <p:sp>
        <p:nvSpPr>
          <p:cNvPr id="11" name="Text 9"/>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122291" y="6346190"/>
            <a:ext cx="163338" cy="153035"/>
          </a:xfrm>
          <a:prstGeom prst="rect">
            <a:avLst/>
          </a:prstGeom>
          <a:solidFill>
            <a:srgbClr val="004CC0"/>
          </a:solidFill>
          <a:ln/>
        </p:spPr>
      </p:sp>
      <p:sp>
        <p:nvSpPr>
          <p:cNvPr id="13" name="Text 11"/>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396222" y="6346190"/>
            <a:ext cx="163338" cy="153035"/>
          </a:xfrm>
          <a:prstGeom prst="rect">
            <a:avLst/>
          </a:prstGeom>
          <a:solidFill>
            <a:srgbClr val="004CC0"/>
          </a:solidFill>
          <a:ln/>
        </p:spPr>
      </p:sp>
      <p:sp>
        <p:nvSpPr>
          <p:cNvPr id="15" name="Text 13"/>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4"/>
          <p:cNvSpPr/>
          <p:nvPr/>
        </p:nvSpPr>
        <p:spPr>
          <a:xfrm>
            <a:off x="1200150" y="565150"/>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05- Project </a:t>
            </a:r>
            <a:r>
              <a:rPr lang="en-US" sz="3000" b="1" dirty="0">
                <a:solidFill>
                  <a:srgbClr val="000000"/>
                </a:solidFill>
                <a:latin typeface="MiSans" pitchFamily="34" charset="0"/>
                <a:ea typeface="MiSans" pitchFamily="34" charset="-122"/>
                <a:cs typeface="MiSans" pitchFamily="34" charset="-120"/>
              </a:rPr>
              <a:t>Impact &amp; Future Work</a:t>
            </a:r>
            <a:endParaRPr lang="en-US" sz="1600" dirty="0"/>
          </a:p>
        </p:txBody>
      </p:sp>
      <p:sp>
        <p:nvSpPr>
          <p:cNvPr id="17" name="Shape 15"/>
          <p:cNvSpPr/>
          <p:nvPr/>
        </p:nvSpPr>
        <p:spPr>
          <a:xfrm>
            <a:off x="11106785" y="693737"/>
            <a:ext cx="235520" cy="0"/>
          </a:xfrm>
          <a:prstGeom prst="line">
            <a:avLst/>
          </a:prstGeom>
          <a:noFill/>
          <a:ln w="31750">
            <a:solidFill>
              <a:srgbClr val="004CC0"/>
            </a:solidFill>
            <a:prstDash val="solid"/>
            <a:headEnd type="none"/>
            <a:tailEnd type="none"/>
          </a:ln>
        </p:spPr>
      </p:sp>
      <p:sp>
        <p:nvSpPr>
          <p:cNvPr id="18" name="Shape 16"/>
          <p:cNvSpPr/>
          <p:nvPr/>
        </p:nvSpPr>
        <p:spPr>
          <a:xfrm>
            <a:off x="11106785" y="754697"/>
            <a:ext cx="235520" cy="0"/>
          </a:xfrm>
          <a:prstGeom prst="line">
            <a:avLst/>
          </a:prstGeom>
          <a:noFill/>
          <a:ln w="31750">
            <a:solidFill>
              <a:srgbClr val="004CC0"/>
            </a:solidFill>
            <a:prstDash val="solid"/>
            <a:headEnd type="none"/>
            <a:tailEnd type="none"/>
          </a:ln>
        </p:spPr>
      </p:sp>
      <p:sp>
        <p:nvSpPr>
          <p:cNvPr id="19" name="Shape 17"/>
          <p:cNvSpPr/>
          <p:nvPr/>
        </p:nvSpPr>
        <p:spPr>
          <a:xfrm>
            <a:off x="11106785" y="815657"/>
            <a:ext cx="235520" cy="0"/>
          </a:xfrm>
          <a:prstGeom prst="line">
            <a:avLst/>
          </a:prstGeom>
          <a:noFill/>
          <a:ln w="31750">
            <a:solidFill>
              <a:srgbClr val="004CC0"/>
            </a:solidFill>
            <a:prstDash val="solid"/>
            <a:headEnd type="none"/>
            <a:tailEnd type="none"/>
          </a:ln>
        </p:spPr>
      </p:sp>
      <p:sp>
        <p:nvSpPr>
          <p:cNvPr id="20" name="Text 18"/>
          <p:cNvSpPr/>
          <p:nvPr/>
        </p:nvSpPr>
        <p:spPr>
          <a:xfrm>
            <a:off x="611505" y="2108835"/>
            <a:ext cx="4860925" cy="36830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FFFFFF"/>
                </a:solidFill>
                <a:latin typeface="MiSans" pitchFamily="34" charset="0"/>
                <a:ea typeface="MiSans" pitchFamily="34" charset="-122"/>
                <a:cs typeface="MiSans" pitchFamily="34" charset="-120"/>
              </a:rPr>
              <a:t>Immediate Impact</a:t>
            </a:r>
            <a:endParaRPr lang="en-US" sz="1600" dirty="0"/>
          </a:p>
        </p:txBody>
      </p:sp>
      <p:sp>
        <p:nvSpPr>
          <p:cNvPr id="21" name="Text 19"/>
          <p:cNvSpPr/>
          <p:nvPr/>
        </p:nvSpPr>
        <p:spPr>
          <a:xfrm>
            <a:off x="611505" y="3158490"/>
            <a:ext cx="4860290" cy="1426567"/>
          </a:xfrm>
          <a:prstGeom prst="rect">
            <a:avLst/>
          </a:prstGeom>
          <a:noFill/>
          <a:ln/>
        </p:spPr>
        <p:txBody>
          <a:bodyPr wrap="square" lIns="91440" tIns="45720" rIns="91440" bIns="45720" rtlCol="0" anchor="t">
            <a:spAutoFit/>
          </a:bodyPr>
          <a:lstStyle/>
          <a:p>
            <a:pPr algn="just">
              <a:lnSpc>
                <a:spcPct val="130000"/>
              </a:lnSpc>
            </a:pPr>
            <a:r>
              <a:rPr lang="en-US" sz="1800" dirty="0">
                <a:solidFill>
                  <a:srgbClr val="FFFFFF"/>
                </a:solidFill>
                <a:latin typeface="MiSans" pitchFamily="34" charset="0"/>
                <a:ea typeface="MiSans" pitchFamily="34" charset="-122"/>
                <a:cs typeface="MiSans" pitchFamily="34" charset="-120"/>
              </a:rPr>
              <a:t>The plugin reduces debugging time by 60% and enables proactive system monitoring. This immediate impact enhances developer productivity and system reliability.</a:t>
            </a:r>
            <a:endParaRPr lang="en-US" sz="1600" dirty="0"/>
          </a:p>
        </p:txBody>
      </p:sp>
      <p:sp>
        <p:nvSpPr>
          <p:cNvPr id="22" name="Text 20"/>
          <p:cNvSpPr/>
          <p:nvPr/>
        </p:nvSpPr>
        <p:spPr>
          <a:xfrm>
            <a:off x="6707505" y="2032635"/>
            <a:ext cx="4860925" cy="368300"/>
          </a:xfrm>
          <a:prstGeom prst="rect">
            <a:avLst/>
          </a:prstGeom>
          <a:noFill/>
          <a:ln/>
        </p:spPr>
        <p:txBody>
          <a:bodyPr wrap="square" lIns="91440" tIns="45720" rIns="91440" bIns="45720" rtlCol="0" anchor="ctr">
            <a:spAutoFit/>
          </a:bodyPr>
          <a:lstStyle/>
          <a:p>
            <a:pPr algn="r">
              <a:lnSpc>
                <a:spcPct val="100000"/>
              </a:lnSpc>
            </a:pPr>
            <a:r>
              <a:rPr lang="en-US" sz="2400" dirty="0">
                <a:solidFill>
                  <a:srgbClr val="FFFFFF"/>
                </a:solidFill>
                <a:latin typeface="MiSans" pitchFamily="34" charset="0"/>
                <a:ea typeface="MiSans" pitchFamily="34" charset="-122"/>
                <a:cs typeface="MiSans" pitchFamily="34" charset="-120"/>
              </a:rPr>
              <a:t>Future Enhancements</a:t>
            </a:r>
            <a:endParaRPr lang="en-US" sz="1600" dirty="0"/>
          </a:p>
        </p:txBody>
      </p:sp>
      <p:sp>
        <p:nvSpPr>
          <p:cNvPr id="23" name="Text 21"/>
          <p:cNvSpPr/>
          <p:nvPr/>
        </p:nvSpPr>
        <p:spPr>
          <a:xfrm>
            <a:off x="6707505" y="3158490"/>
            <a:ext cx="4860290" cy="1783159"/>
          </a:xfrm>
          <a:prstGeom prst="rect">
            <a:avLst/>
          </a:prstGeom>
          <a:noFill/>
          <a:ln/>
        </p:spPr>
        <p:txBody>
          <a:bodyPr wrap="square" lIns="91440" tIns="45720" rIns="91440" bIns="45720" rtlCol="0" anchor="t">
            <a:spAutoFit/>
          </a:bodyPr>
          <a:lstStyle/>
          <a:p>
            <a:pPr algn="just">
              <a:lnSpc>
                <a:spcPct val="130000"/>
              </a:lnSpc>
            </a:pPr>
            <a:r>
              <a:rPr lang="en-US" sz="1800" dirty="0">
                <a:solidFill>
                  <a:srgbClr val="FFFFFF"/>
                </a:solidFill>
                <a:latin typeface="MiSans" pitchFamily="34" charset="0"/>
                <a:ea typeface="MiSans" pitchFamily="34" charset="-122"/>
                <a:cs typeface="MiSans" pitchFamily="34" charset="-120"/>
              </a:rPr>
              <a:t>Future work includes multi-language log support, cloud integration, team collaboration features, and advanced visualization. These enhancements aim to expand the plugin's capabilities.</a:t>
            </a:r>
            <a:endParaRPr lang="en-US"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1">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663575" y="1241743"/>
            <a:ext cx="2590777" cy="4768850"/>
          </a:xfrm>
          <a:prstGeom prst="roundRect">
            <a:avLst>
              <a:gd name="adj" fmla="val 50000"/>
            </a:avLst>
          </a:prstGeom>
          <a:solidFill>
            <a:srgbClr val="000000">
              <a:alpha val="0"/>
            </a:srgbClr>
          </a:solidFill>
          <a:ln w="12700">
            <a:solidFill>
              <a:srgbClr val="004CC0"/>
            </a:solidFill>
            <a:prstDash val="solid"/>
          </a:ln>
        </p:spPr>
      </p:sp>
      <p:sp>
        <p:nvSpPr>
          <p:cNvPr id="9" name="Text 7"/>
          <p:cNvSpPr/>
          <p:nvPr/>
        </p:nvSpPr>
        <p:spPr>
          <a:xfrm>
            <a:off x="663575" y="1241743"/>
            <a:ext cx="2590777"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3421992" y="1241743"/>
            <a:ext cx="2590165" cy="4768850"/>
          </a:xfrm>
          <a:prstGeom prst="roundRect">
            <a:avLst>
              <a:gd name="adj" fmla="val 50000"/>
            </a:avLst>
          </a:prstGeom>
          <a:solidFill>
            <a:srgbClr val="004CC0"/>
          </a:solidFill>
          <a:ln w="12700">
            <a:solidFill>
              <a:srgbClr val="004CC0"/>
            </a:solidFill>
            <a:prstDash val="solid"/>
          </a:ln>
        </p:spPr>
      </p:sp>
      <p:sp>
        <p:nvSpPr>
          <p:cNvPr id="11" name="Text 9"/>
          <p:cNvSpPr/>
          <p:nvPr/>
        </p:nvSpPr>
        <p:spPr>
          <a:xfrm>
            <a:off x="3421992" y="1241743"/>
            <a:ext cx="2590165"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6179797" y="1241743"/>
            <a:ext cx="2590165" cy="4768850"/>
          </a:xfrm>
          <a:prstGeom prst="roundRect">
            <a:avLst>
              <a:gd name="adj" fmla="val 50000"/>
            </a:avLst>
          </a:prstGeom>
          <a:solidFill>
            <a:srgbClr val="000000">
              <a:alpha val="0"/>
            </a:srgbClr>
          </a:solidFill>
          <a:ln w="12700">
            <a:solidFill>
              <a:srgbClr val="004CC0"/>
            </a:solidFill>
            <a:prstDash val="solid"/>
          </a:ln>
        </p:spPr>
      </p:sp>
      <p:sp>
        <p:nvSpPr>
          <p:cNvPr id="13" name="Text 11"/>
          <p:cNvSpPr/>
          <p:nvPr/>
        </p:nvSpPr>
        <p:spPr>
          <a:xfrm>
            <a:off x="6179797" y="1241743"/>
            <a:ext cx="2590165"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8937602" y="1241743"/>
            <a:ext cx="2590165" cy="4768850"/>
          </a:xfrm>
          <a:prstGeom prst="roundRect">
            <a:avLst>
              <a:gd name="adj" fmla="val 50000"/>
            </a:avLst>
          </a:prstGeom>
          <a:solidFill>
            <a:srgbClr val="004CC0"/>
          </a:solidFill>
          <a:ln w="12700">
            <a:solidFill>
              <a:srgbClr val="004CC0"/>
            </a:solidFill>
            <a:prstDash val="solid"/>
          </a:ln>
        </p:spPr>
      </p:sp>
      <p:sp>
        <p:nvSpPr>
          <p:cNvPr id="15" name="Text 13"/>
          <p:cNvSpPr/>
          <p:nvPr/>
        </p:nvSpPr>
        <p:spPr>
          <a:xfrm>
            <a:off x="8937602" y="1241743"/>
            <a:ext cx="2590165"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4"/>
          <p:cNvSpPr/>
          <p:nvPr/>
        </p:nvSpPr>
        <p:spPr>
          <a:xfrm>
            <a:off x="1209040" y="584835"/>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05- Team </a:t>
            </a:r>
            <a:r>
              <a:rPr lang="en-US" sz="3000" b="1" dirty="0">
                <a:solidFill>
                  <a:srgbClr val="000000"/>
                </a:solidFill>
                <a:latin typeface="MiSans" pitchFamily="34" charset="0"/>
                <a:ea typeface="MiSans" pitchFamily="34" charset="-122"/>
                <a:cs typeface="MiSans" pitchFamily="34" charset="-120"/>
              </a:rPr>
              <a:t>Reflection &amp; Learnings</a:t>
            </a:r>
            <a:endParaRPr lang="en-US" sz="1600" dirty="0"/>
          </a:p>
        </p:txBody>
      </p:sp>
      <p:sp>
        <p:nvSpPr>
          <p:cNvPr id="17" name="Shape 15"/>
          <p:cNvSpPr/>
          <p:nvPr/>
        </p:nvSpPr>
        <p:spPr>
          <a:xfrm>
            <a:off x="11106785" y="693737"/>
            <a:ext cx="235520" cy="0"/>
          </a:xfrm>
          <a:prstGeom prst="line">
            <a:avLst/>
          </a:prstGeom>
          <a:noFill/>
          <a:ln w="31750">
            <a:solidFill>
              <a:srgbClr val="004CC0"/>
            </a:solidFill>
            <a:prstDash val="solid"/>
            <a:headEnd type="none"/>
            <a:tailEnd type="none"/>
          </a:ln>
        </p:spPr>
      </p:sp>
      <p:sp>
        <p:nvSpPr>
          <p:cNvPr id="18" name="Shape 16"/>
          <p:cNvSpPr/>
          <p:nvPr/>
        </p:nvSpPr>
        <p:spPr>
          <a:xfrm>
            <a:off x="11106785" y="754697"/>
            <a:ext cx="235520" cy="0"/>
          </a:xfrm>
          <a:prstGeom prst="line">
            <a:avLst/>
          </a:prstGeom>
          <a:noFill/>
          <a:ln w="31750">
            <a:solidFill>
              <a:srgbClr val="004CC0"/>
            </a:solidFill>
            <a:prstDash val="solid"/>
            <a:headEnd type="none"/>
            <a:tailEnd type="none"/>
          </a:ln>
        </p:spPr>
      </p:sp>
      <p:sp>
        <p:nvSpPr>
          <p:cNvPr id="19" name="Shape 17"/>
          <p:cNvSpPr/>
          <p:nvPr/>
        </p:nvSpPr>
        <p:spPr>
          <a:xfrm>
            <a:off x="11106785" y="815657"/>
            <a:ext cx="235520" cy="0"/>
          </a:xfrm>
          <a:prstGeom prst="line">
            <a:avLst/>
          </a:prstGeom>
          <a:noFill/>
          <a:ln w="31750">
            <a:solidFill>
              <a:srgbClr val="004CC0"/>
            </a:solidFill>
            <a:prstDash val="solid"/>
            <a:headEnd type="none"/>
            <a:tailEnd type="none"/>
          </a:ln>
        </p:spPr>
      </p:sp>
      <p:sp>
        <p:nvSpPr>
          <p:cNvPr id="20" name="Text 18"/>
          <p:cNvSpPr/>
          <p:nvPr/>
        </p:nvSpPr>
        <p:spPr>
          <a:xfrm>
            <a:off x="921245" y="1770698"/>
            <a:ext cx="2092574" cy="771525"/>
          </a:xfrm>
          <a:prstGeom prst="rect">
            <a:avLst/>
          </a:prstGeom>
          <a:noFill/>
          <a:ln/>
        </p:spPr>
        <p:txBody>
          <a:bodyPr wrap="square" lIns="90043" tIns="46863" rIns="90043" bIns="0" rtlCol="0" anchor="ctr"/>
          <a:lstStyle/>
          <a:p>
            <a:pPr algn="just">
              <a:lnSpc>
                <a:spcPct val="100000"/>
              </a:lnSpc>
            </a:pPr>
            <a:r>
              <a:rPr lang="en-US" sz="1600" b="1" dirty="0">
                <a:solidFill>
                  <a:srgbClr val="004CC0"/>
                </a:solidFill>
                <a:latin typeface="MiSans" pitchFamily="34" charset="0"/>
                <a:ea typeface="MiSans" pitchFamily="34" charset="-122"/>
                <a:cs typeface="MiSans" pitchFamily="34" charset="-120"/>
              </a:rPr>
              <a:t>Technical Learnings</a:t>
            </a:r>
            <a:endParaRPr lang="en-US" sz="1600" dirty="0"/>
          </a:p>
        </p:txBody>
      </p:sp>
      <p:sp>
        <p:nvSpPr>
          <p:cNvPr id="21" name="Text 19"/>
          <p:cNvSpPr/>
          <p:nvPr/>
        </p:nvSpPr>
        <p:spPr>
          <a:xfrm>
            <a:off x="921245" y="2481263"/>
            <a:ext cx="2092574" cy="2643505"/>
          </a:xfrm>
          <a:prstGeom prst="rect">
            <a:avLst/>
          </a:prstGeom>
          <a:noFill/>
          <a:ln/>
        </p:spPr>
        <p:txBody>
          <a:bodyPr wrap="square" lIns="0" tIns="0" rIns="0" bIns="0" rtlCol="0" anchor="t"/>
          <a:lstStyle/>
          <a:p>
            <a:pPr algn="just">
              <a:lnSpc>
                <a:spcPct val="130000"/>
              </a:lnSpc>
            </a:pPr>
            <a:r>
              <a:rPr lang="en-US" sz="1400" dirty="0">
                <a:solidFill>
                  <a:srgbClr val="000000"/>
                </a:solidFill>
                <a:latin typeface="MiSans" pitchFamily="34" charset="0"/>
                <a:ea typeface="MiSans" pitchFamily="34" charset="-122"/>
                <a:cs typeface="MiSans" pitchFamily="34" charset="-120"/>
              </a:rPr>
              <a:t>The team gained deep experience in optimizing deep learning models for efficient deployment. This technical expertise will be valuable for future projects.</a:t>
            </a:r>
            <a:endParaRPr lang="en-US" sz="1600" dirty="0"/>
          </a:p>
        </p:txBody>
      </p:sp>
      <p:sp>
        <p:nvSpPr>
          <p:cNvPr id="22" name="Text 20"/>
          <p:cNvSpPr/>
          <p:nvPr/>
        </p:nvSpPr>
        <p:spPr>
          <a:xfrm>
            <a:off x="3679601" y="1770698"/>
            <a:ext cx="2092080" cy="771525"/>
          </a:xfrm>
          <a:prstGeom prst="rect">
            <a:avLst/>
          </a:prstGeom>
          <a:noFill/>
          <a:ln/>
        </p:spPr>
        <p:txBody>
          <a:bodyPr wrap="square" lIns="90043" tIns="46863" rIns="90043" bIns="0" rtlCol="0" anchor="ctr"/>
          <a:lstStyle/>
          <a:p>
            <a:pPr algn="just">
              <a:lnSpc>
                <a:spcPct val="100000"/>
              </a:lnSpc>
            </a:pPr>
            <a:r>
              <a:rPr lang="en-US" sz="1600" b="1" dirty="0">
                <a:solidFill>
                  <a:srgbClr val="FFFFFF"/>
                </a:solidFill>
                <a:latin typeface="MiSans" pitchFamily="34" charset="0"/>
                <a:ea typeface="MiSans" pitchFamily="34" charset="-122"/>
                <a:cs typeface="MiSans" pitchFamily="34" charset="-120"/>
              </a:rPr>
              <a:t>Collaboration</a:t>
            </a:r>
            <a:endParaRPr lang="en-US" sz="1600" dirty="0"/>
          </a:p>
        </p:txBody>
      </p:sp>
      <p:sp>
        <p:nvSpPr>
          <p:cNvPr id="23" name="Text 21"/>
          <p:cNvSpPr/>
          <p:nvPr/>
        </p:nvSpPr>
        <p:spPr>
          <a:xfrm>
            <a:off x="3679601" y="2481263"/>
            <a:ext cx="2092080" cy="2643505"/>
          </a:xfrm>
          <a:prstGeom prst="rect">
            <a:avLst/>
          </a:prstGeom>
          <a:noFill/>
          <a:ln/>
        </p:spPr>
        <p:txBody>
          <a:bodyPr wrap="square" lIns="0" tIns="0" rIns="0" bIns="0" rtlCol="0" anchor="t"/>
          <a:lstStyle/>
          <a:p>
            <a:pPr algn="just">
              <a:lnSpc>
                <a:spcPct val="130000"/>
              </a:lnSpc>
            </a:pPr>
            <a:r>
              <a:rPr lang="en-US" sz="1400" dirty="0">
                <a:solidFill>
                  <a:srgbClr val="FFFFFF"/>
                </a:solidFill>
                <a:latin typeface="MiSans" pitchFamily="34" charset="0"/>
                <a:ea typeface="MiSans" pitchFamily="34" charset="-122"/>
                <a:cs typeface="MiSans" pitchFamily="34" charset="-120"/>
              </a:rPr>
              <a:t>Agile practices improved cross-functional coordination within the team. Effective collaboration ensured smooth progress throughout the project.</a:t>
            </a:r>
            <a:endParaRPr lang="en-US" sz="1600" dirty="0"/>
          </a:p>
        </p:txBody>
      </p:sp>
      <p:sp>
        <p:nvSpPr>
          <p:cNvPr id="24" name="Text 22"/>
          <p:cNvSpPr/>
          <p:nvPr/>
        </p:nvSpPr>
        <p:spPr>
          <a:xfrm>
            <a:off x="6437406" y="1770698"/>
            <a:ext cx="2092080" cy="771525"/>
          </a:xfrm>
          <a:prstGeom prst="rect">
            <a:avLst/>
          </a:prstGeom>
          <a:noFill/>
          <a:ln/>
        </p:spPr>
        <p:txBody>
          <a:bodyPr wrap="square" lIns="90043" tIns="46863" rIns="90043" bIns="0" rtlCol="0" anchor="ctr"/>
          <a:lstStyle/>
          <a:p>
            <a:pPr algn="just">
              <a:lnSpc>
                <a:spcPct val="100000"/>
              </a:lnSpc>
            </a:pPr>
            <a:r>
              <a:rPr lang="en-US" sz="1600" b="1" dirty="0">
                <a:solidFill>
                  <a:srgbClr val="004CC0"/>
                </a:solidFill>
                <a:latin typeface="MiSans" pitchFamily="34" charset="0"/>
                <a:ea typeface="MiSans" pitchFamily="34" charset="-122"/>
                <a:cs typeface="MiSans" pitchFamily="34" charset="-120"/>
              </a:rPr>
              <a:t>Project Management</a:t>
            </a:r>
            <a:endParaRPr lang="en-US" sz="1600" dirty="0"/>
          </a:p>
        </p:txBody>
      </p:sp>
      <p:sp>
        <p:nvSpPr>
          <p:cNvPr id="25" name="Text 23"/>
          <p:cNvSpPr/>
          <p:nvPr/>
        </p:nvSpPr>
        <p:spPr>
          <a:xfrm>
            <a:off x="6437406" y="2481263"/>
            <a:ext cx="2092080" cy="2643505"/>
          </a:xfrm>
          <a:prstGeom prst="rect">
            <a:avLst/>
          </a:prstGeom>
          <a:noFill/>
          <a:ln/>
        </p:spPr>
        <p:txBody>
          <a:bodyPr wrap="square" lIns="0" tIns="0" rIns="0" bIns="0" rtlCol="0" anchor="t"/>
          <a:lstStyle/>
          <a:p>
            <a:pPr algn="just">
              <a:lnSpc>
                <a:spcPct val="130000"/>
              </a:lnSpc>
            </a:pPr>
            <a:r>
              <a:rPr lang="en-US" sz="1400" dirty="0">
                <a:solidFill>
                  <a:srgbClr val="000000"/>
                </a:solidFill>
                <a:latin typeface="MiSans" pitchFamily="34" charset="0"/>
                <a:ea typeface="MiSans" pitchFamily="34" charset="-122"/>
                <a:cs typeface="MiSans" pitchFamily="34" charset="-120"/>
              </a:rPr>
              <a:t>Balancing scope with timeline constraints was a key lesson in project management. This experience will inform future project planning and execution.</a:t>
            </a:r>
            <a:endParaRPr lang="en-US" sz="1600" dirty="0"/>
          </a:p>
        </p:txBody>
      </p:sp>
      <p:sp>
        <p:nvSpPr>
          <p:cNvPr id="26" name="Text 24"/>
          <p:cNvSpPr/>
          <p:nvPr/>
        </p:nvSpPr>
        <p:spPr>
          <a:xfrm>
            <a:off x="9195211" y="1770698"/>
            <a:ext cx="2092080" cy="771525"/>
          </a:xfrm>
          <a:prstGeom prst="rect">
            <a:avLst/>
          </a:prstGeom>
          <a:noFill/>
          <a:ln/>
        </p:spPr>
        <p:txBody>
          <a:bodyPr wrap="square" lIns="90043" tIns="46863" rIns="90043" bIns="0" rtlCol="0" anchor="ctr"/>
          <a:lstStyle/>
          <a:p>
            <a:pPr algn="just">
              <a:lnSpc>
                <a:spcPct val="100000"/>
              </a:lnSpc>
            </a:pPr>
            <a:r>
              <a:rPr lang="en-US" sz="1600" b="1" dirty="0">
                <a:solidFill>
                  <a:srgbClr val="FFFFFF"/>
                </a:solidFill>
                <a:latin typeface="MiSans" pitchFamily="34" charset="0"/>
                <a:ea typeface="MiSans" pitchFamily="34" charset="-122"/>
                <a:cs typeface="MiSans" pitchFamily="34" charset="-120"/>
              </a:rPr>
              <a:t>Innovation</a:t>
            </a:r>
            <a:endParaRPr lang="en-US" sz="1600" dirty="0"/>
          </a:p>
        </p:txBody>
      </p:sp>
      <p:sp>
        <p:nvSpPr>
          <p:cNvPr id="27" name="Text 25"/>
          <p:cNvSpPr/>
          <p:nvPr/>
        </p:nvSpPr>
        <p:spPr>
          <a:xfrm>
            <a:off x="9195211" y="2481263"/>
            <a:ext cx="2092080" cy="2643505"/>
          </a:xfrm>
          <a:prstGeom prst="rect">
            <a:avLst/>
          </a:prstGeom>
          <a:noFill/>
          <a:ln/>
        </p:spPr>
        <p:txBody>
          <a:bodyPr wrap="square" lIns="0" tIns="0" rIns="0" bIns="0" rtlCol="0" anchor="t"/>
          <a:lstStyle/>
          <a:p>
            <a:pPr algn="just">
              <a:lnSpc>
                <a:spcPct val="130000"/>
              </a:lnSpc>
            </a:pPr>
            <a:r>
              <a:rPr lang="en-US" sz="1400" dirty="0">
                <a:solidFill>
                  <a:srgbClr val="FFFFFF"/>
                </a:solidFill>
                <a:latin typeface="MiSans" pitchFamily="34" charset="0"/>
                <a:ea typeface="MiSans" pitchFamily="34" charset="-122"/>
                <a:cs typeface="MiSans" pitchFamily="34" charset="-120"/>
              </a:rPr>
              <a:t>Transitioning academic research into a production-ready tool highlighted the importance of iterative development and user feedback. This process fostered innovation.</a:t>
            </a:r>
            <a:endParaRPr lang="en-US" sz="16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2">
    <p:bg>
      <p:bgPr>
        <a:gradFill flip="none" rotWithShape="0">
          <a:gsLst>
            <a:gs pos="0">
              <a:srgbClr val="EFF6FC"/>
            </a:gs>
            <a:gs pos="100000">
              <a:srgbClr val="BED7EE"/>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39-d3jnsaos8jdo4os5dls0.png"/>
          <p:cNvPicPr>
            <a:picLocks noChangeAspect="1"/>
          </p:cNvPicPr>
          <p:nvPr/>
        </p:nvPicPr>
        <p:blipFill>
          <a:blip r:embed="rId3"/>
          <a:stretch>
            <a:fillRect/>
          </a:stretch>
        </p:blipFill>
        <p:spPr>
          <a:xfrm>
            <a:off x="182880" y="0"/>
            <a:ext cx="11826240" cy="6492240"/>
          </a:xfrm>
          <a:prstGeom prst="rect">
            <a:avLst/>
          </a:prstGeom>
        </p:spPr>
      </p:pic>
      <p:sp>
        <p:nvSpPr>
          <p:cNvPr id="3" name="Shape 0"/>
          <p:cNvSpPr/>
          <p:nvPr/>
        </p:nvSpPr>
        <p:spPr>
          <a:xfrm>
            <a:off x="667075" y="756100"/>
            <a:ext cx="237324" cy="0"/>
          </a:xfrm>
          <a:prstGeom prst="line">
            <a:avLst/>
          </a:prstGeom>
          <a:noFill/>
          <a:ln w="31750">
            <a:solidFill>
              <a:srgbClr val="004CC0"/>
            </a:solidFill>
            <a:prstDash val="solid"/>
            <a:headEnd type="none"/>
            <a:tailEnd type="none"/>
          </a:ln>
        </p:spPr>
      </p:sp>
      <p:sp>
        <p:nvSpPr>
          <p:cNvPr id="4" name="Shape 1"/>
          <p:cNvSpPr/>
          <p:nvPr/>
        </p:nvSpPr>
        <p:spPr>
          <a:xfrm>
            <a:off x="667075" y="821637"/>
            <a:ext cx="237324" cy="0"/>
          </a:xfrm>
          <a:prstGeom prst="line">
            <a:avLst/>
          </a:prstGeom>
          <a:noFill/>
          <a:ln w="31750">
            <a:solidFill>
              <a:srgbClr val="004CC0"/>
            </a:solidFill>
            <a:prstDash val="solid"/>
            <a:headEnd type="none"/>
            <a:tailEnd type="none"/>
          </a:ln>
        </p:spPr>
      </p:sp>
      <p:sp>
        <p:nvSpPr>
          <p:cNvPr id="5" name="Shape 2"/>
          <p:cNvSpPr/>
          <p:nvPr/>
        </p:nvSpPr>
        <p:spPr>
          <a:xfrm>
            <a:off x="667075" y="887173"/>
            <a:ext cx="237324" cy="0"/>
          </a:xfrm>
          <a:prstGeom prst="line">
            <a:avLst/>
          </a:prstGeom>
          <a:noFill/>
          <a:ln w="31750">
            <a:solidFill>
              <a:srgbClr val="004CC0"/>
            </a:solidFill>
            <a:prstDash val="solid"/>
            <a:headEnd type="none"/>
            <a:tailEnd type="none"/>
          </a:ln>
        </p:spPr>
      </p:sp>
      <p:sp>
        <p:nvSpPr>
          <p:cNvPr id="6" name="Shape 3"/>
          <p:cNvSpPr/>
          <p:nvPr/>
        </p:nvSpPr>
        <p:spPr>
          <a:xfrm>
            <a:off x="462280" y="4294505"/>
            <a:ext cx="774258" cy="76200"/>
          </a:xfrm>
          <a:prstGeom prst="rect">
            <a:avLst/>
          </a:prstGeom>
          <a:solidFill>
            <a:srgbClr val="FFFFFF"/>
          </a:solidFill>
          <a:ln/>
        </p:spPr>
      </p:sp>
      <p:sp>
        <p:nvSpPr>
          <p:cNvPr id="7" name="Text 4"/>
          <p:cNvSpPr/>
          <p:nvPr/>
        </p:nvSpPr>
        <p:spPr>
          <a:xfrm>
            <a:off x="462280" y="4294505"/>
            <a:ext cx="774258"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730690" y="4332605"/>
            <a:ext cx="5667570" cy="0"/>
          </a:xfrm>
          <a:prstGeom prst="line">
            <a:avLst/>
          </a:prstGeom>
          <a:noFill/>
          <a:ln w="19050">
            <a:solidFill>
              <a:srgbClr val="FFFFFF"/>
            </a:solidFill>
            <a:prstDash val="solid"/>
            <a:headEnd type="none"/>
            <a:tailEnd type="none"/>
          </a:ln>
        </p:spPr>
      </p:sp>
      <p:pic>
        <p:nvPicPr>
          <p:cNvPr id="9" name="Image 1" descr="https://kimi-img.moonshot.cn/pub/slides/slides_tmpl/image/25-10-09-17:19:40-d3jnsb0s8jdo4os5dlv0.png"/>
          <p:cNvPicPr>
            <a:picLocks noChangeAspect="1"/>
          </p:cNvPicPr>
          <p:nvPr/>
        </p:nvPicPr>
        <p:blipFill>
          <a:blip r:embed="rId4"/>
          <a:stretch>
            <a:fillRect/>
          </a:stretch>
        </p:blipFill>
        <p:spPr>
          <a:xfrm>
            <a:off x="6896100" y="984250"/>
            <a:ext cx="4748530" cy="4748530"/>
          </a:xfrm>
          <a:prstGeom prst="rect">
            <a:avLst/>
          </a:prstGeom>
        </p:spPr>
      </p:pic>
      <p:pic>
        <p:nvPicPr>
          <p:cNvPr id="10" name="Image 2" descr="https://kimi-img.moonshot.cn/pub/slides/slides_tmpl/image/25-10-09-17:19:39-d3jnsaos8jdo4os5dlqg.png"/>
          <p:cNvPicPr>
            <a:picLocks noChangeAspect="1"/>
          </p:cNvPicPr>
          <p:nvPr/>
        </p:nvPicPr>
        <p:blipFill>
          <a:blip r:embed="rId5"/>
          <a:stretch>
            <a:fillRect/>
          </a:stretch>
        </p:blipFill>
        <p:spPr>
          <a:xfrm>
            <a:off x="0" y="5998210"/>
            <a:ext cx="12192000" cy="859790"/>
          </a:xfrm>
          <a:prstGeom prst="rect">
            <a:avLst/>
          </a:prstGeom>
        </p:spPr>
      </p:pic>
      <p:sp>
        <p:nvSpPr>
          <p:cNvPr id="11" name="Text 6"/>
          <p:cNvSpPr/>
          <p:nvPr/>
        </p:nvSpPr>
        <p:spPr>
          <a:xfrm>
            <a:off x="904399" y="2410460"/>
            <a:ext cx="7708900" cy="1543050"/>
          </a:xfrm>
          <a:prstGeom prst="rect">
            <a:avLst/>
          </a:prstGeom>
          <a:noFill/>
          <a:ln/>
        </p:spPr>
        <p:txBody>
          <a:bodyPr wrap="square" lIns="91440" tIns="45720" rIns="91440" bIns="45720" rtlCol="0" anchor="t">
            <a:spAutoFit/>
          </a:bodyPr>
          <a:lstStyle/>
          <a:p>
            <a:pPr algn="just">
              <a:lnSpc>
                <a:spcPct val="100000"/>
              </a:lnSpc>
            </a:pPr>
            <a:r>
              <a:rPr lang="en-US" sz="10000" b="1" dirty="0">
                <a:solidFill>
                  <a:srgbClr val="004CC0"/>
                </a:solidFill>
                <a:latin typeface="MiSans" pitchFamily="34" charset="0"/>
                <a:ea typeface="MiSans" pitchFamily="34" charset="-122"/>
                <a:cs typeface="MiSans" pitchFamily="34" charset="-120"/>
              </a:rPr>
              <a:t>THANKS</a:t>
            </a:r>
            <a:endParaRPr lang="en-US" sz="1600" dirty="0"/>
          </a:p>
        </p:txBody>
      </p:sp>
      <p:pic>
        <p:nvPicPr>
          <p:cNvPr id="13" name="Image 3" descr="https://kimi-img.moonshot.cn/pub/slides/slides_tmpl/image/25-10-09-17:19:39-d3jnsaos8jdo4os5dlq0.png"/>
          <p:cNvPicPr>
            <a:picLocks noChangeAspect="1"/>
          </p:cNvPicPr>
          <p:nvPr/>
        </p:nvPicPr>
        <p:blipFill>
          <a:blip r:embed="rId6"/>
          <a:stretch>
            <a:fillRect/>
          </a:stretch>
        </p:blipFill>
        <p:spPr>
          <a:xfrm>
            <a:off x="1371917" y="4885690"/>
            <a:ext cx="4526915" cy="597535"/>
          </a:xfrm>
          <a:prstGeom prst="rect">
            <a:avLst/>
          </a:prstGeom>
        </p:spPr>
      </p:pic>
      <p:sp>
        <p:nvSpPr>
          <p:cNvPr id="14" name="Text 8"/>
          <p:cNvSpPr/>
          <p:nvPr/>
        </p:nvSpPr>
        <p:spPr>
          <a:xfrm>
            <a:off x="3279458" y="4969708"/>
            <a:ext cx="2350135" cy="307777"/>
          </a:xfrm>
          <a:prstGeom prst="rect">
            <a:avLst/>
          </a:prstGeom>
          <a:noFill/>
          <a:ln/>
        </p:spPr>
        <p:txBody>
          <a:bodyPr wrap="square" lIns="91440" tIns="45720" rIns="91440" bIns="45720" rtlCol="0" anchor="t">
            <a:spAutoFit/>
          </a:bodyPr>
          <a:lstStyle/>
          <a:p>
            <a:pPr algn="ctr">
              <a:lnSpc>
                <a:spcPct val="100000"/>
              </a:lnSpc>
            </a:pPr>
            <a:r>
              <a:rPr lang="en-US" sz="1400" dirty="0">
                <a:solidFill>
                  <a:srgbClr val="404040"/>
                </a:solidFill>
                <a:latin typeface="MiSans" pitchFamily="34" charset="0"/>
                <a:ea typeface="MiSans" pitchFamily="34" charset="-122"/>
                <a:cs typeface="MiSans" pitchFamily="34" charset="-120"/>
              </a:rPr>
              <a:t>日期</a:t>
            </a:r>
            <a:r>
              <a:rPr lang="en-US" sz="1400">
                <a:solidFill>
                  <a:srgbClr val="404040"/>
                </a:solidFill>
                <a:latin typeface="MiSans" pitchFamily="34" charset="0"/>
                <a:ea typeface="MiSans" pitchFamily="34" charset="-122"/>
                <a:cs typeface="MiSans" pitchFamily="34" charset="-120"/>
              </a:rPr>
              <a:t>：2025/11/19</a:t>
            </a:r>
            <a:endParaRPr lang="en-US" sz="1600" dirty="0"/>
          </a:p>
        </p:txBody>
      </p:sp>
      <p:sp>
        <p:nvSpPr>
          <p:cNvPr id="15" name="Text 9"/>
          <p:cNvSpPr/>
          <p:nvPr/>
        </p:nvSpPr>
        <p:spPr>
          <a:xfrm>
            <a:off x="1480503" y="4969708"/>
            <a:ext cx="1666875" cy="307777"/>
          </a:xfrm>
          <a:prstGeom prst="rect">
            <a:avLst/>
          </a:prstGeom>
          <a:noFill/>
          <a:ln/>
        </p:spPr>
        <p:txBody>
          <a:bodyPr wrap="square" lIns="91440" tIns="45720" rIns="91440" bIns="45720" rtlCol="0" anchor="t">
            <a:spAutoFit/>
          </a:bodyPr>
          <a:lstStyle/>
          <a:p>
            <a:pPr algn="ctr">
              <a:lnSpc>
                <a:spcPct val="100000"/>
              </a:lnSpc>
            </a:pPr>
            <a:r>
              <a:rPr lang="en-US" sz="1400">
                <a:solidFill>
                  <a:srgbClr val="404040"/>
                </a:solidFill>
                <a:latin typeface="MiSans" pitchFamily="34" charset="0"/>
                <a:ea typeface="MiSans" pitchFamily="34" charset="-122"/>
                <a:cs typeface="MiSans" pitchFamily="34" charset="-120"/>
              </a:rPr>
              <a:t>Goup:</a:t>
            </a:r>
            <a:r>
              <a:rPr lang="zh-CN" altLang="en-US" sz="1400">
                <a:solidFill>
                  <a:srgbClr val="404040"/>
                </a:solidFill>
                <a:latin typeface="MiSans" pitchFamily="34" charset="0"/>
                <a:ea typeface="MiSans" pitchFamily="34" charset="-122"/>
                <a:cs typeface="MiSans" pitchFamily="34" charset="-120"/>
              </a:rPr>
              <a:t> </a:t>
            </a:r>
            <a:r>
              <a:rPr lang="en-US" altLang="zh-CN" sz="1400">
                <a:solidFill>
                  <a:srgbClr val="404040"/>
                </a:solidFill>
                <a:latin typeface="MiSans" pitchFamily="34" charset="0"/>
                <a:ea typeface="MiSans" pitchFamily="34" charset="-122"/>
                <a:cs typeface="MiSans" pitchFamily="34" charset="-120"/>
              </a:rPr>
              <a:t>GitCommit</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004CC0"/>
      </a:accent1>
      <a:accent2>
        <a:srgbClr val="00B0F0"/>
      </a:accent2>
      <a:accent3>
        <a:srgbClr val="1D3EBF"/>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2015</TotalTime>
  <Words>1671</Words>
  <Application>Microsoft Office PowerPoint</Application>
  <PresentationFormat>宽屏</PresentationFormat>
  <Paragraphs>221</Paragraphs>
  <Slides>31</Slides>
  <Notes>31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31</vt:i4>
      </vt:variant>
    </vt:vector>
  </HeadingPairs>
  <TitlesOfParts>
    <vt:vector size="39" baseType="lpstr">
      <vt:lpstr>MiSans</vt:lpstr>
      <vt:lpstr>等线</vt:lpstr>
      <vt:lpstr>宋体</vt:lpstr>
      <vt:lpstr>Arial</vt:lpstr>
      <vt:lpstr>Calibri</vt:lpstr>
      <vt:lpstr>Courier New</vt:lpstr>
      <vt:lpstr>Times New Roman</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Log Analyzer for VS Code</dc:title>
  <dc:subject>AI-Driven Log Analyzer for VS Code</dc:subject>
  <dc:creator>Kimi</dc:creator>
  <cp:lastModifiedBy>LD Lorinder</cp:lastModifiedBy>
  <cp:revision>23</cp:revision>
  <dcterms:created xsi:type="dcterms:W3CDTF">2025-11-15T16:02:16Z</dcterms:created>
  <dcterms:modified xsi:type="dcterms:W3CDTF">2025-12-04T09:26:55Z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{"Label":"AI-Driven Log Analyzer for VS Code","ContentProducer":"001191110108MACG2KBH8F10000","ProduceID":"d4c8u92hra0c0g0gjp9g","ReservedCode1":"","ContentPropagator":"001191110108MACG2KBH8F20000","PropagateID":"d4c8u92hra0c0g0gjp9g","ReservedCode2":""}</vt:lpwstr>
  </property>
</Properties>
</file>