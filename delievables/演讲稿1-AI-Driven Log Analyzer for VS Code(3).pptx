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0C_0.xml" ContentType="application/vnd.ms-powerpoint.comments+xml"/>
  <Override PartName="/ppt/notesSlides/notesSlide18.xml" ContentType="application/vnd.openxmlformats-officedocument.presentationml.notesSlide+xml"/>
  <Override PartName="/ppt/comments/modernComment_117_48762DB8.xml" ContentType="application/vnd.ms-powerpoint.comments+xml"/>
  <Override PartName="/ppt/notesSlides/notesSlide19.xml" ContentType="application/vnd.openxmlformats-officedocument.presentationml.notesSlide+xml"/>
  <Override PartName="/ppt/comments/modernComment_118_D079A3A2.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28_2E7E647E.xml" ContentType="application/vnd.ms-powerpoint.comments+xml"/>
  <Override PartName="/ppt/notesSlides/notesSlide22.xml" ContentType="application/vnd.openxmlformats-officedocument.presentationml.notesSlide+xml"/>
  <Override PartName="/ppt/comments/modernComment_129_8A996B84.xml" ContentType="application/vnd.ms-powerpoint.comments+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9" r:id="rId4"/>
    <p:sldId id="295" r:id="rId5"/>
    <p:sldId id="261" r:id="rId6"/>
    <p:sldId id="278" r:id="rId7"/>
    <p:sldId id="264" r:id="rId8"/>
    <p:sldId id="283" r:id="rId9"/>
    <p:sldId id="263" r:id="rId10"/>
    <p:sldId id="281" r:id="rId11"/>
    <p:sldId id="270" r:id="rId12"/>
    <p:sldId id="288" r:id="rId13"/>
    <p:sldId id="291" r:id="rId14"/>
    <p:sldId id="292" r:id="rId15"/>
    <p:sldId id="258" r:id="rId16"/>
    <p:sldId id="266" r:id="rId17"/>
    <p:sldId id="268" r:id="rId18"/>
    <p:sldId id="279" r:id="rId19"/>
    <p:sldId id="280" r:id="rId20"/>
    <p:sldId id="286" r:id="rId21"/>
    <p:sldId id="296" r:id="rId22"/>
    <p:sldId id="297" r:id="rId23"/>
    <p:sldId id="277" r:id="rId24"/>
  </p:sldIdLst>
  <p:sldSz cx="12192000" cy="6858000"/>
  <p:notesSz cx="6858000" cy="12192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B2EDD8-9B47-2FCA-979B-9062368EEE32}" name="爽 冷" initials="爽冷" userId="5350fdbd5c0e5e6a"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5999"/>
    <a:srgbClr val="1D3EBF"/>
    <a:srgbClr val="004C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75594" autoAdjust="0"/>
  </p:normalViewPr>
  <p:slideViewPr>
    <p:cSldViewPr snapToGrid="0" snapToObjects="1">
      <p:cViewPr>
        <p:scale>
          <a:sx n="75" d="100"/>
          <a:sy n="75" d="100"/>
        </p:scale>
        <p:origin x="1308"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comments/modernComment_10C_0.xml><?xml version="1.0" encoding="utf-8"?>
<p188:cmLst xmlns:a="http://schemas.openxmlformats.org/drawingml/2006/main" xmlns:r="http://schemas.openxmlformats.org/officeDocument/2006/relationships" xmlns:p188="http://schemas.microsoft.com/office/powerpoint/2018/8/main">
  <p188:cm id="{6CD9BA1F-E38A-4D9E-8C4B-CD8BC6F29DFE}"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0" sldId="268"/>
      <ac:spMk id="32" creationId="{00000000-0000-0000-0000-000000000000}"/>
    </ac:deMkLst>
    <p188:txBody>
      <a:bodyPr/>
      <a:lstStyle/>
      <a:p>
        <a:r>
          <a:rPr lang="zh-CN" altLang="en-US"/>
          <a:t>关于每一步操作的截图</a:t>
        </a:r>
      </a:p>
    </p188:txBody>
  </p188:cm>
</p188:cmLst>
</file>

<file path=ppt/comments/modernComment_117_48762DB8.xml><?xml version="1.0" encoding="utf-8"?>
<p188:cmLst xmlns:a="http://schemas.openxmlformats.org/drawingml/2006/main" xmlns:r="http://schemas.openxmlformats.org/officeDocument/2006/relationships" xmlns:p188="http://schemas.microsoft.com/office/powerpoint/2018/8/main">
  <p188:cm id="{3433138E-D7A4-4130-ABB1-47A9754608C7}"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1215704504" sldId="279"/>
      <ac:spMk id="32" creationId="{2601A35F-63FA-2959-1524-CF50530A309A}"/>
    </ac:deMkLst>
    <p188:txBody>
      <a:bodyPr/>
      <a:lstStyle/>
      <a:p>
        <a:r>
          <a:rPr lang="zh-CN" altLang="en-US"/>
          <a:t>关于每一步操作的截图</a:t>
        </a:r>
      </a:p>
    </p188:txBody>
  </p188:cm>
</p188:cmLst>
</file>

<file path=ppt/comments/modernComment_118_D079A3A2.xml><?xml version="1.0" encoding="utf-8"?>
<p188:cmLst xmlns:a="http://schemas.openxmlformats.org/drawingml/2006/main" xmlns:r="http://schemas.openxmlformats.org/officeDocument/2006/relationships" xmlns:p188="http://schemas.microsoft.com/office/powerpoint/2018/8/main">
  <p188:cm id="{1EBAC4E2-1067-4D8A-B626-CA3F7001309B}"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3497632674" sldId="280"/>
      <ac:spMk id="32" creationId="{F8E01097-4384-68B9-7AAC-577BC260EF6F}"/>
    </ac:deMkLst>
    <p188:txBody>
      <a:bodyPr/>
      <a:lstStyle/>
      <a:p>
        <a:r>
          <a:rPr lang="zh-CN" altLang="en-US"/>
          <a:t>关于每一步操作的截图</a:t>
        </a:r>
      </a:p>
    </p188:txBody>
  </p188:cm>
</p188:cmLst>
</file>

<file path=ppt/comments/modernComment_128_2E7E647E.xml><?xml version="1.0" encoding="utf-8"?>
<p188:cmLst xmlns:a="http://schemas.openxmlformats.org/drawingml/2006/main" xmlns:r="http://schemas.openxmlformats.org/officeDocument/2006/relationships" xmlns:p188="http://schemas.microsoft.com/office/powerpoint/2018/8/main">
  <p188:cm id="{1922140B-1CE9-4E33-9A76-65D61AB59475}"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780035198" sldId="296"/>
      <ac:spMk id="32" creationId="{36135101-620E-7270-AE83-6B3271B889AA}"/>
    </ac:deMkLst>
    <p188:txBody>
      <a:bodyPr/>
      <a:lstStyle/>
      <a:p>
        <a:r>
          <a:rPr lang="zh-CN" altLang="en-US"/>
          <a:t>关于每一步操作的截图</a:t>
        </a:r>
      </a:p>
    </p188:txBody>
  </p188:cm>
</p188:cmLst>
</file>

<file path=ppt/comments/modernComment_129_8A996B84.xml><?xml version="1.0" encoding="utf-8"?>
<p188:cmLst xmlns:a="http://schemas.openxmlformats.org/drawingml/2006/main" xmlns:r="http://schemas.openxmlformats.org/officeDocument/2006/relationships" xmlns:p188="http://schemas.microsoft.com/office/powerpoint/2018/8/main">
  <p188:cm id="{8036D0B5-7C64-4FB0-BBEA-5ECAE1169EA2}" authorId="{7CB2EDD8-9B47-2FCA-979B-9062368EEE32}" created="2025-11-16T03:19:31.824">
    <ac:deMkLst xmlns:ac="http://schemas.microsoft.com/office/drawing/2013/main/command">
      <pc:docMk xmlns:pc="http://schemas.microsoft.com/office/powerpoint/2013/main/command"/>
      <pc:sldMk xmlns:pc="http://schemas.microsoft.com/office/powerpoint/2013/main/command" cId="2325310340" sldId="297"/>
      <ac:spMk id="32" creationId="{4ECF3F21-AB00-1858-3A83-37B3FF6FB3E7}"/>
    </ac:deMkLst>
    <p188:txBody>
      <a:bodyPr/>
      <a:lstStyle/>
      <a:p>
        <a:r>
          <a:rPr lang="zh-CN" altLang="en-US"/>
          <a:t>关于每一步操作的截图</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515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Good morning, everyone! We are </a:t>
            </a:r>
            <a:r>
              <a:rPr lang="en-US" altLang="zh-CN" sz="1200" kern="1200" dirty="0" err="1">
                <a:solidFill>
                  <a:schemeClr val="tx1"/>
                </a:solidFill>
                <a:effectLst/>
                <a:latin typeface="+mn-lt"/>
                <a:ea typeface="+mn-ea"/>
                <a:cs typeface="+mn-cs"/>
              </a:rPr>
              <a:t>GitCommit</a:t>
            </a:r>
            <a:r>
              <a:rPr lang="en-US" altLang="zh-CN" sz="1200" kern="1200" dirty="0">
                <a:solidFill>
                  <a:schemeClr val="tx1"/>
                </a:solidFill>
                <a:effectLst/>
                <a:latin typeface="+mn-lt"/>
                <a:ea typeface="+mn-ea"/>
                <a:cs typeface="+mn-cs"/>
              </a:rPr>
              <a:t> Group 8. Today, we will share you a VS Code Plugin for log anomaly detection based on </a:t>
            </a:r>
            <a:r>
              <a:rPr lang="en-US" altLang="zh-CN" sz="1200" kern="1200" dirty="0" err="1">
                <a:solidFill>
                  <a:schemeClr val="tx1"/>
                </a:solidFill>
                <a:effectLst/>
                <a:latin typeface="+mn-lt"/>
                <a:ea typeface="+mn-ea"/>
                <a:cs typeface="+mn-cs"/>
              </a:rPr>
              <a:t>LogLLM</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Current log anomaly detection methods face a triple dilemma: privacy leakage, lack of a unified analysis interface in IDEs, and low parsing efficiency. Our research will propose a localized solution based on </a:t>
            </a:r>
            <a:r>
              <a:rPr lang="en-US" altLang="zh-CN" sz="1200" kern="1200" dirty="0" err="1">
                <a:solidFill>
                  <a:schemeClr val="tx1"/>
                </a:solidFill>
                <a:effectLst/>
                <a:latin typeface="+mn-lt"/>
                <a:ea typeface="+mn-ea"/>
                <a:cs typeface="+mn-cs"/>
              </a:rPr>
              <a:t>LogLLM</a:t>
            </a:r>
            <a:r>
              <a:rPr lang="en-US" altLang="zh-CN" sz="1200" kern="1200" dirty="0">
                <a:solidFill>
                  <a:schemeClr val="tx1"/>
                </a:solidFill>
                <a:effectLst/>
                <a:latin typeface="+mn-lt"/>
                <a:ea typeface="+mn-ea"/>
                <a:cs typeface="+mn-cs"/>
              </a:rPr>
              <a:t> to achieve high performance, zero privacy leakage, and native IDE integration.</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010C1-19B4-024F-BF4F-E61DD4582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D1372-B259-B2D8-59BF-00885C5498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3B13FA-DADF-4757-750C-A25AB90276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This figure illustrates the system architecture of the VS Code plugin for anomaly log parsing based on </a:t>
            </a:r>
            <a:r>
              <a:rPr lang="en-US" altLang="zh-CN" sz="1200" kern="1200" dirty="0" err="1">
                <a:solidFill>
                  <a:schemeClr val="tx1"/>
                </a:solidFill>
                <a:effectLst/>
                <a:latin typeface="+mn-lt"/>
                <a:ea typeface="+mn-ea"/>
                <a:cs typeface="+mn-cs"/>
              </a:rPr>
              <a:t>LogLLM</a:t>
            </a:r>
            <a:r>
              <a:rPr lang="en-US" altLang="zh-CN" sz="1200" kern="1200" dirty="0">
                <a:solidFill>
                  <a:schemeClr val="tx1"/>
                </a:solidFill>
                <a:effectLst/>
                <a:latin typeface="+mn-lt"/>
                <a:ea typeface="+mn-ea"/>
                <a:cs typeface="+mn-cs"/>
              </a:rPr>
              <a:t>, which consists of three core components: left-side External Services (LLM APIs, Log Processing Server), middle VS Code Plugin System backend (Node.js-based for core logic/communication), and right front-end WebView.</a:t>
            </a:r>
            <a:endParaRPr lang="zh-CN" altLang="zh-CN" sz="120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81B07DF4-2873-10A8-6AD3-63A3FF631CF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623089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talk about the architecture about the front-end. In this project, we choose WebView and Node.js as our main technologies, because VS code itself is also a editor based on this two technologies, this bring certain convenience. Because we can use the original </a:t>
            </a:r>
            <a:r>
              <a:rPr lang="en-US" dirty="0" err="1"/>
              <a:t>vscode</a:t>
            </a:r>
            <a:r>
              <a:rPr lang="en-US" dirty="0"/>
              <a:t> </a:t>
            </a:r>
            <a:r>
              <a:rPr lang="en-US" dirty="0" err="1"/>
              <a:t>api</a:t>
            </a:r>
            <a:r>
              <a:rPr lang="en-US" dirty="0"/>
              <a:t> to construct our process communication without the third libraries. In the front-end architecture design, we have two main part, first is the user interface based on the Vue.js framework, then we use the </a:t>
            </a:r>
            <a:r>
              <a:rPr lang="en-US" dirty="0" err="1"/>
              <a:t>webview</a:t>
            </a:r>
            <a:r>
              <a:rPr lang="en-US" dirty="0"/>
              <a:t> technology to render it on the VS Code page, and we use Node.js to communicate with the whole web page and external interface.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collect various types of logs, we used the public </a:t>
            </a:r>
            <a:r>
              <a:rPr lang="en-US" dirty="0" err="1"/>
              <a:t>dataset，LogHub</a:t>
            </a:r>
            <a:r>
              <a:rPr lang="en-US" dirty="0"/>
              <a:t>, which contains records from distributed systems, super computers, operating systems and server applications.</a:t>
            </a:r>
          </a:p>
          <a:p>
            <a:endParaRPr lang="en-US" dirty="0"/>
          </a:p>
          <a:p>
            <a:r>
              <a:rPr lang="en-US" dirty="0"/>
              <a:t>The logs differ in size. We applied different preprocessing strategies. First, we used predefined regular expressions to filter out IP addresses, MAC addresses and timestamps that are irrelevant to anomalies; they were replaced with asterisks. This helps the model focus on semantic content and understand system behavior.</a:t>
            </a:r>
          </a:p>
          <a:p>
            <a:endParaRPr lang="en-US" dirty="0"/>
          </a:p>
          <a:p>
            <a:r>
              <a:rPr lang="en-US" dirty="0"/>
              <a:t>For log partitioning, on HDFS logs we used a session-window strategy that aggregates messages into sequences by block ID; for other logs we used a sliding-window protocol. Examples are shown in the figure.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a:p>
            <a:r>
              <a:rPr lang="en-US" altLang="zh-CN" dirty="0"/>
              <a:t>We adopted a model architecture called </a:t>
            </a:r>
            <a:r>
              <a:rPr lang="en-US" altLang="zh-CN" dirty="0" err="1"/>
              <a:t>LogLLM</a:t>
            </a:r>
            <a:r>
              <a:rPr lang="en-US" altLang="zh-CN" dirty="0"/>
              <a:t>: BERT extracts dense semantic representations from single log messages, and </a:t>
            </a:r>
            <a:r>
              <a:rPr lang="en-US" altLang="zh-CN" dirty="0" err="1"/>
              <a:t>LLaMA</a:t>
            </a:r>
            <a:r>
              <a:rPr lang="en-US" altLang="zh-CN" dirty="0"/>
              <a:t> performs sequence-level anomaly classification. A projector aligns the vector spaces between the two modules.</a:t>
            </a:r>
          </a:p>
          <a:p>
            <a:endParaRPr lang="en-US" altLang="zh-CN" dirty="0"/>
          </a:p>
          <a:p>
            <a:r>
              <a:rPr lang="en-US" altLang="zh-CN" dirty="0"/>
              <a:t>We evaluate with precision, recall and F1-score for the binary classification task.</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2E352-CDA3-3E38-C95B-CA14B27BC2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69B68-41F2-C0AD-F99F-AA1A90B97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EDDEC-4EC9-C89D-A577-10DD1743DF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B66859-D741-5976-55EA-8BD5F1DDA23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571209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sprint, we focused on three key tasks: first, requirement clarification, emphasizing requirements analysis and architecture design; second, conducting workshops to define user stories and validate feasibility through technical research; and finally, configuring the development environment to produce the requirements specification document and system architecture diagram. This laid the foundation for the project.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phase had two parts: frontend and backend development, </a:t>
            </a:r>
            <a:r>
              <a:rPr lang="en-US" dirty="0" err="1"/>
              <a:t>LogLLM</a:t>
            </a:r>
            <a:r>
              <a:rPr lang="en-US" dirty="0"/>
              <a:t> model integration and data communication; and model integration and delivery.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finally delivered compiled test reports, user manuals, and the v1.0 plugin package.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one is the "Burndown Chart", displaying progress from Sprint 1 to 3. The vertical axis shows remaining story points, the horizontal axis represents weeks, and the curve declines steadily, indicating we stayed on track.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73C59-7F24-6647-7FAB-C4116EF93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83C55-69AF-BD5D-7DE6-63FC1C611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6617AC-C6BA-759F-AB4D-911AB1A338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9B1842-EF3E-F679-A56C-4EB0D91069DB}"/>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896604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D2B2B-7DF0-A009-E29B-D811D1F66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BF508-27A4-9369-EB7E-588D348639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987E9-CF7B-41F7-0CDE-55C34EE4CE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17FAA3-32E8-646C-B6A6-E1AB48CB525D}"/>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697124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up a  **multi-environment testing matrix** , prepared data and tools, and trained testers for end-to-end testing.</a:t>
            </a:r>
          </a:p>
          <a:p>
            <a:endParaRPr lang="en-US" dirty="0"/>
          </a:p>
          <a:p>
            <a:r>
              <a:rPr lang="en-US" dirty="0"/>
              <a:t>Tests followed  **priority order: P0 → P1 → P2 → P3** , with all results and logs recorded.</a:t>
            </a:r>
          </a:p>
          <a:p>
            <a:endParaRPr lang="en-US" dirty="0"/>
          </a:p>
          <a:p>
            <a:endParaRPr lang="en-US" dirty="0"/>
          </a:p>
          <a:p>
            <a:r>
              <a:rPr lang="en-US" dirty="0"/>
              <a:t>All defects were recorded in an internal tracking system, including reproduction steps, expected vs. actual behavior, screenshots or logs, and impact assessment.</a:t>
            </a:r>
          </a:p>
          <a:p>
            <a:endParaRPr lang="en-US" dirty="0"/>
          </a:p>
          <a:p>
            <a:r>
              <a:rPr lang="en-US" dirty="0"/>
              <a:t>We continuously tracked resolution progress and performed **regression testing** after each fix to ensure issues were fully resolved without introducing new problems.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8F774-63F9-AB56-0EA4-71AD02CEE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0A099-E23D-6D52-119C-79A702C71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289B75-3FA3-E941-4CA5-50B40EE82C11}"/>
              </a:ext>
            </a:extLst>
          </p:cNvPr>
          <p:cNvSpPr>
            <a:spLocks noGrp="1"/>
          </p:cNvSpPr>
          <p:nvPr>
            <p:ph type="body" idx="1"/>
          </p:nvPr>
        </p:nvSpPr>
        <p:spPr/>
        <p:txBody>
          <a:bodyPr/>
          <a:lstStyle/>
          <a:p>
            <a:endParaRPr lang="en-US" dirty="0"/>
          </a:p>
          <a:p>
            <a:r>
              <a:rPr lang="en-US" dirty="0"/>
              <a:t>We tested the system under 0 to 200 concurrent users.</a:t>
            </a:r>
          </a:p>
          <a:p>
            <a:endParaRPr lang="en-US" dirty="0"/>
          </a:p>
          <a:p>
            <a:r>
              <a:rPr lang="en-US" dirty="0"/>
              <a:t>Latency increased with concurrency but remained acceptable,  **request success rate stayed above 97%** , and GPU/memory usage grew reasonably without resource exhaustion.</a:t>
            </a:r>
          </a:p>
          <a:p>
            <a:endParaRPr lang="en-US" dirty="0"/>
          </a:p>
          <a:p>
            <a:r>
              <a:rPr lang="en-US" dirty="0"/>
              <a:t>Overall, the system remained  **stable and responsive under high load** .</a:t>
            </a:r>
          </a:p>
        </p:txBody>
      </p:sp>
      <p:sp>
        <p:nvSpPr>
          <p:cNvPr id="4" name="Slide Number Placeholder 3">
            <a:extLst>
              <a:ext uri="{FF2B5EF4-FFF2-40B4-BE49-F238E27FC236}">
                <a16:creationId xmlns:a16="http://schemas.microsoft.com/office/drawing/2014/main" id="{8FB8621A-A6F1-A305-32DA-08260A0FE9E2}"/>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2363763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0A53C-0FCC-DAD9-0406-1EE4DE4E3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8A5C8-0207-6D66-4993-6494A204E1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4A1144-EE20-31B2-16AC-A1DFE83F2905}"/>
              </a:ext>
            </a:extLst>
          </p:cNvPr>
          <p:cNvSpPr>
            <a:spLocks noGrp="1"/>
          </p:cNvSpPr>
          <p:nvPr>
            <p:ph type="body" idx="1"/>
          </p:nvPr>
        </p:nvSpPr>
        <p:spPr/>
        <p:txBody>
          <a:bodyPr/>
          <a:lstStyle/>
          <a:p>
            <a:r>
              <a:rPr lang="en-US" dirty="0"/>
              <a:t>Finally, the F1-score comparison chart shows the accuracy of various log anomaly detection methods such as </a:t>
            </a:r>
            <a:r>
              <a:rPr lang="en-US" dirty="0" err="1"/>
              <a:t>FastLogAD</a:t>
            </a:r>
            <a:r>
              <a:rPr lang="en-US" dirty="0"/>
              <a:t> and </a:t>
            </a:r>
            <a:r>
              <a:rPr lang="en-US" dirty="0" err="1"/>
              <a:t>LogLLM</a:t>
            </a:r>
            <a:r>
              <a:rPr lang="en-US" dirty="0"/>
              <a:t>.</a:t>
            </a:r>
          </a:p>
          <a:p>
            <a:endParaRPr lang="en-US" dirty="0"/>
          </a:p>
          <a:p>
            <a:r>
              <a:rPr lang="en-US" dirty="0"/>
              <a:t>From the chart, we can see that **</a:t>
            </a:r>
            <a:r>
              <a:rPr lang="en-US" dirty="0" err="1"/>
              <a:t>LogLLM</a:t>
            </a:r>
            <a:r>
              <a:rPr lang="en-US" dirty="0"/>
              <a:t> (rightmost bar) achieves the highest F1 score, nearly 1.0**, significantly better than the other methods.</a:t>
            </a:r>
          </a:p>
          <a:p>
            <a:endParaRPr lang="en-US" dirty="0"/>
          </a:p>
          <a:p>
            <a:r>
              <a:rPr lang="en-US" dirty="0"/>
              <a:t>This confirms that our model achieves **state-of-the-art accuracy** in log anomaly detection.</a:t>
            </a:r>
          </a:p>
        </p:txBody>
      </p:sp>
      <p:sp>
        <p:nvSpPr>
          <p:cNvPr id="4" name="Slide Number Placeholder 3">
            <a:extLst>
              <a:ext uri="{FF2B5EF4-FFF2-40B4-BE49-F238E27FC236}">
                <a16:creationId xmlns:a16="http://schemas.microsoft.com/office/drawing/2014/main" id="{27A4F801-50C4-87A8-830E-AA739BCE9D12}"/>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8410983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0C_0.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microsoft.com/office/2018/10/relationships/comments" Target="../comments/modernComment_117_48762DB8.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microsoft.com/office/2018/10/relationships/comments" Target="../comments/modernComment_118_D079A3A2.xm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microsoft.com/office/2018/10/relationships/comments" Target="../comments/modernComment_128_2E7E647E.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microsoft.com/office/2018/10/relationships/comments" Target="../comments/modernComment_129_8A996B84.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flip="none" rotWithShape="0">
          <a:gsLst>
            <a:gs pos="0">
              <a:srgbClr val="EFF6FC"/>
            </a:gs>
            <a:gs pos="100000">
              <a:srgbClr val="BED7EE"/>
            </a:gs>
          </a:gsLst>
          <a:lin ang="5400000" scaled="1"/>
        </a:gradFill>
        <a:effectLst/>
      </p:bgPr>
    </p:bg>
    <p:spTree>
      <p:nvGrpSpPr>
        <p:cNvPr id="1" name=""/>
        <p:cNvGrpSpPr/>
        <p:nvPr/>
      </p:nvGrpSpPr>
      <p:grpSpPr>
        <a:xfrm>
          <a:off x="0" y="0"/>
          <a:ext cx="0" cy="0"/>
          <a:chOff x="0" y="0"/>
          <a:chExt cx="0" cy="0"/>
        </a:xfrm>
      </p:grpSpPr>
      <p:pic>
        <p:nvPicPr>
          <p:cNvPr id="16" name="Image 3" descr="https://kimi-img.moonshot.cn/pub/slides/slides_tmpl/image/25-10-09-17:19:39-d3jnsaos8jdo4os5dlq0.png">
            <a:extLst>
              <a:ext uri="{FF2B5EF4-FFF2-40B4-BE49-F238E27FC236}">
                <a16:creationId xmlns:a16="http://schemas.microsoft.com/office/drawing/2014/main" id="{365B734A-CAD4-5B96-5941-2BCF04A0E322}"/>
              </a:ext>
            </a:extLst>
          </p:cNvPr>
          <p:cNvPicPr>
            <a:picLocks noChangeAspect="1"/>
          </p:cNvPicPr>
          <p:nvPr/>
        </p:nvPicPr>
        <p:blipFill>
          <a:blip r:embed="rId3"/>
          <a:srcRect l="41755"/>
          <a:stretch>
            <a:fillRect/>
          </a:stretch>
        </p:blipFill>
        <p:spPr>
          <a:xfrm>
            <a:off x="6771995" y="3055020"/>
            <a:ext cx="4725738" cy="2459799"/>
          </a:xfrm>
          <a:prstGeom prst="rect">
            <a:avLst/>
          </a:prstGeom>
        </p:spPr>
      </p:pic>
      <p:sp>
        <p:nvSpPr>
          <p:cNvPr id="4" name="Text 0"/>
          <p:cNvSpPr/>
          <p:nvPr/>
        </p:nvSpPr>
        <p:spPr>
          <a:xfrm>
            <a:off x="1435179" y="1163656"/>
            <a:ext cx="8489531" cy="2862322"/>
          </a:xfrm>
          <a:prstGeom prst="rect">
            <a:avLst/>
          </a:prstGeom>
          <a:noFill/>
          <a:ln/>
        </p:spPr>
        <p:txBody>
          <a:bodyPr wrap="square" lIns="91440" tIns="45720" rIns="91440" bIns="45720" rtlCol="0" anchor="t">
            <a:spAutoFit/>
          </a:bodyPr>
          <a:lstStyle/>
          <a:p>
            <a:pPr>
              <a:lnSpc>
                <a:spcPct val="100000"/>
              </a:lnSpc>
            </a:pPr>
            <a:r>
              <a:rPr lang="en-US" sz="6000" b="1" dirty="0">
                <a:solidFill>
                  <a:srgbClr val="004CC0"/>
                </a:solidFill>
                <a:latin typeface="Times New Roman" panose="02020603050405020304" pitchFamily="18" charset="0"/>
                <a:ea typeface="MiSans" pitchFamily="34" charset="-122"/>
                <a:cs typeface="Times New Roman" panose="02020603050405020304" pitchFamily="18" charset="0"/>
              </a:rPr>
              <a:t>Log Analyzer</a:t>
            </a:r>
            <a:r>
              <a:rPr lang="en-US" sz="6000" dirty="0">
                <a:latin typeface="Times New Roman" panose="02020603050405020304" pitchFamily="18" charset="0"/>
                <a:cs typeface="Times New Roman" panose="02020603050405020304" pitchFamily="18" charset="0"/>
              </a:rPr>
              <a:t> </a:t>
            </a:r>
            <a:r>
              <a:rPr lang="en-US" sz="6000" b="1" dirty="0">
                <a:solidFill>
                  <a:srgbClr val="004CC0"/>
                </a:solidFill>
                <a:latin typeface="Times New Roman" panose="02020603050405020304" pitchFamily="18" charset="0"/>
                <a:ea typeface="MiSans" pitchFamily="34" charset="-122"/>
                <a:cs typeface="Times New Roman" panose="02020603050405020304" pitchFamily="18" charset="0"/>
              </a:rPr>
              <a:t>based </a:t>
            </a:r>
            <a:r>
              <a:rPr lang="en-US" altLang="zh-CN" sz="6000" b="1" dirty="0">
                <a:solidFill>
                  <a:srgbClr val="004CC0"/>
                </a:solidFill>
                <a:latin typeface="Times New Roman" panose="02020603050405020304" pitchFamily="18" charset="0"/>
                <a:ea typeface="MiSans" pitchFamily="34" charset="-122"/>
                <a:cs typeface="Times New Roman" panose="02020603050405020304" pitchFamily="18" charset="0"/>
              </a:rPr>
              <a:t>on </a:t>
            </a:r>
            <a:r>
              <a:rPr lang="en-US" sz="6000" b="1" dirty="0" err="1">
                <a:solidFill>
                  <a:srgbClr val="004CC0"/>
                </a:solidFill>
                <a:latin typeface="Times New Roman" panose="02020603050405020304" pitchFamily="18" charset="0"/>
                <a:ea typeface="MiSans" pitchFamily="34" charset="-122"/>
                <a:cs typeface="Times New Roman" panose="02020603050405020304" pitchFamily="18" charset="0"/>
              </a:rPr>
              <a:t>LogLLM</a:t>
            </a:r>
            <a:r>
              <a:rPr lang="en-US" sz="6000" b="1" dirty="0">
                <a:solidFill>
                  <a:srgbClr val="004CC0"/>
                </a:solidFill>
                <a:latin typeface="Times New Roman" panose="02020603050405020304" pitchFamily="18" charset="0"/>
                <a:ea typeface="MiSans" pitchFamily="34" charset="-122"/>
                <a:cs typeface="Times New Roman" panose="02020603050405020304" pitchFamily="18" charset="0"/>
              </a:rPr>
              <a:t>  for </a:t>
            </a:r>
          </a:p>
          <a:p>
            <a:pPr>
              <a:lnSpc>
                <a:spcPct val="100000"/>
              </a:lnSpc>
            </a:pPr>
            <a:r>
              <a:rPr lang="en-US" sz="6000" b="1" dirty="0">
                <a:solidFill>
                  <a:srgbClr val="004CC0"/>
                </a:solidFill>
                <a:latin typeface="Times New Roman" panose="02020603050405020304" pitchFamily="18" charset="0"/>
                <a:ea typeface="MiSans" pitchFamily="34" charset="-122"/>
                <a:cs typeface="Times New Roman" panose="02020603050405020304" pitchFamily="18" charset="0"/>
              </a:rPr>
              <a:t>VS Code</a:t>
            </a:r>
            <a:endParaRPr lang="en-US" sz="6000" dirty="0">
              <a:latin typeface="Times New Roman" panose="02020603050405020304" pitchFamily="18" charset="0"/>
              <a:cs typeface="Times New Roman" panose="02020603050405020304" pitchFamily="18" charset="0"/>
            </a:endParaRPr>
          </a:p>
        </p:txBody>
      </p:sp>
      <p:sp>
        <p:nvSpPr>
          <p:cNvPr id="5" name="Shape 1"/>
          <p:cNvSpPr/>
          <p:nvPr/>
        </p:nvSpPr>
        <p:spPr>
          <a:xfrm>
            <a:off x="667075" y="756100"/>
            <a:ext cx="237324" cy="0"/>
          </a:xfrm>
          <a:prstGeom prst="line">
            <a:avLst/>
          </a:prstGeom>
          <a:noFill/>
          <a:ln w="31750">
            <a:solidFill>
              <a:srgbClr val="004CC0"/>
            </a:solidFill>
            <a:prstDash val="solid"/>
            <a:headEnd type="none"/>
            <a:tailEnd type="none"/>
          </a:ln>
        </p:spPr>
      </p:sp>
      <p:sp>
        <p:nvSpPr>
          <p:cNvPr id="6" name="Shape 2"/>
          <p:cNvSpPr/>
          <p:nvPr/>
        </p:nvSpPr>
        <p:spPr>
          <a:xfrm>
            <a:off x="667075" y="821637"/>
            <a:ext cx="237324" cy="0"/>
          </a:xfrm>
          <a:prstGeom prst="line">
            <a:avLst/>
          </a:prstGeom>
          <a:noFill/>
          <a:ln w="31750">
            <a:solidFill>
              <a:srgbClr val="004CC0"/>
            </a:solidFill>
            <a:prstDash val="solid"/>
            <a:headEnd type="none"/>
            <a:tailEnd type="none"/>
          </a:ln>
        </p:spPr>
      </p:sp>
      <p:sp>
        <p:nvSpPr>
          <p:cNvPr id="7" name="Shape 3"/>
          <p:cNvSpPr/>
          <p:nvPr/>
        </p:nvSpPr>
        <p:spPr>
          <a:xfrm>
            <a:off x="667075" y="887173"/>
            <a:ext cx="237324" cy="0"/>
          </a:xfrm>
          <a:prstGeom prst="line">
            <a:avLst/>
          </a:prstGeom>
          <a:noFill/>
          <a:ln w="31750">
            <a:solidFill>
              <a:srgbClr val="004CC0"/>
            </a:solidFill>
            <a:prstDash val="solid"/>
            <a:headEnd type="none"/>
            <a:tailEnd type="none"/>
          </a:ln>
        </p:spPr>
      </p:sp>
      <p:pic>
        <p:nvPicPr>
          <p:cNvPr id="10" name="Image 3" descr="https://kimi-img.moonshot.cn/pub/slides/slides_tmpl/image/25-10-09-17:19:39-d3jnsaos8jdo4os5dlq0.png">
            <a:extLst>
              <a:ext uri="{FF2B5EF4-FFF2-40B4-BE49-F238E27FC236}">
                <a16:creationId xmlns:a16="http://schemas.microsoft.com/office/drawing/2014/main" id="{E484E264-5845-5AB4-5EA6-6BEFCAA06085}"/>
              </a:ext>
            </a:extLst>
          </p:cNvPr>
          <p:cNvPicPr>
            <a:picLocks noChangeAspect="1"/>
          </p:cNvPicPr>
          <p:nvPr/>
        </p:nvPicPr>
        <p:blipFill>
          <a:blip r:embed="rId3"/>
          <a:stretch>
            <a:fillRect/>
          </a:stretch>
        </p:blipFill>
        <p:spPr>
          <a:xfrm>
            <a:off x="7131551" y="5043235"/>
            <a:ext cx="5060449" cy="685535"/>
          </a:xfrm>
          <a:prstGeom prst="rect">
            <a:avLst/>
          </a:prstGeom>
        </p:spPr>
      </p:pic>
      <p:sp>
        <p:nvSpPr>
          <p:cNvPr id="8" name="Text 4"/>
          <p:cNvSpPr/>
          <p:nvPr/>
        </p:nvSpPr>
        <p:spPr>
          <a:xfrm>
            <a:off x="9397999" y="5176265"/>
            <a:ext cx="2332330" cy="338554"/>
          </a:xfrm>
          <a:prstGeom prst="rect">
            <a:avLst/>
          </a:prstGeom>
          <a:noFill/>
          <a:ln/>
        </p:spPr>
        <p:txBody>
          <a:bodyPr wrap="square" lIns="91440" tIns="45720" rIns="91440" bIns="45720" rtlCol="0" anchor="t">
            <a:spAutoFit/>
          </a:bodyPr>
          <a:lstStyle/>
          <a:p>
            <a:pPr algn="ctr">
              <a:lnSpc>
                <a:spcPct val="100000"/>
              </a:lnSpc>
            </a:pPr>
            <a:r>
              <a:rPr lang="en-US" sz="1600" b="1" dirty="0">
                <a:solidFill>
                  <a:srgbClr val="404040"/>
                </a:solidFill>
                <a:latin typeface="MiSans" pitchFamily="34" charset="0"/>
                <a:ea typeface="MiSans" pitchFamily="34" charset="-122"/>
                <a:cs typeface="MiSans" pitchFamily="34" charset="-120"/>
              </a:rPr>
              <a:t>D</a:t>
            </a:r>
            <a:r>
              <a:rPr lang="en-US" altLang="zh-CN" sz="1600" b="1" dirty="0">
                <a:solidFill>
                  <a:srgbClr val="404040"/>
                </a:solidFill>
                <a:latin typeface="MiSans" pitchFamily="34" charset="0"/>
                <a:ea typeface="MiSans" pitchFamily="34" charset="-122"/>
                <a:cs typeface="MiSans" pitchFamily="34" charset="-120"/>
              </a:rPr>
              <a:t>ate</a:t>
            </a:r>
            <a:r>
              <a:rPr lang="en-US" sz="1600" b="1" dirty="0">
                <a:solidFill>
                  <a:srgbClr val="404040"/>
                </a:solidFill>
                <a:latin typeface="MiSans" pitchFamily="34" charset="0"/>
                <a:ea typeface="MiSans" pitchFamily="34" charset="-122"/>
                <a:cs typeface="MiSans" pitchFamily="34" charset="-120"/>
              </a:rPr>
              <a:t>：</a:t>
            </a:r>
            <a:r>
              <a:rPr lang="en-US" sz="1600" dirty="0">
                <a:solidFill>
                  <a:srgbClr val="404040"/>
                </a:solidFill>
                <a:latin typeface="MiSans" pitchFamily="34" charset="0"/>
                <a:ea typeface="MiSans" pitchFamily="34" charset="-122"/>
                <a:cs typeface="MiSans" pitchFamily="34" charset="-120"/>
              </a:rPr>
              <a:t>2025/12/10</a:t>
            </a:r>
            <a:endParaRPr lang="en-US" dirty="0"/>
          </a:p>
        </p:txBody>
      </p:sp>
      <p:sp>
        <p:nvSpPr>
          <p:cNvPr id="9" name="Text 5"/>
          <p:cNvSpPr/>
          <p:nvPr/>
        </p:nvSpPr>
        <p:spPr>
          <a:xfrm>
            <a:off x="7046885" y="5150141"/>
            <a:ext cx="2266448" cy="338554"/>
          </a:xfrm>
          <a:prstGeom prst="rect">
            <a:avLst/>
          </a:prstGeom>
          <a:noFill/>
          <a:ln/>
        </p:spPr>
        <p:txBody>
          <a:bodyPr wrap="square" lIns="91440" tIns="45720" rIns="91440" bIns="45720" rtlCol="0" anchor="t">
            <a:spAutoFit/>
          </a:bodyPr>
          <a:lstStyle/>
          <a:p>
            <a:pPr algn="ctr">
              <a:lnSpc>
                <a:spcPct val="100000"/>
              </a:lnSpc>
            </a:pPr>
            <a:r>
              <a:rPr lang="en-US" sz="1600" b="1" dirty="0">
                <a:solidFill>
                  <a:srgbClr val="404040"/>
                </a:solidFill>
                <a:latin typeface="MiSans" pitchFamily="34" charset="0"/>
                <a:ea typeface="MiSans" pitchFamily="34" charset="-122"/>
                <a:cs typeface="MiSans" pitchFamily="34" charset="-120"/>
              </a:rPr>
              <a:t>G</a:t>
            </a:r>
            <a:r>
              <a:rPr lang="en-US" altLang="zh-CN" sz="1600" b="1" dirty="0">
                <a:solidFill>
                  <a:srgbClr val="404040"/>
                </a:solidFill>
                <a:latin typeface="MiSans" pitchFamily="34" charset="0"/>
                <a:ea typeface="MiSans" pitchFamily="34" charset="-122"/>
                <a:cs typeface="MiSans" pitchFamily="34" charset="-120"/>
              </a:rPr>
              <a:t>roup:</a:t>
            </a:r>
            <a:r>
              <a:rPr lang="zh-CN" altLang="en-US" sz="1600" b="1" dirty="0">
                <a:solidFill>
                  <a:srgbClr val="404040"/>
                </a:solidFill>
                <a:latin typeface="MiSans" pitchFamily="34" charset="0"/>
                <a:ea typeface="MiSans" pitchFamily="34" charset="-122"/>
                <a:cs typeface="MiSans" pitchFamily="34" charset="-120"/>
              </a:rPr>
              <a:t> </a:t>
            </a:r>
            <a:r>
              <a:rPr lang="en-US" sz="1600" dirty="0">
                <a:solidFill>
                  <a:srgbClr val="404040"/>
                </a:solidFill>
                <a:latin typeface="MiSans" pitchFamily="34" charset="0"/>
                <a:ea typeface="MiSans" pitchFamily="34" charset="-122"/>
                <a:cs typeface="MiSans" pitchFamily="34" charset="-120"/>
              </a:rPr>
              <a:t>G</a:t>
            </a:r>
            <a:r>
              <a:rPr lang="en-US" altLang="zh-CN" sz="1600" dirty="0">
                <a:solidFill>
                  <a:srgbClr val="404040"/>
                </a:solidFill>
                <a:latin typeface="MiSans" pitchFamily="34" charset="0"/>
                <a:ea typeface="MiSans" pitchFamily="34" charset="-122"/>
                <a:cs typeface="MiSans" pitchFamily="34" charset="-120"/>
              </a:rPr>
              <a:t>it Commit</a:t>
            </a:r>
            <a:endParaRPr lang="en-US" sz="1600" dirty="0">
              <a:solidFill>
                <a:srgbClr val="404040"/>
              </a:solidFill>
              <a:latin typeface="MiSans" pitchFamily="34" charset="0"/>
              <a:ea typeface="MiSans" pitchFamily="34" charset="-122"/>
              <a:cs typeface="MiSans" pitchFamily="34" charset="-120"/>
            </a:endParaRPr>
          </a:p>
        </p:txBody>
      </p:sp>
      <p:sp>
        <p:nvSpPr>
          <p:cNvPr id="11" name="Text 7"/>
          <p:cNvSpPr/>
          <p:nvPr/>
        </p:nvSpPr>
        <p:spPr>
          <a:xfrm>
            <a:off x="7282128" y="5488695"/>
            <a:ext cx="774258" cy="76200"/>
          </a:xfrm>
          <a:prstGeom prst="rect">
            <a:avLst/>
          </a:prstGeom>
          <a:noFill/>
          <a:ln/>
        </p:spPr>
        <p:txBody>
          <a:bodyPr wrap="square" lIns="45720" tIns="91440" rIns="91440" bIns="45720" rtlCol="0" anchor="ctr"/>
          <a:lstStyle/>
          <a:p>
            <a:pPr>
              <a:lnSpc>
                <a:spcPct val="100000"/>
              </a:lnSpc>
            </a:pPr>
            <a:endParaRPr lang="en-US" sz="1600" dirty="0"/>
          </a:p>
        </p:txBody>
      </p:sp>
      <p:pic>
        <p:nvPicPr>
          <p:cNvPr id="14" name="Image 3" descr="https://kimi-img.moonshot.cn/pub/slides/slides_tmpl/image/25-10-09-17:19:39-d3jnsaos8jdo4os5dlqg.png"/>
          <p:cNvPicPr>
            <a:picLocks noChangeAspect="1"/>
          </p:cNvPicPr>
          <p:nvPr/>
        </p:nvPicPr>
        <p:blipFill>
          <a:blip r:embed="rId4"/>
          <a:stretch>
            <a:fillRect/>
          </a:stretch>
        </p:blipFill>
        <p:spPr>
          <a:xfrm>
            <a:off x="0" y="5998210"/>
            <a:ext cx="12192000" cy="859790"/>
          </a:xfrm>
          <a:prstGeom prst="rect">
            <a:avLst/>
          </a:prstGeom>
        </p:spPr>
      </p:pic>
      <p:sp>
        <p:nvSpPr>
          <p:cNvPr id="15" name="文本框 14">
            <a:extLst>
              <a:ext uri="{FF2B5EF4-FFF2-40B4-BE49-F238E27FC236}">
                <a16:creationId xmlns:a16="http://schemas.microsoft.com/office/drawing/2014/main" id="{561C15E7-239C-6B15-EB20-FF498B7F62BD}"/>
              </a:ext>
            </a:extLst>
          </p:cNvPr>
          <p:cNvSpPr txBox="1"/>
          <p:nvPr/>
        </p:nvSpPr>
        <p:spPr>
          <a:xfrm>
            <a:off x="7375262" y="3469774"/>
            <a:ext cx="3381559" cy="1200329"/>
          </a:xfrm>
          <a:prstGeom prst="rect">
            <a:avLst/>
          </a:prstGeom>
          <a:noFill/>
        </p:spPr>
        <p:txBody>
          <a:bodyPr wrap="square">
            <a:spAutoFit/>
          </a:bodyPr>
          <a:lstStyle/>
          <a:p>
            <a:r>
              <a:rPr lang="en-US" altLang="zh-CN" b="1" dirty="0">
                <a:solidFill>
                  <a:schemeClr val="accent1">
                    <a:lumMod val="50000"/>
                  </a:schemeClr>
                </a:solidFill>
              </a:rPr>
              <a:t>Members:</a:t>
            </a:r>
            <a:br>
              <a:rPr lang="en-US" altLang="zh-CN" dirty="0">
                <a:solidFill>
                  <a:schemeClr val="accent1">
                    <a:lumMod val="50000"/>
                  </a:schemeClr>
                </a:solidFill>
              </a:rPr>
            </a:br>
            <a:r>
              <a:rPr lang="zh-CN" altLang="en-US" dirty="0">
                <a:solidFill>
                  <a:schemeClr val="accent1">
                    <a:lumMod val="50000"/>
                  </a:schemeClr>
                </a:solidFill>
              </a:rPr>
              <a:t>Zhihong Zhang</a:t>
            </a:r>
            <a:r>
              <a:rPr lang="en-US" altLang="zh-CN" dirty="0">
                <a:solidFill>
                  <a:schemeClr val="accent1">
                    <a:lumMod val="50000"/>
                  </a:schemeClr>
                </a:solidFill>
              </a:rPr>
              <a:t>,</a:t>
            </a:r>
            <a:r>
              <a:rPr lang="zh-CN" altLang="en-US" dirty="0">
                <a:solidFill>
                  <a:schemeClr val="accent1">
                    <a:lumMod val="50000"/>
                  </a:schemeClr>
                </a:solidFill>
              </a:rPr>
              <a:t> Yu Fu </a:t>
            </a:r>
            <a:endParaRPr lang="en-US" altLang="zh-CN" dirty="0">
              <a:solidFill>
                <a:schemeClr val="accent1">
                  <a:lumMod val="50000"/>
                </a:schemeClr>
              </a:solidFill>
            </a:endParaRPr>
          </a:p>
          <a:p>
            <a:r>
              <a:rPr lang="zh-CN" altLang="en-US" dirty="0">
                <a:solidFill>
                  <a:schemeClr val="accent1">
                    <a:lumMod val="50000"/>
                  </a:schemeClr>
                </a:solidFill>
              </a:rPr>
              <a:t>Simin Xian</a:t>
            </a:r>
            <a:r>
              <a:rPr lang="en-US" altLang="zh-CN" dirty="0">
                <a:solidFill>
                  <a:schemeClr val="accent1">
                    <a:lumMod val="50000"/>
                  </a:schemeClr>
                </a:solidFill>
              </a:rPr>
              <a:t>, </a:t>
            </a:r>
            <a:r>
              <a:rPr lang="zh-CN" altLang="en-US" dirty="0">
                <a:solidFill>
                  <a:schemeClr val="accent1">
                    <a:lumMod val="50000"/>
                  </a:schemeClr>
                </a:solidFill>
              </a:rPr>
              <a:t>Wenhao Li </a:t>
            </a:r>
            <a:endParaRPr lang="en-US" altLang="zh-CN" dirty="0">
              <a:solidFill>
                <a:schemeClr val="accent1">
                  <a:lumMod val="50000"/>
                </a:schemeClr>
              </a:solidFill>
            </a:endParaRPr>
          </a:p>
          <a:p>
            <a:r>
              <a:rPr lang="zh-CN" altLang="en-US" dirty="0">
                <a:solidFill>
                  <a:schemeClr val="accent1">
                    <a:lumMod val="50000"/>
                  </a:schemeClr>
                </a:solidFill>
              </a:rPr>
              <a:t>Jiajun Zhang</a:t>
            </a:r>
            <a:r>
              <a:rPr lang="en-US" altLang="zh-CN" dirty="0">
                <a:solidFill>
                  <a:schemeClr val="accent1">
                    <a:lumMod val="50000"/>
                  </a:schemeClr>
                </a:solidFill>
              </a:rPr>
              <a:t>, </a:t>
            </a:r>
            <a:r>
              <a:rPr lang="zh-CN" altLang="en-US" dirty="0">
                <a:solidFill>
                  <a:schemeClr val="accent1">
                    <a:lumMod val="50000"/>
                  </a:schemeClr>
                </a:solidFill>
              </a:rPr>
              <a:t>Shuang Leng </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pic>
        <p:nvPicPr>
          <p:cNvPr id="25" name="Image 0" descr="https://kimi-img.moonshot.cn/pub/slides/slides_tmpl/image/25-10-09-17:19:39-d3jnsaos8jdo4os5dlu0.png">
            <a:extLst>
              <a:ext uri="{FF2B5EF4-FFF2-40B4-BE49-F238E27FC236}">
                <a16:creationId xmlns:a16="http://schemas.microsoft.com/office/drawing/2014/main" id="{CD65C0A7-DBD4-D84C-6BE4-634EFC6F0AF8}"/>
              </a:ext>
            </a:extLst>
          </p:cNvPr>
          <p:cNvPicPr>
            <a:picLocks/>
          </p:cNvPicPr>
          <p:nvPr/>
        </p:nvPicPr>
        <p:blipFill>
          <a:blip r:embed="rId3"/>
          <a:srcRect t="16500" b="19906"/>
          <a:stretch>
            <a:fillRect/>
          </a:stretch>
        </p:blipFill>
        <p:spPr>
          <a:xfrm>
            <a:off x="5463777" y="1884771"/>
            <a:ext cx="5989804" cy="3345734"/>
          </a:xfrm>
          <a:prstGeom prst="rect">
            <a:avLst/>
          </a:prstGeom>
        </p:spPr>
      </p:pic>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699895" y="2041906"/>
            <a:ext cx="2643505" cy="2643505"/>
          </a:xfrm>
          <a:prstGeom prst="ellipse">
            <a:avLst/>
          </a:prstGeom>
          <a:gradFill flip="none" rotWithShape="1">
            <a:gsLst>
              <a:gs pos="0">
                <a:srgbClr val="C8E2FE"/>
              </a:gs>
              <a:gs pos="30000">
                <a:srgbClr val="C8E2FE">
                  <a:alpha val="0"/>
                </a:srgbClr>
              </a:gs>
              <a:gs pos="100000">
                <a:srgbClr val="C8E2FE">
                  <a:alpha val="0"/>
                </a:srgbClr>
              </a:gs>
            </a:gsLst>
            <a:lin ang="5400000" scaled="1"/>
          </a:gradFill>
          <a:ln/>
        </p:spPr>
      </p:sp>
      <p:sp>
        <p:nvSpPr>
          <p:cNvPr id="5" name="Text 3"/>
          <p:cNvSpPr/>
          <p:nvPr/>
        </p:nvSpPr>
        <p:spPr>
          <a:xfrm>
            <a:off x="1699895" y="2041906"/>
            <a:ext cx="2643505" cy="264350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880272"/>
            <a:ext cx="7802117" cy="742416"/>
          </a:xfrm>
          <a:custGeom>
            <a:avLst/>
            <a:gdLst/>
            <a:ahLst/>
            <a:cxnLst/>
            <a:rect l="l" t="t" r="r" b="b"/>
            <a:pathLst>
              <a:path w="7802117" h="998185">
                <a:moveTo>
                  <a:pt x="7802117" y="998185"/>
                </a:moveTo>
                <a:lnTo>
                  <a:pt x="0" y="998185"/>
                </a:lnTo>
                <a:lnTo>
                  <a:pt x="0" y="323839"/>
                </a:lnTo>
                <a:lnTo>
                  <a:pt x="52704" y="306059"/>
                </a:lnTo>
                <a:lnTo>
                  <a:pt x="281935" y="240022"/>
                </a:lnTo>
                <a:lnTo>
                  <a:pt x="511167" y="182874"/>
                </a:lnTo>
                <a:lnTo>
                  <a:pt x="740398" y="133980"/>
                </a:lnTo>
                <a:lnTo>
                  <a:pt x="968994" y="93342"/>
                </a:lnTo>
                <a:lnTo>
                  <a:pt x="1198225" y="60323"/>
                </a:lnTo>
                <a:lnTo>
                  <a:pt x="1427457" y="34924"/>
                </a:lnTo>
                <a:lnTo>
                  <a:pt x="1656688" y="16509"/>
                </a:lnTo>
                <a:lnTo>
                  <a:pt x="1885919" y="5080"/>
                </a:lnTo>
                <a:lnTo>
                  <a:pt x="2115150" y="0"/>
                </a:lnTo>
                <a:lnTo>
                  <a:pt x="2344382" y="1270"/>
                </a:lnTo>
                <a:lnTo>
                  <a:pt x="2573613" y="8255"/>
                </a:lnTo>
                <a:lnTo>
                  <a:pt x="2802844" y="20319"/>
                </a:lnTo>
                <a:lnTo>
                  <a:pt x="3032075" y="38099"/>
                </a:lnTo>
                <a:lnTo>
                  <a:pt x="3261306" y="60323"/>
                </a:lnTo>
                <a:lnTo>
                  <a:pt x="3490538" y="86992"/>
                </a:lnTo>
                <a:lnTo>
                  <a:pt x="3719769" y="118106"/>
                </a:lnTo>
                <a:lnTo>
                  <a:pt x="3949000" y="153030"/>
                </a:lnTo>
                <a:lnTo>
                  <a:pt x="4178231" y="191128"/>
                </a:lnTo>
                <a:lnTo>
                  <a:pt x="4407463" y="233037"/>
                </a:lnTo>
                <a:lnTo>
                  <a:pt x="4636059" y="276850"/>
                </a:lnTo>
                <a:lnTo>
                  <a:pt x="4865290" y="323839"/>
                </a:lnTo>
                <a:lnTo>
                  <a:pt x="5094521" y="372732"/>
                </a:lnTo>
                <a:lnTo>
                  <a:pt x="5323753" y="423530"/>
                </a:lnTo>
                <a:lnTo>
                  <a:pt x="5552984" y="475598"/>
                </a:lnTo>
                <a:lnTo>
                  <a:pt x="5782215" y="528936"/>
                </a:lnTo>
                <a:lnTo>
                  <a:pt x="6011446" y="583545"/>
                </a:lnTo>
                <a:lnTo>
                  <a:pt x="6240678" y="638153"/>
                </a:lnTo>
                <a:lnTo>
                  <a:pt x="6469909" y="692761"/>
                </a:lnTo>
                <a:lnTo>
                  <a:pt x="6699140" y="748004"/>
                </a:lnTo>
                <a:lnTo>
                  <a:pt x="6928371" y="801977"/>
                </a:lnTo>
                <a:lnTo>
                  <a:pt x="7157603" y="855315"/>
                </a:lnTo>
                <a:lnTo>
                  <a:pt x="7386834" y="907383"/>
                </a:lnTo>
                <a:lnTo>
                  <a:pt x="7616065" y="958181"/>
                </a:lnTo>
                <a:lnTo>
                  <a:pt x="7802117" y="998185"/>
                </a:lnTo>
                <a:close/>
              </a:path>
            </a:pathLst>
          </a:custGeom>
          <a:gradFill flip="none" rotWithShape="1">
            <a:gsLst>
              <a:gs pos="0">
                <a:srgbClr val="F8AA5C"/>
              </a:gs>
              <a:gs pos="26000">
                <a:srgbClr val="F8AA5C"/>
              </a:gs>
              <a:gs pos="63000">
                <a:srgbClr val="FBCC9D"/>
              </a:gs>
              <a:gs pos="99000">
                <a:srgbClr val="FDEEDE"/>
              </a:gs>
              <a:gs pos="100000">
                <a:srgbClr val="FDEEDE"/>
              </a:gs>
            </a:gsLst>
            <a:lin ang="0" scaled="1"/>
          </a:gradFill>
          <a:ln/>
        </p:spPr>
      </p:sp>
      <p:sp>
        <p:nvSpPr>
          <p:cNvPr id="7" name="Text 5"/>
          <p:cNvSpPr/>
          <p:nvPr/>
        </p:nvSpPr>
        <p:spPr>
          <a:xfrm>
            <a:off x="0" y="5624503"/>
            <a:ext cx="7802117" cy="99818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0" y="6164262"/>
            <a:ext cx="12192000" cy="693737"/>
          </a:xfrm>
          <a:custGeom>
            <a:avLst/>
            <a:gdLst/>
            <a:ahLst/>
            <a:cxnLst/>
            <a:rect l="l" t="t" r="r" b="b"/>
            <a:pathLst>
              <a:path w="12192000" h="1071880">
                <a:moveTo>
                  <a:pt x="12192000" y="65405"/>
                </a:moveTo>
                <a:lnTo>
                  <a:pt x="12192000" y="1071880"/>
                </a:lnTo>
                <a:lnTo>
                  <a:pt x="0" y="1071880"/>
                </a:lnTo>
                <a:lnTo>
                  <a:pt x="0" y="69215"/>
                </a:lnTo>
                <a:lnTo>
                  <a:pt x="136525" y="48895"/>
                </a:lnTo>
                <a:lnTo>
                  <a:pt x="278130" y="31750"/>
                </a:lnTo>
                <a:lnTo>
                  <a:pt x="420370" y="17780"/>
                </a:lnTo>
                <a:lnTo>
                  <a:pt x="561975" y="8255"/>
                </a:lnTo>
                <a:lnTo>
                  <a:pt x="703580" y="2540"/>
                </a:lnTo>
                <a:lnTo>
                  <a:pt x="845185" y="0"/>
                </a:lnTo>
                <a:lnTo>
                  <a:pt x="986790" y="635"/>
                </a:lnTo>
                <a:lnTo>
                  <a:pt x="1128395" y="3810"/>
                </a:lnTo>
                <a:lnTo>
                  <a:pt x="1270635" y="10795"/>
                </a:lnTo>
                <a:lnTo>
                  <a:pt x="1412240" y="19685"/>
                </a:lnTo>
                <a:lnTo>
                  <a:pt x="1553845" y="31750"/>
                </a:lnTo>
                <a:lnTo>
                  <a:pt x="1695450" y="45720"/>
                </a:lnTo>
                <a:lnTo>
                  <a:pt x="1837055" y="61595"/>
                </a:lnTo>
                <a:lnTo>
                  <a:pt x="1978660" y="80010"/>
                </a:lnTo>
                <a:lnTo>
                  <a:pt x="2120265" y="99695"/>
                </a:lnTo>
                <a:lnTo>
                  <a:pt x="2262505" y="121285"/>
                </a:lnTo>
                <a:lnTo>
                  <a:pt x="2404110" y="144145"/>
                </a:lnTo>
                <a:lnTo>
                  <a:pt x="2545715" y="168275"/>
                </a:lnTo>
                <a:lnTo>
                  <a:pt x="2687320" y="194310"/>
                </a:lnTo>
                <a:lnTo>
                  <a:pt x="2828925" y="220980"/>
                </a:lnTo>
                <a:lnTo>
                  <a:pt x="2970530" y="247650"/>
                </a:lnTo>
                <a:lnTo>
                  <a:pt x="3112770" y="275590"/>
                </a:lnTo>
                <a:lnTo>
                  <a:pt x="3254375" y="303530"/>
                </a:lnTo>
                <a:lnTo>
                  <a:pt x="3395980" y="332740"/>
                </a:lnTo>
                <a:lnTo>
                  <a:pt x="3537585" y="361315"/>
                </a:lnTo>
                <a:lnTo>
                  <a:pt x="3679190" y="389255"/>
                </a:lnTo>
                <a:lnTo>
                  <a:pt x="3820795" y="417830"/>
                </a:lnTo>
                <a:lnTo>
                  <a:pt x="3963035" y="445770"/>
                </a:lnTo>
                <a:lnTo>
                  <a:pt x="4104640" y="473075"/>
                </a:lnTo>
                <a:lnTo>
                  <a:pt x="4246245" y="499110"/>
                </a:lnTo>
                <a:lnTo>
                  <a:pt x="4387850" y="525145"/>
                </a:lnTo>
                <a:lnTo>
                  <a:pt x="4529455" y="549275"/>
                </a:lnTo>
                <a:lnTo>
                  <a:pt x="4671060" y="572135"/>
                </a:lnTo>
                <a:lnTo>
                  <a:pt x="4813300" y="594360"/>
                </a:lnTo>
                <a:lnTo>
                  <a:pt x="4954905" y="614045"/>
                </a:lnTo>
                <a:lnTo>
                  <a:pt x="5096510" y="631825"/>
                </a:lnTo>
                <a:lnTo>
                  <a:pt x="5238115" y="648335"/>
                </a:lnTo>
                <a:lnTo>
                  <a:pt x="5379720" y="662305"/>
                </a:lnTo>
                <a:lnTo>
                  <a:pt x="5521325" y="673735"/>
                </a:lnTo>
                <a:lnTo>
                  <a:pt x="5662930" y="682625"/>
                </a:lnTo>
                <a:lnTo>
                  <a:pt x="5805170" y="689610"/>
                </a:lnTo>
                <a:lnTo>
                  <a:pt x="5946775" y="693420"/>
                </a:lnTo>
                <a:lnTo>
                  <a:pt x="6088380" y="693420"/>
                </a:lnTo>
                <a:lnTo>
                  <a:pt x="6108065" y="693420"/>
                </a:lnTo>
                <a:lnTo>
                  <a:pt x="6128385" y="693420"/>
                </a:lnTo>
                <a:lnTo>
                  <a:pt x="6269990" y="693420"/>
                </a:lnTo>
                <a:lnTo>
                  <a:pt x="6411595" y="689610"/>
                </a:lnTo>
                <a:lnTo>
                  <a:pt x="6553835" y="682625"/>
                </a:lnTo>
                <a:lnTo>
                  <a:pt x="6695440" y="673735"/>
                </a:lnTo>
                <a:lnTo>
                  <a:pt x="6837045" y="662305"/>
                </a:lnTo>
                <a:lnTo>
                  <a:pt x="6978650" y="648335"/>
                </a:lnTo>
                <a:lnTo>
                  <a:pt x="7120255" y="631825"/>
                </a:lnTo>
                <a:lnTo>
                  <a:pt x="7261860" y="614045"/>
                </a:lnTo>
                <a:lnTo>
                  <a:pt x="7403465" y="594360"/>
                </a:lnTo>
                <a:lnTo>
                  <a:pt x="7545705" y="572135"/>
                </a:lnTo>
                <a:lnTo>
                  <a:pt x="7687310" y="549275"/>
                </a:lnTo>
                <a:lnTo>
                  <a:pt x="7828915" y="525145"/>
                </a:lnTo>
                <a:lnTo>
                  <a:pt x="7970520" y="499110"/>
                </a:lnTo>
                <a:lnTo>
                  <a:pt x="8112125" y="473075"/>
                </a:lnTo>
                <a:lnTo>
                  <a:pt x="8253730" y="445770"/>
                </a:lnTo>
                <a:lnTo>
                  <a:pt x="8395970" y="417830"/>
                </a:lnTo>
                <a:lnTo>
                  <a:pt x="8537575" y="389255"/>
                </a:lnTo>
                <a:lnTo>
                  <a:pt x="8679180" y="361315"/>
                </a:lnTo>
                <a:lnTo>
                  <a:pt x="8820785" y="332740"/>
                </a:lnTo>
                <a:lnTo>
                  <a:pt x="8962390" y="303530"/>
                </a:lnTo>
                <a:lnTo>
                  <a:pt x="9103995" y="275590"/>
                </a:lnTo>
                <a:lnTo>
                  <a:pt x="9246235" y="247650"/>
                </a:lnTo>
                <a:lnTo>
                  <a:pt x="9387840" y="220980"/>
                </a:lnTo>
                <a:lnTo>
                  <a:pt x="9529445" y="194310"/>
                </a:lnTo>
                <a:lnTo>
                  <a:pt x="9671050" y="168275"/>
                </a:lnTo>
                <a:lnTo>
                  <a:pt x="9812655" y="144145"/>
                </a:lnTo>
                <a:lnTo>
                  <a:pt x="9954260" y="121285"/>
                </a:lnTo>
                <a:lnTo>
                  <a:pt x="10096500" y="99695"/>
                </a:lnTo>
                <a:lnTo>
                  <a:pt x="10238105" y="80010"/>
                </a:lnTo>
                <a:lnTo>
                  <a:pt x="10379710" y="61595"/>
                </a:lnTo>
                <a:lnTo>
                  <a:pt x="10521315" y="45720"/>
                </a:lnTo>
                <a:lnTo>
                  <a:pt x="10662920" y="31750"/>
                </a:lnTo>
                <a:lnTo>
                  <a:pt x="10804525" y="19685"/>
                </a:lnTo>
                <a:lnTo>
                  <a:pt x="10946130" y="10795"/>
                </a:lnTo>
                <a:lnTo>
                  <a:pt x="11088370" y="3810"/>
                </a:lnTo>
                <a:lnTo>
                  <a:pt x="11229975" y="635"/>
                </a:lnTo>
                <a:lnTo>
                  <a:pt x="11371580" y="0"/>
                </a:lnTo>
                <a:lnTo>
                  <a:pt x="11513185" y="2540"/>
                </a:lnTo>
                <a:lnTo>
                  <a:pt x="11654790" y="8255"/>
                </a:lnTo>
                <a:lnTo>
                  <a:pt x="11796395" y="17780"/>
                </a:lnTo>
                <a:lnTo>
                  <a:pt x="11938635" y="31750"/>
                </a:lnTo>
                <a:lnTo>
                  <a:pt x="12080240" y="48895"/>
                </a:lnTo>
                <a:lnTo>
                  <a:pt x="12192000" y="65405"/>
                </a:lnTo>
                <a:close/>
              </a:path>
            </a:pathLst>
          </a:custGeom>
          <a:solidFill>
            <a:srgbClr val="056EE1"/>
          </a:solidFill>
          <a:ln/>
        </p:spPr>
      </p:sp>
      <p:sp>
        <p:nvSpPr>
          <p:cNvPr id="9" name="Text 7"/>
          <p:cNvSpPr/>
          <p:nvPr/>
        </p:nvSpPr>
        <p:spPr>
          <a:xfrm>
            <a:off x="0" y="5786120"/>
            <a:ext cx="12192000" cy="107188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11106785" y="1169329"/>
            <a:ext cx="235520" cy="0"/>
          </a:xfrm>
          <a:prstGeom prst="line">
            <a:avLst/>
          </a:prstGeom>
          <a:noFill/>
          <a:ln w="31750">
            <a:solidFill>
              <a:srgbClr val="056EE1"/>
            </a:solidFill>
            <a:prstDash val="solid"/>
            <a:headEnd type="none"/>
            <a:tailEnd type="none"/>
          </a:ln>
        </p:spPr>
      </p:sp>
      <p:sp>
        <p:nvSpPr>
          <p:cNvPr id="11" name="Shape 9"/>
          <p:cNvSpPr/>
          <p:nvPr/>
        </p:nvSpPr>
        <p:spPr>
          <a:xfrm>
            <a:off x="11106785" y="1230289"/>
            <a:ext cx="235520" cy="0"/>
          </a:xfrm>
          <a:prstGeom prst="line">
            <a:avLst/>
          </a:prstGeom>
          <a:noFill/>
          <a:ln w="31750">
            <a:solidFill>
              <a:srgbClr val="056EE1"/>
            </a:solidFill>
            <a:prstDash val="solid"/>
            <a:headEnd type="none"/>
            <a:tailEnd type="none"/>
          </a:ln>
        </p:spPr>
      </p:sp>
      <p:sp>
        <p:nvSpPr>
          <p:cNvPr id="12" name="Shape 10"/>
          <p:cNvSpPr/>
          <p:nvPr/>
        </p:nvSpPr>
        <p:spPr>
          <a:xfrm>
            <a:off x="11106785" y="1291249"/>
            <a:ext cx="235520" cy="0"/>
          </a:xfrm>
          <a:prstGeom prst="line">
            <a:avLst/>
          </a:prstGeom>
          <a:noFill/>
          <a:ln w="31750">
            <a:solidFill>
              <a:srgbClr val="056EE1"/>
            </a:solidFill>
            <a:prstDash val="solid"/>
            <a:headEnd type="none"/>
            <a:tailEnd type="none"/>
          </a:ln>
        </p:spPr>
      </p:sp>
      <p:pic>
        <p:nvPicPr>
          <p:cNvPr id="14" name="Image 1" descr="https://kimi-img.moonshot.cn/pub/slides/slides_tmpl/image/25-10-09-17:19:39-d3jnsaos8jdo4os5dlrg.png"/>
          <p:cNvPicPr>
            <a:picLocks noChangeAspect="1"/>
          </p:cNvPicPr>
          <p:nvPr/>
        </p:nvPicPr>
        <p:blipFill>
          <a:blip r:embed="rId4"/>
          <a:srcRect/>
          <a:stretch/>
        </p:blipFill>
        <p:spPr>
          <a:xfrm>
            <a:off x="2007235" y="3430905"/>
            <a:ext cx="2084070" cy="303530"/>
          </a:xfrm>
          <a:prstGeom prst="rect">
            <a:avLst/>
          </a:prstGeom>
        </p:spPr>
      </p:pic>
      <p:sp>
        <p:nvSpPr>
          <p:cNvPr id="15" name="Text 11"/>
          <p:cNvSpPr/>
          <p:nvPr/>
        </p:nvSpPr>
        <p:spPr>
          <a:xfrm>
            <a:off x="1034429" y="2476550"/>
            <a:ext cx="3634730" cy="1081088"/>
          </a:xfrm>
          <a:prstGeom prst="rect">
            <a:avLst/>
          </a:prstGeom>
          <a:noFill/>
          <a:ln/>
        </p:spPr>
        <p:txBody>
          <a:bodyPr wrap="square" lIns="91440" tIns="45720" rIns="91440" bIns="45720" rtlCol="0" anchor="b"/>
          <a:lstStyle/>
          <a:p>
            <a:pPr algn="ctr">
              <a:lnSpc>
                <a:spcPct val="100000"/>
              </a:lnSpc>
            </a:pPr>
            <a:r>
              <a:rPr lang="en-US" altLang="zh-CN" sz="6600" b="1" dirty="0">
                <a:solidFill>
                  <a:schemeClr val="accent1"/>
                </a:solidFill>
                <a:latin typeface="MiSans" pitchFamily="34" charset="0"/>
                <a:ea typeface="MiSans" pitchFamily="34" charset="-122"/>
                <a:cs typeface="MiSans" pitchFamily="34" charset="-120"/>
              </a:rPr>
              <a:t>Content</a:t>
            </a:r>
            <a:endParaRPr lang="en-US" sz="2000" b="1" dirty="0">
              <a:solidFill>
                <a:schemeClr val="accent1"/>
              </a:solidFill>
            </a:endParaRPr>
          </a:p>
        </p:txBody>
      </p:sp>
      <p:sp>
        <p:nvSpPr>
          <p:cNvPr id="16" name="Text 12"/>
          <p:cNvSpPr/>
          <p:nvPr/>
        </p:nvSpPr>
        <p:spPr>
          <a:xfrm>
            <a:off x="5656524" y="2051351"/>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01</a:t>
            </a:r>
            <a:endParaRPr lang="en-US" sz="1600" dirty="0"/>
          </a:p>
        </p:txBody>
      </p:sp>
      <p:sp>
        <p:nvSpPr>
          <p:cNvPr id="17" name="Text 13"/>
          <p:cNvSpPr/>
          <p:nvPr/>
        </p:nvSpPr>
        <p:spPr>
          <a:xfrm>
            <a:off x="6486525" y="2074680"/>
            <a:ext cx="5036608" cy="504000"/>
          </a:xfrm>
          <a:prstGeom prst="rect">
            <a:avLst/>
          </a:prstGeom>
          <a:noFill/>
          <a:ln/>
        </p:spPr>
        <p:txBody>
          <a:bodyPr wrap="square" lIns="0" tIns="0" rIns="0" bIns="0" rtlCol="0" anchor="ctr"/>
          <a:lstStyle/>
          <a:p>
            <a:pPr>
              <a:lnSpc>
                <a:spcPct val="100000"/>
              </a:lnSpc>
            </a:pPr>
            <a:r>
              <a:rPr lang="en-US" altLang="zh-CN" sz="2000" b="1" dirty="0">
                <a:solidFill>
                  <a:srgbClr val="022144"/>
                </a:solidFill>
                <a:latin typeface="MiSans" pitchFamily="34" charset="0"/>
                <a:ea typeface="MiSans" pitchFamily="34" charset="-122"/>
                <a:cs typeface="MiSans" pitchFamily="34" charset="-120"/>
              </a:rPr>
              <a:t>Project Background and Objectives</a:t>
            </a:r>
            <a:endParaRPr lang="en-US" b="1" dirty="0"/>
          </a:p>
        </p:txBody>
      </p:sp>
      <p:sp>
        <p:nvSpPr>
          <p:cNvPr id="18" name="Text 14"/>
          <p:cNvSpPr/>
          <p:nvPr/>
        </p:nvSpPr>
        <p:spPr>
          <a:xfrm>
            <a:off x="5656524" y="2888440"/>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02</a:t>
            </a:r>
            <a:endParaRPr lang="en-US" sz="1600" dirty="0"/>
          </a:p>
        </p:txBody>
      </p:sp>
      <p:sp>
        <p:nvSpPr>
          <p:cNvPr id="19" name="Text 15"/>
          <p:cNvSpPr/>
          <p:nvPr/>
        </p:nvSpPr>
        <p:spPr>
          <a:xfrm>
            <a:off x="6486525" y="2899971"/>
            <a:ext cx="4317365" cy="504000"/>
          </a:xfrm>
          <a:prstGeom prst="rect">
            <a:avLst/>
          </a:prstGeom>
          <a:noFill/>
          <a:ln/>
        </p:spPr>
        <p:txBody>
          <a:bodyPr wrap="square" lIns="0" tIns="0" rIns="0" bIns="0" rtlCol="0" anchor="ctr"/>
          <a:lstStyle/>
          <a:p>
            <a:pPr>
              <a:lnSpc>
                <a:spcPct val="100000"/>
              </a:lnSpc>
            </a:pPr>
            <a:r>
              <a:rPr lang="en-US" altLang="zh-CN" sz="2000" b="1" dirty="0">
                <a:solidFill>
                  <a:srgbClr val="022144"/>
                </a:solidFill>
                <a:latin typeface="MiSans" pitchFamily="34" charset="0"/>
                <a:ea typeface="MiSans" pitchFamily="34" charset="-122"/>
                <a:cs typeface="MiSans" pitchFamily="34" charset="-120"/>
              </a:rPr>
              <a:t>Core Technical Solution</a:t>
            </a:r>
            <a:endParaRPr lang="en-US" b="1" dirty="0"/>
          </a:p>
        </p:txBody>
      </p:sp>
      <p:sp>
        <p:nvSpPr>
          <p:cNvPr id="20" name="Text 16"/>
          <p:cNvSpPr/>
          <p:nvPr/>
        </p:nvSpPr>
        <p:spPr>
          <a:xfrm>
            <a:off x="5653925" y="3729030"/>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03</a:t>
            </a:r>
            <a:endParaRPr lang="en-US" sz="1600" dirty="0"/>
          </a:p>
        </p:txBody>
      </p:sp>
      <p:sp>
        <p:nvSpPr>
          <p:cNvPr id="21" name="Text 17"/>
          <p:cNvSpPr/>
          <p:nvPr/>
        </p:nvSpPr>
        <p:spPr>
          <a:xfrm>
            <a:off x="6486524" y="3745492"/>
            <a:ext cx="4317365" cy="504000"/>
          </a:xfrm>
          <a:prstGeom prst="rect">
            <a:avLst/>
          </a:prstGeom>
          <a:noFill/>
          <a:ln/>
        </p:spPr>
        <p:txBody>
          <a:bodyPr wrap="square" lIns="0" tIns="0" rIns="0" bIns="0" rtlCol="0" anchor="ctr"/>
          <a:lstStyle/>
          <a:p>
            <a:pPr>
              <a:lnSpc>
                <a:spcPct val="100000"/>
              </a:lnSpc>
            </a:pPr>
            <a:r>
              <a:rPr lang="en-US" altLang="zh-CN" sz="2000" b="1" dirty="0">
                <a:solidFill>
                  <a:srgbClr val="022144"/>
                </a:solidFill>
                <a:latin typeface="MiSans" pitchFamily="34" charset="0"/>
                <a:ea typeface="MiSans" pitchFamily="34" charset="-122"/>
                <a:cs typeface="MiSans" pitchFamily="34" charset="-120"/>
              </a:rPr>
              <a:t>Agile Development Process</a:t>
            </a:r>
            <a:endParaRPr lang="en-US" b="1" dirty="0"/>
          </a:p>
        </p:txBody>
      </p:sp>
      <p:sp>
        <p:nvSpPr>
          <p:cNvPr id="22" name="Text 18"/>
          <p:cNvSpPr/>
          <p:nvPr/>
        </p:nvSpPr>
        <p:spPr>
          <a:xfrm>
            <a:off x="5656524" y="4598547"/>
            <a:ext cx="832600" cy="504190"/>
          </a:xfrm>
          <a:prstGeom prst="rect">
            <a:avLst/>
          </a:prstGeom>
          <a:noFill/>
          <a:ln/>
        </p:spPr>
        <p:txBody>
          <a:bodyPr wrap="square" lIns="0" tIns="0" rIns="0" bIns="0" rtlCol="0" anchor="ctr"/>
          <a:lstStyle/>
          <a:p>
            <a:pPr algn="ctr">
              <a:lnSpc>
                <a:spcPct val="100000"/>
              </a:lnSpc>
            </a:pPr>
            <a:r>
              <a:rPr lang="en-US" sz="3200" b="1" dirty="0">
                <a:solidFill>
                  <a:srgbClr val="056EE1"/>
                </a:solidFill>
                <a:latin typeface="MiSans" pitchFamily="34" charset="0"/>
                <a:ea typeface="MiSans" pitchFamily="34" charset="-122"/>
                <a:cs typeface="MiSans" pitchFamily="34" charset="-120"/>
              </a:rPr>
              <a:t>04</a:t>
            </a:r>
            <a:endParaRPr lang="en-US" sz="1600" dirty="0"/>
          </a:p>
        </p:txBody>
      </p:sp>
      <p:sp>
        <p:nvSpPr>
          <p:cNvPr id="23" name="Text 19"/>
          <p:cNvSpPr/>
          <p:nvPr/>
        </p:nvSpPr>
        <p:spPr>
          <a:xfrm>
            <a:off x="6484044" y="4623709"/>
            <a:ext cx="4317365" cy="504000"/>
          </a:xfrm>
          <a:prstGeom prst="rect">
            <a:avLst/>
          </a:prstGeom>
          <a:noFill/>
          <a:ln/>
        </p:spPr>
        <p:txBody>
          <a:bodyPr wrap="square" lIns="0" tIns="0" rIns="0" bIns="0" rtlCol="0" anchor="ctr"/>
          <a:lstStyle/>
          <a:p>
            <a:pPr>
              <a:lnSpc>
                <a:spcPct val="100000"/>
              </a:lnSpc>
            </a:pPr>
            <a:r>
              <a:rPr lang="en-US" altLang="zh-CN" sz="2000" b="1" dirty="0">
                <a:solidFill>
                  <a:srgbClr val="022144"/>
                </a:solidFill>
                <a:latin typeface="MiSans" pitchFamily="34" charset="0"/>
                <a:ea typeface="MiSans" pitchFamily="34" charset="-122"/>
              </a:rPr>
              <a:t>Testing and Experimental Results</a:t>
            </a:r>
            <a:endParaRPr lang="en-US" b="1"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203152" y="3143568"/>
            <a:ext cx="7986493" cy="1807845"/>
          </a:xfrm>
          <a:prstGeom prst="rect">
            <a:avLst/>
          </a:prstGeom>
          <a:noFill/>
          <a:ln/>
        </p:spPr>
        <p:txBody>
          <a:bodyPr wrap="square" lIns="91440" tIns="45720" rIns="91440" bIns="45720" rtlCol="0" anchor="t"/>
          <a:lstStyle/>
          <a:p>
            <a:pPr algn="ctr">
              <a:lnSpc>
                <a:spcPct val="100000"/>
              </a:lnSpc>
            </a:pPr>
            <a:r>
              <a:rPr lang="en-US" altLang="zh-CN" sz="5400" b="1" dirty="0">
                <a:solidFill>
                  <a:srgbClr val="000000"/>
                </a:solidFill>
                <a:latin typeface="MiSans" pitchFamily="34" charset="0"/>
                <a:ea typeface="MiSans" pitchFamily="34" charset="-122"/>
                <a:cs typeface="MiSans" pitchFamily="34" charset="-120"/>
              </a:rPr>
              <a:t>Project Background and Objectives</a:t>
            </a:r>
            <a:endParaRPr lang="en-US" sz="1600" b="1"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dirty="0">
                <a:solidFill>
                  <a:srgbClr val="056EE1"/>
                </a:solidFill>
                <a:latin typeface="MiSans" pitchFamily="34" charset="0"/>
                <a:ea typeface="MiSans" pitchFamily="34" charset="-122"/>
                <a:cs typeface="MiSans" pitchFamily="34" charset="-120"/>
              </a:rPr>
              <a:t>01</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rot="16200000">
            <a:off x="9305290" y="2005648"/>
            <a:ext cx="2637155" cy="1113155"/>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3"/>
          <p:cNvSpPr/>
          <p:nvPr/>
        </p:nvSpPr>
        <p:spPr>
          <a:xfrm rot="5400000">
            <a:off x="9305290" y="4632008"/>
            <a:ext cx="2637155" cy="111315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207009" y="879420"/>
            <a:ext cx="11874923" cy="5263200"/>
          </a:xfrm>
          <a:prstGeom prst="rect">
            <a:avLst/>
          </a:prstGeom>
          <a:solidFill>
            <a:srgbClr val="000000">
              <a:alpha val="0"/>
            </a:srgbClr>
          </a:solidFill>
          <a:ln w="19050">
            <a:solidFill>
              <a:srgbClr val="004CC0"/>
            </a:solidFill>
            <a:prstDash val="solid"/>
          </a:ln>
        </p:spPr>
      </p:sp>
      <p:sp>
        <p:nvSpPr>
          <p:cNvPr id="7" name="Text 5"/>
          <p:cNvSpPr/>
          <p:nvPr/>
        </p:nvSpPr>
        <p:spPr>
          <a:xfrm>
            <a:off x="207010" y="879420"/>
            <a:ext cx="8854440" cy="526320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572770" y="2666153"/>
            <a:ext cx="167640" cy="167640"/>
          </a:xfrm>
          <a:prstGeom prst="rect">
            <a:avLst/>
          </a:prstGeom>
          <a:solidFill>
            <a:srgbClr val="004CC0"/>
          </a:solidFill>
          <a:ln/>
        </p:spPr>
      </p:sp>
      <p:sp>
        <p:nvSpPr>
          <p:cNvPr id="9" name="Text 7"/>
          <p:cNvSpPr/>
          <p:nvPr/>
        </p:nvSpPr>
        <p:spPr>
          <a:xfrm>
            <a:off x="572770" y="2666153"/>
            <a:ext cx="167640" cy="16764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8"/>
          <p:cNvSpPr/>
          <p:nvPr/>
        </p:nvSpPr>
        <p:spPr>
          <a:xfrm>
            <a:off x="648970" y="2749973"/>
            <a:ext cx="7992110" cy="0"/>
          </a:xfrm>
          <a:prstGeom prst="line">
            <a:avLst/>
          </a:prstGeom>
          <a:noFill/>
          <a:ln w="12700">
            <a:solidFill>
              <a:srgbClr val="004CC0"/>
            </a:solidFill>
            <a:prstDash val="dash"/>
            <a:headEnd type="none"/>
            <a:tailEnd type="none"/>
          </a:ln>
        </p:spPr>
      </p:sp>
      <p:sp>
        <p:nvSpPr>
          <p:cNvPr id="11" name="Shape 9"/>
          <p:cNvSpPr/>
          <p:nvPr/>
        </p:nvSpPr>
        <p:spPr>
          <a:xfrm>
            <a:off x="638810" y="4301913"/>
            <a:ext cx="167640" cy="167640"/>
          </a:xfrm>
          <a:prstGeom prst="rect">
            <a:avLst/>
          </a:prstGeom>
          <a:solidFill>
            <a:srgbClr val="004CC0"/>
          </a:solidFill>
          <a:ln/>
        </p:spPr>
      </p:sp>
      <p:sp>
        <p:nvSpPr>
          <p:cNvPr id="12" name="Text 10"/>
          <p:cNvSpPr/>
          <p:nvPr/>
        </p:nvSpPr>
        <p:spPr>
          <a:xfrm>
            <a:off x="638810" y="4301913"/>
            <a:ext cx="167640" cy="167640"/>
          </a:xfrm>
          <a:prstGeom prst="rect">
            <a:avLst/>
          </a:prstGeom>
          <a:noFill/>
          <a:ln/>
        </p:spPr>
        <p:txBody>
          <a:bodyPr wrap="square" lIns="45720" tIns="91440" rIns="91440" bIns="45720" rtlCol="0" anchor="ctr"/>
          <a:lstStyle/>
          <a:p>
            <a:pPr>
              <a:lnSpc>
                <a:spcPct val="100000"/>
              </a:lnSpc>
            </a:pPr>
            <a:endParaRPr lang="en-US" sz="1600" dirty="0"/>
          </a:p>
        </p:txBody>
      </p:sp>
      <p:sp>
        <p:nvSpPr>
          <p:cNvPr id="13" name="Shape 11"/>
          <p:cNvSpPr/>
          <p:nvPr/>
        </p:nvSpPr>
        <p:spPr>
          <a:xfrm>
            <a:off x="715010" y="4385733"/>
            <a:ext cx="7992110" cy="0"/>
          </a:xfrm>
          <a:prstGeom prst="line">
            <a:avLst/>
          </a:prstGeom>
          <a:noFill/>
          <a:ln w="12700">
            <a:solidFill>
              <a:srgbClr val="004CC0"/>
            </a:solidFill>
            <a:prstDash val="dash"/>
            <a:headEnd type="none"/>
            <a:tailEnd type="none"/>
          </a:ln>
        </p:spPr>
      </p:sp>
      <p:sp>
        <p:nvSpPr>
          <p:cNvPr id="14" name="Text 12"/>
          <p:cNvSpPr/>
          <p:nvPr/>
        </p:nvSpPr>
        <p:spPr>
          <a:xfrm>
            <a:off x="135475" y="74740"/>
            <a:ext cx="12689089" cy="461665"/>
          </a:xfrm>
          <a:prstGeom prst="rect">
            <a:avLst/>
          </a:prstGeom>
          <a:noFill/>
          <a:ln/>
        </p:spPr>
        <p:txBody>
          <a:bodyPr wrap="square" lIns="91440" tIns="45720" rIns="91440" bIns="45720" rtlCol="0" anchor="t">
            <a:spAutoFit/>
          </a:bodyPr>
          <a:lstStyle/>
          <a:p>
            <a:pPr>
              <a:lnSpc>
                <a:spcPct val="100000"/>
              </a:lnSpc>
            </a:pPr>
            <a:r>
              <a:rPr lang="en-US" sz="2400" b="1" dirty="0">
                <a:solidFill>
                  <a:srgbClr val="000000"/>
                </a:solidFill>
                <a:latin typeface="MiSans" pitchFamily="34" charset="0"/>
                <a:ea typeface="MiSans" pitchFamily="34" charset="-122"/>
                <a:cs typeface="MiSans" pitchFamily="34" charset="-120"/>
              </a:rPr>
              <a:t>01-Academic Evolution and Bottlenecks in Log </a:t>
            </a:r>
            <a:r>
              <a:rPr lang="en-US" sz="2400" b="1" dirty="0" err="1">
                <a:solidFill>
                  <a:srgbClr val="000000"/>
                </a:solidFill>
                <a:latin typeface="MiSans" pitchFamily="34" charset="0"/>
                <a:ea typeface="MiSans" pitchFamily="34" charset="-122"/>
                <a:cs typeface="MiSans" pitchFamily="34" charset="-120"/>
              </a:rPr>
              <a:t>AnomalyDetection</a:t>
            </a:r>
            <a:endParaRPr lang="en-US" sz="1200" dirty="0"/>
          </a:p>
        </p:txBody>
      </p:sp>
      <p:sp>
        <p:nvSpPr>
          <p:cNvPr id="18" name="Text 16"/>
          <p:cNvSpPr/>
          <p:nvPr/>
        </p:nvSpPr>
        <p:spPr>
          <a:xfrm>
            <a:off x="445135" y="1158673"/>
            <a:ext cx="8560435" cy="400110"/>
          </a:xfrm>
          <a:prstGeom prst="rect">
            <a:avLst/>
          </a:prstGeom>
          <a:noFill/>
          <a:ln/>
        </p:spPr>
        <p:txBody>
          <a:bodyPr wrap="square" lIns="91440" tIns="45720" rIns="91440" bIns="45720" rtlCol="0" anchor="ctr">
            <a:spAutoFit/>
          </a:bodyPr>
          <a:lstStyle/>
          <a:p>
            <a:pPr algn="just">
              <a:lnSpc>
                <a:spcPct val="100000"/>
              </a:lnSpc>
            </a:pPr>
            <a:r>
              <a:rPr lang="en-US" sz="2000" b="1" dirty="0">
                <a:solidFill>
                  <a:srgbClr val="1D3EBF"/>
                </a:solidFill>
                <a:latin typeface="MiSans" pitchFamily="34" charset="0"/>
                <a:ea typeface="MiSans" pitchFamily="34" charset="-122"/>
                <a:cs typeface="MiSans" pitchFamily="34" charset="-120"/>
              </a:rPr>
              <a:t>The Importance of Logs</a:t>
            </a:r>
            <a:endParaRPr lang="en-US" b="1" dirty="0"/>
          </a:p>
        </p:txBody>
      </p:sp>
      <p:sp>
        <p:nvSpPr>
          <p:cNvPr id="19" name="Text 17"/>
          <p:cNvSpPr/>
          <p:nvPr/>
        </p:nvSpPr>
        <p:spPr>
          <a:xfrm>
            <a:off x="483235" y="1558078"/>
            <a:ext cx="8192770" cy="908903"/>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000000"/>
                </a:solidFill>
                <a:latin typeface="MiSans" pitchFamily="34" charset="0"/>
                <a:ea typeface="MiSans" pitchFamily="34" charset="-122"/>
                <a:cs typeface="MiSans" pitchFamily="34" charset="-120"/>
              </a:rPr>
              <a:t>System logs serve as the core observational medium for software reliability research, documenting </a:t>
            </a:r>
            <a:r>
              <a:rPr lang="en-US" sz="1400" b="1" dirty="0" err="1">
                <a:solidFill>
                  <a:srgbClr val="000000"/>
                </a:solidFill>
                <a:latin typeface="MiSans" pitchFamily="34" charset="0"/>
                <a:ea typeface="MiSans" pitchFamily="34" charset="-122"/>
                <a:cs typeface="MiSans" pitchFamily="34" charset="-120"/>
              </a:rPr>
              <a:t>runtimedocumenting</a:t>
            </a:r>
            <a:r>
              <a:rPr lang="en-US" sz="1400" b="1" dirty="0">
                <a:solidFill>
                  <a:srgbClr val="000000"/>
                </a:solidFill>
                <a:latin typeface="MiSans" pitchFamily="34" charset="0"/>
                <a:ea typeface="MiSans" pitchFamily="34" charset="-122"/>
                <a:cs typeface="MiSans" pitchFamily="34" charset="-120"/>
              </a:rPr>
              <a:t> runtime states and events to provide critical information for debugging, </a:t>
            </a:r>
            <a:r>
              <a:rPr lang="en-US" sz="1400" b="1" dirty="0" err="1">
                <a:solidFill>
                  <a:srgbClr val="000000"/>
                </a:solidFill>
                <a:latin typeface="MiSans" pitchFamily="34" charset="0"/>
                <a:ea typeface="MiSans" pitchFamily="34" charset="-122"/>
                <a:cs typeface="MiSans" pitchFamily="34" charset="-120"/>
              </a:rPr>
              <a:t>performanceperformance</a:t>
            </a:r>
            <a:r>
              <a:rPr lang="en-US" sz="1400" b="1" dirty="0">
                <a:solidFill>
                  <a:srgbClr val="000000"/>
                </a:solidFill>
                <a:latin typeface="MiSans" pitchFamily="34" charset="0"/>
                <a:ea typeface="MiSans" pitchFamily="34" charset="-122"/>
                <a:cs typeface="MiSans" pitchFamily="34" charset="-120"/>
              </a:rPr>
              <a:t> monitoring, and reliability assurance.</a:t>
            </a:r>
            <a:endParaRPr lang="en-US" sz="1600" b="1" dirty="0"/>
          </a:p>
        </p:txBody>
      </p:sp>
      <p:sp>
        <p:nvSpPr>
          <p:cNvPr id="20" name="Text 18"/>
          <p:cNvSpPr/>
          <p:nvPr/>
        </p:nvSpPr>
        <p:spPr>
          <a:xfrm>
            <a:off x="445135" y="2870633"/>
            <a:ext cx="8560435" cy="400110"/>
          </a:xfrm>
          <a:prstGeom prst="rect">
            <a:avLst/>
          </a:prstGeom>
          <a:noFill/>
          <a:ln/>
        </p:spPr>
        <p:txBody>
          <a:bodyPr wrap="square" lIns="91440" tIns="45720" rIns="91440" bIns="45720" rtlCol="0" anchor="ctr">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Limitations of Existing Methods</a:t>
            </a:r>
            <a:endParaRPr lang="en-US" b="1" dirty="0"/>
          </a:p>
        </p:txBody>
      </p:sp>
      <p:sp>
        <p:nvSpPr>
          <p:cNvPr id="21" name="Text 19"/>
          <p:cNvSpPr/>
          <p:nvPr/>
        </p:nvSpPr>
        <p:spPr>
          <a:xfrm>
            <a:off x="483235" y="3270038"/>
            <a:ext cx="8192770" cy="909929"/>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000000"/>
                </a:solidFill>
                <a:latin typeface="MiSans" pitchFamily="34" charset="0"/>
                <a:ea typeface="MiSans" pitchFamily="34" charset="-122"/>
                <a:cs typeface="MiSans" pitchFamily="34" charset="-120"/>
              </a:rPr>
              <a:t>Current log anomaly detection methods face a triple dilemma: cloud-based large models compromise </a:t>
            </a:r>
            <a:r>
              <a:rPr lang="en-US" sz="1400" b="1" dirty="0" err="1">
                <a:solidFill>
                  <a:srgbClr val="000000"/>
                </a:solidFill>
                <a:latin typeface="MiSans" pitchFamily="34" charset="0"/>
                <a:ea typeface="MiSans" pitchFamily="34" charset="-122"/>
                <a:cs typeface="MiSans" pitchFamily="34" charset="-120"/>
              </a:rPr>
              <a:t>privacycontrol</a:t>
            </a:r>
            <a:r>
              <a:rPr lang="en-US" sz="1400" b="1" dirty="0">
                <a:solidFill>
                  <a:srgbClr val="000000"/>
                </a:solidFill>
                <a:latin typeface="MiSans" pitchFamily="34" charset="0"/>
                <a:ea typeface="MiSans" pitchFamily="34" charset="-122"/>
                <a:cs typeface="MiSans" pitchFamily="34" charset="-120"/>
              </a:rPr>
              <a:t>, IDEs lack unified analysis interfaces, and traditional tools struggle with complex </a:t>
            </a:r>
            <a:r>
              <a:rPr lang="en-US" sz="1400" b="1" dirty="0" err="1">
                <a:solidFill>
                  <a:srgbClr val="000000"/>
                </a:solidFill>
                <a:latin typeface="MiSans" pitchFamily="34" charset="0"/>
                <a:ea typeface="MiSans" pitchFamily="34" charset="-122"/>
                <a:cs typeface="MiSans" pitchFamily="34" charset="-120"/>
              </a:rPr>
              <a:t>logs,making</a:t>
            </a:r>
            <a:r>
              <a:rPr lang="en-US" sz="1400" b="1" dirty="0">
                <a:solidFill>
                  <a:srgbClr val="000000"/>
                </a:solidFill>
                <a:latin typeface="MiSans" pitchFamily="34" charset="0"/>
                <a:ea typeface="MiSans" pitchFamily="34" charset="-122"/>
                <a:cs typeface="MiSans" pitchFamily="34" charset="-120"/>
              </a:rPr>
              <a:t> </a:t>
            </a:r>
            <a:r>
              <a:rPr lang="en-US" sz="1400" b="1" dirty="0" err="1">
                <a:solidFill>
                  <a:srgbClr val="000000"/>
                </a:solidFill>
                <a:latin typeface="MiSans" pitchFamily="34" charset="0"/>
                <a:ea typeface="MiSans" pitchFamily="34" charset="-122"/>
                <a:cs typeface="MiSans" pitchFamily="34" charset="-120"/>
              </a:rPr>
              <a:t>itdifficuttobalanceparsingaccuracanefficnc</a:t>
            </a:r>
            <a:r>
              <a:rPr lang="en-US" sz="1400" b="1" dirty="0">
                <a:solidFill>
                  <a:srgbClr val="000000"/>
                </a:solidFill>
                <a:latin typeface="MiSans" pitchFamily="34" charset="0"/>
                <a:ea typeface="MiSans" pitchFamily="34" charset="-122"/>
                <a:cs typeface="MiSans" pitchFamily="34" charset="-120"/>
              </a:rPr>
              <a:t>.</a:t>
            </a:r>
            <a:endParaRPr lang="en-US" sz="1600" b="1" dirty="0"/>
          </a:p>
        </p:txBody>
      </p:sp>
      <p:sp>
        <p:nvSpPr>
          <p:cNvPr id="22" name="Text 20"/>
          <p:cNvSpPr/>
          <p:nvPr/>
        </p:nvSpPr>
        <p:spPr>
          <a:xfrm>
            <a:off x="445135" y="4552113"/>
            <a:ext cx="8560435" cy="400110"/>
          </a:xfrm>
          <a:prstGeom prst="rect">
            <a:avLst/>
          </a:prstGeom>
          <a:noFill/>
          <a:ln/>
        </p:spPr>
        <p:txBody>
          <a:bodyPr wrap="square" lIns="91440" tIns="45720" rIns="91440" bIns="45720" rtlCol="0" anchor="ctr">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Research Objectives</a:t>
            </a:r>
            <a:endParaRPr lang="en-US" b="1" dirty="0"/>
          </a:p>
        </p:txBody>
      </p:sp>
      <p:sp>
        <p:nvSpPr>
          <p:cNvPr id="23" name="Text 21"/>
          <p:cNvSpPr/>
          <p:nvPr/>
        </p:nvSpPr>
        <p:spPr>
          <a:xfrm>
            <a:off x="483235" y="4951518"/>
            <a:ext cx="8192770" cy="909929"/>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000000"/>
                </a:solidFill>
                <a:latin typeface="MiSans" pitchFamily="34" charset="0"/>
                <a:ea typeface="MiSans" pitchFamily="34" charset="-122"/>
                <a:cs typeface="MiSans" pitchFamily="34" charset="-120"/>
              </a:rPr>
              <a:t>This research proposes a localized large-model solution based on </a:t>
            </a:r>
            <a:r>
              <a:rPr lang="en-US" sz="1400" b="1" dirty="0" err="1">
                <a:solidFill>
                  <a:srgbClr val="000000"/>
                </a:solidFill>
                <a:latin typeface="MiSans" pitchFamily="34" charset="0"/>
                <a:ea typeface="MiSans" pitchFamily="34" charset="-122"/>
                <a:cs typeface="MiSans" pitchFamily="34" charset="-120"/>
              </a:rPr>
              <a:t>LogLLM</a:t>
            </a:r>
            <a:r>
              <a:rPr lang="en-US" sz="1400" b="1" dirty="0">
                <a:solidFill>
                  <a:srgbClr val="000000"/>
                </a:solidFill>
                <a:latin typeface="MiSans" pitchFamily="34" charset="0"/>
                <a:ea typeface="MiSans" pitchFamily="34" charset="-122"/>
                <a:cs typeface="MiSans" pitchFamily="34" charset="-120"/>
              </a:rPr>
              <a:t>, meeting three stringent </a:t>
            </a:r>
            <a:r>
              <a:rPr lang="en-US" sz="1400" b="1" dirty="0" err="1">
                <a:solidFill>
                  <a:srgbClr val="000000"/>
                </a:solidFill>
                <a:latin typeface="MiSans" pitchFamily="34" charset="0"/>
                <a:ea typeface="MiSans" pitchFamily="34" charset="-122"/>
                <a:cs typeface="MiSans" pitchFamily="34" charset="-120"/>
              </a:rPr>
              <a:t>criteria:stringent</a:t>
            </a:r>
            <a:r>
              <a:rPr lang="en-US" sz="1400" b="1" dirty="0">
                <a:solidFill>
                  <a:srgbClr val="000000"/>
                </a:solidFill>
                <a:latin typeface="MiSans" pitchFamily="34" charset="0"/>
                <a:ea typeface="MiSans" pitchFamily="34" charset="-122"/>
                <a:cs typeface="MiSans" pitchFamily="34" charset="-120"/>
              </a:rPr>
              <a:t> criteria: high parsing performance, zero privacy leakage, and native IDE integration. It establishes </a:t>
            </a:r>
            <a:r>
              <a:rPr lang="en-US" sz="1400" b="1" dirty="0" err="1">
                <a:solidFill>
                  <a:srgbClr val="000000"/>
                </a:solidFill>
                <a:latin typeface="MiSans" pitchFamily="34" charset="0"/>
                <a:ea typeface="MiSans" pitchFamily="34" charset="-122"/>
                <a:cs typeface="MiSans" pitchFamily="34" charset="-120"/>
              </a:rPr>
              <a:t>aIt</a:t>
            </a:r>
            <a:r>
              <a:rPr lang="en-US" sz="1400" b="1" dirty="0">
                <a:solidFill>
                  <a:srgbClr val="000000"/>
                </a:solidFill>
                <a:latin typeface="MiSans" pitchFamily="34" charset="0"/>
                <a:ea typeface="MiSans" pitchFamily="34" charset="-122"/>
                <a:cs typeface="MiSans" pitchFamily="34" charset="-120"/>
              </a:rPr>
              <a:t> establishes a new engineering paradigm for log anomaly detection.</a:t>
            </a:r>
            <a:endParaRPr lang="en-US" sz="1600" b="1" dirty="0"/>
          </a:p>
        </p:txBody>
      </p:sp>
      <p:pic>
        <p:nvPicPr>
          <p:cNvPr id="25" name="Image 1" descr="https://kimi-img.moonshot.cn/pub/slides/25-11-15-23:06:28-d4c9dt6c8f21d3nhn5ag.png">
            <a:extLst>
              <a:ext uri="{FF2B5EF4-FFF2-40B4-BE49-F238E27FC236}">
                <a16:creationId xmlns:a16="http://schemas.microsoft.com/office/drawing/2014/main" id="{837B9AB8-6A10-C49D-144D-F22010A23756}"/>
              </a:ext>
            </a:extLst>
          </p:cNvPr>
          <p:cNvPicPr>
            <a:picLocks noChangeAspect="1"/>
          </p:cNvPicPr>
          <p:nvPr/>
        </p:nvPicPr>
        <p:blipFill>
          <a:blip r:embed="rId3"/>
          <a:stretch>
            <a:fillRect/>
          </a:stretch>
        </p:blipFill>
        <p:spPr>
          <a:xfrm>
            <a:off x="8714105" y="1080690"/>
            <a:ext cx="3319966" cy="2689388"/>
          </a:xfrm>
          <a:prstGeom prst="rect">
            <a:avLst/>
          </a:prstGeom>
        </p:spPr>
      </p:pic>
      <p:pic>
        <p:nvPicPr>
          <p:cNvPr id="26" name="Image 2" descr="https://kimi-img.moonshot.cn/pub/slides/25-11-15-23:54:29-d4ca4d87dlc2qipot92g.png">
            <a:extLst>
              <a:ext uri="{FF2B5EF4-FFF2-40B4-BE49-F238E27FC236}">
                <a16:creationId xmlns:a16="http://schemas.microsoft.com/office/drawing/2014/main" id="{98AC9AA6-A18B-7C0A-CDBB-01CF794CBE1E}"/>
              </a:ext>
            </a:extLst>
          </p:cNvPr>
          <p:cNvPicPr>
            <a:picLocks noChangeAspect="1"/>
          </p:cNvPicPr>
          <p:nvPr/>
        </p:nvPicPr>
        <p:blipFill>
          <a:blip r:embed="rId4"/>
          <a:stretch>
            <a:fillRect/>
          </a:stretch>
        </p:blipFill>
        <p:spPr>
          <a:xfrm>
            <a:off x="8676005" y="3670148"/>
            <a:ext cx="3351081" cy="2399070"/>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1831376" y="3076575"/>
            <a:ext cx="8862024" cy="1807845"/>
          </a:xfrm>
          <a:prstGeom prst="rect">
            <a:avLst/>
          </a:prstGeom>
          <a:noFill/>
          <a:ln/>
        </p:spPr>
        <p:txBody>
          <a:bodyPr wrap="square" lIns="91440" tIns="45720" rIns="91440" bIns="45720" rtlCol="0" anchor="t"/>
          <a:lstStyle/>
          <a:p>
            <a:pPr algn="ctr">
              <a:lnSpc>
                <a:spcPct val="100000"/>
              </a:lnSpc>
            </a:pPr>
            <a:r>
              <a:rPr lang="en-US" altLang="zh-CN" sz="5400" b="1" dirty="0">
                <a:solidFill>
                  <a:srgbClr val="000000"/>
                </a:solidFill>
                <a:latin typeface="MiSans" pitchFamily="34" charset="0"/>
                <a:ea typeface="MiSans" pitchFamily="34" charset="-122"/>
                <a:cs typeface="MiSans" pitchFamily="34" charset="-120"/>
              </a:rPr>
              <a:t>Core Technical Solution</a:t>
            </a:r>
            <a:endParaRPr lang="en-US" sz="1600" b="1"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dirty="0">
                <a:solidFill>
                  <a:srgbClr val="056EE1"/>
                </a:solidFill>
                <a:latin typeface="MiSans" pitchFamily="34" charset="0"/>
                <a:ea typeface="MiSans" pitchFamily="34" charset="-122"/>
                <a:cs typeface="MiSans" pitchFamily="34" charset="-120"/>
              </a:rPr>
              <a:t>02</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756C-EE1D-5A96-F79C-00D860A0D8D8}"/>
            </a:ext>
          </a:extLst>
        </p:cNvPr>
        <p:cNvGrpSpPr/>
        <p:nvPr/>
      </p:nvGrpSpPr>
      <p:grpSpPr>
        <a:xfrm>
          <a:off x="0" y="0"/>
          <a:ext cx="0" cy="0"/>
          <a:chOff x="0" y="0"/>
          <a:chExt cx="0" cy="0"/>
        </a:xfrm>
      </p:grpSpPr>
      <p:sp>
        <p:nvSpPr>
          <p:cNvPr id="13" name="矩形: 圆角 12">
            <a:extLst>
              <a:ext uri="{FF2B5EF4-FFF2-40B4-BE49-F238E27FC236}">
                <a16:creationId xmlns:a16="http://schemas.microsoft.com/office/drawing/2014/main" id="{B1A731B4-8B64-F7F8-4087-2120FD91D74C}"/>
              </a:ext>
            </a:extLst>
          </p:cNvPr>
          <p:cNvSpPr/>
          <p:nvPr/>
        </p:nvSpPr>
        <p:spPr>
          <a:xfrm>
            <a:off x="7284515" y="880064"/>
            <a:ext cx="4805886" cy="52746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 0">
            <a:extLst>
              <a:ext uri="{FF2B5EF4-FFF2-40B4-BE49-F238E27FC236}">
                <a16:creationId xmlns:a16="http://schemas.microsoft.com/office/drawing/2014/main" id="{C4D2164C-4176-B3FA-6901-C26BF34A92D5}"/>
              </a:ext>
            </a:extLst>
          </p:cNvPr>
          <p:cNvSpPr/>
          <p:nvPr/>
        </p:nvSpPr>
        <p:spPr>
          <a:xfrm>
            <a:off x="369697" y="495344"/>
            <a:ext cx="10151745" cy="338554"/>
          </a:xfrm>
          <a:prstGeom prst="rect">
            <a:avLst/>
          </a:prstGeom>
          <a:noFill/>
          <a:ln/>
        </p:spPr>
        <p:txBody>
          <a:bodyPr wrap="square" lIns="91440" tIns="45720" rIns="91440" bIns="45720" rtlCol="0" anchor="t">
            <a:spAutoFit/>
          </a:bodyPr>
          <a:lstStyle/>
          <a:p>
            <a:pPr>
              <a:lnSpc>
                <a:spcPct val="100000"/>
              </a:lnSpc>
            </a:pPr>
            <a:endParaRPr lang="en-US" sz="1600" dirty="0"/>
          </a:p>
        </p:txBody>
      </p:sp>
      <p:sp>
        <p:nvSpPr>
          <p:cNvPr id="9" name="Text 8">
            <a:extLst>
              <a:ext uri="{FF2B5EF4-FFF2-40B4-BE49-F238E27FC236}">
                <a16:creationId xmlns:a16="http://schemas.microsoft.com/office/drawing/2014/main" id="{84BB47BA-3A0C-CE4F-595E-07D7BEC548E5}"/>
              </a:ext>
            </a:extLst>
          </p:cNvPr>
          <p:cNvSpPr/>
          <p:nvPr/>
        </p:nvSpPr>
        <p:spPr>
          <a:xfrm>
            <a:off x="258831" y="326066"/>
            <a:ext cx="7025683" cy="553998"/>
          </a:xfrm>
          <a:prstGeom prst="rect">
            <a:avLst/>
          </a:prstGeom>
          <a:noFill/>
          <a:ln/>
        </p:spPr>
        <p:txBody>
          <a:bodyPr wrap="square" lIns="91440" tIns="45720" rIns="91440" bIns="45720" rtlCol="0" anchor="t">
            <a:spAutoFit/>
          </a:bodyPr>
          <a:lstStyle/>
          <a:p>
            <a:pPr>
              <a:lnSpc>
                <a:spcPct val="100000"/>
              </a:lnSpc>
            </a:pPr>
            <a:r>
              <a:rPr lang="en-US" sz="3000" b="1" dirty="0">
                <a:solidFill>
                  <a:srgbClr val="000000"/>
                </a:solidFill>
                <a:latin typeface="MiSans" pitchFamily="34" charset="0"/>
                <a:ea typeface="MiSans" pitchFamily="34" charset="-122"/>
                <a:cs typeface="MiSans" pitchFamily="34" charset="-120"/>
              </a:rPr>
              <a:t>02- System Architecture Diagram</a:t>
            </a:r>
            <a:endParaRPr lang="en-US" sz="1600" dirty="0"/>
          </a:p>
        </p:txBody>
      </p:sp>
      <p:sp>
        <p:nvSpPr>
          <p:cNvPr id="7" name="Text 32">
            <a:extLst>
              <a:ext uri="{FF2B5EF4-FFF2-40B4-BE49-F238E27FC236}">
                <a16:creationId xmlns:a16="http://schemas.microsoft.com/office/drawing/2014/main" id="{C116ED7D-9497-B3C3-9643-F3B00CFC09D7}"/>
              </a:ext>
            </a:extLst>
          </p:cNvPr>
          <p:cNvSpPr/>
          <p:nvPr/>
        </p:nvSpPr>
        <p:spPr>
          <a:xfrm>
            <a:off x="7403724" y="2246889"/>
            <a:ext cx="4610476" cy="2858539"/>
          </a:xfrm>
          <a:prstGeom prst="rect">
            <a:avLst/>
          </a:prstGeom>
          <a:noFill/>
          <a:ln/>
        </p:spPr>
        <p:txBody>
          <a:bodyPr wrap="square" lIns="91440" tIns="45720" rIns="91440" bIns="45720" rtlCol="0" anchor="t">
            <a:spAutoFit/>
          </a:bodyPr>
          <a:lstStyle/>
          <a:p>
            <a:pPr marL="285750" indent="-285750" algn="just" eaLnBrk="0">
              <a:lnSpc>
                <a:spcPct val="130000"/>
              </a:lnSpc>
              <a:buFont typeface="Arial" panose="020B0604020202020204" pitchFamily="34" charset="0"/>
              <a:buChar char="•"/>
            </a:pPr>
            <a:r>
              <a:rPr lang="en-US" sz="2000" b="1" dirty="0">
                <a:solidFill>
                  <a:schemeClr val="bg1"/>
                </a:solidFill>
                <a:latin typeface="MiSans" pitchFamily="34" charset="0"/>
                <a:ea typeface="MiSans" pitchFamily="34" charset="-122"/>
                <a:cs typeface="MiSans" pitchFamily="34" charset="-120"/>
              </a:rPr>
              <a:t>Left-side External Services (LLM APIs, Log Processing Server)</a:t>
            </a:r>
          </a:p>
          <a:p>
            <a:pPr marL="285750" indent="-285750" algn="just" eaLnBrk="0">
              <a:lnSpc>
                <a:spcPct val="130000"/>
              </a:lnSpc>
              <a:buFont typeface="Arial" panose="020B0604020202020204" pitchFamily="34" charset="0"/>
              <a:buChar char="•"/>
            </a:pPr>
            <a:endParaRPr lang="en-US" sz="2000" b="1" dirty="0">
              <a:solidFill>
                <a:schemeClr val="bg1"/>
              </a:solidFill>
              <a:latin typeface="MiSans" pitchFamily="34" charset="0"/>
              <a:ea typeface="MiSans" pitchFamily="34" charset="-122"/>
              <a:cs typeface="MiSans" pitchFamily="34" charset="-120"/>
            </a:endParaRPr>
          </a:p>
          <a:p>
            <a:pPr marL="285750" indent="-285750" algn="just" eaLnBrk="0">
              <a:lnSpc>
                <a:spcPct val="130000"/>
              </a:lnSpc>
              <a:buFont typeface="Arial" panose="020B0604020202020204" pitchFamily="34" charset="0"/>
              <a:buChar char="•"/>
            </a:pPr>
            <a:r>
              <a:rPr lang="en-US" sz="2000" b="1" dirty="0">
                <a:solidFill>
                  <a:schemeClr val="bg1"/>
                </a:solidFill>
                <a:latin typeface="MiSans" pitchFamily="34" charset="0"/>
                <a:ea typeface="MiSans" pitchFamily="34" charset="-122"/>
                <a:cs typeface="MiSans" pitchFamily="34" charset="-120"/>
              </a:rPr>
              <a:t>Middle VS Code Plugin System backend</a:t>
            </a:r>
          </a:p>
          <a:p>
            <a:pPr marL="285750" indent="-285750" algn="just" eaLnBrk="0">
              <a:lnSpc>
                <a:spcPct val="130000"/>
              </a:lnSpc>
              <a:buFont typeface="Arial" panose="020B0604020202020204" pitchFamily="34" charset="0"/>
              <a:buChar char="•"/>
            </a:pPr>
            <a:endParaRPr lang="en-US" sz="2000" b="1" dirty="0">
              <a:solidFill>
                <a:schemeClr val="bg1"/>
              </a:solidFill>
              <a:latin typeface="MiSans" pitchFamily="34" charset="0"/>
              <a:ea typeface="MiSans" pitchFamily="34" charset="-122"/>
              <a:cs typeface="MiSans" pitchFamily="34" charset="-120"/>
            </a:endParaRPr>
          </a:p>
          <a:p>
            <a:pPr marL="285750" indent="-285750" algn="just" eaLnBrk="0">
              <a:lnSpc>
                <a:spcPct val="130000"/>
              </a:lnSpc>
              <a:buFont typeface="Arial" panose="020B0604020202020204" pitchFamily="34" charset="0"/>
              <a:buChar char="•"/>
            </a:pPr>
            <a:r>
              <a:rPr lang="en-US" sz="2000" b="1" dirty="0">
                <a:solidFill>
                  <a:schemeClr val="bg1"/>
                </a:solidFill>
                <a:latin typeface="MiSans" pitchFamily="34" charset="0"/>
                <a:ea typeface="MiSans" pitchFamily="34" charset="-122"/>
                <a:cs typeface="MiSans" pitchFamily="34" charset="-120"/>
              </a:rPr>
              <a:t>Right front-end WebView </a:t>
            </a:r>
          </a:p>
        </p:txBody>
      </p:sp>
      <p:pic>
        <p:nvPicPr>
          <p:cNvPr id="10" name="图片 9">
            <a:extLst>
              <a:ext uri="{FF2B5EF4-FFF2-40B4-BE49-F238E27FC236}">
                <a16:creationId xmlns:a16="http://schemas.microsoft.com/office/drawing/2014/main" id="{3E5F5CB3-4C9D-F25C-0181-DFED3719DEF1}"/>
              </a:ext>
            </a:extLst>
          </p:cNvPr>
          <p:cNvPicPr>
            <a:picLocks noChangeAspect="1"/>
          </p:cNvPicPr>
          <p:nvPr/>
        </p:nvPicPr>
        <p:blipFill>
          <a:blip r:embed="rId3"/>
          <a:stretch>
            <a:fillRect/>
          </a:stretch>
        </p:blipFill>
        <p:spPr>
          <a:xfrm>
            <a:off x="387672" y="1088034"/>
            <a:ext cx="6768000" cy="5274622"/>
          </a:xfrm>
          <a:prstGeom prst="rect">
            <a:avLst/>
          </a:prstGeom>
        </p:spPr>
      </p:pic>
      <p:sp>
        <p:nvSpPr>
          <p:cNvPr id="12" name="文本框 11">
            <a:extLst>
              <a:ext uri="{FF2B5EF4-FFF2-40B4-BE49-F238E27FC236}">
                <a16:creationId xmlns:a16="http://schemas.microsoft.com/office/drawing/2014/main" id="{6AD4DC9E-A4A9-A837-F5DF-27442798B968}"/>
              </a:ext>
            </a:extLst>
          </p:cNvPr>
          <p:cNvSpPr txBox="1"/>
          <p:nvPr/>
        </p:nvSpPr>
        <p:spPr>
          <a:xfrm>
            <a:off x="7519768" y="1343942"/>
            <a:ext cx="4499334" cy="523220"/>
          </a:xfrm>
          <a:prstGeom prst="rect">
            <a:avLst/>
          </a:prstGeom>
          <a:noFill/>
        </p:spPr>
        <p:txBody>
          <a:bodyPr wrap="square">
            <a:spAutoFit/>
          </a:bodyPr>
          <a:lstStyle/>
          <a:p>
            <a:r>
              <a:rPr lang="en-US" altLang="zh-CN" sz="2800" b="1" dirty="0">
                <a:solidFill>
                  <a:schemeClr val="bg1"/>
                </a:solidFill>
                <a:latin typeface="MiSans" pitchFamily="34" charset="0"/>
                <a:ea typeface="MiSans" pitchFamily="34" charset="-122"/>
                <a:cs typeface="MiSans" pitchFamily="34" charset="-120"/>
              </a:rPr>
              <a:t>Three Core Components: </a:t>
            </a:r>
            <a:endParaRPr lang="zh-CN" altLang="en-US" sz="2800" b="1" dirty="0">
              <a:solidFill>
                <a:schemeClr val="bg1"/>
              </a:solidFill>
            </a:endParaRPr>
          </a:p>
        </p:txBody>
      </p:sp>
    </p:spTree>
    <p:extLst>
      <p:ext uri="{BB962C8B-B14F-4D97-AF65-F5344CB8AC3E}">
        <p14:creationId xmlns:p14="http://schemas.microsoft.com/office/powerpoint/2010/main" val="152317880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9">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flipH="1" flipV="1">
            <a:off x="6218738" y="1422400"/>
            <a:ext cx="5348515" cy="4749800"/>
          </a:xfrm>
          <a:prstGeom prst="round2DiagRect">
            <a:avLst/>
          </a:prstGeom>
          <a:solidFill>
            <a:schemeClr val="bg1"/>
          </a:solidFill>
          <a:ln w="19050">
            <a:solidFill>
              <a:srgbClr val="004CC0"/>
            </a:solidFill>
          </a:ln>
        </p:spPr>
        <p:txBody>
          <a:bodyPr/>
          <a:lstStyle/>
          <a:p>
            <a:endParaRPr lang="zh-CN" altLang="en-US"/>
          </a:p>
        </p:txBody>
      </p:sp>
      <p:sp>
        <p:nvSpPr>
          <p:cNvPr id="3" name="Text 1"/>
          <p:cNvSpPr/>
          <p:nvPr/>
        </p:nvSpPr>
        <p:spPr>
          <a:xfrm>
            <a:off x="6171957" y="1422400"/>
            <a:ext cx="5348515" cy="47498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flipV="1">
            <a:off x="671527" y="1422400"/>
            <a:ext cx="5348515" cy="4749800"/>
          </a:xfrm>
          <a:prstGeom prst="round2DiagRect">
            <a:avLst/>
          </a:prstGeom>
          <a:solidFill>
            <a:srgbClr val="1D3EBF"/>
          </a:solidFill>
          <a:ln w="19050">
            <a:solidFill>
              <a:srgbClr val="004CC0"/>
            </a:solidFill>
            <a:prstDash val="solid"/>
          </a:ln>
        </p:spPr>
      </p:sp>
      <p:sp>
        <p:nvSpPr>
          <p:cNvPr id="5" name="Text 3"/>
          <p:cNvSpPr/>
          <p:nvPr/>
        </p:nvSpPr>
        <p:spPr>
          <a:xfrm>
            <a:off x="671527" y="1422400"/>
            <a:ext cx="5348515" cy="4749800"/>
          </a:xfrm>
          <a:prstGeom prst="rect">
            <a:avLst/>
          </a:prstGeom>
          <a:noFill/>
          <a:ln/>
        </p:spPr>
        <p:txBody>
          <a:bodyPr wrap="square" lIns="45720" tIns="91440" rIns="91440" bIns="45720" rtlCol="0" anchor="ctr"/>
          <a:lstStyle/>
          <a:p>
            <a:pPr>
              <a:lnSpc>
                <a:spcPct val="100000"/>
              </a:lnSpc>
            </a:pPr>
            <a:endParaRPr lang="en-US" sz="1600" dirty="0"/>
          </a:p>
        </p:txBody>
      </p:sp>
      <p:sp>
        <p:nvSpPr>
          <p:cNvPr id="6" name="Text 4"/>
          <p:cNvSpPr/>
          <p:nvPr/>
        </p:nvSpPr>
        <p:spPr>
          <a:xfrm>
            <a:off x="1219835" y="584835"/>
            <a:ext cx="10151745" cy="338554"/>
          </a:xfrm>
          <a:prstGeom prst="rect">
            <a:avLst/>
          </a:prstGeom>
          <a:noFill/>
          <a:ln/>
        </p:spPr>
        <p:txBody>
          <a:bodyPr wrap="square" lIns="91440" tIns="45720" rIns="91440" bIns="45720" rtlCol="0" anchor="t">
            <a:spAutoFit/>
          </a:bodyPr>
          <a:lstStyle/>
          <a:p>
            <a:pPr>
              <a:lnSpc>
                <a:spcPct val="100000"/>
              </a:lnSpc>
            </a:pPr>
            <a:endParaRPr lang="en-US" sz="1600" dirty="0">
              <a:solidFill>
                <a:srgbClr val="C00000"/>
              </a:solidFill>
            </a:endParaRPr>
          </a:p>
        </p:txBody>
      </p:sp>
      <p:sp>
        <p:nvSpPr>
          <p:cNvPr id="7" name="Shape 5"/>
          <p:cNvSpPr/>
          <p:nvPr/>
        </p:nvSpPr>
        <p:spPr>
          <a:xfrm>
            <a:off x="11106785" y="693737"/>
            <a:ext cx="235520" cy="0"/>
          </a:xfrm>
          <a:prstGeom prst="line">
            <a:avLst/>
          </a:prstGeom>
          <a:noFill/>
          <a:ln w="31750">
            <a:solidFill>
              <a:srgbClr val="004CC0"/>
            </a:solidFill>
            <a:prstDash val="solid"/>
            <a:headEnd type="none"/>
            <a:tailEnd type="none"/>
          </a:ln>
        </p:spPr>
      </p:sp>
      <p:sp>
        <p:nvSpPr>
          <p:cNvPr id="8" name="Shape 6"/>
          <p:cNvSpPr/>
          <p:nvPr/>
        </p:nvSpPr>
        <p:spPr>
          <a:xfrm>
            <a:off x="11106785" y="754697"/>
            <a:ext cx="235520" cy="0"/>
          </a:xfrm>
          <a:prstGeom prst="line">
            <a:avLst/>
          </a:prstGeom>
          <a:noFill/>
          <a:ln w="31750">
            <a:solidFill>
              <a:srgbClr val="004CC0"/>
            </a:solidFill>
            <a:prstDash val="solid"/>
            <a:headEnd type="none"/>
            <a:tailEnd type="none"/>
          </a:ln>
        </p:spPr>
      </p:sp>
      <p:sp>
        <p:nvSpPr>
          <p:cNvPr id="9" name="Shape 7"/>
          <p:cNvSpPr/>
          <p:nvPr/>
        </p:nvSpPr>
        <p:spPr>
          <a:xfrm>
            <a:off x="11106785" y="815657"/>
            <a:ext cx="235520" cy="0"/>
          </a:xfrm>
          <a:prstGeom prst="line">
            <a:avLst/>
          </a:prstGeom>
          <a:noFill/>
          <a:ln w="31750">
            <a:solidFill>
              <a:srgbClr val="004CC0"/>
            </a:solidFill>
            <a:prstDash val="solid"/>
            <a:headEnd type="none"/>
            <a:tailEnd type="none"/>
          </a:ln>
        </p:spPr>
      </p:sp>
      <p:sp>
        <p:nvSpPr>
          <p:cNvPr id="10" name="Text 8"/>
          <p:cNvSpPr/>
          <p:nvPr/>
        </p:nvSpPr>
        <p:spPr>
          <a:xfrm>
            <a:off x="1044961" y="2148861"/>
            <a:ext cx="4285712" cy="523220"/>
          </a:xfrm>
          <a:prstGeom prst="rect">
            <a:avLst/>
          </a:prstGeom>
          <a:noFill/>
          <a:ln/>
        </p:spPr>
        <p:txBody>
          <a:bodyPr wrap="square" lIns="91440" tIns="45720" rIns="91440" bIns="45720" rtlCol="0" anchor="ctr">
            <a:spAutoFit/>
          </a:bodyPr>
          <a:lstStyle/>
          <a:p>
            <a:pPr algn="just">
              <a:lnSpc>
                <a:spcPct val="100000"/>
              </a:lnSpc>
            </a:pPr>
            <a:r>
              <a:rPr lang="en-US" altLang="zh-CN" sz="2800" dirty="0">
                <a:solidFill>
                  <a:schemeClr val="bg1"/>
                </a:solidFill>
                <a:latin typeface="MiSans" pitchFamily="34" charset="0"/>
                <a:ea typeface="MiSans" pitchFamily="34" charset="-122"/>
                <a:cs typeface="MiSans" pitchFamily="34" charset="-120"/>
              </a:rPr>
              <a:t>Front</a:t>
            </a:r>
            <a:endParaRPr lang="en-US" sz="1600" dirty="0">
              <a:solidFill>
                <a:schemeClr val="bg1"/>
              </a:solidFill>
            </a:endParaRPr>
          </a:p>
        </p:txBody>
      </p:sp>
      <p:sp>
        <p:nvSpPr>
          <p:cNvPr id="11" name="Text 9"/>
          <p:cNvSpPr/>
          <p:nvPr/>
        </p:nvSpPr>
        <p:spPr>
          <a:xfrm>
            <a:off x="1080309" y="2894305"/>
            <a:ext cx="4129930" cy="2652521"/>
          </a:xfrm>
          <a:prstGeom prst="rect">
            <a:avLst/>
          </a:prstGeom>
          <a:noFill/>
          <a:ln/>
        </p:spPr>
        <p:txBody>
          <a:bodyPr wrap="square" lIns="91440" tIns="45720" rIns="91440" bIns="45720" rtlCol="0" anchor="t">
            <a:spAutoFit/>
          </a:bodyPr>
          <a:lstStyle/>
          <a:p>
            <a:pPr algn="just">
              <a:lnSpc>
                <a:spcPct val="120000"/>
              </a:lnSpc>
            </a:pPr>
            <a:r>
              <a:rPr lang="en-US" sz="2000" dirty="0">
                <a:solidFill>
                  <a:schemeClr val="bg1"/>
                </a:solidFill>
                <a:latin typeface="MiSans" pitchFamily="34" charset="0"/>
                <a:ea typeface="MiSans" pitchFamily="34" charset="-122"/>
                <a:cs typeface="MiSans" pitchFamily="34" charset="-120"/>
              </a:rPr>
              <a:t>The plugin's frontend is a Vue.js single-page application </a:t>
            </a:r>
            <a:r>
              <a:rPr lang="en-US" sz="2000" dirty="0" err="1">
                <a:solidFill>
                  <a:schemeClr val="bg1"/>
                </a:solidFill>
                <a:latin typeface="MiSans" pitchFamily="34" charset="0"/>
                <a:ea typeface="MiSans" pitchFamily="34" charset="-122"/>
                <a:cs typeface="MiSans" pitchFamily="34" charset="-120"/>
              </a:rPr>
              <a:t>embedd</a:t>
            </a:r>
            <a:r>
              <a:rPr lang="en-US" sz="2000" dirty="0">
                <a:solidFill>
                  <a:schemeClr val="bg1"/>
                </a:solidFill>
                <a:latin typeface="MiSans" pitchFamily="34" charset="0"/>
                <a:ea typeface="MiSans" pitchFamily="34" charset="-122"/>
                <a:cs typeface="MiSans" pitchFamily="34" charset="-120"/>
              </a:rPr>
              <a:t>-ed in the VS Code WebView, sending and receiving messages via post Message, and updating the UI through </a:t>
            </a:r>
            <a:r>
              <a:rPr lang="en-US" sz="2000" dirty="0" err="1">
                <a:solidFill>
                  <a:schemeClr val="bg1"/>
                </a:solidFill>
                <a:latin typeface="MiSans" pitchFamily="34" charset="0"/>
                <a:ea typeface="MiSans" pitchFamily="34" charset="-122"/>
                <a:cs typeface="MiSans" pitchFamily="34" charset="-120"/>
              </a:rPr>
              <a:t>Pinia</a:t>
            </a:r>
            <a:r>
              <a:rPr lang="en-US" sz="2000" dirty="0">
                <a:solidFill>
                  <a:schemeClr val="bg1"/>
                </a:solidFill>
                <a:latin typeface="MiSans" pitchFamily="34" charset="0"/>
                <a:ea typeface="MiSans" pitchFamily="34" charset="-122"/>
                <a:cs typeface="MiSans" pitchFamily="34" charset="-120"/>
              </a:rPr>
              <a:t> to achieve real-time interaction.</a:t>
            </a:r>
            <a:endParaRPr lang="en-US" sz="1600" dirty="0">
              <a:solidFill>
                <a:schemeClr val="bg1"/>
              </a:solidFill>
            </a:endParaRPr>
          </a:p>
        </p:txBody>
      </p:sp>
      <p:sp>
        <p:nvSpPr>
          <p:cNvPr id="12" name="Text 10"/>
          <p:cNvSpPr/>
          <p:nvPr/>
        </p:nvSpPr>
        <p:spPr>
          <a:xfrm>
            <a:off x="6612782" y="2087518"/>
            <a:ext cx="4285712" cy="523220"/>
          </a:xfrm>
          <a:prstGeom prst="rect">
            <a:avLst/>
          </a:prstGeom>
          <a:noFill/>
          <a:ln/>
        </p:spPr>
        <p:txBody>
          <a:bodyPr wrap="square" lIns="91440" tIns="45720" rIns="91440" bIns="45720" rtlCol="0" anchor="ctr">
            <a:spAutoFit/>
          </a:bodyPr>
          <a:lstStyle/>
          <a:p>
            <a:pPr algn="r">
              <a:lnSpc>
                <a:spcPct val="100000"/>
              </a:lnSpc>
            </a:pPr>
            <a:r>
              <a:rPr lang="en-US" altLang="zh-CN" sz="2800" dirty="0">
                <a:solidFill>
                  <a:srgbClr val="1D3EBF"/>
                </a:solidFill>
                <a:latin typeface="MiSans" pitchFamily="34" charset="0"/>
                <a:ea typeface="MiSans" pitchFamily="34" charset="-122"/>
                <a:cs typeface="MiSans" pitchFamily="34" charset="-120"/>
              </a:rPr>
              <a:t>Back</a:t>
            </a:r>
            <a:endParaRPr lang="en-US" sz="2800" dirty="0">
              <a:solidFill>
                <a:srgbClr val="1D3EBF"/>
              </a:solidFill>
              <a:latin typeface="MiSans" pitchFamily="34" charset="0"/>
              <a:ea typeface="MiSans" pitchFamily="34" charset="-122"/>
              <a:cs typeface="MiSans" pitchFamily="34" charset="-120"/>
            </a:endParaRPr>
          </a:p>
        </p:txBody>
      </p:sp>
      <p:sp>
        <p:nvSpPr>
          <p:cNvPr id="13" name="Text 11"/>
          <p:cNvSpPr/>
          <p:nvPr/>
        </p:nvSpPr>
        <p:spPr>
          <a:xfrm>
            <a:off x="6682869" y="2894305"/>
            <a:ext cx="4659435" cy="2653034"/>
          </a:xfrm>
          <a:prstGeom prst="rect">
            <a:avLst/>
          </a:prstGeom>
          <a:noFill/>
          <a:ln/>
        </p:spPr>
        <p:txBody>
          <a:bodyPr wrap="square" lIns="91440" tIns="45720" rIns="91440" bIns="45720" rtlCol="0" anchor="t">
            <a:spAutoFit/>
          </a:bodyPr>
          <a:lstStyle/>
          <a:p>
            <a:pPr algn="just">
              <a:lnSpc>
                <a:spcPct val="120000"/>
              </a:lnSpc>
            </a:pPr>
            <a:r>
              <a:rPr lang="en-US" sz="2000" dirty="0">
                <a:solidFill>
                  <a:srgbClr val="1D3EBF"/>
                </a:solidFill>
                <a:latin typeface="MiSans" pitchFamily="34" charset="0"/>
                <a:ea typeface="MiSans" pitchFamily="34" charset="-122"/>
                <a:cs typeface="MiSans" pitchFamily="34" charset="-120"/>
              </a:rPr>
              <a:t>The plugin's backend runs in the Node.js environment provided by VS Code, monitors frontend messages, processes core business logic, returns results via encapsulated interfaces, and ensures the security of sensitive information.</a:t>
            </a:r>
            <a:endParaRPr lang="en-US" sz="1600" dirty="0">
              <a:solidFill>
                <a:srgbClr val="1D3EBF"/>
              </a:solidFill>
            </a:endParaRPr>
          </a:p>
        </p:txBody>
      </p:sp>
      <p:sp>
        <p:nvSpPr>
          <p:cNvPr id="14" name="Text 17">
            <a:extLst>
              <a:ext uri="{FF2B5EF4-FFF2-40B4-BE49-F238E27FC236}">
                <a16:creationId xmlns:a16="http://schemas.microsoft.com/office/drawing/2014/main" id="{FE91244E-0915-A740-C8CF-B93A889D3B46}"/>
              </a:ext>
            </a:extLst>
          </p:cNvPr>
          <p:cNvSpPr/>
          <p:nvPr/>
        </p:nvSpPr>
        <p:spPr>
          <a:xfrm>
            <a:off x="671527" y="338614"/>
            <a:ext cx="10151745" cy="584775"/>
          </a:xfrm>
          <a:prstGeom prst="rect">
            <a:avLst/>
          </a:prstGeom>
          <a:noFill/>
          <a:ln/>
        </p:spPr>
        <p:txBody>
          <a:bodyPr wrap="square" lIns="91440" tIns="45720" rIns="91440" bIns="45720" rtlCol="0" anchor="t">
            <a:spAutoFit/>
          </a:bodyPr>
          <a:lstStyle/>
          <a:p>
            <a:pPr lvl="0">
              <a:defRPr/>
            </a:pPr>
            <a:r>
              <a:rPr lang="en-US" sz="3200" b="1" dirty="0">
                <a:solidFill>
                  <a:srgbClr val="000000"/>
                </a:solidFill>
                <a:latin typeface="MiSans" pitchFamily="34" charset="0"/>
                <a:ea typeface="MiSans" pitchFamily="34" charset="-122"/>
                <a:cs typeface="MiSans" pitchFamily="34" charset="-120"/>
              </a:rPr>
              <a:t>02- </a:t>
            </a:r>
            <a:r>
              <a:rPr lang="en-US" altLang="zh-CN" sz="3200" b="1" dirty="0">
                <a:solidFill>
                  <a:srgbClr val="000000"/>
                </a:solidFill>
                <a:latin typeface="MiSans" pitchFamily="34" charset="0"/>
                <a:ea typeface="MiSans" pitchFamily="34" charset="-122"/>
                <a:cs typeface="MiSans" pitchFamily="34" charset="-120"/>
              </a:rPr>
              <a:t>F</a:t>
            </a:r>
            <a:r>
              <a:rPr kumimoji="0" lang="en-US" altLang="zh-CN" sz="3200" b="1" i="0" u="none" strike="noStrike" kern="1200" cap="none" spc="0" normalizeH="0" baseline="0" noProof="0" dirty="0" err="1">
                <a:ln>
                  <a:noFill/>
                </a:ln>
                <a:solidFill>
                  <a:srgbClr val="000000"/>
                </a:solidFill>
                <a:effectLst/>
                <a:uLnTx/>
                <a:uFillTx/>
                <a:latin typeface="MiSans" pitchFamily="34" charset="0"/>
                <a:ea typeface="MiSans" pitchFamily="34" charset="-122"/>
                <a:cs typeface="MiSans" pitchFamily="34" charset="-120"/>
              </a:rPr>
              <a:t>ront</a:t>
            </a:r>
            <a:r>
              <a:rPr lang="en-US" altLang="zh-CN" sz="3200" b="1" dirty="0">
                <a:solidFill>
                  <a:srgbClr val="000000"/>
                </a:solidFill>
                <a:latin typeface="MiSans" pitchFamily="34" charset="0"/>
                <a:ea typeface="MiSans" pitchFamily="34" charset="-122"/>
                <a:cs typeface="MiSans" pitchFamily="34" charset="-120"/>
              </a:rPr>
              <a:t>-</a:t>
            </a:r>
            <a:r>
              <a:rPr kumimoji="0" lang="en-US" altLang="zh-CN" sz="3200" b="1"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end </a:t>
            </a:r>
            <a:r>
              <a:rPr lang="en-US" altLang="zh-CN" sz="3200" b="1" dirty="0">
                <a:solidFill>
                  <a:srgbClr val="000000"/>
                </a:solidFill>
                <a:latin typeface="MiSans" pitchFamily="34" charset="0"/>
                <a:ea typeface="MiSans" pitchFamily="34" charset="-122"/>
                <a:cs typeface="MiSans" pitchFamily="34" charset="-120"/>
              </a:rPr>
              <a:t>Framework</a:t>
            </a:r>
            <a:endParaRPr lang="en-US" sz="3200" b="1" dirty="0">
              <a:solidFill>
                <a:srgbClr val="000000"/>
              </a:solidFill>
              <a:latin typeface="MiSans" pitchFamily="34" charset="0"/>
              <a:ea typeface="MiSans" pitchFamily="34" charset="-122"/>
              <a:cs typeface="MiSans" pitchFamily="34" charset="-120"/>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8" name="Text 6"/>
          <p:cNvSpPr/>
          <p:nvPr/>
        </p:nvSpPr>
        <p:spPr>
          <a:xfrm>
            <a:off x="848360" y="6346190"/>
            <a:ext cx="163338" cy="15303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Text 12"/>
          <p:cNvSpPr/>
          <p:nvPr/>
        </p:nvSpPr>
        <p:spPr>
          <a:xfrm>
            <a:off x="1101090" y="1397000"/>
            <a:ext cx="8392714" cy="178417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Text 14"/>
          <p:cNvSpPr/>
          <p:nvPr/>
        </p:nvSpPr>
        <p:spPr>
          <a:xfrm>
            <a:off x="672465" y="4773295"/>
            <a:ext cx="1233170" cy="123317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8" name="Text 16"/>
          <p:cNvSpPr/>
          <p:nvPr/>
        </p:nvSpPr>
        <p:spPr>
          <a:xfrm>
            <a:off x="784571" y="4885401"/>
            <a:ext cx="1008957" cy="1008957"/>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Shape 17"/>
          <p:cNvSpPr/>
          <p:nvPr/>
        </p:nvSpPr>
        <p:spPr>
          <a:xfrm>
            <a:off x="6184022" y="1127125"/>
            <a:ext cx="5687453" cy="5458802"/>
          </a:xfrm>
          <a:custGeom>
            <a:avLst/>
            <a:gdLst/>
            <a:ahLst/>
            <a:cxnLst/>
            <a:rect l="l" t="t" r="r" b="b"/>
            <a:pathLst>
              <a:path w="4817110" h="4079875">
                <a:moveTo>
                  <a:pt x="603" y="679979"/>
                </a:moveTo>
                <a:lnTo>
                  <a:pt x="0" y="661895"/>
                </a:lnTo>
                <a:cubicBezTo>
                  <a:pt x="-10849" y="288750"/>
                  <a:pt x="364659" y="-8439"/>
                  <a:pt x="663618" y="0"/>
                </a:cubicBezTo>
                <a:lnTo>
                  <a:pt x="679892" y="0"/>
                </a:lnTo>
                <a:lnTo>
                  <a:pt x="4137218" y="0"/>
                </a:lnTo>
                <a:lnTo>
                  <a:pt x="4155300" y="0"/>
                </a:lnTo>
                <a:cubicBezTo>
                  <a:pt x="4528397" y="-10851"/>
                  <a:pt x="4825548" y="364705"/>
                  <a:pt x="4817110" y="663703"/>
                </a:cubicBezTo>
                <a:lnTo>
                  <a:pt x="4817110" y="679979"/>
                </a:lnTo>
                <a:lnTo>
                  <a:pt x="4817110" y="3399896"/>
                </a:lnTo>
                <a:lnTo>
                  <a:pt x="4817110" y="3417980"/>
                </a:lnTo>
                <a:cubicBezTo>
                  <a:pt x="4827959" y="3791125"/>
                  <a:pt x="4452451" y="4088314"/>
                  <a:pt x="4153492" y="4079875"/>
                </a:cubicBezTo>
                <a:lnTo>
                  <a:pt x="4137218" y="4079875"/>
                </a:lnTo>
                <a:lnTo>
                  <a:pt x="779345" y="4079875"/>
                </a:lnTo>
                <a:lnTo>
                  <a:pt x="784769" y="4079875"/>
                </a:lnTo>
                <a:lnTo>
                  <a:pt x="789591" y="4079875"/>
                </a:lnTo>
                <a:lnTo>
                  <a:pt x="603" y="4079875"/>
                </a:lnTo>
                <a:lnTo>
                  <a:pt x="603" y="3428831"/>
                </a:lnTo>
                <a:lnTo>
                  <a:pt x="0" y="3416172"/>
                </a:lnTo>
                <a:lnTo>
                  <a:pt x="603" y="3399896"/>
                </a:lnTo>
                <a:lnTo>
                  <a:pt x="603" y="3300431"/>
                </a:lnTo>
                <a:lnTo>
                  <a:pt x="603" y="3299225"/>
                </a:lnTo>
                <a:lnTo>
                  <a:pt x="0" y="3277524"/>
                </a:lnTo>
                <a:lnTo>
                  <a:pt x="603" y="3255219"/>
                </a:lnTo>
                <a:lnTo>
                  <a:pt x="603" y="679979"/>
                </a:lnTo>
                <a:close/>
                <a:moveTo>
                  <a:pt x="824550" y="4079875"/>
                </a:moveTo>
                <a:lnTo>
                  <a:pt x="789591" y="4079875"/>
                </a:lnTo>
                <a:lnTo>
                  <a:pt x="804660" y="4079875"/>
                </a:lnTo>
                <a:lnTo>
                  <a:pt x="824550" y="4079875"/>
                </a:lnTo>
                <a:close/>
              </a:path>
            </a:pathLst>
          </a:custGeom>
          <a:solidFill>
            <a:srgbClr val="000000">
              <a:alpha val="0"/>
            </a:srgbClr>
          </a:solidFill>
          <a:ln w="19050">
            <a:solidFill>
              <a:srgbClr val="1D3EBF"/>
            </a:solidFill>
            <a:prstDash val="solid"/>
          </a:ln>
        </p:spPr>
      </p:sp>
      <p:sp>
        <p:nvSpPr>
          <p:cNvPr id="20" name="Text 18"/>
          <p:cNvSpPr/>
          <p:nvPr/>
        </p:nvSpPr>
        <p:spPr>
          <a:xfrm>
            <a:off x="6592570" y="1397000"/>
            <a:ext cx="4817110" cy="407987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9"/>
          <p:cNvSpPr/>
          <p:nvPr/>
        </p:nvSpPr>
        <p:spPr>
          <a:xfrm>
            <a:off x="6163945" y="4773295"/>
            <a:ext cx="1233170" cy="1233170"/>
          </a:xfrm>
          <a:prstGeom prst="ellipse">
            <a:avLst/>
          </a:prstGeom>
          <a:solidFill>
            <a:srgbClr val="FFFFFF">
              <a:alpha val="0"/>
            </a:srgbClr>
          </a:solidFill>
          <a:ln/>
        </p:spPr>
      </p:sp>
      <p:sp>
        <p:nvSpPr>
          <p:cNvPr id="22" name="Text 20"/>
          <p:cNvSpPr/>
          <p:nvPr/>
        </p:nvSpPr>
        <p:spPr>
          <a:xfrm>
            <a:off x="6163945" y="4773295"/>
            <a:ext cx="1233170" cy="123317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4" name="Text 22"/>
          <p:cNvSpPr/>
          <p:nvPr/>
        </p:nvSpPr>
        <p:spPr>
          <a:xfrm>
            <a:off x="6276051" y="4885401"/>
            <a:ext cx="1008957" cy="1008957"/>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5" name="Text 23"/>
          <p:cNvSpPr/>
          <p:nvPr/>
        </p:nvSpPr>
        <p:spPr>
          <a:xfrm>
            <a:off x="582930" y="211455"/>
            <a:ext cx="10151745" cy="584775"/>
          </a:xfrm>
          <a:prstGeom prst="rect">
            <a:avLst/>
          </a:prstGeom>
          <a:noFill/>
          <a:ln/>
        </p:spPr>
        <p:txBody>
          <a:bodyPr wrap="square" lIns="91440" tIns="45720" rIns="91440" bIns="45720" rtlCol="0" anchor="t">
            <a:spAutoFit/>
          </a:bodyPr>
          <a:lstStyle/>
          <a:p>
            <a:pPr lvl="0">
              <a:defRPr/>
            </a:pPr>
            <a:r>
              <a:rPr kumimoji="0" lang="en-US" altLang="zh-CN" sz="3200" b="1" i="0" u="none" strike="noStrike" kern="1200" cap="none" spc="0" normalizeH="0" baseline="0" noProof="0">
                <a:ln>
                  <a:noFill/>
                </a:ln>
                <a:solidFill>
                  <a:srgbClr val="000000"/>
                </a:solidFill>
                <a:effectLst/>
                <a:uLnTx/>
                <a:uFillTx/>
                <a:latin typeface="MiSans" pitchFamily="34" charset="0"/>
                <a:ea typeface="MiSans" pitchFamily="34" charset="-122"/>
                <a:cs typeface="MiSans" pitchFamily="34" charset="-120"/>
              </a:rPr>
              <a:t>02- </a:t>
            </a:r>
            <a:r>
              <a:rPr lang="en-US" altLang="zh-CN" sz="3200" b="1">
                <a:solidFill>
                  <a:srgbClr val="000000"/>
                </a:solidFill>
                <a:latin typeface="MiSans" pitchFamily="34" charset="0"/>
                <a:ea typeface="MiSans" pitchFamily="34" charset="-122"/>
                <a:cs typeface="MiSans" pitchFamily="34" charset="-120"/>
              </a:rPr>
              <a:t>Log Preprocessing</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4"/>
          <p:cNvSpPr/>
          <p:nvPr/>
        </p:nvSpPr>
        <p:spPr>
          <a:xfrm>
            <a:off x="476453" y="5121737"/>
            <a:ext cx="788035" cy="552450"/>
          </a:xfrm>
          <a:prstGeom prst="rect">
            <a:avLst/>
          </a:prstGeom>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Text 25"/>
          <p:cNvSpPr/>
          <p:nvPr/>
        </p:nvSpPr>
        <p:spPr>
          <a:xfrm>
            <a:off x="167428" y="3561063"/>
            <a:ext cx="4682129" cy="400110"/>
          </a:xfrm>
          <a:prstGeom prst="rect">
            <a:avLst/>
          </a:prstGeom>
          <a:noFill/>
          <a:ln/>
        </p:spPr>
        <p:txBody>
          <a:bodyPr wrap="square" lIns="91440" tIns="45720" rIns="91440" bIns="45720" rtlCol="0" anchor="t">
            <a:spAutoFit/>
          </a:bodyPr>
          <a:lstStyle/>
          <a:p>
            <a:pPr lvl="0" algn="just">
              <a:defRPr/>
            </a:pPr>
            <a:r>
              <a:rPr lang="en-US" altLang="zh-CN" sz="2000" b="1" dirty="0">
                <a:solidFill>
                  <a:srgbClr val="1D3EBF"/>
                </a:solidFill>
                <a:latin typeface="MiSans" pitchFamily="34" charset="0"/>
                <a:ea typeface="MiSans" pitchFamily="34" charset="-122"/>
                <a:cs typeface="MiSans" pitchFamily="34" charset="-120"/>
              </a:rPr>
              <a:t>Regular Expression De-sensitization</a:t>
            </a:r>
          </a:p>
        </p:txBody>
      </p:sp>
      <p:sp>
        <p:nvSpPr>
          <p:cNvPr id="29" name="Text 27"/>
          <p:cNvSpPr/>
          <p:nvPr/>
        </p:nvSpPr>
        <p:spPr>
          <a:xfrm>
            <a:off x="5683350" y="5910434"/>
            <a:ext cx="788035" cy="646331"/>
          </a:xfrm>
          <a:prstGeom prst="rect">
            <a:avLst/>
          </a:prstGeom>
          <a:noFill/>
          <a:ln/>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2</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28"/>
          <p:cNvSpPr/>
          <p:nvPr/>
        </p:nvSpPr>
        <p:spPr>
          <a:xfrm>
            <a:off x="6533257" y="1341375"/>
            <a:ext cx="4465320" cy="400110"/>
          </a:xfrm>
          <a:prstGeom prst="rect">
            <a:avLst/>
          </a:prstGeom>
          <a:noFill/>
          <a:ln/>
        </p:spPr>
        <p:txBody>
          <a:bodyPr wrap="square" lIns="91440" tIns="45720" rIns="91440" bIns="45720" rtlCol="0" anchor="t">
            <a:spAutoFit/>
          </a:bodyPr>
          <a:lstStyle/>
          <a:p>
            <a:pPr lvl="0" algn="just">
              <a:defRPr/>
            </a:pPr>
            <a:r>
              <a:rPr lang="en-US" altLang="zh-CN" sz="2000" b="1" dirty="0">
                <a:solidFill>
                  <a:srgbClr val="1D3EBF"/>
                </a:solidFill>
                <a:latin typeface="MiSans" pitchFamily="34" charset="0"/>
                <a:ea typeface="MiSans" pitchFamily="34" charset="-122"/>
                <a:cs typeface="MiSans" pitchFamily="34" charset="-120"/>
              </a:rPr>
              <a:t>Slicing Strategy</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CF971D30-846E-5ACA-C0D1-ECE00910C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4227" y="4544868"/>
            <a:ext cx="5364000" cy="16381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2" name="表格 31">
            <a:extLst>
              <a:ext uri="{FF2B5EF4-FFF2-40B4-BE49-F238E27FC236}">
                <a16:creationId xmlns:a16="http://schemas.microsoft.com/office/drawing/2014/main" id="{FFB9A3C8-0021-5B25-6DAC-5FE6BBF70880}"/>
              </a:ext>
            </a:extLst>
          </p:cNvPr>
          <p:cNvGraphicFramePr>
            <a:graphicFrameLocks noGrp="1"/>
          </p:cNvGraphicFramePr>
          <p:nvPr>
            <p:extLst>
              <p:ext uri="{D42A27DB-BD31-4B8C-83A1-F6EECF244321}">
                <p14:modId xmlns:p14="http://schemas.microsoft.com/office/powerpoint/2010/main" val="4067030648"/>
              </p:ext>
            </p:extLst>
          </p:nvPr>
        </p:nvGraphicFramePr>
        <p:xfrm>
          <a:off x="252467" y="3964647"/>
          <a:ext cx="5731510" cy="2621280"/>
        </p:xfrm>
        <a:graphic>
          <a:graphicData uri="http://schemas.openxmlformats.org/drawingml/2006/table">
            <a:tbl>
              <a:tblPr/>
              <a:tblGrid>
                <a:gridCol w="5731510">
                  <a:extLst>
                    <a:ext uri="{9D8B030D-6E8A-4147-A177-3AD203B41FA5}">
                      <a16:colId xmlns:a16="http://schemas.microsoft.com/office/drawing/2014/main" val="2789571658"/>
                    </a:ext>
                  </a:extLst>
                </a:gridCol>
              </a:tblGrid>
              <a:tr h="0">
                <a:tc>
                  <a:txBody>
                    <a:bodyPr/>
                    <a:lstStyle/>
                    <a:p>
                      <a:pPr marL="0" marR="0"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kern="0" dirty="0">
                          <a:solidFill>
                            <a:srgbClr val="080808"/>
                          </a:solidFill>
                          <a:effectLst/>
                          <a:latin typeface="Courier New" panose="02070309020205020404" pitchFamily="49" charset="0"/>
                          <a:ea typeface="宋体" panose="02010600030101010101" pitchFamily="2" charset="-122"/>
                          <a:cs typeface="Courier New" panose="02070309020205020404" pitchFamily="49" charset="0"/>
                        </a:rPr>
                        <a:t>Pattern:</a:t>
                      </a:r>
                      <a:endParaRPr lang="en-US" sz="1100" kern="100" dirty="0">
                        <a:effectLst/>
                        <a:latin typeface="Times New Roman" panose="02020603050405020304" pitchFamily="18" charset="0"/>
                        <a:ea typeface="等线" panose="02010600030101010101" pitchFamily="2" charset="-122"/>
                      </a:endParaRPr>
                    </a:p>
                    <a:p>
                      <a:pPr marL="0" marR="0" algn="l">
                        <a:lnSpc>
                          <a:spcPct val="125000"/>
                        </a:lnSpc>
                        <a:buNone/>
                      </a:pPr>
                      <a:r>
                        <a:rPr lang="en-US" sz="800" i="0" kern="100" dirty="0">
                          <a:effectLst/>
                          <a:latin typeface="Courier New" panose="02070309020205020404" pitchFamily="49" charset="0"/>
                          <a:ea typeface="宋体" panose="02010600030101010101" pitchFamily="2" charset="-122"/>
                        </a:rPr>
                        <a:t>IP address: '\d{1,3}\.\d{1,3}\.\d{1,3}\.\d{1,3}(:\d{1,5})?',</a:t>
                      </a:r>
                      <a:endParaRPr lang="en-US" sz="1100" kern="100" dirty="0">
                        <a:effectLst/>
                        <a:latin typeface="Times New Roman" panose="02020603050405020304" pitchFamily="18" charset="0"/>
                        <a:ea typeface="等线" panose="02010600030101010101" pitchFamily="2" charset="-122"/>
                      </a:endParaRPr>
                    </a:p>
                    <a:p>
                      <a:pPr marL="0" marR="0" algn="l">
                        <a:lnSpc>
                          <a:spcPct val="125000"/>
                        </a:lnSpc>
                        <a:buNone/>
                      </a:pPr>
                      <a:r>
                        <a:rPr lang="en-US" sz="800" i="0" kern="100" dirty="0">
                          <a:effectLst/>
                          <a:latin typeface="Courier New" panose="02070309020205020404" pitchFamily="49" charset="0"/>
                          <a:ea typeface="宋体" panose="02010600030101010101" pitchFamily="2" charset="-122"/>
                        </a:rPr>
                        <a:t>MAC address: '([0-9A-Fa-f]{2}:){11}[0-9A-Fa-f]{2}',</a:t>
                      </a:r>
                      <a:endParaRPr lang="en-US" sz="1100" kern="100" dirty="0">
                        <a:effectLst/>
                        <a:latin typeface="Times New Roman" panose="02020603050405020304" pitchFamily="18" charset="0"/>
                        <a:ea typeface="等线" panose="02010600030101010101" pitchFamily="2" charset="-122"/>
                      </a:endParaRPr>
                    </a:p>
                    <a:p>
                      <a:pPr marL="0" marR="0" algn="l">
                        <a:lnSpc>
                          <a:spcPct val="125000"/>
                        </a:lnSpc>
                        <a:buNone/>
                      </a:pPr>
                      <a:r>
                        <a:rPr lang="en-US" sz="800" i="0" kern="100" dirty="0">
                          <a:effectLst/>
                          <a:latin typeface="Courier New" panose="02070309020205020404" pitchFamily="49" charset="0"/>
                          <a:ea typeface="宋体" panose="02010600030101010101" pitchFamily="2" charset="-122"/>
                        </a:rPr>
                        <a:t>File Path: '[a-zA-Z0-9]*[:\.]*([/\\]+[^/\\\s\[\]]+)+[/\\]*'</a:t>
                      </a:r>
                      <a:endParaRPr lang="en-US" sz="1100" kern="100" dirty="0">
                        <a:effectLst/>
                        <a:latin typeface="Times New Roman" panose="02020603050405020304" pitchFamily="18" charset="0"/>
                        <a:ea typeface="等线" panose="02010600030101010101" pitchFamily="2" charset="-122"/>
                      </a:endParaRPr>
                    </a:p>
                    <a:p>
                      <a:pPr marL="0" marR="0"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kern="0" dirty="0">
                          <a:solidFill>
                            <a:srgbClr val="080808"/>
                          </a:solidFill>
                          <a:effectLst/>
                          <a:latin typeface="宋体" panose="02010600030101010101" pitchFamily="2" charset="-122"/>
                          <a:ea typeface="宋体" panose="02010600030101010101" pitchFamily="2" charset="-122"/>
                          <a:cs typeface="Courier New" panose="02070309020205020404" pitchFamily="49" charset="0"/>
                        </a:rPr>
                        <a:t> </a:t>
                      </a:r>
                      <a:endParaRPr lang="en-US" sz="1100" kern="100" dirty="0">
                        <a:effectLst/>
                        <a:latin typeface="Times New Roman" panose="02020603050405020304" pitchFamily="18" charset="0"/>
                        <a:ea typeface="等线" panose="02010600030101010101" pitchFamily="2" charset="-122"/>
                      </a:endParaRPr>
                    </a:p>
                    <a:p>
                      <a:pPr marL="0" marR="0"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800" b="1" kern="0" dirty="0">
                          <a:solidFill>
                            <a:srgbClr val="080808"/>
                          </a:solidFill>
                          <a:effectLst/>
                          <a:latin typeface="Courier New" panose="02070309020205020404" pitchFamily="49" charset="0"/>
                          <a:ea typeface="宋体" panose="02010600030101010101" pitchFamily="2" charset="-122"/>
                          <a:cs typeface="Courier New" panose="02070309020205020404" pitchFamily="49" charset="0"/>
                        </a:rPr>
                        <a:t>Before:</a:t>
                      </a:r>
                      <a:br>
                        <a:rPr lang="en-US" sz="800" b="1" kern="0" dirty="0">
                          <a:solidFill>
                            <a:srgbClr val="080808"/>
                          </a:solidFill>
                          <a:effectLst/>
                          <a:latin typeface="Courier New" panose="02070309020205020404" pitchFamily="49" charset="0"/>
                          <a:ea typeface="宋体" panose="02010600030101010101" pitchFamily="2" charset="-122"/>
                        </a:rPr>
                      </a:br>
                      <a:r>
                        <a:rPr lang="en-US" sz="800" b="0" kern="0" dirty="0">
                          <a:solidFill>
                            <a:srgbClr val="080808"/>
                          </a:solidFill>
                          <a:effectLst/>
                          <a:latin typeface="Courier New" panose="02070309020205020404" pitchFamily="49" charset="0"/>
                          <a:ea typeface="宋体" panose="02010600030101010101" pitchFamily="2" charset="-122"/>
                        </a:rPr>
                        <a:t>2354412 floating point alignment exceptions ;-; 2354412 floating point alignment exceptions</a:t>
                      </a:r>
                      <a:br>
                        <a:rPr lang="en-US" sz="800" b="0" kern="0" dirty="0">
                          <a:solidFill>
                            <a:srgbClr val="080808"/>
                          </a:solidFill>
                          <a:effectLst/>
                          <a:latin typeface="Courier New" panose="02070309020205020404" pitchFamily="49" charset="0"/>
                          <a:ea typeface="宋体" panose="02010600030101010101" pitchFamily="2" charset="-122"/>
                        </a:rPr>
                      </a:br>
                      <a:r>
                        <a:rPr lang="en-US" sz="800" b="0" kern="0" dirty="0" err="1">
                          <a:solidFill>
                            <a:srgbClr val="080808"/>
                          </a:solidFill>
                          <a:effectLst/>
                          <a:latin typeface="Courier New" panose="02070309020205020404" pitchFamily="49" charset="0"/>
                          <a:ea typeface="宋体" panose="02010600030101010101" pitchFamily="2" charset="-122"/>
                        </a:rPr>
                        <a:t>iar</a:t>
                      </a:r>
                      <a:r>
                        <a:rPr lang="en-US" sz="800" b="0" kern="0" dirty="0">
                          <a:solidFill>
                            <a:srgbClr val="080808"/>
                          </a:solidFill>
                          <a:effectLst/>
                          <a:latin typeface="Courier New" panose="02070309020205020404" pitchFamily="49" charset="0"/>
                          <a:ea typeface="宋体" panose="02010600030101010101" pitchFamily="2" charset="-122"/>
                        </a:rPr>
                        <a:t> 001061e8 dear 0247015c ;-; </a:t>
                      </a:r>
                      <a:r>
                        <a:rPr lang="en-US" sz="800" b="0" kern="0" dirty="0" err="1">
                          <a:solidFill>
                            <a:srgbClr val="080808"/>
                          </a:solidFill>
                          <a:effectLst/>
                          <a:latin typeface="Courier New" panose="02070309020205020404" pitchFamily="49" charset="0"/>
                          <a:ea typeface="宋体" panose="02010600030101010101" pitchFamily="2" charset="-122"/>
                        </a:rPr>
                        <a:t>iar</a:t>
                      </a:r>
                      <a:r>
                        <a:rPr lang="en-US" sz="800" b="0" kern="0" dirty="0">
                          <a:solidFill>
                            <a:srgbClr val="080808"/>
                          </a:solidFill>
                          <a:effectLst/>
                          <a:latin typeface="Courier New" panose="02070309020205020404" pitchFamily="49" charset="0"/>
                          <a:ea typeface="宋体" panose="02010600030101010101" pitchFamily="2" charset="-122"/>
                        </a:rPr>
                        <a:t> 00106200 dear 0247016c ;-; </a:t>
                      </a:r>
                      <a:r>
                        <a:rPr lang="en-US" sz="800" b="0" kern="0" dirty="0" err="1">
                          <a:solidFill>
                            <a:srgbClr val="080808"/>
                          </a:solidFill>
                          <a:effectLst/>
                          <a:latin typeface="Courier New" panose="02070309020205020404" pitchFamily="49" charset="0"/>
                          <a:ea typeface="宋体" panose="02010600030101010101" pitchFamily="2" charset="-122"/>
                        </a:rPr>
                        <a:t>iar</a:t>
                      </a:r>
                      <a:r>
                        <a:rPr lang="en-US" sz="800" b="0" kern="0" dirty="0">
                          <a:solidFill>
                            <a:srgbClr val="080808"/>
                          </a:solidFill>
                          <a:effectLst/>
                          <a:latin typeface="Courier New" panose="02070309020205020404" pitchFamily="49" charset="0"/>
                          <a:ea typeface="宋体" panose="02010600030101010101" pitchFamily="2" charset="-122"/>
                        </a:rPr>
                        <a:t> 001061b4 dear 024701dc</a:t>
                      </a:r>
                      <a:br>
                        <a:rPr lang="en-US" sz="800" b="0" kern="0" dirty="0">
                          <a:solidFill>
                            <a:srgbClr val="080808"/>
                          </a:solidFill>
                          <a:effectLst/>
                          <a:latin typeface="Courier New" panose="02070309020205020404" pitchFamily="49" charset="0"/>
                          <a:ea typeface="宋体" panose="02010600030101010101" pitchFamily="2" charset="-122"/>
                        </a:rPr>
                      </a:br>
                      <a:r>
                        <a:rPr lang="en-US" sz="800" b="0" kern="0" dirty="0" err="1">
                          <a:solidFill>
                            <a:srgbClr val="080808"/>
                          </a:solidFill>
                          <a:effectLst/>
                          <a:latin typeface="Courier New" panose="02070309020205020404" pitchFamily="49" charset="0"/>
                          <a:ea typeface="宋体" panose="02010600030101010101" pitchFamily="2" charset="-122"/>
                        </a:rPr>
                        <a:t>ciod</a:t>
                      </a:r>
                      <a:r>
                        <a:rPr lang="en-US" sz="800" b="0" kern="0" dirty="0">
                          <a:solidFill>
                            <a:srgbClr val="080808"/>
                          </a:solidFill>
                          <a:effectLst/>
                          <a:latin typeface="Courier New" panose="02070309020205020404" pitchFamily="49" charset="0"/>
                          <a:ea typeface="宋体" panose="02010600030101010101" pitchFamily="2" charset="-122"/>
                        </a:rPr>
                        <a:t>: Received signal 15, code=0, </a:t>
                      </a:r>
                      <a:r>
                        <a:rPr lang="en-US" sz="800" b="0" kern="0" dirty="0" err="1">
                          <a:solidFill>
                            <a:srgbClr val="080808"/>
                          </a:solidFill>
                          <a:effectLst/>
                          <a:latin typeface="Courier New" panose="02070309020205020404" pitchFamily="49" charset="0"/>
                          <a:ea typeface="宋体" panose="02010600030101010101" pitchFamily="2" charset="-122"/>
                        </a:rPr>
                        <a:t>errno</a:t>
                      </a:r>
                      <a:r>
                        <a:rPr lang="en-US" sz="800" b="0" kern="0" dirty="0">
                          <a:solidFill>
                            <a:srgbClr val="080808"/>
                          </a:solidFill>
                          <a:effectLst/>
                          <a:latin typeface="Courier New" panose="02070309020205020404" pitchFamily="49" charset="0"/>
                          <a:ea typeface="宋体" panose="02010600030101010101" pitchFamily="2" charset="-122"/>
                        </a:rPr>
                        <a:t>=0, address=0x000001f2</a:t>
                      </a:r>
                      <a:br>
                        <a:rPr lang="en-US" sz="800" b="0" kern="0" dirty="0">
                          <a:solidFill>
                            <a:srgbClr val="080808"/>
                          </a:solidFill>
                          <a:effectLst/>
                          <a:latin typeface="Courier New" panose="02070309020205020404" pitchFamily="49" charset="0"/>
                          <a:ea typeface="宋体" panose="02010600030101010101" pitchFamily="2" charset="-122"/>
                        </a:rPr>
                      </a:br>
                      <a:r>
                        <a:rPr lang="en-US" sz="800" b="0" kern="0" dirty="0">
                          <a:solidFill>
                            <a:srgbClr val="080808"/>
                          </a:solidFill>
                          <a:effectLst/>
                          <a:latin typeface="Courier New" panose="02070309020205020404" pitchFamily="49" charset="0"/>
                          <a:ea typeface="宋体" panose="02010600030101010101" pitchFamily="2" charset="-122"/>
                        </a:rPr>
                        <a:t>10668 total interrupts. 0 critical input interrupts. 0 microseconds total spent on critical input interrupts</a:t>
                      </a:r>
                      <a:br>
                        <a:rPr lang="en-US" sz="800" b="0" kern="0" dirty="0">
                          <a:solidFill>
                            <a:srgbClr val="080808"/>
                          </a:solidFill>
                          <a:effectLst/>
                          <a:latin typeface="Courier New" panose="02070309020205020404" pitchFamily="49" charset="0"/>
                          <a:ea typeface="宋体" panose="02010600030101010101" pitchFamily="2" charset="-122"/>
                        </a:rPr>
                      </a:br>
                      <a:br>
                        <a:rPr lang="en-US" sz="800" b="1" kern="0" dirty="0">
                          <a:solidFill>
                            <a:srgbClr val="080808"/>
                          </a:solidFill>
                          <a:effectLst/>
                          <a:latin typeface="Courier New" panose="02070309020205020404" pitchFamily="49" charset="0"/>
                          <a:ea typeface="宋体" panose="02010600030101010101" pitchFamily="2" charset="-122"/>
                        </a:rPr>
                      </a:br>
                      <a:r>
                        <a:rPr lang="en-US" sz="800" b="1" kern="0" dirty="0">
                          <a:solidFill>
                            <a:srgbClr val="080808"/>
                          </a:solidFill>
                          <a:effectLst/>
                          <a:latin typeface="Courier New" panose="02070309020205020404" pitchFamily="49" charset="0"/>
                          <a:ea typeface="宋体" panose="02010600030101010101" pitchFamily="2" charset="-122"/>
                        </a:rPr>
                        <a:t>After:</a:t>
                      </a:r>
                      <a:br>
                        <a:rPr lang="en-US" sz="800" b="1" kern="0" dirty="0">
                          <a:solidFill>
                            <a:srgbClr val="080808"/>
                          </a:solidFill>
                          <a:effectLst/>
                          <a:latin typeface="Courier New" panose="02070309020205020404" pitchFamily="49" charset="0"/>
                          <a:ea typeface="宋体" panose="02010600030101010101" pitchFamily="2" charset="-122"/>
                        </a:rPr>
                      </a:br>
                      <a:r>
                        <a:rPr lang="en-US" sz="800" b="0" kern="0" dirty="0">
                          <a:solidFill>
                            <a:srgbClr val="080808"/>
                          </a:solidFill>
                          <a:effectLst/>
                          <a:latin typeface="Courier New" panose="02070309020205020404" pitchFamily="49" charset="0"/>
                          <a:ea typeface="宋体" panose="02010600030101010101" pitchFamily="2" charset="-122"/>
                        </a:rPr>
                        <a:t>&lt;*&gt; floating point alignment exceptions ;-; &lt;*&gt; floating point alignment exceptions ;-; &lt;*&gt; floating point alignment exceptions</a:t>
                      </a:r>
                      <a:br>
                        <a:rPr lang="en-US" sz="800" b="0" kern="0" dirty="0">
                          <a:solidFill>
                            <a:srgbClr val="080808"/>
                          </a:solidFill>
                          <a:effectLst/>
                          <a:latin typeface="Courier New" panose="02070309020205020404" pitchFamily="49" charset="0"/>
                          <a:ea typeface="宋体" panose="02010600030101010101" pitchFamily="2" charset="-122"/>
                        </a:rPr>
                      </a:br>
                      <a:r>
                        <a:rPr lang="en-US" sz="800" b="0" kern="0" dirty="0" err="1">
                          <a:solidFill>
                            <a:srgbClr val="080808"/>
                          </a:solidFill>
                          <a:effectLst/>
                          <a:latin typeface="Courier New" panose="02070309020205020404" pitchFamily="49" charset="0"/>
                          <a:ea typeface="宋体" panose="02010600030101010101" pitchFamily="2" charset="-122"/>
                        </a:rPr>
                        <a:t>iar</a:t>
                      </a:r>
                      <a:r>
                        <a:rPr lang="en-US" sz="800" b="0" kern="0" dirty="0">
                          <a:solidFill>
                            <a:srgbClr val="080808"/>
                          </a:solidFill>
                          <a:effectLst/>
                          <a:latin typeface="Courier New" panose="02070309020205020404" pitchFamily="49" charset="0"/>
                          <a:ea typeface="宋体" panose="02010600030101010101" pitchFamily="2" charset="-122"/>
                        </a:rPr>
                        <a:t> &lt;*&gt; dear &lt;*&gt; ;-; </a:t>
                      </a:r>
                      <a:r>
                        <a:rPr lang="en-US" sz="800" b="0" kern="0" dirty="0" err="1">
                          <a:solidFill>
                            <a:srgbClr val="080808"/>
                          </a:solidFill>
                          <a:effectLst/>
                          <a:latin typeface="Courier New" panose="02070309020205020404" pitchFamily="49" charset="0"/>
                          <a:ea typeface="宋体" panose="02010600030101010101" pitchFamily="2" charset="-122"/>
                        </a:rPr>
                        <a:t>iar</a:t>
                      </a:r>
                      <a:r>
                        <a:rPr lang="en-US" sz="800" b="0" kern="0" dirty="0">
                          <a:solidFill>
                            <a:srgbClr val="080808"/>
                          </a:solidFill>
                          <a:effectLst/>
                          <a:latin typeface="Courier New" panose="02070309020205020404" pitchFamily="49" charset="0"/>
                          <a:ea typeface="宋体" panose="02010600030101010101" pitchFamily="2" charset="-122"/>
                        </a:rPr>
                        <a:t> &lt;*&gt; dear &lt;*&gt; ;-; </a:t>
                      </a:r>
                      <a:r>
                        <a:rPr lang="en-US" sz="800" b="0" kern="0" dirty="0" err="1">
                          <a:solidFill>
                            <a:srgbClr val="080808"/>
                          </a:solidFill>
                          <a:effectLst/>
                          <a:latin typeface="Courier New" panose="02070309020205020404" pitchFamily="49" charset="0"/>
                          <a:ea typeface="宋体" panose="02010600030101010101" pitchFamily="2" charset="-122"/>
                        </a:rPr>
                        <a:t>iar</a:t>
                      </a:r>
                      <a:r>
                        <a:rPr lang="en-US" sz="800" b="0" kern="0" dirty="0">
                          <a:solidFill>
                            <a:srgbClr val="080808"/>
                          </a:solidFill>
                          <a:effectLst/>
                          <a:latin typeface="Courier New" panose="02070309020205020404" pitchFamily="49" charset="0"/>
                          <a:ea typeface="宋体" panose="02010600030101010101" pitchFamily="2" charset="-122"/>
                        </a:rPr>
                        <a:t> &lt;*&gt; dear &lt;*&gt; ;-; </a:t>
                      </a:r>
                      <a:r>
                        <a:rPr lang="en-US" sz="800" b="0" kern="0" dirty="0" err="1">
                          <a:solidFill>
                            <a:srgbClr val="080808"/>
                          </a:solidFill>
                          <a:effectLst/>
                          <a:latin typeface="Courier New" panose="02070309020205020404" pitchFamily="49" charset="0"/>
                          <a:ea typeface="宋体" panose="02010600030101010101" pitchFamily="2" charset="-122"/>
                        </a:rPr>
                        <a:t>iar</a:t>
                      </a:r>
                      <a:r>
                        <a:rPr lang="en-US" sz="800" b="0" kern="0" dirty="0">
                          <a:solidFill>
                            <a:srgbClr val="080808"/>
                          </a:solidFill>
                          <a:effectLst/>
                          <a:latin typeface="Courier New" panose="02070309020205020404" pitchFamily="49" charset="0"/>
                          <a:ea typeface="宋体" panose="02010600030101010101" pitchFamily="2" charset="-122"/>
                        </a:rPr>
                        <a:t> &lt;*&gt; dear &lt;*&gt; ;-; </a:t>
                      </a:r>
                      <a:r>
                        <a:rPr lang="en-US" sz="800" b="0" kern="0" dirty="0" err="1">
                          <a:solidFill>
                            <a:srgbClr val="080808"/>
                          </a:solidFill>
                          <a:effectLst/>
                          <a:latin typeface="Courier New" panose="02070309020205020404" pitchFamily="49" charset="0"/>
                          <a:ea typeface="宋体" panose="02010600030101010101" pitchFamily="2" charset="-122"/>
                        </a:rPr>
                        <a:t>iar</a:t>
                      </a:r>
                      <a:r>
                        <a:rPr lang="en-US" sz="800" b="0" kern="0" dirty="0">
                          <a:solidFill>
                            <a:srgbClr val="080808"/>
                          </a:solidFill>
                          <a:effectLst/>
                          <a:latin typeface="Courier New" panose="02070309020205020404" pitchFamily="49" charset="0"/>
                          <a:ea typeface="宋体" panose="02010600030101010101" pitchFamily="2" charset="-122"/>
                        </a:rPr>
                        <a:t> &lt;*&gt; dear &lt;*&gt;</a:t>
                      </a:r>
                      <a:br>
                        <a:rPr lang="en-US" sz="800" b="0" kern="0" dirty="0">
                          <a:solidFill>
                            <a:srgbClr val="080808"/>
                          </a:solidFill>
                          <a:effectLst/>
                          <a:latin typeface="Courier New" panose="02070309020205020404" pitchFamily="49" charset="0"/>
                          <a:ea typeface="宋体" panose="02010600030101010101" pitchFamily="2" charset="-122"/>
                        </a:rPr>
                      </a:br>
                      <a:r>
                        <a:rPr lang="en-US" sz="800" b="0" kern="0" dirty="0" err="1">
                          <a:solidFill>
                            <a:srgbClr val="080808"/>
                          </a:solidFill>
                          <a:effectLst/>
                          <a:latin typeface="Courier New" panose="02070309020205020404" pitchFamily="49" charset="0"/>
                          <a:ea typeface="宋体" panose="02010600030101010101" pitchFamily="2" charset="-122"/>
                        </a:rPr>
                        <a:t>ciod</a:t>
                      </a:r>
                      <a:r>
                        <a:rPr lang="en-US" sz="800" b="0" kern="0" dirty="0">
                          <a:solidFill>
                            <a:srgbClr val="080808"/>
                          </a:solidFill>
                          <a:effectLst/>
                          <a:latin typeface="Courier New" panose="02070309020205020404" pitchFamily="49" charset="0"/>
                          <a:ea typeface="宋体" panose="02010600030101010101" pitchFamily="2" charset="-122"/>
                        </a:rPr>
                        <a:t>: Received signal &lt;*&gt;, code=&lt;*&gt;, </a:t>
                      </a:r>
                      <a:r>
                        <a:rPr lang="en-US" sz="800" b="0" kern="0" dirty="0" err="1">
                          <a:solidFill>
                            <a:srgbClr val="080808"/>
                          </a:solidFill>
                          <a:effectLst/>
                          <a:latin typeface="Courier New" panose="02070309020205020404" pitchFamily="49" charset="0"/>
                          <a:ea typeface="宋体" panose="02010600030101010101" pitchFamily="2" charset="-122"/>
                        </a:rPr>
                        <a:t>errno</a:t>
                      </a:r>
                      <a:r>
                        <a:rPr lang="en-US" sz="800" b="0" kern="0" dirty="0">
                          <a:solidFill>
                            <a:srgbClr val="080808"/>
                          </a:solidFill>
                          <a:effectLst/>
                          <a:latin typeface="Courier New" panose="02070309020205020404" pitchFamily="49" charset="0"/>
                          <a:ea typeface="宋体" panose="02010600030101010101" pitchFamily="2" charset="-122"/>
                        </a:rPr>
                        <a:t>=&lt;*&gt;, address=&lt;*&gt;</a:t>
                      </a:r>
                      <a:br>
                        <a:rPr lang="en-US" sz="800" b="0" kern="0" dirty="0">
                          <a:solidFill>
                            <a:srgbClr val="080808"/>
                          </a:solidFill>
                          <a:effectLst/>
                          <a:latin typeface="Courier New" panose="02070309020205020404" pitchFamily="49" charset="0"/>
                          <a:ea typeface="宋体" panose="02010600030101010101" pitchFamily="2" charset="-122"/>
                        </a:rPr>
                      </a:br>
                      <a:r>
                        <a:rPr lang="en-US" sz="800" b="0" kern="0" dirty="0">
                          <a:solidFill>
                            <a:srgbClr val="080808"/>
                          </a:solidFill>
                          <a:effectLst/>
                          <a:latin typeface="Courier New" panose="02070309020205020404" pitchFamily="49" charset="0"/>
                          <a:ea typeface="宋体" panose="02010600030101010101" pitchFamily="2" charset="-122"/>
                        </a:rPr>
                        <a:t>&lt;*&gt; total interrupts. &lt;*&gt; critical input interrupts. &lt;*&gt; microseconds total spent on critical input interrupts</a:t>
                      </a:r>
                      <a:endParaRPr lang="en-US" sz="1100" kern="100" dirty="0">
                        <a:effectLst/>
                        <a:latin typeface="Times New Roman" panose="02020603050405020304" pitchFamily="18" charset="0"/>
                        <a:ea typeface="等线" panose="02010600030101010101" pitchFamily="2" charset="-122"/>
                      </a:endParaRPr>
                    </a:p>
                  </a:txBody>
                  <a:tcPr marL="68580" marR="6858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1939221"/>
                  </a:ext>
                </a:extLst>
              </a:tr>
            </a:tbl>
          </a:graphicData>
        </a:graphic>
      </p:graphicFrame>
      <p:pic>
        <p:nvPicPr>
          <p:cNvPr id="33" name="Picture 1">
            <a:extLst>
              <a:ext uri="{FF2B5EF4-FFF2-40B4-BE49-F238E27FC236}">
                <a16:creationId xmlns:a16="http://schemas.microsoft.com/office/drawing/2014/main" id="{AE7A1CF2-5F4E-2EF7-28DA-3CA76C9865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4227" y="1697651"/>
            <a:ext cx="5364000" cy="2536882"/>
          </a:xfrm>
          <a:prstGeom prst="rect">
            <a:avLst/>
          </a:prstGeom>
          <a:noFill/>
          <a:extLst>
            <a:ext uri="{909E8E84-426E-40DD-AFC4-6F175D3DCCD1}">
              <a14:hiddenFill xmlns:a14="http://schemas.microsoft.com/office/drawing/2010/main">
                <a:solidFill>
                  <a:srgbClr val="FFFFFF"/>
                </a:solidFill>
              </a14:hiddenFill>
            </a:ext>
          </a:extLst>
        </p:spPr>
      </p:pic>
      <p:grpSp>
        <p:nvGrpSpPr>
          <p:cNvPr id="47" name="组合 46">
            <a:extLst>
              <a:ext uri="{FF2B5EF4-FFF2-40B4-BE49-F238E27FC236}">
                <a16:creationId xmlns:a16="http://schemas.microsoft.com/office/drawing/2014/main" id="{88538BEF-2B45-0BBE-D041-0D7F13EA0E36}"/>
              </a:ext>
            </a:extLst>
          </p:cNvPr>
          <p:cNvGrpSpPr/>
          <p:nvPr/>
        </p:nvGrpSpPr>
        <p:grpSpPr>
          <a:xfrm>
            <a:off x="252466" y="1127125"/>
            <a:ext cx="5764405" cy="2344142"/>
            <a:chOff x="757237" y="4000390"/>
            <a:chExt cx="4217100" cy="2032194"/>
          </a:xfrm>
        </p:grpSpPr>
        <p:sp>
          <p:nvSpPr>
            <p:cNvPr id="28" name="Shape 11"/>
            <p:cNvSpPr/>
            <p:nvPr/>
          </p:nvSpPr>
          <p:spPr>
            <a:xfrm>
              <a:off x="760731" y="4000390"/>
              <a:ext cx="4213606" cy="2032194"/>
            </a:xfrm>
            <a:prstGeom prst="rect">
              <a:avLst/>
            </a:prstGeom>
            <a:solidFill>
              <a:srgbClr val="FFFFFF"/>
            </a:solidFill>
            <a:ln w="19050">
              <a:solidFill>
                <a:srgbClr val="004CC0"/>
              </a:solidFill>
              <a:prstDash val="solid"/>
            </a:ln>
          </p:spPr>
          <p:txBody>
            <a:bodyPr/>
            <a:lstStyle/>
            <a:p>
              <a:endParaRPr lang="zh-CN" altLang="en-US"/>
            </a:p>
          </p:txBody>
        </p:sp>
        <p:sp>
          <p:nvSpPr>
            <p:cNvPr id="31" name="Text 14"/>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4" name="Shape 15"/>
            <p:cNvSpPr/>
            <p:nvPr/>
          </p:nvSpPr>
          <p:spPr>
            <a:xfrm flipV="1">
              <a:off x="875754" y="4144633"/>
              <a:ext cx="215699" cy="108423"/>
            </a:xfrm>
            <a:prstGeom prst="chevron">
              <a:avLst>
                <a:gd name="adj" fmla="val 64013"/>
              </a:avLst>
            </a:prstGeom>
            <a:solidFill>
              <a:srgbClr val="FFFFFF"/>
            </a:solidFill>
            <a:ln/>
          </p:spPr>
          <p:txBody>
            <a:bodyPr/>
            <a:lstStyle/>
            <a:p>
              <a:endParaRPr lang="zh-CN" altLang="en-US"/>
            </a:p>
          </p:txBody>
        </p:sp>
        <p:sp>
          <p:nvSpPr>
            <p:cNvPr id="35" name="Text 16"/>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38" name="Text 34"/>
          <p:cNvSpPr/>
          <p:nvPr/>
        </p:nvSpPr>
        <p:spPr>
          <a:xfrm>
            <a:off x="331612" y="1231640"/>
            <a:ext cx="3765677" cy="306316"/>
          </a:xfrm>
          <a:prstGeom prst="rect">
            <a:avLst/>
          </a:prstGeom>
          <a:noFill/>
          <a:ln/>
        </p:spPr>
        <p:txBody>
          <a:bodyPr wrap="square" lIns="0" tIns="0" rIns="0" bIns="0" rtlCol="0" anchor="ctr"/>
          <a:lstStyle/>
          <a:p>
            <a:pPr algn="just">
              <a:lnSpc>
                <a:spcPct val="100000"/>
              </a:lnSpc>
            </a:pPr>
            <a:r>
              <a:rPr lang="en-US" sz="1800" b="1" dirty="0" err="1">
                <a:solidFill>
                  <a:srgbClr val="004CC0"/>
                </a:solidFill>
                <a:latin typeface="MiSans" pitchFamily="34" charset="0"/>
                <a:ea typeface="MiSans" pitchFamily="34" charset="-122"/>
                <a:cs typeface="MiSans" pitchFamily="34" charset="-120"/>
              </a:rPr>
              <a:t>LogHub</a:t>
            </a:r>
            <a:endParaRPr lang="en-US" sz="1600" dirty="0"/>
          </a:p>
        </p:txBody>
      </p:sp>
      <p:graphicFrame>
        <p:nvGraphicFramePr>
          <p:cNvPr id="52" name="表格 51">
            <a:extLst>
              <a:ext uri="{FF2B5EF4-FFF2-40B4-BE49-F238E27FC236}">
                <a16:creationId xmlns:a16="http://schemas.microsoft.com/office/drawing/2014/main" id="{DD6E016A-5D21-AB1B-56A3-811A839B68CC}"/>
              </a:ext>
            </a:extLst>
          </p:cNvPr>
          <p:cNvGraphicFramePr>
            <a:graphicFrameLocks noGrp="1"/>
          </p:cNvGraphicFramePr>
          <p:nvPr>
            <p:extLst>
              <p:ext uri="{D42A27DB-BD31-4B8C-83A1-F6EECF244321}">
                <p14:modId xmlns:p14="http://schemas.microsoft.com/office/powerpoint/2010/main" val="2740167671"/>
              </p:ext>
            </p:extLst>
          </p:nvPr>
        </p:nvGraphicFramePr>
        <p:xfrm>
          <a:off x="320525" y="1541430"/>
          <a:ext cx="5633061" cy="1837661"/>
        </p:xfrm>
        <a:graphic>
          <a:graphicData uri="http://schemas.openxmlformats.org/drawingml/2006/table">
            <a:tbl>
              <a:tblPr/>
              <a:tblGrid>
                <a:gridCol w="1001864">
                  <a:extLst>
                    <a:ext uri="{9D8B030D-6E8A-4147-A177-3AD203B41FA5}">
                      <a16:colId xmlns:a16="http://schemas.microsoft.com/office/drawing/2014/main" val="2452525548"/>
                    </a:ext>
                  </a:extLst>
                </a:gridCol>
                <a:gridCol w="2379208">
                  <a:extLst>
                    <a:ext uri="{9D8B030D-6E8A-4147-A177-3AD203B41FA5}">
                      <a16:colId xmlns:a16="http://schemas.microsoft.com/office/drawing/2014/main" val="858696949"/>
                    </a:ext>
                  </a:extLst>
                </a:gridCol>
                <a:gridCol w="1376463">
                  <a:extLst>
                    <a:ext uri="{9D8B030D-6E8A-4147-A177-3AD203B41FA5}">
                      <a16:colId xmlns:a16="http://schemas.microsoft.com/office/drawing/2014/main" val="3517549486"/>
                    </a:ext>
                  </a:extLst>
                </a:gridCol>
                <a:gridCol w="875526">
                  <a:extLst>
                    <a:ext uri="{9D8B030D-6E8A-4147-A177-3AD203B41FA5}">
                      <a16:colId xmlns:a16="http://schemas.microsoft.com/office/drawing/2014/main" val="3949706560"/>
                    </a:ext>
                  </a:extLst>
                </a:gridCol>
              </a:tblGrid>
              <a:tr h="243103">
                <a:tc>
                  <a:txBody>
                    <a:bodyPr/>
                    <a:lstStyle/>
                    <a:p>
                      <a:pPr marL="0" marR="0" algn="l">
                        <a:buNone/>
                      </a:pPr>
                      <a:r>
                        <a:rPr lang="en-US" sz="1400" kern="100" dirty="0">
                          <a:effectLst/>
                          <a:latin typeface="Times New Roman" panose="02020603050405020304" pitchFamily="18" charset="0"/>
                          <a:ea typeface="等线" panose="02010600030101010101" pitchFamily="2" charset="-122"/>
                        </a:rPr>
                        <a:t>Dataset</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dirty="0">
                          <a:effectLst/>
                          <a:latin typeface="Times New Roman" panose="02020603050405020304" pitchFamily="18" charset="0"/>
                          <a:ea typeface="等线" panose="02010600030101010101" pitchFamily="2" charset="-122"/>
                        </a:rPr>
                        <a:t>Description</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dirty="0">
                          <a:effectLst/>
                          <a:latin typeface="Times New Roman" panose="02020603050405020304" pitchFamily="18" charset="0"/>
                          <a:ea typeface="等线" panose="02010600030101010101" pitchFamily="2" charset="-122"/>
                        </a:rPr>
                        <a:t>Type</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400" kern="100" dirty="0">
                          <a:effectLst/>
                          <a:latin typeface="Times New Roman" panose="02020603050405020304" pitchFamily="18" charset="0"/>
                          <a:ea typeface="等线" panose="02010600030101010101" pitchFamily="2" charset="-122"/>
                        </a:rPr>
                        <a:t>Size</a:t>
                      </a:r>
                    </a:p>
                  </a:txBody>
                  <a:tcPr marL="17780" marR="1778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221703"/>
                  </a:ext>
                </a:extLst>
              </a:tr>
              <a:tr h="321498">
                <a:tc>
                  <a:txBody>
                    <a:bodyPr/>
                    <a:lstStyle/>
                    <a:p>
                      <a:pPr marL="0" marR="0" algn="l">
                        <a:buNone/>
                      </a:pPr>
                      <a:r>
                        <a:rPr lang="en-US" sz="1200" kern="100" dirty="0">
                          <a:effectLst/>
                          <a:latin typeface="Times New Roman" panose="02020603050405020304" pitchFamily="18" charset="0"/>
                          <a:ea typeface="等线" panose="02010600030101010101" pitchFamily="2" charset="-122"/>
                        </a:rPr>
                        <a:t>HDFS</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buNone/>
                      </a:pPr>
                      <a:r>
                        <a:rPr lang="en-US" sz="1200" kern="100" dirty="0">
                          <a:effectLst/>
                          <a:latin typeface="Times New Roman" panose="02020603050405020304" pitchFamily="18" charset="0"/>
                          <a:ea typeface="等线" panose="02010600030101010101" pitchFamily="2" charset="-122"/>
                        </a:rPr>
                        <a:t>Hadoop distributed file system log</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l">
                        <a:buNone/>
                      </a:pPr>
                      <a:r>
                        <a:rPr lang="en-US" sz="1200" kern="100" dirty="0">
                          <a:effectLst/>
                          <a:latin typeface="Times New Roman" panose="02020603050405020304" pitchFamily="18" charset="0"/>
                          <a:ea typeface="等线" panose="02010600030101010101" pitchFamily="2" charset="-122"/>
                        </a:rPr>
                        <a:t>Distributed system</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marL="0" marR="0" algn="r">
                        <a:buNone/>
                      </a:pPr>
                      <a:r>
                        <a:rPr lang="en-US" sz="1200" kern="100" dirty="0">
                          <a:effectLst/>
                          <a:latin typeface="Times New Roman" panose="02020603050405020304" pitchFamily="18" charset="0"/>
                          <a:ea typeface="等线" panose="02010600030101010101" pitchFamily="2" charset="-122"/>
                        </a:rPr>
                        <a:t>1.47GB</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76173948"/>
                  </a:ext>
                </a:extLst>
              </a:tr>
              <a:tr h="321498">
                <a:tc>
                  <a:txBody>
                    <a:bodyPr/>
                    <a:lstStyle/>
                    <a:p>
                      <a:pPr marL="0" marR="0" algn="l">
                        <a:buNone/>
                      </a:pPr>
                      <a:r>
                        <a:rPr lang="en-US" sz="1200" kern="100" dirty="0">
                          <a:effectLst/>
                          <a:latin typeface="Times New Roman" panose="02020603050405020304" pitchFamily="18" charset="0"/>
                          <a:ea typeface="等线" panose="02010600030101010101" pitchFamily="2" charset="-122"/>
                        </a:rPr>
                        <a:t>BGL</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it-IT" sz="1200" kern="100" dirty="0">
                          <a:effectLst/>
                          <a:latin typeface="Times New Roman" panose="02020603050405020304" pitchFamily="18" charset="0"/>
                          <a:ea typeface="等线" panose="02010600030101010101" pitchFamily="2" charset="-122"/>
                        </a:rPr>
                        <a:t>Blue Gene/L supercomputer log</a:t>
                      </a:r>
                      <a:endParaRPr lang="it-IT"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dirty="0">
                          <a:effectLst/>
                          <a:latin typeface="Times New Roman" panose="02020603050405020304" pitchFamily="18" charset="0"/>
                          <a:ea typeface="等线" panose="02010600030101010101" pitchFamily="2" charset="-122"/>
                        </a:rPr>
                        <a:t>Super computer</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r">
                        <a:buNone/>
                      </a:pPr>
                      <a:r>
                        <a:rPr lang="en-US" sz="1200" kern="100" dirty="0">
                          <a:effectLst/>
                          <a:latin typeface="Times New Roman" panose="02020603050405020304" pitchFamily="18" charset="0"/>
                          <a:ea typeface="等线" panose="02010600030101010101" pitchFamily="2" charset="-122"/>
                        </a:rPr>
                        <a:t>708.76MB</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extLst>
                  <a:ext uri="{0D108BD9-81ED-4DB2-BD59-A6C34878D82A}">
                    <a16:rowId xmlns:a16="http://schemas.microsoft.com/office/drawing/2014/main" val="1502744141"/>
                  </a:ext>
                </a:extLst>
              </a:tr>
              <a:tr h="294047">
                <a:tc>
                  <a:txBody>
                    <a:bodyPr/>
                    <a:lstStyle/>
                    <a:p>
                      <a:pPr marL="0" marR="0" algn="l">
                        <a:buNone/>
                      </a:pPr>
                      <a:r>
                        <a:rPr lang="en-US" sz="1200" kern="100" dirty="0">
                          <a:effectLst/>
                          <a:latin typeface="Times New Roman" panose="02020603050405020304" pitchFamily="18" charset="0"/>
                          <a:ea typeface="等线" panose="02010600030101010101" pitchFamily="2" charset="-122"/>
                        </a:rPr>
                        <a:t>Thunderbird</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dirty="0">
                          <a:effectLst/>
                          <a:latin typeface="Times New Roman" panose="02020603050405020304" pitchFamily="18" charset="0"/>
                          <a:ea typeface="等线" panose="02010600030101010101" pitchFamily="2" charset="-122"/>
                        </a:rPr>
                        <a:t>Thunderbird supercomputer log</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dirty="0">
                          <a:effectLst/>
                          <a:latin typeface="Times New Roman" panose="02020603050405020304" pitchFamily="18" charset="0"/>
                          <a:ea typeface="等线" panose="02010600030101010101" pitchFamily="2" charset="-122"/>
                        </a:rPr>
                        <a:t>Super computer</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r">
                        <a:buNone/>
                      </a:pPr>
                      <a:r>
                        <a:rPr lang="en-US" sz="1200" kern="100" dirty="0">
                          <a:effectLst/>
                          <a:latin typeface="Times New Roman" panose="02020603050405020304" pitchFamily="18" charset="0"/>
                          <a:ea typeface="等线" panose="02010600030101010101" pitchFamily="2" charset="-122"/>
                        </a:rPr>
                        <a:t>29.60GB</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extLst>
                  <a:ext uri="{0D108BD9-81ED-4DB2-BD59-A6C34878D82A}">
                    <a16:rowId xmlns:a16="http://schemas.microsoft.com/office/drawing/2014/main" val="3257098544"/>
                  </a:ext>
                </a:extLst>
              </a:tr>
              <a:tr h="197507">
                <a:tc>
                  <a:txBody>
                    <a:bodyPr/>
                    <a:lstStyle/>
                    <a:p>
                      <a:pPr marL="0" marR="0" algn="l">
                        <a:buNone/>
                      </a:pPr>
                      <a:r>
                        <a:rPr lang="en-US" sz="1200" kern="100">
                          <a:effectLst/>
                          <a:latin typeface="Times New Roman" panose="02020603050405020304" pitchFamily="18" charset="0"/>
                          <a:ea typeface="等线" panose="02010600030101010101" pitchFamily="2" charset="-122"/>
                        </a:rPr>
                        <a:t>Linux</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dirty="0">
                          <a:effectLst/>
                          <a:latin typeface="Times New Roman" panose="02020603050405020304" pitchFamily="18" charset="0"/>
                          <a:ea typeface="等线" panose="02010600030101010101" pitchFamily="2" charset="-122"/>
                        </a:rPr>
                        <a:t>Linux system log</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l">
                        <a:buNone/>
                      </a:pPr>
                      <a:r>
                        <a:rPr lang="en-US" sz="1200" kern="100" dirty="0" err="1">
                          <a:effectLst/>
                          <a:latin typeface="Times New Roman" panose="02020603050405020304" pitchFamily="18" charset="0"/>
                          <a:ea typeface="等线" panose="02010600030101010101" pitchFamily="2" charset="-122"/>
                        </a:rPr>
                        <a:t>Opreating</a:t>
                      </a:r>
                      <a:r>
                        <a:rPr lang="en-US" sz="1200" kern="100" dirty="0">
                          <a:effectLst/>
                          <a:latin typeface="Times New Roman" panose="02020603050405020304" pitchFamily="18" charset="0"/>
                          <a:ea typeface="等线" panose="02010600030101010101" pitchFamily="2" charset="-122"/>
                        </a:rPr>
                        <a:t> system</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tc>
                  <a:txBody>
                    <a:bodyPr/>
                    <a:lstStyle/>
                    <a:p>
                      <a:pPr marL="0" marR="0" algn="r">
                        <a:buNone/>
                      </a:pPr>
                      <a:r>
                        <a:rPr lang="en-US" sz="1200" kern="100" dirty="0">
                          <a:effectLst/>
                          <a:latin typeface="Times New Roman" panose="02020603050405020304" pitchFamily="18" charset="0"/>
                          <a:ea typeface="等线" panose="02010600030101010101" pitchFamily="2" charset="-122"/>
                        </a:rPr>
                        <a:t>2.25MB</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a:noFill/>
                    </a:lnB>
                    <a:noFill/>
                  </a:tcPr>
                </a:tc>
                <a:extLst>
                  <a:ext uri="{0D108BD9-81ED-4DB2-BD59-A6C34878D82A}">
                    <a16:rowId xmlns:a16="http://schemas.microsoft.com/office/drawing/2014/main" val="1424917435"/>
                  </a:ext>
                </a:extLst>
              </a:tr>
              <a:tr h="321498">
                <a:tc>
                  <a:txBody>
                    <a:bodyPr/>
                    <a:lstStyle/>
                    <a:p>
                      <a:pPr marL="0" marR="0" algn="l">
                        <a:buNone/>
                      </a:pPr>
                      <a:r>
                        <a:rPr lang="en-US" sz="1200" kern="100">
                          <a:effectLst/>
                          <a:latin typeface="Times New Roman" panose="02020603050405020304" pitchFamily="18" charset="0"/>
                          <a:ea typeface="等线" panose="02010600030101010101" pitchFamily="2" charset="-122"/>
                        </a:rPr>
                        <a:t>Apache</a:t>
                      </a:r>
                      <a:endParaRPr lang="en-US" sz="1800" kern="10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200" kern="100" dirty="0">
                          <a:effectLst/>
                          <a:latin typeface="Times New Roman" panose="02020603050405020304" pitchFamily="18" charset="0"/>
                          <a:ea typeface="等线" panose="02010600030101010101" pitchFamily="2" charset="-122"/>
                        </a:rPr>
                        <a:t>Web server error log</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l">
                        <a:buNone/>
                      </a:pPr>
                      <a:r>
                        <a:rPr lang="en-US" sz="1200" kern="100" dirty="0">
                          <a:effectLst/>
                          <a:latin typeface="Times New Roman" panose="02020603050405020304" pitchFamily="18" charset="0"/>
                          <a:ea typeface="等线" panose="02010600030101010101" pitchFamily="2" charset="-122"/>
                        </a:rPr>
                        <a:t>Server application</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marL="0" marR="0" algn="r">
                        <a:buNone/>
                      </a:pPr>
                      <a:r>
                        <a:rPr lang="en-US" sz="1200" kern="100" dirty="0">
                          <a:effectLst/>
                          <a:latin typeface="Times New Roman" panose="02020603050405020304" pitchFamily="18" charset="0"/>
                          <a:ea typeface="等线" panose="02010600030101010101" pitchFamily="2" charset="-122"/>
                        </a:rPr>
                        <a:t>4.90MB</a:t>
                      </a:r>
                      <a:endParaRPr lang="en-US" sz="1800" kern="100" dirty="0">
                        <a:effectLst/>
                        <a:latin typeface="Times New Roman" panose="02020603050405020304" pitchFamily="18" charset="0"/>
                        <a:ea typeface="等线" panose="02010600030101010101" pitchFamily="2" charset="-122"/>
                      </a:endParaRPr>
                    </a:p>
                  </a:txBody>
                  <a:tcPr marL="17780" marR="17780">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3764418"/>
                  </a:ext>
                </a:extLst>
              </a:tr>
            </a:tbl>
          </a:graphicData>
        </a:graphic>
      </p:graphicFrame>
      <p:sp>
        <p:nvSpPr>
          <p:cNvPr id="36" name="Text 24">
            <a:extLst>
              <a:ext uri="{FF2B5EF4-FFF2-40B4-BE49-F238E27FC236}">
                <a16:creationId xmlns:a16="http://schemas.microsoft.com/office/drawing/2014/main" id="{D91D076D-29AD-ECA5-3737-B173E697BF0D}"/>
              </a:ext>
            </a:extLst>
          </p:cNvPr>
          <p:cNvSpPr/>
          <p:nvPr/>
        </p:nvSpPr>
        <p:spPr>
          <a:xfrm>
            <a:off x="8347137" y="4127477"/>
            <a:ext cx="1358179" cy="294183"/>
          </a:xfrm>
          <a:prstGeom prst="rect">
            <a:avLst/>
          </a:prstGeom>
          <a:noFill/>
          <a:ln/>
        </p:spPr>
        <p:txBody>
          <a:bodyPr wrap="square" lIns="0" tIns="0" rIns="0" bIns="0" rtlCol="0" anchor="t">
            <a:spAutoFit/>
          </a:bodyPr>
          <a:lstStyle/>
          <a:p>
            <a:pPr algn="just">
              <a:lnSpc>
                <a:spcPct val="130000"/>
              </a:lnSpc>
            </a:pPr>
            <a:r>
              <a:rPr lang="en-US" sz="1600" dirty="0"/>
              <a:t>Session window</a:t>
            </a:r>
          </a:p>
        </p:txBody>
      </p:sp>
      <p:sp>
        <p:nvSpPr>
          <p:cNvPr id="37" name="Text 24">
            <a:extLst>
              <a:ext uri="{FF2B5EF4-FFF2-40B4-BE49-F238E27FC236}">
                <a16:creationId xmlns:a16="http://schemas.microsoft.com/office/drawing/2014/main" id="{CFCCA598-8173-315A-7BE8-4B82385A26B2}"/>
              </a:ext>
            </a:extLst>
          </p:cNvPr>
          <p:cNvSpPr/>
          <p:nvPr/>
        </p:nvSpPr>
        <p:spPr>
          <a:xfrm>
            <a:off x="8347137" y="6146708"/>
            <a:ext cx="1358179" cy="294183"/>
          </a:xfrm>
          <a:prstGeom prst="rect">
            <a:avLst/>
          </a:prstGeom>
          <a:noFill/>
          <a:ln/>
        </p:spPr>
        <p:txBody>
          <a:bodyPr wrap="square" lIns="0" tIns="0" rIns="0" bIns="0" rtlCol="0" anchor="t">
            <a:spAutoFit/>
          </a:bodyPr>
          <a:lstStyle/>
          <a:p>
            <a:pPr algn="just">
              <a:lnSpc>
                <a:spcPct val="130000"/>
              </a:lnSpc>
            </a:pPr>
            <a:r>
              <a:rPr lang="en-US" sz="1600" dirty="0"/>
              <a:t>S</a:t>
            </a:r>
            <a:r>
              <a:rPr lang="en-US" altLang="zh-CN" sz="1600" dirty="0"/>
              <a:t>liding</a:t>
            </a:r>
            <a:r>
              <a:rPr lang="en-US" sz="1600" dirty="0"/>
              <a:t> window</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692976" y="1694145"/>
            <a:ext cx="5381035" cy="3107357"/>
          </a:xfrm>
          <a:prstGeom prst="rect">
            <a:avLst/>
          </a:prstGeom>
          <a:solidFill>
            <a:srgbClr val="FFFFFF"/>
          </a:solidFill>
          <a:ln w="19050">
            <a:solidFill>
              <a:srgbClr val="004CC0"/>
            </a:solidFill>
            <a:prstDash val="solid"/>
          </a:ln>
        </p:spPr>
      </p:sp>
      <p:sp>
        <p:nvSpPr>
          <p:cNvPr id="9" name="Text 7"/>
          <p:cNvSpPr/>
          <p:nvPr/>
        </p:nvSpPr>
        <p:spPr>
          <a:xfrm>
            <a:off x="3992450" y="406718"/>
            <a:ext cx="7413420" cy="312102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Text 8"/>
          <p:cNvSpPr/>
          <p:nvPr/>
        </p:nvSpPr>
        <p:spPr>
          <a:xfrm>
            <a:off x="1285629" y="1108812"/>
            <a:ext cx="4330700" cy="435610"/>
          </a:xfrm>
          <a:prstGeom prst="rect">
            <a:avLst/>
          </a:prstGeom>
          <a:noFill/>
          <a:ln/>
        </p:spPr>
        <p:txBody>
          <a:bodyPr wrap="square" lIns="0" tIns="0" rIns="0" bIns="0" rtlCol="0" anchor="ctr"/>
          <a:lstStyle/>
          <a:p>
            <a:pPr algn="just">
              <a:lnSpc>
                <a:spcPct val="100000"/>
              </a:lnSpc>
            </a:pPr>
            <a:r>
              <a:rPr lang="en-US" sz="1800" b="1" dirty="0">
                <a:solidFill>
                  <a:srgbClr val="004CC0"/>
                </a:solidFill>
                <a:latin typeface="MiSans" pitchFamily="34" charset="0"/>
                <a:ea typeface="MiSans" pitchFamily="34" charset="-122"/>
                <a:cs typeface="MiSans" pitchFamily="34" charset="-120"/>
              </a:rPr>
              <a:t> LogLLM Framework</a:t>
            </a:r>
            <a:endParaRPr lang="en-US" sz="1600" dirty="0"/>
          </a:p>
        </p:txBody>
      </p:sp>
      <p:grpSp>
        <p:nvGrpSpPr>
          <p:cNvPr id="48" name="组合 47">
            <a:extLst>
              <a:ext uri="{FF2B5EF4-FFF2-40B4-BE49-F238E27FC236}">
                <a16:creationId xmlns:a16="http://schemas.microsoft.com/office/drawing/2014/main" id="{08BDDE9F-AE98-3318-A444-3BD06CA43362}"/>
              </a:ext>
            </a:extLst>
          </p:cNvPr>
          <p:cNvGrpSpPr/>
          <p:nvPr/>
        </p:nvGrpSpPr>
        <p:grpSpPr>
          <a:xfrm>
            <a:off x="692975" y="1116193"/>
            <a:ext cx="438785" cy="434340"/>
            <a:chOff x="757237" y="1748473"/>
            <a:chExt cx="438785" cy="434340"/>
          </a:xfrm>
        </p:grpSpPr>
        <p:sp>
          <p:nvSpPr>
            <p:cNvPr id="11" name="Shape 9"/>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p:cNvSpPr/>
            <p:nvPr/>
          </p:nvSpPr>
          <p:spPr>
            <a:xfrm>
              <a:off x="919480" y="1881505"/>
              <a:ext cx="113665" cy="168910"/>
            </a:xfrm>
            <a:prstGeom prst="chevron">
              <a:avLst>
                <a:gd name="adj" fmla="val 64013"/>
              </a:avLst>
            </a:prstGeom>
            <a:solidFill>
              <a:srgbClr val="FFFFFF"/>
            </a:solidFill>
            <a:ln/>
          </p:spPr>
        </p:sp>
      </p:grpSp>
      <p:sp>
        <p:nvSpPr>
          <p:cNvPr id="22" name="Text 20"/>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3" name="Shape 21"/>
          <p:cNvSpPr/>
          <p:nvPr/>
        </p:nvSpPr>
        <p:spPr>
          <a:xfrm>
            <a:off x="6435725" y="1881505"/>
            <a:ext cx="113665" cy="168910"/>
          </a:xfrm>
          <a:prstGeom prst="chevron">
            <a:avLst>
              <a:gd name="adj" fmla="val 64013"/>
            </a:avLst>
          </a:prstGeom>
          <a:solidFill>
            <a:srgbClr val="FFFFFF"/>
          </a:solidFill>
          <a:ln/>
        </p:spPr>
      </p:sp>
      <p:sp>
        <p:nvSpPr>
          <p:cNvPr id="24" name="Text 22"/>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6" name="Text 24"/>
          <p:cNvSpPr/>
          <p:nvPr/>
        </p:nvSpPr>
        <p:spPr>
          <a:xfrm>
            <a:off x="6377588" y="1588094"/>
            <a:ext cx="5364000" cy="4418582"/>
          </a:xfrm>
          <a:prstGeom prst="rect">
            <a:avLst/>
          </a:prstGeom>
          <a:noFill/>
          <a:ln/>
        </p:spPr>
        <p:txBody>
          <a:bodyPr wrap="square" lIns="0" tIns="0" rIns="0" bIns="0" rtlCol="0" anchor="t">
            <a:spAutoFit/>
          </a:bodyPr>
          <a:lstStyle/>
          <a:p>
            <a:pPr marL="285750" indent="-285750">
              <a:lnSpc>
                <a:spcPct val="130000"/>
              </a:lnSpc>
              <a:buFont typeface="Arial" panose="020B0604020202020204" pitchFamily="34" charset="0"/>
              <a:buChar char="•"/>
            </a:pPr>
            <a:r>
              <a:rPr lang="en-US" sz="1600" b="1" dirty="0">
                <a:solidFill>
                  <a:srgbClr val="000000"/>
                </a:solidFill>
                <a:latin typeface="MiSans" pitchFamily="34" charset="0"/>
                <a:ea typeface="MiSans" pitchFamily="34" charset="-122"/>
                <a:cs typeface="MiSans" pitchFamily="34" charset="-120"/>
              </a:rPr>
              <a:t>Bert</a:t>
            </a:r>
            <a:br>
              <a:rPr lang="en-US" sz="1600" dirty="0">
                <a:solidFill>
                  <a:srgbClr val="000000"/>
                </a:solidFill>
                <a:latin typeface="MiSans" pitchFamily="34" charset="0"/>
                <a:ea typeface="MiSans" pitchFamily="34" charset="-122"/>
                <a:cs typeface="MiSans" pitchFamily="34" charset="-120"/>
              </a:rPr>
            </a:br>
            <a:r>
              <a:rPr lang="en-US" sz="1600" dirty="0">
                <a:solidFill>
                  <a:srgbClr val="000000"/>
                </a:solidFill>
                <a:latin typeface="MiSans" pitchFamily="34" charset="0"/>
                <a:ea typeface="MiSans" pitchFamily="34" charset="-122"/>
                <a:cs typeface="MiSans" pitchFamily="34" charset="-120"/>
              </a:rPr>
              <a:t>The raw log messages are transformed into high-dimensional semantic vectors to capture the deeper meaning in the logs and provide a foundation for subsequent processing.</a:t>
            </a:r>
          </a:p>
          <a:p>
            <a:pPr marL="285750" indent="-285750">
              <a:lnSpc>
                <a:spcPct val="130000"/>
              </a:lnSpc>
              <a:buFont typeface="Arial" panose="020B0604020202020204" pitchFamily="34" charset="0"/>
              <a:buChar char="•"/>
            </a:pPr>
            <a:r>
              <a:rPr lang="en-US" sz="1600" b="1" dirty="0">
                <a:solidFill>
                  <a:srgbClr val="000000"/>
                </a:solidFill>
                <a:latin typeface="MiSans" pitchFamily="34" charset="0"/>
                <a:ea typeface="MiSans" pitchFamily="34" charset="-122"/>
                <a:cs typeface="MiSans" pitchFamily="34" charset="-120"/>
              </a:rPr>
              <a:t>Lama</a:t>
            </a:r>
            <a:br>
              <a:rPr lang="en-US" sz="1600" dirty="0">
                <a:solidFill>
                  <a:srgbClr val="000000"/>
                </a:solidFill>
                <a:latin typeface="MiSans" pitchFamily="34" charset="0"/>
                <a:ea typeface="MiSans" pitchFamily="34" charset="-122"/>
                <a:cs typeface="MiSans" pitchFamily="34" charset="-120"/>
              </a:rPr>
            </a:br>
            <a:r>
              <a:rPr lang="en-US" sz="1600" dirty="0">
                <a:solidFill>
                  <a:srgbClr val="000000"/>
                </a:solidFill>
                <a:latin typeface="MiSans" pitchFamily="34" charset="0"/>
                <a:ea typeface="MiSans" pitchFamily="34" charset="-122"/>
                <a:cs typeface="MiSans" pitchFamily="34" charset="-120"/>
              </a:rPr>
              <a:t>Receive a sequence of log vectors and combine it with a prompt template to perform anomaly </a:t>
            </a:r>
            <a:r>
              <a:rPr lang="en-US" sz="1600" dirty="0" err="1">
                <a:solidFill>
                  <a:srgbClr val="000000"/>
                </a:solidFill>
                <a:latin typeface="MiSans" pitchFamily="34" charset="0"/>
                <a:ea typeface="MiSans" pitchFamily="34" charset="-122"/>
                <a:cs typeface="MiSans" pitchFamily="34" charset="-120"/>
              </a:rPr>
              <a:t>classifi</a:t>
            </a:r>
            <a:r>
              <a:rPr lang="en-US" sz="1600" dirty="0">
                <a:solidFill>
                  <a:srgbClr val="000000"/>
                </a:solidFill>
                <a:latin typeface="MiSans" pitchFamily="34" charset="0"/>
                <a:ea typeface="MiSans" pitchFamily="34" charset="-122"/>
                <a:cs typeface="MiSans" pitchFamily="34" charset="-120"/>
              </a:rPr>
              <a:t>-cation.</a:t>
            </a:r>
          </a:p>
          <a:p>
            <a:pPr marL="285750" indent="-285750">
              <a:lnSpc>
                <a:spcPct val="130000"/>
              </a:lnSpc>
              <a:buFont typeface="Arial" panose="020B0604020202020204" pitchFamily="34" charset="0"/>
              <a:buChar char="•"/>
            </a:pPr>
            <a:r>
              <a:rPr lang="en-US" sz="1600" b="1" dirty="0">
                <a:solidFill>
                  <a:srgbClr val="000000"/>
                </a:solidFill>
                <a:latin typeface="MiSans" pitchFamily="34" charset="0"/>
                <a:ea typeface="MiSans" pitchFamily="34" charset="-122"/>
                <a:cs typeface="MiSans" pitchFamily="34" charset="-120"/>
              </a:rPr>
              <a:t>Projector</a:t>
            </a:r>
            <a:br>
              <a:rPr lang="en-US" sz="1600" b="1" dirty="0">
                <a:solidFill>
                  <a:srgbClr val="000000"/>
                </a:solidFill>
                <a:latin typeface="MiSans" pitchFamily="34" charset="0"/>
                <a:ea typeface="MiSans" pitchFamily="34" charset="-122"/>
                <a:cs typeface="MiSans" pitchFamily="34" charset="-120"/>
              </a:rPr>
            </a:br>
            <a:r>
              <a:rPr lang="en-US" sz="1600" dirty="0">
                <a:solidFill>
                  <a:srgbClr val="000000"/>
                </a:solidFill>
                <a:latin typeface="MiSans" pitchFamily="34" charset="0"/>
                <a:ea typeface="MiSans" pitchFamily="34" charset="-122"/>
                <a:cs typeface="MiSans" pitchFamily="34" charset="-120"/>
              </a:rPr>
              <a:t>To </a:t>
            </a:r>
            <a:r>
              <a:rPr lang="en-US" altLang="zh-CN" sz="1600" dirty="0">
                <a:solidFill>
                  <a:srgbClr val="000000"/>
                </a:solidFill>
                <a:latin typeface="MiSans" pitchFamily="34" charset="0"/>
                <a:ea typeface="MiSans" pitchFamily="34" charset="-122"/>
                <a:cs typeface="MiSans" pitchFamily="34" charset="-120"/>
              </a:rPr>
              <a:t>achieve semantic alignment, </a:t>
            </a:r>
            <a:r>
              <a:rPr lang="en-US" sz="1600" dirty="0">
                <a:solidFill>
                  <a:srgbClr val="000000"/>
                </a:solidFill>
                <a:latin typeface="MiSans" pitchFamily="34" charset="0"/>
                <a:ea typeface="MiSans" pitchFamily="34" charset="-122"/>
                <a:cs typeface="MiSans" pitchFamily="34" charset="-120"/>
              </a:rPr>
              <a:t>A linear mapping layer transforms the vectors output by BERT into a representation space that Llama can understand.</a:t>
            </a:r>
            <a:br>
              <a:rPr lang="en-US" sz="1600" dirty="0">
                <a:solidFill>
                  <a:srgbClr val="000000"/>
                </a:solidFill>
                <a:latin typeface="MiSans" pitchFamily="34" charset="0"/>
                <a:ea typeface="MiSans" pitchFamily="34" charset="-122"/>
                <a:cs typeface="MiSans" pitchFamily="34" charset="-120"/>
              </a:rPr>
            </a:br>
            <a:endParaRPr lang="en-US" sz="1400" dirty="0"/>
          </a:p>
        </p:txBody>
      </p:sp>
      <p:sp>
        <p:nvSpPr>
          <p:cNvPr id="31" name="Text 29"/>
          <p:cNvSpPr/>
          <p:nvPr/>
        </p:nvSpPr>
        <p:spPr>
          <a:xfrm>
            <a:off x="614108" y="384948"/>
            <a:ext cx="10151745" cy="553998"/>
          </a:xfrm>
          <a:prstGeom prst="rect">
            <a:avLst/>
          </a:prstGeom>
          <a:noFill/>
          <a:ln/>
        </p:spPr>
        <p:txBody>
          <a:bodyPr wrap="square" lIns="91440" tIns="45720" rIns="91440" bIns="45720" rtlCol="0" anchor="t">
            <a:spAutoFit/>
          </a:bodyPr>
          <a:lstStyle/>
          <a:p>
            <a:pPr>
              <a:lnSpc>
                <a:spcPct val="100000"/>
              </a:lnSpc>
            </a:pPr>
            <a:r>
              <a:rPr lang="en-US" altLang="zh-CN" sz="3000" b="1">
                <a:solidFill>
                  <a:srgbClr val="000000"/>
                </a:solidFill>
                <a:latin typeface="MiSans" pitchFamily="34" charset="0"/>
                <a:ea typeface="MiSans" pitchFamily="34" charset="-122"/>
                <a:cs typeface="MiSans" pitchFamily="34" charset="-120"/>
              </a:rPr>
              <a:t>02- LogLLM</a:t>
            </a:r>
            <a:r>
              <a:rPr lang="zh-CN" altLang="en-US" sz="3000" b="1">
                <a:solidFill>
                  <a:srgbClr val="000000"/>
                </a:solidFill>
                <a:latin typeface="MiSans" pitchFamily="34" charset="0"/>
                <a:ea typeface="MiSans" pitchFamily="34" charset="-122"/>
                <a:cs typeface="MiSans" pitchFamily="34" charset="-120"/>
              </a:rPr>
              <a:t> </a:t>
            </a:r>
            <a:r>
              <a:rPr lang="en-US" altLang="zh-CN" sz="3000" b="1">
                <a:solidFill>
                  <a:srgbClr val="000000"/>
                </a:solidFill>
                <a:latin typeface="MiSans" pitchFamily="34" charset="0"/>
                <a:ea typeface="MiSans" pitchFamily="34" charset="-122"/>
                <a:cs typeface="MiSans" pitchFamily="34" charset="-120"/>
              </a:rPr>
              <a:t>Model</a:t>
            </a:r>
            <a:endParaRPr lang="en-US" sz="1600" dirty="0"/>
          </a:p>
        </p:txBody>
      </p:sp>
      <p:pic>
        <p:nvPicPr>
          <p:cNvPr id="39" name="图片 38">
            <a:extLst>
              <a:ext uri="{FF2B5EF4-FFF2-40B4-BE49-F238E27FC236}">
                <a16:creationId xmlns:a16="http://schemas.microsoft.com/office/drawing/2014/main" id="{6C094460-32F8-2F47-A096-2DBAEED73B01}"/>
              </a:ext>
            </a:extLst>
          </p:cNvPr>
          <p:cNvPicPr>
            <a:picLocks noChangeAspect="1"/>
          </p:cNvPicPr>
          <p:nvPr/>
        </p:nvPicPr>
        <p:blipFill>
          <a:blip r:embed="rId3"/>
          <a:stretch>
            <a:fillRect/>
          </a:stretch>
        </p:blipFill>
        <p:spPr>
          <a:xfrm>
            <a:off x="710011" y="1761556"/>
            <a:ext cx="5364000" cy="3012855"/>
          </a:xfrm>
          <a:prstGeom prst="rect">
            <a:avLst/>
          </a:prstGeom>
        </p:spPr>
      </p:pic>
      <p:sp>
        <p:nvSpPr>
          <p:cNvPr id="14" name="Text 8">
            <a:extLst>
              <a:ext uri="{FF2B5EF4-FFF2-40B4-BE49-F238E27FC236}">
                <a16:creationId xmlns:a16="http://schemas.microsoft.com/office/drawing/2014/main" id="{28AC1B6F-DFB1-585B-1917-1BC7EDFB9BAB}"/>
              </a:ext>
            </a:extLst>
          </p:cNvPr>
          <p:cNvSpPr/>
          <p:nvPr/>
        </p:nvSpPr>
        <p:spPr>
          <a:xfrm>
            <a:off x="1284161" y="5072431"/>
            <a:ext cx="4330700" cy="435610"/>
          </a:xfrm>
          <a:prstGeom prst="rect">
            <a:avLst/>
          </a:prstGeom>
          <a:noFill/>
          <a:ln/>
        </p:spPr>
        <p:txBody>
          <a:bodyPr wrap="square" lIns="0" tIns="0" rIns="0" bIns="0" rtlCol="0" anchor="ctr"/>
          <a:lstStyle/>
          <a:p>
            <a:pPr algn="just">
              <a:lnSpc>
                <a:spcPct val="100000"/>
              </a:lnSpc>
            </a:pPr>
            <a:r>
              <a:rPr lang="en-US" sz="1800" b="1" dirty="0">
                <a:solidFill>
                  <a:srgbClr val="004CC0"/>
                </a:solidFill>
                <a:latin typeface="MiSans" pitchFamily="34" charset="0"/>
                <a:ea typeface="MiSans" pitchFamily="34" charset="-122"/>
                <a:cs typeface="MiSans" pitchFamily="34" charset="-120"/>
              </a:rPr>
              <a:t>Evaluation </a:t>
            </a:r>
            <a:r>
              <a:rPr lang="en-US" sz="1800" b="1" dirty="0" err="1">
                <a:solidFill>
                  <a:srgbClr val="004CC0"/>
                </a:solidFill>
                <a:latin typeface="MiSans" pitchFamily="34" charset="0"/>
                <a:ea typeface="MiSans" pitchFamily="34" charset="-122"/>
                <a:cs typeface="MiSans" pitchFamily="34" charset="-120"/>
              </a:rPr>
              <a:t>Metircs</a:t>
            </a:r>
            <a:endParaRPr lang="en-US" sz="1800" b="1" dirty="0">
              <a:solidFill>
                <a:srgbClr val="004CC0"/>
              </a:solidFill>
              <a:latin typeface="MiSans" pitchFamily="34" charset="0"/>
              <a:ea typeface="MiSans" pitchFamily="34" charset="-122"/>
              <a:cs typeface="MiSans" pitchFamily="34" charset="-120"/>
            </a:endParaRPr>
          </a:p>
        </p:txBody>
      </p:sp>
      <p:grpSp>
        <p:nvGrpSpPr>
          <p:cNvPr id="15" name="组合 14">
            <a:extLst>
              <a:ext uri="{FF2B5EF4-FFF2-40B4-BE49-F238E27FC236}">
                <a16:creationId xmlns:a16="http://schemas.microsoft.com/office/drawing/2014/main" id="{CF13E192-F8F3-1C3D-0634-61ACADC1AEA6}"/>
              </a:ext>
            </a:extLst>
          </p:cNvPr>
          <p:cNvGrpSpPr/>
          <p:nvPr/>
        </p:nvGrpSpPr>
        <p:grpSpPr>
          <a:xfrm>
            <a:off x="691507" y="5079812"/>
            <a:ext cx="438785" cy="434340"/>
            <a:chOff x="757237" y="1748473"/>
            <a:chExt cx="438785" cy="434340"/>
          </a:xfrm>
        </p:grpSpPr>
        <p:sp>
          <p:nvSpPr>
            <p:cNvPr id="19" name="Shape 9">
              <a:extLst>
                <a:ext uri="{FF2B5EF4-FFF2-40B4-BE49-F238E27FC236}">
                  <a16:creationId xmlns:a16="http://schemas.microsoft.com/office/drawing/2014/main" id="{00200472-8FA6-71AC-51F2-177DCEF7CD08}"/>
                </a:ext>
              </a:extLst>
            </p:cNvPr>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20" name="Shape 10">
              <a:extLst>
                <a:ext uri="{FF2B5EF4-FFF2-40B4-BE49-F238E27FC236}">
                  <a16:creationId xmlns:a16="http://schemas.microsoft.com/office/drawing/2014/main" id="{D181BF23-ED0A-D944-E0B5-DA6D0A25CCC7}"/>
                </a:ext>
              </a:extLst>
            </p:cNvPr>
            <p:cNvSpPr/>
            <p:nvPr/>
          </p:nvSpPr>
          <p:spPr>
            <a:xfrm>
              <a:off x="919480" y="1881505"/>
              <a:ext cx="113665" cy="168910"/>
            </a:xfrm>
            <a:prstGeom prst="chevron">
              <a:avLst>
                <a:gd name="adj" fmla="val 64013"/>
              </a:avLst>
            </a:prstGeom>
            <a:solidFill>
              <a:srgbClr val="FFFFFF"/>
            </a:solidFill>
            <a:ln/>
          </p:spPr>
        </p:sp>
      </p:grpSp>
      <p:sp>
        <p:nvSpPr>
          <p:cNvPr id="21" name="Shape 6">
            <a:extLst>
              <a:ext uri="{FF2B5EF4-FFF2-40B4-BE49-F238E27FC236}">
                <a16:creationId xmlns:a16="http://schemas.microsoft.com/office/drawing/2014/main" id="{FA39BFA9-8690-57FA-C6CD-B173283853FE}"/>
              </a:ext>
            </a:extLst>
          </p:cNvPr>
          <p:cNvSpPr/>
          <p:nvPr/>
        </p:nvSpPr>
        <p:spPr>
          <a:xfrm>
            <a:off x="691507" y="5728241"/>
            <a:ext cx="7187573" cy="964367"/>
          </a:xfrm>
          <a:prstGeom prst="rect">
            <a:avLst/>
          </a:prstGeom>
          <a:solidFill>
            <a:srgbClr val="FFFFFF"/>
          </a:solidFill>
          <a:ln w="19050">
            <a:solidFill>
              <a:srgbClr val="004CC0"/>
            </a:solidFill>
            <a:prstDash val="solid"/>
          </a:ln>
        </p:spPr>
      </p:sp>
      <p:pic>
        <p:nvPicPr>
          <p:cNvPr id="35" name="图片 34">
            <a:extLst>
              <a:ext uri="{FF2B5EF4-FFF2-40B4-BE49-F238E27FC236}">
                <a16:creationId xmlns:a16="http://schemas.microsoft.com/office/drawing/2014/main" id="{2D278DCE-ABF1-F1E7-4DFE-8CE0B8C35414}"/>
              </a:ext>
            </a:extLst>
          </p:cNvPr>
          <p:cNvPicPr>
            <a:picLocks noChangeAspect="1"/>
          </p:cNvPicPr>
          <p:nvPr/>
        </p:nvPicPr>
        <p:blipFill>
          <a:blip r:embed="rId4"/>
          <a:srcRect t="6005" b="4053"/>
          <a:stretch>
            <a:fillRect/>
          </a:stretch>
        </p:blipFill>
        <p:spPr>
          <a:xfrm>
            <a:off x="1285629" y="5782805"/>
            <a:ext cx="1645097" cy="874243"/>
          </a:xfrm>
          <a:prstGeom prst="rect">
            <a:avLst/>
          </a:prstGeom>
        </p:spPr>
      </p:pic>
      <p:pic>
        <p:nvPicPr>
          <p:cNvPr id="40" name="图片 39">
            <a:extLst>
              <a:ext uri="{FF2B5EF4-FFF2-40B4-BE49-F238E27FC236}">
                <a16:creationId xmlns:a16="http://schemas.microsoft.com/office/drawing/2014/main" id="{1003F1BB-1BB7-3973-A80D-591C41D20688}"/>
              </a:ext>
            </a:extLst>
          </p:cNvPr>
          <p:cNvPicPr>
            <a:picLocks noChangeAspect="1"/>
          </p:cNvPicPr>
          <p:nvPr/>
        </p:nvPicPr>
        <p:blipFill>
          <a:blip r:embed="rId5"/>
          <a:stretch>
            <a:fillRect/>
          </a:stretch>
        </p:blipFill>
        <p:spPr>
          <a:xfrm>
            <a:off x="3383493" y="5963974"/>
            <a:ext cx="3960000" cy="492899"/>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8DB78-1075-6D37-658F-E8595736D6B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905111A-3EFD-C0FD-CCF3-7DD0FF0E676D}"/>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28569999-E8B1-91AE-95E6-31D20F74C129}"/>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2F53B6F2-FF37-D58C-F3C2-5C60FB8B2023}"/>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3E9C5976-6121-D9FB-98F0-DA490F01734A}"/>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74578884-7745-1F31-0D9A-14FFECF8D6EF}"/>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492D23E8-7586-7921-1A3B-3CF310F4BE5C}"/>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a:extLst>
              <a:ext uri="{FF2B5EF4-FFF2-40B4-BE49-F238E27FC236}">
                <a16:creationId xmlns:a16="http://schemas.microsoft.com/office/drawing/2014/main" id="{AA7BF182-BD63-4142-8500-F3E59624A845}"/>
              </a:ext>
            </a:extLst>
          </p:cNvPr>
          <p:cNvSpPr/>
          <p:nvPr/>
        </p:nvSpPr>
        <p:spPr>
          <a:xfrm>
            <a:off x="786130" y="1744954"/>
            <a:ext cx="5494166" cy="4551518"/>
          </a:xfrm>
          <a:prstGeom prst="rect">
            <a:avLst/>
          </a:prstGeom>
          <a:solidFill>
            <a:srgbClr val="FFFFFF"/>
          </a:solidFill>
          <a:ln w="19050">
            <a:solidFill>
              <a:srgbClr val="004CC0"/>
            </a:solidFill>
            <a:prstDash val="solid"/>
          </a:ln>
        </p:spPr>
      </p:sp>
      <p:sp>
        <p:nvSpPr>
          <p:cNvPr id="9" name="Text 7">
            <a:extLst>
              <a:ext uri="{FF2B5EF4-FFF2-40B4-BE49-F238E27FC236}">
                <a16:creationId xmlns:a16="http://schemas.microsoft.com/office/drawing/2014/main" id="{DF25DD1D-2CC1-B4AD-8CBD-945896D94DBA}"/>
              </a:ext>
            </a:extLst>
          </p:cNvPr>
          <p:cNvSpPr/>
          <p:nvPr/>
        </p:nvSpPr>
        <p:spPr>
          <a:xfrm>
            <a:off x="3992450" y="406718"/>
            <a:ext cx="7413420" cy="3121025"/>
          </a:xfrm>
          <a:prstGeom prst="rect">
            <a:avLst/>
          </a:prstGeom>
          <a:noFill/>
          <a:ln/>
        </p:spPr>
        <p:txBody>
          <a:bodyPr wrap="square" lIns="45720" tIns="91440" rIns="91440" bIns="45720" rtlCol="0" anchor="ctr"/>
          <a:lstStyle/>
          <a:p>
            <a:pPr>
              <a:lnSpc>
                <a:spcPct val="100000"/>
              </a:lnSpc>
            </a:pPr>
            <a:endParaRPr lang="en-US" sz="1600" dirty="0"/>
          </a:p>
        </p:txBody>
      </p:sp>
      <p:sp>
        <p:nvSpPr>
          <p:cNvPr id="10" name="Text 8">
            <a:extLst>
              <a:ext uri="{FF2B5EF4-FFF2-40B4-BE49-F238E27FC236}">
                <a16:creationId xmlns:a16="http://schemas.microsoft.com/office/drawing/2014/main" id="{DCCBD4DC-FFA4-3CFA-9287-E0A58EEB4067}"/>
              </a:ext>
            </a:extLst>
          </p:cNvPr>
          <p:cNvSpPr/>
          <p:nvPr/>
        </p:nvSpPr>
        <p:spPr>
          <a:xfrm>
            <a:off x="1477891" y="1102690"/>
            <a:ext cx="4330700" cy="435610"/>
          </a:xfrm>
          <a:prstGeom prst="rect">
            <a:avLst/>
          </a:prstGeom>
          <a:noFill/>
          <a:ln/>
        </p:spPr>
        <p:txBody>
          <a:bodyPr wrap="square" lIns="0" tIns="0" rIns="0" bIns="0" rtlCol="0" anchor="ctr"/>
          <a:lstStyle/>
          <a:p>
            <a:pPr algn="just">
              <a:lnSpc>
                <a:spcPct val="100000"/>
              </a:lnSpc>
            </a:pPr>
            <a:r>
              <a:rPr lang="en-US" sz="1800" b="1" dirty="0">
                <a:solidFill>
                  <a:srgbClr val="004CC0"/>
                </a:solidFill>
                <a:latin typeface="MiSans" pitchFamily="34" charset="0"/>
                <a:ea typeface="MiSans" pitchFamily="34" charset="-122"/>
                <a:cs typeface="MiSans" pitchFamily="34" charset="-120"/>
              </a:rPr>
              <a:t>  </a:t>
            </a:r>
            <a:r>
              <a:rPr lang="en-US" sz="2400" b="1" dirty="0">
                <a:solidFill>
                  <a:srgbClr val="004CC0"/>
                </a:solidFill>
                <a:latin typeface="Times New Roman" panose="02020603050405020304" pitchFamily="18" charset="0"/>
                <a:ea typeface="MiSans" pitchFamily="34" charset="-122"/>
                <a:cs typeface="Times New Roman" panose="02020603050405020304" pitchFamily="18" charset="0"/>
              </a:rPr>
              <a:t>Framework of Front-end</a:t>
            </a:r>
            <a:endParaRPr lang="en-US" sz="1600" dirty="0">
              <a:latin typeface="Times New Roman" panose="02020603050405020304" pitchFamily="18" charset="0"/>
              <a:cs typeface="Times New Roman" panose="02020603050405020304" pitchFamily="18" charset="0"/>
            </a:endParaRPr>
          </a:p>
        </p:txBody>
      </p:sp>
      <p:grpSp>
        <p:nvGrpSpPr>
          <p:cNvPr id="48" name="组合 47">
            <a:extLst>
              <a:ext uri="{FF2B5EF4-FFF2-40B4-BE49-F238E27FC236}">
                <a16:creationId xmlns:a16="http://schemas.microsoft.com/office/drawing/2014/main" id="{C932229F-69AE-30C2-ABF7-C8F0A838A790}"/>
              </a:ext>
            </a:extLst>
          </p:cNvPr>
          <p:cNvGrpSpPr/>
          <p:nvPr/>
        </p:nvGrpSpPr>
        <p:grpSpPr>
          <a:xfrm>
            <a:off x="885237" y="1110071"/>
            <a:ext cx="438785" cy="434340"/>
            <a:chOff x="757237" y="1748473"/>
            <a:chExt cx="438785" cy="434340"/>
          </a:xfrm>
        </p:grpSpPr>
        <p:sp>
          <p:nvSpPr>
            <p:cNvPr id="11" name="Shape 9">
              <a:extLst>
                <a:ext uri="{FF2B5EF4-FFF2-40B4-BE49-F238E27FC236}">
                  <a16:creationId xmlns:a16="http://schemas.microsoft.com/office/drawing/2014/main" id="{5FC6F49D-9F01-4974-9CC5-D71CE9FE3CB7}"/>
                </a:ext>
              </a:extLst>
            </p:cNvPr>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a:extLst>
                <a:ext uri="{FF2B5EF4-FFF2-40B4-BE49-F238E27FC236}">
                  <a16:creationId xmlns:a16="http://schemas.microsoft.com/office/drawing/2014/main" id="{8052DB32-F988-F029-9666-D6726F7E3500}"/>
                </a:ext>
              </a:extLst>
            </p:cNvPr>
            <p:cNvSpPr/>
            <p:nvPr/>
          </p:nvSpPr>
          <p:spPr>
            <a:xfrm>
              <a:off x="919480" y="1881505"/>
              <a:ext cx="113665" cy="168910"/>
            </a:xfrm>
            <a:prstGeom prst="chevron">
              <a:avLst>
                <a:gd name="adj" fmla="val 64013"/>
              </a:avLst>
            </a:prstGeom>
            <a:solidFill>
              <a:srgbClr val="FFFFFF"/>
            </a:solidFill>
            <a:ln/>
          </p:spPr>
        </p:sp>
      </p:grpSp>
      <p:grpSp>
        <p:nvGrpSpPr>
          <p:cNvPr id="47" name="组合 46">
            <a:extLst>
              <a:ext uri="{FF2B5EF4-FFF2-40B4-BE49-F238E27FC236}">
                <a16:creationId xmlns:a16="http://schemas.microsoft.com/office/drawing/2014/main" id="{09A1080B-FCBA-F4BE-B19C-3674B0C915F4}"/>
              </a:ext>
            </a:extLst>
          </p:cNvPr>
          <p:cNvGrpSpPr/>
          <p:nvPr/>
        </p:nvGrpSpPr>
        <p:grpSpPr>
          <a:xfrm>
            <a:off x="6601474" y="428243"/>
            <a:ext cx="5181647" cy="5058157"/>
            <a:chOff x="757237" y="4000390"/>
            <a:chExt cx="4217100" cy="2032194"/>
          </a:xfrm>
        </p:grpSpPr>
        <p:sp>
          <p:nvSpPr>
            <p:cNvPr id="13" name="Shape 11">
              <a:extLst>
                <a:ext uri="{FF2B5EF4-FFF2-40B4-BE49-F238E27FC236}">
                  <a16:creationId xmlns:a16="http://schemas.microsoft.com/office/drawing/2014/main" id="{E95DCD92-C40E-3F6B-7C21-C7EA88213898}"/>
                </a:ext>
              </a:extLst>
            </p:cNvPr>
            <p:cNvSpPr/>
            <p:nvPr/>
          </p:nvSpPr>
          <p:spPr>
            <a:xfrm>
              <a:off x="760731" y="4000390"/>
              <a:ext cx="4213606" cy="2032194"/>
            </a:xfrm>
            <a:prstGeom prst="rect">
              <a:avLst/>
            </a:prstGeom>
            <a:solidFill>
              <a:srgbClr val="FFFFFF"/>
            </a:solidFill>
            <a:ln w="19050">
              <a:solidFill>
                <a:srgbClr val="004CC0"/>
              </a:solidFill>
              <a:prstDash val="solid"/>
            </a:ln>
          </p:spPr>
          <p:txBody>
            <a:bodyPr/>
            <a:lstStyle/>
            <a:p>
              <a:endParaRPr lang="zh-CN" altLang="en-US"/>
            </a:p>
          </p:txBody>
        </p:sp>
        <p:sp>
          <p:nvSpPr>
            <p:cNvPr id="16" name="Text 14">
              <a:extLst>
                <a:ext uri="{FF2B5EF4-FFF2-40B4-BE49-F238E27FC236}">
                  <a16:creationId xmlns:a16="http://schemas.microsoft.com/office/drawing/2014/main" id="{421944FA-3461-BB43-F981-B4AE8D34FD20}"/>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7" name="Shape 15">
              <a:extLst>
                <a:ext uri="{FF2B5EF4-FFF2-40B4-BE49-F238E27FC236}">
                  <a16:creationId xmlns:a16="http://schemas.microsoft.com/office/drawing/2014/main" id="{9905C6C8-FCF3-52AD-D9E4-9E6CD00A2BBD}"/>
                </a:ext>
              </a:extLst>
            </p:cNvPr>
            <p:cNvSpPr/>
            <p:nvPr/>
          </p:nvSpPr>
          <p:spPr>
            <a:xfrm flipV="1">
              <a:off x="875754" y="4144633"/>
              <a:ext cx="215699" cy="108423"/>
            </a:xfrm>
            <a:prstGeom prst="chevron">
              <a:avLst>
                <a:gd name="adj" fmla="val 64013"/>
              </a:avLst>
            </a:prstGeom>
            <a:solidFill>
              <a:srgbClr val="FFFFFF"/>
            </a:solidFill>
            <a:ln/>
          </p:spPr>
          <p:txBody>
            <a:bodyPr/>
            <a:lstStyle/>
            <a:p>
              <a:endParaRPr lang="zh-CN" altLang="en-US"/>
            </a:p>
          </p:txBody>
        </p:sp>
        <p:sp>
          <p:nvSpPr>
            <p:cNvPr id="18" name="Text 16">
              <a:extLst>
                <a:ext uri="{FF2B5EF4-FFF2-40B4-BE49-F238E27FC236}">
                  <a16:creationId xmlns:a16="http://schemas.microsoft.com/office/drawing/2014/main" id="{5B636DD9-92CC-F955-ABA3-B9069A502AD6}"/>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22" name="Text 20">
            <a:extLst>
              <a:ext uri="{FF2B5EF4-FFF2-40B4-BE49-F238E27FC236}">
                <a16:creationId xmlns:a16="http://schemas.microsoft.com/office/drawing/2014/main" id="{E89F2B07-E887-DDC2-EC9E-BD68CB539482}"/>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3" name="Shape 21">
            <a:extLst>
              <a:ext uri="{FF2B5EF4-FFF2-40B4-BE49-F238E27FC236}">
                <a16:creationId xmlns:a16="http://schemas.microsoft.com/office/drawing/2014/main" id="{D63521C8-59C5-73DD-E75A-24AF68FE398A}"/>
              </a:ext>
            </a:extLst>
          </p:cNvPr>
          <p:cNvSpPr/>
          <p:nvPr/>
        </p:nvSpPr>
        <p:spPr>
          <a:xfrm>
            <a:off x="6435725" y="1881505"/>
            <a:ext cx="113665" cy="168910"/>
          </a:xfrm>
          <a:prstGeom prst="chevron">
            <a:avLst>
              <a:gd name="adj" fmla="val 64013"/>
            </a:avLst>
          </a:prstGeom>
          <a:solidFill>
            <a:srgbClr val="FFFFFF"/>
          </a:solidFill>
          <a:ln/>
        </p:spPr>
      </p:sp>
      <p:sp>
        <p:nvSpPr>
          <p:cNvPr id="24" name="Text 22">
            <a:extLst>
              <a:ext uri="{FF2B5EF4-FFF2-40B4-BE49-F238E27FC236}">
                <a16:creationId xmlns:a16="http://schemas.microsoft.com/office/drawing/2014/main" id="{A4BA4DE5-7087-C8DC-54B4-61832448BD18}"/>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1" name="Text 29">
            <a:extLst>
              <a:ext uri="{FF2B5EF4-FFF2-40B4-BE49-F238E27FC236}">
                <a16:creationId xmlns:a16="http://schemas.microsoft.com/office/drawing/2014/main" id="{F2672DB9-FE27-3EE7-203B-CA6495E3D404}"/>
              </a:ext>
            </a:extLst>
          </p:cNvPr>
          <p:cNvSpPr/>
          <p:nvPr/>
        </p:nvSpPr>
        <p:spPr>
          <a:xfrm>
            <a:off x="325806" y="377125"/>
            <a:ext cx="10151745" cy="553998"/>
          </a:xfrm>
          <a:prstGeom prst="rect">
            <a:avLst/>
          </a:prstGeom>
          <a:noFill/>
          <a:ln/>
        </p:spPr>
        <p:txBody>
          <a:bodyPr wrap="square" lIns="91440" tIns="45720" rIns="91440" bIns="45720" rtlCol="0" anchor="t">
            <a:spAutoFit/>
          </a:bodyPr>
          <a:lstStyle/>
          <a:p>
            <a:pPr>
              <a:lnSpc>
                <a:spcPct val="100000"/>
              </a:lnSpc>
            </a:pPr>
            <a:r>
              <a:rPr lang="en-US" sz="3000" b="1" dirty="0">
                <a:solidFill>
                  <a:srgbClr val="000000"/>
                </a:solidFill>
                <a:latin typeface="MiSans" pitchFamily="34" charset="0"/>
                <a:ea typeface="MiSans" pitchFamily="34" charset="-122"/>
                <a:cs typeface="MiSans" pitchFamily="34" charset="-120"/>
              </a:rPr>
              <a:t>02- </a:t>
            </a:r>
            <a:r>
              <a:rPr lang="en-US" altLang="zh-CN" sz="3000" b="1" dirty="0">
                <a:solidFill>
                  <a:srgbClr val="000000"/>
                </a:solidFill>
                <a:latin typeface="MiSans" pitchFamily="34" charset="0"/>
                <a:ea typeface="MiSans" pitchFamily="34" charset="-122"/>
                <a:cs typeface="MiSans" pitchFamily="34" charset="-120"/>
              </a:rPr>
              <a:t>Front-end Implementation</a:t>
            </a:r>
            <a:endParaRPr lang="en-US" sz="1600" dirty="0"/>
          </a:p>
        </p:txBody>
      </p:sp>
      <p:sp>
        <p:nvSpPr>
          <p:cNvPr id="38" name="Text 34">
            <a:extLst>
              <a:ext uri="{FF2B5EF4-FFF2-40B4-BE49-F238E27FC236}">
                <a16:creationId xmlns:a16="http://schemas.microsoft.com/office/drawing/2014/main" id="{D6310891-E266-9189-BDC1-B9356455CC2A}"/>
              </a:ext>
            </a:extLst>
          </p:cNvPr>
          <p:cNvSpPr/>
          <p:nvPr/>
        </p:nvSpPr>
        <p:spPr>
          <a:xfrm>
            <a:off x="7821658" y="809576"/>
            <a:ext cx="4330700" cy="435610"/>
          </a:xfrm>
          <a:prstGeom prst="rect">
            <a:avLst/>
          </a:prstGeom>
          <a:noFill/>
          <a:ln/>
        </p:spPr>
        <p:txBody>
          <a:bodyPr wrap="square" lIns="0" tIns="0" rIns="0" bIns="0" rtlCol="0" anchor="ctr"/>
          <a:lstStyle/>
          <a:p>
            <a:pPr algn="just">
              <a:lnSpc>
                <a:spcPct val="100000"/>
              </a:lnSpc>
            </a:pPr>
            <a:endParaRPr lang="en-US" sz="1600" dirty="0"/>
          </a:p>
        </p:txBody>
      </p:sp>
      <p:sp>
        <p:nvSpPr>
          <p:cNvPr id="55" name="Shape 27">
            <a:extLst>
              <a:ext uri="{FF2B5EF4-FFF2-40B4-BE49-F238E27FC236}">
                <a16:creationId xmlns:a16="http://schemas.microsoft.com/office/drawing/2014/main" id="{BF276720-7795-6A6C-64E1-12A6770A8241}"/>
              </a:ext>
            </a:extLst>
          </p:cNvPr>
          <p:cNvSpPr/>
          <p:nvPr/>
        </p:nvSpPr>
        <p:spPr>
          <a:xfrm>
            <a:off x="7337508" y="957910"/>
            <a:ext cx="106899" cy="172473"/>
          </a:xfrm>
          <a:prstGeom prst="chevron">
            <a:avLst>
              <a:gd name="adj" fmla="val 64013"/>
            </a:avLst>
          </a:prstGeom>
          <a:solidFill>
            <a:srgbClr val="FFFFFF"/>
          </a:solidFill>
          <a:ln/>
        </p:spPr>
        <p:txBody>
          <a:bodyPr/>
          <a:lstStyle/>
          <a:p>
            <a:endParaRPr lang="zh-CN" altLang="en-US"/>
          </a:p>
        </p:txBody>
      </p:sp>
      <p:pic>
        <p:nvPicPr>
          <p:cNvPr id="10241" name="Picture 1">
            <a:extLst>
              <a:ext uri="{FF2B5EF4-FFF2-40B4-BE49-F238E27FC236}">
                <a16:creationId xmlns:a16="http://schemas.microsoft.com/office/drawing/2014/main" id="{DCCC51A0-7E31-C8D0-5B57-BDAFCFBAE3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2291" y="1834236"/>
            <a:ext cx="4858747" cy="441882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4DFAC696-6C65-AD68-5623-3C28E5E990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7099" y="627712"/>
            <a:ext cx="4779095" cy="4551519"/>
          </a:xfrm>
          <a:prstGeom prst="rect">
            <a:avLst/>
          </a:prstGeom>
          <a:noFill/>
          <a:extLst>
            <a:ext uri="{909E8E84-426E-40DD-AFC4-6F175D3DCCD1}">
              <a14:hiddenFill xmlns:a14="http://schemas.microsoft.com/office/drawing/2010/main">
                <a:solidFill>
                  <a:srgbClr val="FFFFFF"/>
                </a:solidFill>
              </a14:hiddenFill>
            </a:ext>
          </a:extLst>
        </p:spPr>
      </p:pic>
      <p:sp>
        <p:nvSpPr>
          <p:cNvPr id="15" name="Text 11">
            <a:extLst>
              <a:ext uri="{FF2B5EF4-FFF2-40B4-BE49-F238E27FC236}">
                <a16:creationId xmlns:a16="http://schemas.microsoft.com/office/drawing/2014/main" id="{1705BBB3-FED6-EFA0-B04D-37E76249399D}"/>
              </a:ext>
            </a:extLst>
          </p:cNvPr>
          <p:cNvSpPr/>
          <p:nvPr/>
        </p:nvSpPr>
        <p:spPr>
          <a:xfrm>
            <a:off x="7917722" y="5716446"/>
            <a:ext cx="3929089" cy="461665"/>
          </a:xfrm>
          <a:prstGeom prst="rect">
            <a:avLst/>
          </a:prstGeom>
          <a:noFill/>
          <a:ln/>
        </p:spPr>
        <p:txBody>
          <a:bodyPr wrap="square" lIns="91440" tIns="45720" rIns="91440" bIns="45720" rtlCol="0" anchor="ctr">
            <a:spAutoFit/>
          </a:bodyPr>
          <a:lstStyle/>
          <a:p>
            <a:pPr algn="just">
              <a:lnSpc>
                <a:spcPct val="100000"/>
              </a:lnSpc>
            </a:pPr>
            <a:r>
              <a:rPr lang="en-US" sz="2400" b="1">
                <a:solidFill>
                  <a:srgbClr val="1D3EBF"/>
                </a:solidFill>
                <a:latin typeface="Times New Roman" panose="02020603050405020304" pitchFamily="18" charset="0"/>
                <a:ea typeface="MiSans" pitchFamily="34" charset="-122"/>
                <a:cs typeface="Times New Roman" panose="02020603050405020304" pitchFamily="18" charset="0"/>
              </a:rPr>
              <a:t>Front-end interaction</a:t>
            </a:r>
            <a:endParaRPr lang="en-US" sz="1600" b="1" dirty="0">
              <a:latin typeface="Times New Roman" panose="02020603050405020304" pitchFamily="18" charset="0"/>
              <a:cs typeface="Times New Roman" panose="02020603050405020304" pitchFamily="18" charset="0"/>
            </a:endParaRPr>
          </a:p>
        </p:txBody>
      </p:sp>
      <p:grpSp>
        <p:nvGrpSpPr>
          <p:cNvPr id="19" name="组合 18">
            <a:extLst>
              <a:ext uri="{FF2B5EF4-FFF2-40B4-BE49-F238E27FC236}">
                <a16:creationId xmlns:a16="http://schemas.microsoft.com/office/drawing/2014/main" id="{AAB4FD81-5F76-1DBF-7C81-AD9FFB6F7FB4}"/>
              </a:ext>
            </a:extLst>
          </p:cNvPr>
          <p:cNvGrpSpPr/>
          <p:nvPr/>
        </p:nvGrpSpPr>
        <p:grpSpPr>
          <a:xfrm>
            <a:off x="7284117" y="5704403"/>
            <a:ext cx="438785" cy="434340"/>
            <a:chOff x="757237" y="1748473"/>
            <a:chExt cx="438785" cy="434340"/>
          </a:xfrm>
        </p:grpSpPr>
        <p:sp>
          <p:nvSpPr>
            <p:cNvPr id="20" name="Shape 9">
              <a:extLst>
                <a:ext uri="{FF2B5EF4-FFF2-40B4-BE49-F238E27FC236}">
                  <a16:creationId xmlns:a16="http://schemas.microsoft.com/office/drawing/2014/main" id="{83685820-23AC-B797-376D-49A8DF5A4418}"/>
                </a:ext>
              </a:extLst>
            </p:cNvPr>
            <p:cNvSpPr/>
            <p:nvPr/>
          </p:nvSpPr>
          <p:spPr>
            <a:xfrm rot="5400000">
              <a:off x="759460" y="1746250"/>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21" name="Shape 10">
              <a:extLst>
                <a:ext uri="{FF2B5EF4-FFF2-40B4-BE49-F238E27FC236}">
                  <a16:creationId xmlns:a16="http://schemas.microsoft.com/office/drawing/2014/main" id="{7CF79FA3-B21A-C15A-F099-A9C425B93397}"/>
                </a:ext>
              </a:extLst>
            </p:cNvPr>
            <p:cNvSpPr/>
            <p:nvPr/>
          </p:nvSpPr>
          <p:spPr>
            <a:xfrm>
              <a:off x="919480" y="1881505"/>
              <a:ext cx="113665" cy="168910"/>
            </a:xfrm>
            <a:prstGeom prst="chevron">
              <a:avLst>
                <a:gd name="adj" fmla="val 64013"/>
              </a:avLst>
            </a:prstGeom>
            <a:solidFill>
              <a:srgbClr val="FFFFFF"/>
            </a:solidFill>
            <a:ln/>
          </p:spPr>
        </p:sp>
      </p:grpSp>
    </p:spTree>
    <p:extLst>
      <p:ext uri="{BB962C8B-B14F-4D97-AF65-F5344CB8AC3E}">
        <p14:creationId xmlns:p14="http://schemas.microsoft.com/office/powerpoint/2010/main" val="28333613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1904999" y="3179444"/>
            <a:ext cx="8381365" cy="1807845"/>
          </a:xfrm>
          <a:prstGeom prst="rect">
            <a:avLst/>
          </a:prstGeom>
          <a:noFill/>
          <a:ln/>
        </p:spPr>
        <p:txBody>
          <a:bodyPr wrap="square" lIns="91440" tIns="45720" rIns="91440" bIns="45720" rtlCol="0" anchor="t"/>
          <a:lstStyle/>
          <a:p>
            <a:pPr algn="ctr">
              <a:lnSpc>
                <a:spcPct val="100000"/>
              </a:lnSpc>
            </a:pPr>
            <a:r>
              <a:rPr lang="en-US" altLang="zh-CN" sz="6000" dirty="0">
                <a:solidFill>
                  <a:srgbClr val="000000"/>
                </a:solidFill>
                <a:latin typeface="MiSans" pitchFamily="34" charset="0"/>
                <a:ea typeface="MiSans" pitchFamily="34" charset="-122"/>
              </a:rPr>
              <a:t>Agile Development Process</a:t>
            </a:r>
            <a:endParaRPr lang="en-US"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412153" y="1374774"/>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a:solidFill>
                  <a:srgbClr val="056EE1"/>
                </a:solidFill>
                <a:latin typeface="MiSans" pitchFamily="34" charset="0"/>
                <a:ea typeface="MiSans" pitchFamily="34" charset="-122"/>
                <a:cs typeface="MiSans" pitchFamily="34" charset="-120"/>
              </a:rPr>
              <a:t>03</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7" name="Image 0" descr="https://kimi-img.moonshot.cn/pub/slides/slides_tmpl/image/25-09-04-15:50:54-d2sk9nm1bb2p4onbqekg.png"/>
          <p:cNvPicPr>
            <a:picLocks noChangeAspect="1"/>
          </p:cNvPicPr>
          <p:nvPr/>
        </p:nvPicPr>
        <p:blipFill>
          <a:blip r:embed="rId3"/>
          <a:stretch>
            <a:fillRect/>
          </a:stretch>
        </p:blipFill>
        <p:spPr>
          <a:xfrm>
            <a:off x="0" y="1542415"/>
            <a:ext cx="12192000" cy="5315585"/>
          </a:xfrm>
          <a:prstGeom prst="rect">
            <a:avLst/>
          </a:prstGeom>
        </p:spPr>
      </p:pic>
      <p:sp>
        <p:nvSpPr>
          <p:cNvPr id="8" name="Shape 5"/>
          <p:cNvSpPr/>
          <p:nvPr/>
        </p:nvSpPr>
        <p:spPr>
          <a:xfrm>
            <a:off x="6291731" y="8722360"/>
            <a:ext cx="287989" cy="6985"/>
          </a:xfrm>
          <a:custGeom>
            <a:avLst/>
            <a:gdLst/>
            <a:ahLst/>
            <a:cxnLst/>
            <a:rect l="l" t="t" r="r" b="b"/>
            <a:pathLst>
              <a:path w="287989" h="6985">
                <a:moveTo>
                  <a:pt x="287989" y="0"/>
                </a:moveTo>
                <a:lnTo>
                  <a:pt x="260078" y="2540"/>
                </a:lnTo>
                <a:lnTo>
                  <a:pt x="221384" y="5080"/>
                </a:lnTo>
                <a:lnTo>
                  <a:pt x="182689" y="6350"/>
                </a:lnTo>
                <a:lnTo>
                  <a:pt x="143995" y="6985"/>
                </a:lnTo>
                <a:lnTo>
                  <a:pt x="104666" y="6350"/>
                </a:lnTo>
                <a:lnTo>
                  <a:pt x="65971" y="5080"/>
                </a:lnTo>
                <a:lnTo>
                  <a:pt x="27911" y="2540"/>
                </a:lnTo>
                <a:lnTo>
                  <a:pt x="0" y="0"/>
                </a:lnTo>
                <a:lnTo>
                  <a:pt x="287989" y="0"/>
                </a:lnTo>
                <a:close/>
              </a:path>
            </a:pathLst>
          </a:custGeom>
          <a:solidFill>
            <a:srgbClr val="FFFFFF"/>
          </a:solidFill>
          <a:ln/>
        </p:spPr>
      </p:sp>
      <p:sp>
        <p:nvSpPr>
          <p:cNvPr id="9" name="Text 6"/>
          <p:cNvSpPr/>
          <p:nvPr/>
        </p:nvSpPr>
        <p:spPr>
          <a:xfrm>
            <a:off x="6291731" y="8722360"/>
            <a:ext cx="287989" cy="6985"/>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Text 7"/>
          <p:cNvSpPr/>
          <p:nvPr/>
        </p:nvSpPr>
        <p:spPr>
          <a:xfrm>
            <a:off x="582930" y="211455"/>
            <a:ext cx="10151745" cy="584775"/>
          </a:xfrm>
          <a:prstGeom prst="rect">
            <a:avLst/>
          </a:prstGeom>
          <a:noFill/>
          <a:ln/>
        </p:spPr>
        <p:txBody>
          <a:bodyPr wrap="square" lIns="91440" tIns="45720" rIns="91440" bIns="45720" rtlCol="0" anchor="t">
            <a:spAutoFit/>
          </a:bodyPr>
          <a:lstStyle/>
          <a:p>
            <a:pPr lvl="0">
              <a:defRPr/>
            </a:pPr>
            <a:r>
              <a:rPr lang="en-US" sz="3200" b="1" dirty="0">
                <a:solidFill>
                  <a:srgbClr val="000000"/>
                </a:solidFill>
                <a:latin typeface="MiSans" pitchFamily="34" charset="0"/>
                <a:ea typeface="MiSans" pitchFamily="34" charset="-122"/>
                <a:cs typeface="MiSans" pitchFamily="34" charset="-120"/>
              </a:rPr>
              <a:t>03 Requirement Clarification - (Sprint 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1" name="Text 8"/>
          <p:cNvSpPr/>
          <p:nvPr/>
        </p:nvSpPr>
        <p:spPr>
          <a:xfrm>
            <a:off x="1679598" y="2715638"/>
            <a:ext cx="1148388" cy="47544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01</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2" name="Text 9"/>
          <p:cNvSpPr/>
          <p:nvPr/>
        </p:nvSpPr>
        <p:spPr>
          <a:xfrm>
            <a:off x="572135" y="3175663"/>
            <a:ext cx="3803375" cy="491260"/>
          </a:xfrm>
          <a:prstGeom prst="rect">
            <a:avLst/>
          </a:prstGeom>
          <a:noFill/>
          <a:ln/>
        </p:spPr>
        <p:txBody>
          <a:bodyPr wrap="square" lIns="0" tIns="0" rIns="0" bIns="0" rtlCol="0" anchor="ctr"/>
          <a:lstStyle/>
          <a:p>
            <a:pPr lvl="0" algn="just">
              <a:defRPr/>
            </a:pPr>
            <a:r>
              <a:rPr lang="en-US" sz="2400" b="1" dirty="0">
                <a:solidFill>
                  <a:srgbClr val="FFFFFF"/>
                </a:solidFill>
                <a:latin typeface="MiSans" pitchFamily="34" charset="0"/>
                <a:ea typeface="MiSans" pitchFamily="34" charset="-122"/>
                <a:cs typeface="MiSans" pitchFamily="34" charset="-120"/>
              </a:rPr>
              <a:t>Requirement Clarification</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3" name="Shape 10"/>
          <p:cNvSpPr/>
          <p:nvPr/>
        </p:nvSpPr>
        <p:spPr>
          <a:xfrm>
            <a:off x="966118" y="3845586"/>
            <a:ext cx="2575045" cy="2495876"/>
          </a:xfrm>
          <a:prstGeom prst="rect">
            <a:avLst/>
          </a:prstGeom>
          <a:solidFill>
            <a:srgbClr val="000000">
              <a:alpha val="0"/>
            </a:srgbClr>
          </a:solidFill>
          <a:ln/>
        </p:spPr>
      </p:sp>
      <p:sp>
        <p:nvSpPr>
          <p:cNvPr id="14" name="Text 11"/>
          <p:cNvSpPr/>
          <p:nvPr/>
        </p:nvSpPr>
        <p:spPr>
          <a:xfrm>
            <a:off x="966118" y="3845586"/>
            <a:ext cx="3097882" cy="2495876"/>
          </a:xfrm>
          <a:prstGeom prst="rect">
            <a:avLst/>
          </a:prstGeom>
          <a:noFill/>
          <a:ln/>
        </p:spPr>
        <p:txBody>
          <a:bodyPr wrap="square" lIns="0" tIns="0" rIns="0" bIns="0" rtlCol="0" anchor="t"/>
          <a:lstStyle/>
          <a:p>
            <a:pPr lvl="0" algn="just">
              <a:lnSpc>
                <a:spcPct val="130000"/>
              </a:lnSpc>
              <a:defRPr/>
            </a:pPr>
            <a:r>
              <a:rPr lang="en-US" altLang="zh-CN" b="1" dirty="0">
                <a:solidFill>
                  <a:srgbClr val="FFFFFF"/>
                </a:solidFill>
                <a:latin typeface="MiSans" pitchFamily="34" charset="0"/>
                <a:ea typeface="MiSans" pitchFamily="34" charset="-122"/>
                <a:cs typeface="MiSans" pitchFamily="34" charset="-120"/>
              </a:rPr>
              <a:t>    Focus on Requirements Analysis and Architecture Design</a:t>
            </a:r>
            <a:endParaRPr kumimoji="0" lang="en-US" sz="20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5" name="Text 12"/>
          <p:cNvSpPr/>
          <p:nvPr/>
        </p:nvSpPr>
        <p:spPr>
          <a:xfrm>
            <a:off x="5287337" y="2576517"/>
            <a:ext cx="1148388" cy="47544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02</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Text 13"/>
          <p:cNvSpPr/>
          <p:nvPr/>
        </p:nvSpPr>
        <p:spPr>
          <a:xfrm>
            <a:off x="5027691" y="3198632"/>
            <a:ext cx="2426438" cy="392628"/>
          </a:xfrm>
          <a:prstGeom prst="rect">
            <a:avLst/>
          </a:prstGeom>
          <a:noFill/>
          <a:ln/>
        </p:spPr>
        <p:txBody>
          <a:bodyPr wrap="square" lIns="0" tIns="0" rIns="0" bIns="0" rtlCol="0" anchor="ctr"/>
          <a:lstStyle/>
          <a:p>
            <a:pPr lvl="0" algn="just">
              <a:defRPr/>
            </a:pPr>
            <a:r>
              <a:rPr lang="en-US" altLang="zh-CN" sz="2400" b="1">
                <a:solidFill>
                  <a:srgbClr val="FFFFFF"/>
                </a:solidFill>
                <a:latin typeface="MiSans" pitchFamily="34" charset="0"/>
                <a:ea typeface="MiSans" pitchFamily="34" charset="-122"/>
                <a:cs typeface="MiSans" pitchFamily="34" charset="-120"/>
              </a:rPr>
              <a:t>User Stories</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7" name="Shape 14"/>
          <p:cNvSpPr/>
          <p:nvPr/>
        </p:nvSpPr>
        <p:spPr>
          <a:xfrm>
            <a:off x="4574492" y="3706465"/>
            <a:ext cx="2575045" cy="2495876"/>
          </a:xfrm>
          <a:prstGeom prst="rect">
            <a:avLst/>
          </a:prstGeom>
          <a:solidFill>
            <a:srgbClr val="000000">
              <a:alpha val="0"/>
            </a:srgbClr>
          </a:solidFill>
          <a:ln/>
        </p:spPr>
      </p:sp>
      <p:sp>
        <p:nvSpPr>
          <p:cNvPr id="18" name="Text 15"/>
          <p:cNvSpPr/>
          <p:nvPr/>
        </p:nvSpPr>
        <p:spPr>
          <a:xfrm>
            <a:off x="4574492" y="3706465"/>
            <a:ext cx="2791677" cy="2495876"/>
          </a:xfrm>
          <a:prstGeom prst="rect">
            <a:avLst/>
          </a:prstGeom>
          <a:noFill/>
          <a:ln/>
        </p:spPr>
        <p:txBody>
          <a:bodyPr wrap="square" lIns="0" tIns="0" rIns="0" bIns="0" rtlCol="0" anchor="t"/>
          <a:lstStyle/>
          <a:p>
            <a:pPr lvl="0" algn="just">
              <a:lnSpc>
                <a:spcPct val="130000"/>
              </a:lnSpc>
              <a:defRPr/>
            </a:pPr>
            <a:r>
              <a:rPr lang="en-US" altLang="zh-CN" b="1" dirty="0">
                <a:solidFill>
                  <a:srgbClr val="FFFFFF"/>
                </a:solidFill>
                <a:latin typeface="MiSans" pitchFamily="34" charset="0"/>
                <a:ea typeface="MiSans" pitchFamily="34" charset="-122"/>
                <a:cs typeface="MiSans" pitchFamily="34" charset="-120"/>
              </a:rPr>
              <a:t>     Conduct requirement workshops to define user stories and validate feasibility through </a:t>
            </a:r>
            <a:r>
              <a:rPr lang="en-US" altLang="zh-CN" b="1" dirty="0" err="1">
                <a:solidFill>
                  <a:srgbClr val="FFFFFF"/>
                </a:solidFill>
                <a:latin typeface="MiSans" pitchFamily="34" charset="0"/>
                <a:ea typeface="MiSans" pitchFamily="34" charset="-122"/>
                <a:cs typeface="MiSans" pitchFamily="34" charset="-120"/>
              </a:rPr>
              <a:t>techn</a:t>
            </a:r>
            <a:endParaRPr lang="en-US" altLang="zh-CN" b="1" dirty="0">
              <a:solidFill>
                <a:srgbClr val="FFFFFF"/>
              </a:solidFill>
              <a:latin typeface="MiSans" pitchFamily="34" charset="0"/>
              <a:ea typeface="MiSans" pitchFamily="34" charset="-122"/>
              <a:cs typeface="MiSans" pitchFamily="34" charset="-120"/>
            </a:endParaRPr>
          </a:p>
          <a:p>
            <a:pPr lvl="0" algn="just">
              <a:lnSpc>
                <a:spcPct val="130000"/>
              </a:lnSpc>
              <a:defRPr/>
            </a:pPr>
            <a:r>
              <a:rPr lang="en-US" altLang="zh-CN" b="1" dirty="0">
                <a:solidFill>
                  <a:srgbClr val="FFFFFF"/>
                </a:solidFill>
                <a:latin typeface="MiSans" pitchFamily="34" charset="0"/>
                <a:ea typeface="MiSans" pitchFamily="34" charset="-122"/>
                <a:cs typeface="MiSans" pitchFamily="34" charset="-120"/>
              </a:rPr>
              <a:t>-</a:t>
            </a:r>
            <a:r>
              <a:rPr lang="en-US" altLang="zh-CN" b="1" dirty="0" err="1">
                <a:solidFill>
                  <a:srgbClr val="FFFFFF"/>
                </a:solidFill>
                <a:latin typeface="MiSans" pitchFamily="34" charset="0"/>
                <a:ea typeface="MiSans" pitchFamily="34" charset="-122"/>
                <a:cs typeface="MiSans" pitchFamily="34" charset="-120"/>
              </a:rPr>
              <a:t>ical</a:t>
            </a:r>
            <a:r>
              <a:rPr lang="en-US" altLang="zh-CN" b="1" dirty="0">
                <a:solidFill>
                  <a:srgbClr val="FFFFFF"/>
                </a:solidFill>
                <a:latin typeface="MiSans" pitchFamily="34" charset="0"/>
                <a:ea typeface="MiSans" pitchFamily="34" charset="-122"/>
                <a:cs typeface="MiSans" pitchFamily="34" charset="-120"/>
              </a:rPr>
              <a:t> research</a:t>
            </a:r>
            <a:endParaRPr kumimoji="0" lang="en-US" sz="20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9" name="Text 16"/>
          <p:cNvSpPr/>
          <p:nvPr/>
        </p:nvSpPr>
        <p:spPr>
          <a:xfrm>
            <a:off x="9101778" y="2549041"/>
            <a:ext cx="1148389" cy="475441"/>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dirty="0">
                <a:ln>
                  <a:noFill/>
                </a:ln>
                <a:solidFill>
                  <a:srgbClr val="FFFFFF"/>
                </a:solidFill>
                <a:effectLst/>
                <a:uLnTx/>
                <a:uFillTx/>
                <a:latin typeface="MiSans" pitchFamily="34" charset="0"/>
                <a:ea typeface="MiSans" pitchFamily="34" charset="-122"/>
                <a:cs typeface="MiSans" pitchFamily="34" charset="-120"/>
              </a:rPr>
              <a:t>03</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Text 17"/>
          <p:cNvSpPr/>
          <p:nvPr/>
        </p:nvSpPr>
        <p:spPr>
          <a:xfrm>
            <a:off x="7603906" y="3175663"/>
            <a:ext cx="4424715" cy="392629"/>
          </a:xfrm>
          <a:prstGeom prst="rect">
            <a:avLst/>
          </a:prstGeom>
          <a:noFill/>
          <a:ln/>
        </p:spPr>
        <p:txBody>
          <a:bodyPr wrap="square" lIns="0" tIns="0" rIns="0" bIns="0" rtlCol="0" anchor="ctr"/>
          <a:lstStyle/>
          <a:p>
            <a:pPr lvl="0" algn="just">
              <a:defRPr/>
            </a:pPr>
            <a:r>
              <a:rPr lang="en-US" altLang="zh-CN" sz="2400" b="1" dirty="0">
                <a:solidFill>
                  <a:srgbClr val="FFFFFF"/>
                </a:solidFill>
                <a:latin typeface="MiSans" pitchFamily="34" charset="0"/>
                <a:ea typeface="MiSans" pitchFamily="34" charset="-122"/>
                <a:cs typeface="MiSans" pitchFamily="34" charset="-120"/>
              </a:rPr>
              <a:t>Specification Documentation</a:t>
            </a:r>
            <a:endPar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8"/>
          <p:cNvSpPr/>
          <p:nvPr/>
        </p:nvSpPr>
        <p:spPr>
          <a:xfrm>
            <a:off x="8486917" y="3809857"/>
            <a:ext cx="2575045" cy="2495876"/>
          </a:xfrm>
          <a:prstGeom prst="rect">
            <a:avLst/>
          </a:prstGeom>
          <a:solidFill>
            <a:srgbClr val="000000">
              <a:alpha val="0"/>
            </a:srgbClr>
          </a:solidFill>
          <a:ln/>
        </p:spPr>
      </p:sp>
      <p:sp>
        <p:nvSpPr>
          <p:cNvPr id="22" name="Text 19"/>
          <p:cNvSpPr/>
          <p:nvPr/>
        </p:nvSpPr>
        <p:spPr>
          <a:xfrm>
            <a:off x="8115655" y="3863575"/>
            <a:ext cx="3326859" cy="2148176"/>
          </a:xfrm>
          <a:prstGeom prst="rect">
            <a:avLst/>
          </a:prstGeom>
          <a:noFill/>
          <a:ln/>
        </p:spPr>
        <p:txBody>
          <a:bodyPr wrap="square" lIns="0" tIns="0" rIns="0" bIns="0" rtlCol="0" anchor="t"/>
          <a:lstStyle/>
          <a:p>
            <a:pPr lvl="0" algn="just">
              <a:lnSpc>
                <a:spcPct val="130000"/>
              </a:lnSpc>
              <a:defRPr/>
            </a:pPr>
            <a:r>
              <a:rPr lang="en-US" altLang="zh-CN" b="1" dirty="0">
                <a:solidFill>
                  <a:srgbClr val="FFFFFF"/>
                </a:solidFill>
                <a:latin typeface="MiSans" pitchFamily="34" charset="0"/>
                <a:ea typeface="MiSans" pitchFamily="34" charset="-122"/>
                <a:cs typeface="MiSans" pitchFamily="34" charset="-120"/>
              </a:rPr>
              <a:t>   Configure the development environment and produce the requirements specification document and system architecture diagram</a:t>
            </a:r>
            <a:endParaRPr kumimoji="0" lang="en-US" sz="20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9" name="Text 6"/>
          <p:cNvSpPr/>
          <p:nvPr/>
        </p:nvSpPr>
        <p:spPr>
          <a:xfrm>
            <a:off x="7287895" y="-6350"/>
            <a:ext cx="488442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10" name="Shape 7"/>
          <p:cNvSpPr/>
          <p:nvPr/>
        </p:nvSpPr>
        <p:spPr>
          <a:xfrm flipV="1">
            <a:off x="-676325" y="1292999"/>
            <a:ext cx="7306945" cy="6858000"/>
          </a:xfrm>
          <a:prstGeom prst="round1Rect">
            <a:avLst>
              <a:gd name="adj" fmla="val 16667"/>
            </a:avLst>
          </a:prstGeom>
          <a:solidFill>
            <a:srgbClr val="000000">
              <a:alpha val="0"/>
            </a:srgbClr>
          </a:solidFill>
          <a:ln/>
        </p:spPr>
      </p:sp>
      <p:sp>
        <p:nvSpPr>
          <p:cNvPr id="11" name="Text 8"/>
          <p:cNvSpPr/>
          <p:nvPr/>
        </p:nvSpPr>
        <p:spPr>
          <a:xfrm>
            <a:off x="-1905" y="0"/>
            <a:ext cx="7306945"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9"/>
          <p:cNvSpPr/>
          <p:nvPr/>
        </p:nvSpPr>
        <p:spPr>
          <a:xfrm>
            <a:off x="848360" y="6346190"/>
            <a:ext cx="163338" cy="153035"/>
          </a:xfrm>
          <a:prstGeom prst="rect">
            <a:avLst/>
          </a:prstGeom>
          <a:solidFill>
            <a:srgbClr val="004CC0"/>
          </a:solidFill>
          <a:ln/>
        </p:spPr>
      </p:sp>
      <p:sp>
        <p:nvSpPr>
          <p:cNvPr id="13" name="Text 10"/>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1"/>
          <p:cNvSpPr/>
          <p:nvPr/>
        </p:nvSpPr>
        <p:spPr>
          <a:xfrm>
            <a:off x="1122291" y="6346190"/>
            <a:ext cx="163338" cy="153035"/>
          </a:xfrm>
          <a:prstGeom prst="rect">
            <a:avLst/>
          </a:prstGeom>
          <a:solidFill>
            <a:srgbClr val="004CC0"/>
          </a:solidFill>
          <a:ln/>
        </p:spPr>
      </p:sp>
      <p:sp>
        <p:nvSpPr>
          <p:cNvPr id="15" name="Text 12"/>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6" name="Shape 13"/>
          <p:cNvSpPr/>
          <p:nvPr/>
        </p:nvSpPr>
        <p:spPr>
          <a:xfrm>
            <a:off x="1396222" y="6346190"/>
            <a:ext cx="163338" cy="153035"/>
          </a:xfrm>
          <a:prstGeom prst="rect">
            <a:avLst/>
          </a:prstGeom>
          <a:solidFill>
            <a:srgbClr val="004CC0"/>
          </a:solidFill>
          <a:ln/>
        </p:spPr>
      </p:sp>
      <p:sp>
        <p:nvSpPr>
          <p:cNvPr id="17" name="Text 14"/>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18" name="Text 15"/>
          <p:cNvSpPr/>
          <p:nvPr/>
        </p:nvSpPr>
        <p:spPr>
          <a:xfrm>
            <a:off x="340918" y="229994"/>
            <a:ext cx="11501832" cy="584775"/>
          </a:xfrm>
          <a:prstGeom prst="rect">
            <a:avLst/>
          </a:prstGeom>
          <a:noFill/>
          <a:ln/>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03-Development with Model Integration (Sprint 2)</a:t>
            </a:r>
            <a:endParaRPr lang="en-US" altLang="zh-CN" sz="3200" b="1" dirty="0">
              <a:solidFill>
                <a:srgbClr val="000000"/>
              </a:solidFill>
              <a:latin typeface="MiSans" pitchFamily="34" charset="0"/>
              <a:ea typeface="MiSans" pitchFamily="34" charset="-122"/>
              <a:cs typeface="MiSans" pitchFamily="34" charset="-120"/>
            </a:endParaRPr>
          </a:p>
        </p:txBody>
      </p:sp>
      <p:sp>
        <p:nvSpPr>
          <p:cNvPr id="20" name="Text 17"/>
          <p:cNvSpPr/>
          <p:nvPr/>
        </p:nvSpPr>
        <p:spPr>
          <a:xfrm>
            <a:off x="6159661" y="5695950"/>
            <a:ext cx="2279328" cy="1162050"/>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8"/>
          <p:cNvSpPr/>
          <p:nvPr/>
        </p:nvSpPr>
        <p:spPr>
          <a:xfrm flipH="1">
            <a:off x="11388725" y="422910"/>
            <a:ext cx="614680" cy="575310"/>
          </a:xfrm>
          <a:custGeom>
            <a:avLst/>
            <a:gdLst/>
            <a:ahLst/>
            <a:cxnLst/>
            <a:rect l="l" t="t" r="r" b="b"/>
            <a:pathLst>
              <a:path w="614680" h="575310">
                <a:moveTo>
                  <a:pt x="614680" y="287655"/>
                </a:moveTo>
                <a:lnTo>
                  <a:pt x="606766" y="287655"/>
                </a:lnTo>
                <a:lnTo>
                  <a:pt x="598851" y="287655"/>
                </a:lnTo>
                <a:lnTo>
                  <a:pt x="592256" y="287655"/>
                </a:lnTo>
                <a:lnTo>
                  <a:pt x="592256" y="287655"/>
                </a:lnTo>
                <a:lnTo>
                  <a:pt x="600170" y="287655"/>
                </a:lnTo>
                <a:lnTo>
                  <a:pt x="606766" y="287655"/>
                </a:lnTo>
                <a:lnTo>
                  <a:pt x="614680" y="287655"/>
                </a:lnTo>
                <a:close/>
                <a:moveTo>
                  <a:pt x="592256" y="287655"/>
                </a:moveTo>
                <a:cubicBezTo>
                  <a:pt x="444522" y="290294"/>
                  <a:pt x="302064" y="120076"/>
                  <a:pt x="307340" y="0"/>
                </a:cubicBezTo>
                <a:cubicBezTo>
                  <a:pt x="309978" y="151745"/>
                  <a:pt x="149053" y="286335"/>
                  <a:pt x="22424" y="287655"/>
                </a:cubicBezTo>
                <a:cubicBezTo>
                  <a:pt x="170158" y="285016"/>
                  <a:pt x="312616" y="455234"/>
                  <a:pt x="307340" y="575310"/>
                </a:cubicBezTo>
                <a:cubicBezTo>
                  <a:pt x="304702" y="424885"/>
                  <a:pt x="465627" y="290294"/>
                  <a:pt x="592256" y="287655"/>
                </a:cubicBezTo>
                <a:close/>
                <a:moveTo>
                  <a:pt x="22424" y="287655"/>
                </a:moveTo>
                <a:lnTo>
                  <a:pt x="21105" y="287655"/>
                </a:lnTo>
                <a:lnTo>
                  <a:pt x="14510" y="287655"/>
                </a:lnTo>
                <a:lnTo>
                  <a:pt x="6595" y="287655"/>
                </a:lnTo>
                <a:lnTo>
                  <a:pt x="0" y="287655"/>
                </a:lnTo>
                <a:lnTo>
                  <a:pt x="7914" y="287655"/>
                </a:lnTo>
                <a:lnTo>
                  <a:pt x="15829" y="287655"/>
                </a:lnTo>
                <a:lnTo>
                  <a:pt x="22424" y="287655"/>
                </a:lnTo>
                <a:close/>
              </a:path>
            </a:pathLst>
          </a:custGeom>
          <a:solidFill>
            <a:srgbClr val="FFFFFF"/>
          </a:solidFill>
          <a:ln/>
        </p:spPr>
      </p:sp>
      <p:sp>
        <p:nvSpPr>
          <p:cNvPr id="22" name="Text 19"/>
          <p:cNvSpPr/>
          <p:nvPr/>
        </p:nvSpPr>
        <p:spPr>
          <a:xfrm>
            <a:off x="11388725" y="422910"/>
            <a:ext cx="614680" cy="57531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Shape 20"/>
          <p:cNvSpPr/>
          <p:nvPr/>
        </p:nvSpPr>
        <p:spPr>
          <a:xfrm flipH="1">
            <a:off x="11485719" y="573509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a:ln/>
        </p:spPr>
      </p:sp>
      <p:sp>
        <p:nvSpPr>
          <p:cNvPr id="24" name="Text 21"/>
          <p:cNvSpPr/>
          <p:nvPr/>
        </p:nvSpPr>
        <p:spPr>
          <a:xfrm>
            <a:off x="11485719" y="5735090"/>
            <a:ext cx="293370" cy="274955"/>
          </a:xfrm>
          <a:prstGeom prst="rect">
            <a:avLst/>
          </a:prstGeom>
          <a:noFill/>
          <a:ln/>
        </p:spPr>
        <p:txBody>
          <a:bodyPr wrap="square" lIns="45720" tIns="91440" rIns="91440" bIns="45720" rtlCol="0" anchor="ctr"/>
          <a:lstStyle/>
          <a:p>
            <a:pPr>
              <a:lnSpc>
                <a:spcPct val="100000"/>
              </a:lnSpc>
            </a:pPr>
            <a:endParaRPr lang="en-US" sz="1600" dirty="0"/>
          </a:p>
        </p:txBody>
      </p:sp>
      <p:sp>
        <p:nvSpPr>
          <p:cNvPr id="25" name="Shape 22"/>
          <p:cNvSpPr/>
          <p:nvPr/>
        </p:nvSpPr>
        <p:spPr>
          <a:xfrm flipH="1">
            <a:off x="11485719" y="626214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a:ln/>
        </p:spPr>
      </p:sp>
      <p:sp>
        <p:nvSpPr>
          <p:cNvPr id="26" name="Text 23"/>
          <p:cNvSpPr/>
          <p:nvPr/>
        </p:nvSpPr>
        <p:spPr>
          <a:xfrm>
            <a:off x="11485719" y="6262140"/>
            <a:ext cx="293370" cy="274955"/>
          </a:xfrm>
          <a:prstGeom prst="rect">
            <a:avLst/>
          </a:prstGeom>
          <a:noFill/>
          <a:ln/>
        </p:spPr>
        <p:txBody>
          <a:bodyPr wrap="square" lIns="45720" tIns="91440" rIns="91440" bIns="45720" rtlCol="0" anchor="ctr"/>
          <a:lstStyle/>
          <a:p>
            <a:pPr>
              <a:lnSpc>
                <a:spcPct val="100000"/>
              </a:lnSpc>
            </a:pPr>
            <a:endParaRPr lang="en-US" sz="1600" dirty="0"/>
          </a:p>
        </p:txBody>
      </p:sp>
      <p:sp>
        <p:nvSpPr>
          <p:cNvPr id="27" name="Shape 24"/>
          <p:cNvSpPr/>
          <p:nvPr/>
        </p:nvSpPr>
        <p:spPr>
          <a:xfrm flipH="1">
            <a:off x="11485719" y="5208040"/>
            <a:ext cx="293370" cy="274955"/>
          </a:xfrm>
          <a:custGeom>
            <a:avLst/>
            <a:gdLst/>
            <a:ahLst/>
            <a:cxnLst/>
            <a:rect l="l" t="t" r="r" b="b"/>
            <a:pathLst>
              <a:path w="293370" h="274955">
                <a:moveTo>
                  <a:pt x="293370" y="137478"/>
                </a:moveTo>
                <a:lnTo>
                  <a:pt x="289593" y="137478"/>
                </a:lnTo>
                <a:lnTo>
                  <a:pt x="285815" y="137478"/>
                </a:lnTo>
                <a:lnTo>
                  <a:pt x="282668" y="137478"/>
                </a:lnTo>
                <a:lnTo>
                  <a:pt x="282668" y="137478"/>
                </a:lnTo>
                <a:lnTo>
                  <a:pt x="286445" y="137478"/>
                </a:lnTo>
                <a:lnTo>
                  <a:pt x="289593" y="137478"/>
                </a:lnTo>
                <a:lnTo>
                  <a:pt x="293370" y="137478"/>
                </a:lnTo>
                <a:close/>
                <a:moveTo>
                  <a:pt x="282668" y="137478"/>
                </a:moveTo>
                <a:cubicBezTo>
                  <a:pt x="212158" y="138739"/>
                  <a:pt x="144167" y="57387"/>
                  <a:pt x="146685" y="0"/>
                </a:cubicBezTo>
                <a:cubicBezTo>
                  <a:pt x="147944" y="72523"/>
                  <a:pt x="71139" y="136847"/>
                  <a:pt x="10702" y="137478"/>
                </a:cubicBezTo>
                <a:cubicBezTo>
                  <a:pt x="81212" y="136216"/>
                  <a:pt x="149203" y="217568"/>
                  <a:pt x="146685" y="274955"/>
                </a:cubicBezTo>
                <a:cubicBezTo>
                  <a:pt x="145426" y="203063"/>
                  <a:pt x="222231" y="138739"/>
                  <a:pt x="282668" y="137478"/>
                </a:cubicBezTo>
                <a:close/>
                <a:moveTo>
                  <a:pt x="10702" y="137478"/>
                </a:moveTo>
                <a:lnTo>
                  <a:pt x="10073" y="137478"/>
                </a:lnTo>
                <a:lnTo>
                  <a:pt x="6925" y="137478"/>
                </a:lnTo>
                <a:lnTo>
                  <a:pt x="3148" y="137478"/>
                </a:lnTo>
                <a:lnTo>
                  <a:pt x="0" y="137478"/>
                </a:lnTo>
                <a:lnTo>
                  <a:pt x="3777" y="137478"/>
                </a:lnTo>
                <a:lnTo>
                  <a:pt x="7555" y="137478"/>
                </a:lnTo>
                <a:lnTo>
                  <a:pt x="10702" y="137478"/>
                </a:lnTo>
                <a:close/>
              </a:path>
            </a:pathLst>
          </a:custGeom>
          <a:solidFill>
            <a:srgbClr val="FFFFFF"/>
          </a:solidFill>
          <a:ln/>
        </p:spPr>
      </p:sp>
      <p:sp>
        <p:nvSpPr>
          <p:cNvPr id="28" name="Text 25"/>
          <p:cNvSpPr/>
          <p:nvPr/>
        </p:nvSpPr>
        <p:spPr>
          <a:xfrm>
            <a:off x="11485719" y="5208040"/>
            <a:ext cx="293370" cy="274955"/>
          </a:xfrm>
          <a:prstGeom prst="rect">
            <a:avLst/>
          </a:prstGeom>
          <a:noFill/>
          <a:ln/>
        </p:spPr>
        <p:txBody>
          <a:bodyPr wrap="square" lIns="45720" tIns="91440" rIns="91440" bIns="45720" rtlCol="0" anchor="ctr"/>
          <a:lstStyle/>
          <a:p>
            <a:pPr>
              <a:lnSpc>
                <a:spcPct val="100000"/>
              </a:lnSpc>
            </a:pPr>
            <a:endParaRPr lang="en-US" sz="1600" dirty="0"/>
          </a:p>
        </p:txBody>
      </p:sp>
      <p:sp>
        <p:nvSpPr>
          <p:cNvPr id="29" name="Shape 26"/>
          <p:cNvSpPr/>
          <p:nvPr/>
        </p:nvSpPr>
        <p:spPr>
          <a:xfrm>
            <a:off x="11696065" y="1156335"/>
            <a:ext cx="0" cy="3600000"/>
          </a:xfrm>
          <a:prstGeom prst="line">
            <a:avLst/>
          </a:prstGeom>
          <a:noFill/>
          <a:ln w="19050">
            <a:solidFill>
              <a:srgbClr val="FFFFFF"/>
            </a:solidFill>
            <a:prstDash val="solid"/>
            <a:headEnd type="none"/>
            <a:tailEnd type="none"/>
          </a:ln>
        </p:spPr>
      </p:sp>
      <p:pic>
        <p:nvPicPr>
          <p:cNvPr id="30" name="Image 1" descr="https://kimi-img.moonshot.cn/pub/slides/slides_tmpl/image/25-09-04-15:50:52-d2sk9n61bb2p4onbqeeg.png"/>
          <p:cNvPicPr>
            <a:picLocks noChangeAspect="1"/>
          </p:cNvPicPr>
          <p:nvPr/>
        </p:nvPicPr>
        <p:blipFill>
          <a:blip r:embed="rId3"/>
          <a:srcRect/>
          <a:stretch/>
        </p:blipFill>
        <p:spPr>
          <a:xfrm>
            <a:off x="1396221" y="1612444"/>
            <a:ext cx="9585963" cy="546100"/>
          </a:xfrm>
          <a:prstGeom prst="rect">
            <a:avLst/>
          </a:prstGeom>
        </p:spPr>
      </p:pic>
      <p:pic>
        <p:nvPicPr>
          <p:cNvPr id="31" name="Image 2" descr="https://kimi-img.moonshot.cn/pub/slides/slides_tmpl/image/25-09-04-15:50:52-d2sk9n61bb2p4onbqef0.png"/>
          <p:cNvPicPr>
            <a:picLocks noChangeAspect="1"/>
          </p:cNvPicPr>
          <p:nvPr/>
        </p:nvPicPr>
        <p:blipFill>
          <a:blip r:embed="rId4"/>
          <a:srcRect/>
          <a:stretch/>
        </p:blipFill>
        <p:spPr>
          <a:xfrm>
            <a:off x="1332559" y="4135670"/>
            <a:ext cx="9585957" cy="546100"/>
          </a:xfrm>
          <a:prstGeom prst="rect">
            <a:avLst/>
          </a:prstGeom>
        </p:spPr>
      </p:pic>
      <p:sp>
        <p:nvSpPr>
          <p:cNvPr id="32" name="Shape 27"/>
          <p:cNvSpPr/>
          <p:nvPr/>
        </p:nvSpPr>
        <p:spPr>
          <a:xfrm flipH="1" flipV="1">
            <a:off x="11056781" y="0"/>
            <a:ext cx="1135219" cy="1058229"/>
          </a:xfrm>
          <a:custGeom>
            <a:avLst/>
            <a:gdLst/>
            <a:ahLst/>
            <a:cxnLst/>
            <a:rect l="l" t="t" r="r" b="b"/>
            <a:pathLst>
              <a:path w="1135219" h="1058229">
                <a:moveTo>
                  <a:pt x="1135219" y="1046802"/>
                </a:moveTo>
                <a:cubicBezTo>
                  <a:pt x="586022" y="1056325"/>
                  <a:pt x="55237" y="468490"/>
                  <a:pt x="0" y="0"/>
                </a:cubicBezTo>
                <a:lnTo>
                  <a:pt x="0" y="1058229"/>
                </a:lnTo>
                <a:lnTo>
                  <a:pt x="1017761" y="1058229"/>
                </a:lnTo>
                <a:cubicBezTo>
                  <a:pt x="1057760" y="1051246"/>
                  <a:pt x="1097124" y="1047437"/>
                  <a:pt x="1135219" y="1046802"/>
                </a:cubicBezTo>
                <a:close/>
              </a:path>
            </a:pathLst>
          </a:custGeom>
          <a:solidFill>
            <a:srgbClr val="004CC0"/>
          </a:solidFill>
          <a:ln/>
        </p:spPr>
      </p:sp>
      <p:sp>
        <p:nvSpPr>
          <p:cNvPr id="33" name="Text 28"/>
          <p:cNvSpPr/>
          <p:nvPr/>
        </p:nvSpPr>
        <p:spPr>
          <a:xfrm>
            <a:off x="11056781" y="0"/>
            <a:ext cx="1135219" cy="1058229"/>
          </a:xfrm>
          <a:prstGeom prst="rect">
            <a:avLst/>
          </a:prstGeom>
          <a:noFill/>
          <a:ln/>
        </p:spPr>
        <p:txBody>
          <a:bodyPr wrap="square" lIns="45720" tIns="91440" rIns="91440" bIns="45720" rtlCol="0" anchor="ctr"/>
          <a:lstStyle/>
          <a:p>
            <a:pPr>
              <a:lnSpc>
                <a:spcPct val="100000"/>
              </a:lnSpc>
            </a:pPr>
            <a:endParaRPr lang="en-US" sz="1600" dirty="0"/>
          </a:p>
        </p:txBody>
      </p:sp>
      <p:sp>
        <p:nvSpPr>
          <p:cNvPr id="34" name="Text 29"/>
          <p:cNvSpPr/>
          <p:nvPr/>
        </p:nvSpPr>
        <p:spPr>
          <a:xfrm>
            <a:off x="3268506" y="1669007"/>
            <a:ext cx="5901055" cy="461665"/>
          </a:xfrm>
          <a:prstGeom prst="rect">
            <a:avLst/>
          </a:prstGeom>
          <a:noFill/>
          <a:ln/>
        </p:spPr>
        <p:txBody>
          <a:bodyPr wrap="square" lIns="91440" tIns="45720" rIns="91440" bIns="45720" rtlCol="0" anchor="t">
            <a:spAutoFit/>
          </a:bodyPr>
          <a:lstStyle/>
          <a:p>
            <a:pPr algn="ctr">
              <a:lnSpc>
                <a:spcPct val="100000"/>
              </a:lnSpc>
            </a:pPr>
            <a:r>
              <a:rPr lang="en-US" sz="2400" b="1">
                <a:solidFill>
                  <a:srgbClr val="FFFFFF"/>
                </a:solidFill>
                <a:latin typeface="MiSans" pitchFamily="34" charset="0"/>
                <a:ea typeface="MiSans" pitchFamily="34" charset="-122"/>
                <a:cs typeface="MiSans" pitchFamily="34" charset="-120"/>
              </a:rPr>
              <a:t>Frontend and Backend Development</a:t>
            </a:r>
            <a:endParaRPr lang="en-US" b="1" dirty="0"/>
          </a:p>
        </p:txBody>
      </p:sp>
      <p:sp>
        <p:nvSpPr>
          <p:cNvPr id="35" name="Text 30"/>
          <p:cNvSpPr/>
          <p:nvPr/>
        </p:nvSpPr>
        <p:spPr>
          <a:xfrm>
            <a:off x="1396222" y="2406274"/>
            <a:ext cx="9625423" cy="1259832"/>
          </a:xfrm>
          <a:prstGeom prst="rect">
            <a:avLst/>
          </a:prstGeom>
          <a:noFill/>
          <a:ln/>
        </p:spPr>
        <p:txBody>
          <a:bodyPr wrap="square" lIns="91440" tIns="45720" rIns="91440" bIns="45720" rtlCol="0" anchor="t">
            <a:spAutoFit/>
          </a:bodyPr>
          <a:lstStyle/>
          <a:p>
            <a:pPr algn="just">
              <a:lnSpc>
                <a:spcPct val="130000"/>
              </a:lnSpc>
            </a:pPr>
            <a:r>
              <a:rPr lang="en-US" altLang="zh-CN" sz="2000" b="1" dirty="0">
                <a:solidFill>
                  <a:srgbClr val="000000"/>
                </a:solidFill>
                <a:latin typeface="MiSans" pitchFamily="34" charset="0"/>
                <a:ea typeface="MiSans" pitchFamily="34" charset="-122"/>
                <a:cs typeface="MiSans" pitchFamily="34" charset="-120"/>
              </a:rPr>
              <a:t>Frontend and Backend Development, encompassing backend </a:t>
            </a:r>
            <a:r>
              <a:rPr lang="en-US" altLang="zh-CN" sz="2000" b="1" dirty="0" err="1">
                <a:solidFill>
                  <a:srgbClr val="000000"/>
                </a:solidFill>
                <a:latin typeface="MiSans" pitchFamily="34" charset="0"/>
                <a:ea typeface="MiSans" pitchFamily="34" charset="-122"/>
                <a:cs typeface="MiSans" pitchFamily="34" charset="-120"/>
              </a:rPr>
              <a:t>servicesetup</a:t>
            </a:r>
            <a:r>
              <a:rPr lang="en-US" altLang="zh-CN" sz="2000" b="1" dirty="0">
                <a:solidFill>
                  <a:srgbClr val="000000"/>
                </a:solidFill>
                <a:latin typeface="MiSans" pitchFamily="34" charset="0"/>
                <a:ea typeface="MiSans" pitchFamily="34" charset="-122"/>
                <a:cs typeface="MiSans" pitchFamily="34" charset="-120"/>
              </a:rPr>
              <a:t> and </a:t>
            </a:r>
            <a:r>
              <a:rPr lang="en-US" altLang="zh-CN" sz="2000" b="1" dirty="0" err="1">
                <a:solidFill>
                  <a:srgbClr val="000000"/>
                </a:solidFill>
                <a:latin typeface="MiSans" pitchFamily="34" charset="0"/>
                <a:ea typeface="MiSans" pitchFamily="34" charset="-122"/>
                <a:cs typeface="MiSans" pitchFamily="34" charset="-120"/>
              </a:rPr>
              <a:t>LogLLM</a:t>
            </a:r>
            <a:r>
              <a:rPr lang="en-US" altLang="zh-CN" sz="2000" b="1" dirty="0">
                <a:solidFill>
                  <a:srgbClr val="000000"/>
                </a:solidFill>
                <a:latin typeface="MiSans" pitchFamily="34" charset="0"/>
                <a:ea typeface="MiSans" pitchFamily="34" charset="-122"/>
                <a:cs typeface="MiSans" pitchFamily="34" charset="-120"/>
              </a:rPr>
              <a:t> model </a:t>
            </a:r>
            <a:r>
              <a:rPr lang="en-US" altLang="zh-CN" sz="2000" b="1" dirty="0" err="1">
                <a:solidFill>
                  <a:srgbClr val="000000"/>
                </a:solidFill>
                <a:latin typeface="MiSans" pitchFamily="34" charset="0"/>
                <a:ea typeface="MiSans" pitchFamily="34" charset="-122"/>
                <a:cs typeface="MiSans" pitchFamily="34" charset="-120"/>
              </a:rPr>
              <a:t>integration,frontend</a:t>
            </a:r>
            <a:r>
              <a:rPr lang="en-US" altLang="zh-CN" sz="2000" b="1" dirty="0">
                <a:solidFill>
                  <a:srgbClr val="000000"/>
                </a:solidFill>
                <a:latin typeface="MiSans" pitchFamily="34" charset="0"/>
                <a:ea typeface="MiSans" pitchFamily="34" charset="-122"/>
                <a:cs typeface="MiSans" pitchFamily="34" charset="-120"/>
              </a:rPr>
              <a:t> </a:t>
            </a:r>
            <a:r>
              <a:rPr lang="en-US" altLang="zh-CN" sz="2000" b="1" dirty="0" err="1">
                <a:solidFill>
                  <a:srgbClr val="000000"/>
                </a:solidFill>
                <a:latin typeface="MiSans" pitchFamily="34" charset="0"/>
                <a:ea typeface="MiSans" pitchFamily="34" charset="-122"/>
                <a:cs typeface="MiSans" pitchFamily="34" charset="-120"/>
              </a:rPr>
              <a:t>interfaceimplementation</a:t>
            </a:r>
            <a:r>
              <a:rPr lang="en-US" altLang="zh-CN" sz="2000" b="1" dirty="0">
                <a:solidFill>
                  <a:srgbClr val="000000"/>
                </a:solidFill>
                <a:latin typeface="MiSans" pitchFamily="34" charset="0"/>
                <a:ea typeface="MiSans" pitchFamily="34" charset="-122"/>
                <a:cs typeface="MiSans" pitchFamily="34" charset="-120"/>
              </a:rPr>
              <a:t>, and frontend-backend data communication integration</a:t>
            </a:r>
            <a:endParaRPr lang="en-US" sz="2000" b="1" dirty="0"/>
          </a:p>
        </p:txBody>
      </p:sp>
      <p:sp>
        <p:nvSpPr>
          <p:cNvPr id="36" name="Text 31"/>
          <p:cNvSpPr/>
          <p:nvPr/>
        </p:nvSpPr>
        <p:spPr>
          <a:xfrm>
            <a:off x="3145472" y="4141615"/>
            <a:ext cx="5901055" cy="461665"/>
          </a:xfrm>
          <a:prstGeom prst="rect">
            <a:avLst/>
          </a:prstGeom>
          <a:noFill/>
          <a:ln/>
        </p:spPr>
        <p:txBody>
          <a:bodyPr wrap="square" lIns="91440" tIns="45720" rIns="91440" bIns="45720" rtlCol="0" anchor="t">
            <a:spAutoFit/>
          </a:bodyPr>
          <a:lstStyle/>
          <a:p>
            <a:pPr algn="ctr">
              <a:lnSpc>
                <a:spcPct val="100000"/>
              </a:lnSpc>
            </a:pPr>
            <a:r>
              <a:rPr lang="en-US" sz="2400" b="1">
                <a:solidFill>
                  <a:srgbClr val="FFFFFF"/>
                </a:solidFill>
                <a:latin typeface="MiSans" pitchFamily="34" charset="0"/>
                <a:ea typeface="MiSans" pitchFamily="34" charset="-122"/>
                <a:cs typeface="MiSans" pitchFamily="34" charset="-120"/>
              </a:rPr>
              <a:t>Model Integration and Delivery</a:t>
            </a:r>
            <a:endParaRPr lang="en-US" b="1" dirty="0"/>
          </a:p>
        </p:txBody>
      </p:sp>
      <p:sp>
        <p:nvSpPr>
          <p:cNvPr id="37" name="Text 32"/>
          <p:cNvSpPr/>
          <p:nvPr/>
        </p:nvSpPr>
        <p:spPr>
          <a:xfrm>
            <a:off x="1458653" y="4893265"/>
            <a:ext cx="9274692" cy="860235"/>
          </a:xfrm>
          <a:prstGeom prst="rect">
            <a:avLst/>
          </a:prstGeom>
          <a:noFill/>
          <a:ln/>
        </p:spPr>
        <p:txBody>
          <a:bodyPr wrap="square" lIns="91440" tIns="45720" rIns="91440" bIns="45720" rtlCol="0" anchor="t">
            <a:spAutoFit/>
          </a:bodyPr>
          <a:lstStyle/>
          <a:p>
            <a:pPr algn="just">
              <a:lnSpc>
                <a:spcPct val="130000"/>
              </a:lnSpc>
            </a:pPr>
            <a:r>
              <a:rPr lang="en-US" altLang="zh-CN" sz="2000" b="1">
                <a:solidFill>
                  <a:srgbClr val="000000"/>
                </a:solidFill>
                <a:latin typeface="MiSans" pitchFamily="34" charset="0"/>
                <a:ea typeface="MiSans" pitchFamily="34" charset="-122"/>
                <a:cs typeface="MiSans" pitchFamily="34" charset="-120"/>
              </a:rPr>
              <a:t>Includes refinement of features such as custom prompts, delivering afunctional plugin prototype.</a:t>
            </a:r>
            <a:endParaRPr lang="en-US" sz="2000" b="1"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a:lnSpc>
                <a:spcPct val="100000"/>
              </a:lnSpc>
            </a:pPr>
            <a:endParaRPr lang="en-US" sz="1600" dirty="0"/>
          </a:p>
        </p:txBody>
      </p:sp>
      <p:sp>
        <p:nvSpPr>
          <p:cNvPr id="7" name="Shape 5"/>
          <p:cNvSpPr/>
          <p:nvPr/>
        </p:nvSpPr>
        <p:spPr>
          <a:xfrm>
            <a:off x="-14605" y="6308725"/>
            <a:ext cx="12221210" cy="548640"/>
          </a:xfrm>
          <a:prstGeom prst="roundRect">
            <a:avLst>
              <a:gd name="adj" fmla="val 0"/>
            </a:avLst>
          </a:prstGeom>
          <a:solidFill>
            <a:srgbClr val="004CC0"/>
          </a:solidFill>
          <a:ln/>
        </p:spPr>
      </p:sp>
      <p:sp>
        <p:nvSpPr>
          <p:cNvPr id="8" name="Text 6"/>
          <p:cNvSpPr/>
          <p:nvPr/>
        </p:nvSpPr>
        <p:spPr>
          <a:xfrm>
            <a:off x="-14605" y="6308725"/>
            <a:ext cx="12221210" cy="548640"/>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7"/>
          <p:cNvSpPr/>
          <p:nvPr/>
        </p:nvSpPr>
        <p:spPr>
          <a:xfrm>
            <a:off x="754379" y="1522010"/>
            <a:ext cx="4469965" cy="4265390"/>
          </a:xfrm>
          <a:prstGeom prst="rect">
            <a:avLst/>
          </a:prstGeom>
          <a:solidFill>
            <a:srgbClr val="FFFFFF"/>
          </a:solidFill>
          <a:ln w="19050">
            <a:solidFill>
              <a:srgbClr val="004CC0"/>
            </a:solidFill>
            <a:prstDash val="solid"/>
          </a:ln>
        </p:spPr>
      </p:sp>
      <p:sp>
        <p:nvSpPr>
          <p:cNvPr id="10" name="Text 8"/>
          <p:cNvSpPr/>
          <p:nvPr/>
        </p:nvSpPr>
        <p:spPr>
          <a:xfrm>
            <a:off x="754379" y="1522010"/>
            <a:ext cx="4729105" cy="426539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Shape 9"/>
          <p:cNvSpPr/>
          <p:nvPr/>
        </p:nvSpPr>
        <p:spPr>
          <a:xfrm flipV="1">
            <a:off x="998591" y="2799105"/>
            <a:ext cx="3894820" cy="45719"/>
          </a:xfrm>
          <a:prstGeom prst="rect">
            <a:avLst/>
          </a:prstGeom>
          <a:solidFill>
            <a:srgbClr val="004CC0"/>
          </a:solidFill>
          <a:ln/>
        </p:spPr>
      </p:sp>
      <p:sp>
        <p:nvSpPr>
          <p:cNvPr id="12" name="Text 10"/>
          <p:cNvSpPr/>
          <p:nvPr/>
        </p:nvSpPr>
        <p:spPr>
          <a:xfrm>
            <a:off x="1008434" y="3047059"/>
            <a:ext cx="3981134" cy="45719"/>
          </a:xfrm>
          <a:prstGeom prst="rect">
            <a:avLst/>
          </a:prstGeom>
          <a:noFill/>
          <a:ln/>
        </p:spPr>
        <p:txBody>
          <a:bodyPr wrap="square" lIns="45720" tIns="91440" rIns="91440" bIns="45720" rtlCol="0" anchor="ctr"/>
          <a:lstStyle/>
          <a:p>
            <a:pPr>
              <a:lnSpc>
                <a:spcPct val="100000"/>
              </a:lnSpc>
            </a:pPr>
            <a:endParaRPr lang="en-US" sz="1600" dirty="0"/>
          </a:p>
        </p:txBody>
      </p:sp>
      <p:sp>
        <p:nvSpPr>
          <p:cNvPr id="14" name="Text 12"/>
          <p:cNvSpPr/>
          <p:nvPr/>
        </p:nvSpPr>
        <p:spPr>
          <a:xfrm>
            <a:off x="4480513" y="1262385"/>
            <a:ext cx="3212560" cy="4269096"/>
          </a:xfrm>
          <a:prstGeom prst="rect">
            <a:avLst/>
          </a:prstGeom>
          <a:noFill/>
          <a:ln/>
        </p:spPr>
        <p:txBody>
          <a:bodyPr wrap="square" lIns="45720" tIns="91440" rIns="91440" bIns="45720" rtlCol="0" anchor="ctr"/>
          <a:lstStyle/>
          <a:p>
            <a:pPr>
              <a:lnSpc>
                <a:spcPct val="100000"/>
              </a:lnSpc>
            </a:pPr>
            <a:endParaRPr lang="en-US" sz="1600" dirty="0"/>
          </a:p>
        </p:txBody>
      </p:sp>
      <p:sp>
        <p:nvSpPr>
          <p:cNvPr id="17" name="Shape 15"/>
          <p:cNvSpPr/>
          <p:nvPr/>
        </p:nvSpPr>
        <p:spPr>
          <a:xfrm>
            <a:off x="6973250" y="1113610"/>
            <a:ext cx="4254023" cy="4269094"/>
          </a:xfrm>
          <a:prstGeom prst="rect">
            <a:avLst/>
          </a:prstGeom>
          <a:solidFill>
            <a:srgbClr val="FFFFFF"/>
          </a:solidFill>
          <a:ln w="19050">
            <a:solidFill>
              <a:srgbClr val="004CC0"/>
            </a:solidFill>
            <a:prstDash val="solid"/>
          </a:ln>
        </p:spPr>
      </p:sp>
      <p:sp>
        <p:nvSpPr>
          <p:cNvPr id="18" name="Text 16"/>
          <p:cNvSpPr/>
          <p:nvPr/>
        </p:nvSpPr>
        <p:spPr>
          <a:xfrm>
            <a:off x="6973250" y="1113610"/>
            <a:ext cx="4254023" cy="4269094"/>
          </a:xfrm>
          <a:prstGeom prst="rect">
            <a:avLst/>
          </a:prstGeom>
          <a:noFill/>
          <a:ln/>
        </p:spPr>
        <p:txBody>
          <a:bodyPr wrap="square" lIns="45720" tIns="91440" rIns="91440" bIns="45720" rtlCol="0" anchor="ctr"/>
          <a:lstStyle/>
          <a:p>
            <a:pPr>
              <a:lnSpc>
                <a:spcPct val="100000"/>
              </a:lnSpc>
            </a:pPr>
            <a:endParaRPr lang="en-US" sz="1600" dirty="0"/>
          </a:p>
        </p:txBody>
      </p:sp>
      <p:sp>
        <p:nvSpPr>
          <p:cNvPr id="19" name="Shape 17"/>
          <p:cNvSpPr/>
          <p:nvPr/>
        </p:nvSpPr>
        <p:spPr>
          <a:xfrm>
            <a:off x="7227304" y="2494922"/>
            <a:ext cx="3581193" cy="45719"/>
          </a:xfrm>
          <a:prstGeom prst="rect">
            <a:avLst/>
          </a:prstGeom>
          <a:solidFill>
            <a:srgbClr val="004CC0"/>
          </a:solidFill>
          <a:ln/>
        </p:spPr>
      </p:sp>
      <p:sp>
        <p:nvSpPr>
          <p:cNvPr id="20" name="Text 18"/>
          <p:cNvSpPr/>
          <p:nvPr/>
        </p:nvSpPr>
        <p:spPr>
          <a:xfrm>
            <a:off x="7227305" y="2638660"/>
            <a:ext cx="3581193" cy="45719"/>
          </a:xfrm>
          <a:prstGeom prst="rect">
            <a:avLst/>
          </a:prstGeom>
          <a:noFill/>
          <a:ln/>
        </p:spPr>
        <p:txBody>
          <a:bodyPr wrap="square" lIns="45720" tIns="91440" rIns="91440" bIns="45720" rtlCol="0" anchor="ctr"/>
          <a:lstStyle/>
          <a:p>
            <a:pPr>
              <a:lnSpc>
                <a:spcPct val="100000"/>
              </a:lnSpc>
            </a:pPr>
            <a:endParaRPr lang="en-US" sz="1600" dirty="0"/>
          </a:p>
        </p:txBody>
      </p:sp>
      <p:sp>
        <p:nvSpPr>
          <p:cNvPr id="21" name="Shape 19"/>
          <p:cNvSpPr/>
          <p:nvPr/>
        </p:nvSpPr>
        <p:spPr>
          <a:xfrm>
            <a:off x="5915779" y="1136497"/>
            <a:ext cx="527914" cy="4519565"/>
          </a:xfrm>
          <a:custGeom>
            <a:avLst/>
            <a:gdLst/>
            <a:ahLst/>
            <a:cxnLst/>
            <a:rect l="l" t="t" r="r" b="b"/>
            <a:pathLst>
              <a:path w="527914" h="4519565">
                <a:moveTo>
                  <a:pt x="527914" y="0"/>
                </a:moveTo>
                <a:lnTo>
                  <a:pt x="0" y="241314"/>
                </a:lnTo>
                <a:lnTo>
                  <a:pt x="0" y="4519565"/>
                </a:lnTo>
                <a:lnTo>
                  <a:pt x="518353" y="4254708"/>
                </a:lnTo>
                <a:lnTo>
                  <a:pt x="527914" y="0"/>
                </a:lnTo>
                <a:close/>
              </a:path>
            </a:pathLst>
          </a:custGeom>
          <a:solidFill>
            <a:srgbClr val="004CC0"/>
          </a:solidFill>
          <a:ln/>
        </p:spPr>
      </p:sp>
      <p:sp>
        <p:nvSpPr>
          <p:cNvPr id="22" name="Text 20"/>
          <p:cNvSpPr/>
          <p:nvPr/>
        </p:nvSpPr>
        <p:spPr>
          <a:xfrm>
            <a:off x="3964207" y="1275465"/>
            <a:ext cx="777125" cy="4515642"/>
          </a:xfrm>
          <a:prstGeom prst="rect">
            <a:avLst/>
          </a:prstGeom>
          <a:noFill/>
          <a:ln/>
        </p:spPr>
        <p:txBody>
          <a:bodyPr wrap="square" lIns="45720" tIns="91440" rIns="91440" bIns="45720" rtlCol="0" anchor="ctr"/>
          <a:lstStyle/>
          <a:p>
            <a:pPr>
              <a:lnSpc>
                <a:spcPct val="100000"/>
              </a:lnSpc>
            </a:pPr>
            <a:endParaRPr lang="en-US" sz="1600" dirty="0"/>
          </a:p>
        </p:txBody>
      </p:sp>
      <p:sp>
        <p:nvSpPr>
          <p:cNvPr id="24" name="Text 22"/>
          <p:cNvSpPr/>
          <p:nvPr/>
        </p:nvSpPr>
        <p:spPr>
          <a:xfrm>
            <a:off x="6454898" y="1110340"/>
            <a:ext cx="699056" cy="4545722"/>
          </a:xfrm>
          <a:prstGeom prst="rect">
            <a:avLst/>
          </a:prstGeom>
          <a:noFill/>
          <a:ln/>
        </p:spPr>
        <p:txBody>
          <a:bodyPr wrap="square" lIns="45720" tIns="91440" rIns="91440" bIns="45720" rtlCol="0" anchor="ctr"/>
          <a:lstStyle/>
          <a:p>
            <a:pPr>
              <a:lnSpc>
                <a:spcPct val="100000"/>
              </a:lnSpc>
            </a:pPr>
            <a:endParaRPr lang="en-US" sz="1600" dirty="0"/>
          </a:p>
        </p:txBody>
      </p:sp>
      <p:sp>
        <p:nvSpPr>
          <p:cNvPr id="25" name="Text 23"/>
          <p:cNvSpPr/>
          <p:nvPr/>
        </p:nvSpPr>
        <p:spPr>
          <a:xfrm>
            <a:off x="582930" y="211455"/>
            <a:ext cx="11084137" cy="584775"/>
          </a:xfrm>
          <a:prstGeom prst="rect">
            <a:avLst/>
          </a:prstGeom>
          <a:noFill/>
          <a:ln/>
        </p:spPr>
        <p:txBody>
          <a:bodyPr wrap="square" lIns="91440" tIns="45720" rIns="91440" bIns="45720" rtlCol="0" anchor="t">
            <a:spAutoFit/>
          </a:bodyPr>
          <a:lstStyle/>
          <a:p>
            <a:pPr>
              <a:lnSpc>
                <a:spcPct val="100000"/>
              </a:lnSpc>
            </a:pPr>
            <a:r>
              <a:rPr lang="en-US" sz="3200" b="1" dirty="0">
                <a:solidFill>
                  <a:srgbClr val="000000"/>
                </a:solidFill>
                <a:latin typeface="MiSans" pitchFamily="34" charset="0"/>
                <a:ea typeface="MiSans" pitchFamily="34" charset="-122"/>
                <a:cs typeface="MiSans" pitchFamily="34" charset="-120"/>
              </a:rPr>
              <a:t>03- Testing Optimization and Deliverables (Sprint 3)</a:t>
            </a:r>
            <a:endParaRPr lang="en-US" sz="1600" dirty="0"/>
          </a:p>
        </p:txBody>
      </p:sp>
      <p:sp>
        <p:nvSpPr>
          <p:cNvPr id="26" name="Text 24"/>
          <p:cNvSpPr/>
          <p:nvPr/>
        </p:nvSpPr>
        <p:spPr>
          <a:xfrm>
            <a:off x="964726" y="1682885"/>
            <a:ext cx="946023" cy="522766"/>
          </a:xfrm>
          <a:prstGeom prst="rect">
            <a:avLst/>
          </a:prstGeom>
          <a:solidFill>
            <a:srgbClr val="004CC0"/>
          </a:solidFill>
          <a:ln/>
        </p:spPr>
        <p:txBody>
          <a:bodyPr wrap="square" lIns="91440" tIns="45720" rIns="91440" bIns="45720" rtlCol="0" anchor="t">
            <a:spAutoFit/>
          </a:bodyPr>
          <a:lstStyle/>
          <a:p>
            <a:pPr algn="ctr">
              <a:lnSpc>
                <a:spcPct val="100000"/>
              </a:lnSpc>
            </a:pPr>
            <a:r>
              <a:rPr lang="en-US" sz="2800" b="1" dirty="0">
                <a:solidFill>
                  <a:srgbClr val="FFFFFF"/>
                </a:solidFill>
                <a:latin typeface="MiSans" pitchFamily="34" charset="0"/>
                <a:ea typeface="MiSans" pitchFamily="34" charset="-122"/>
                <a:cs typeface="MiSans" pitchFamily="34" charset="-120"/>
              </a:rPr>
              <a:t>01</a:t>
            </a:r>
            <a:endParaRPr lang="en-US" sz="1600" dirty="0"/>
          </a:p>
        </p:txBody>
      </p:sp>
      <p:sp>
        <p:nvSpPr>
          <p:cNvPr id="27" name="Text 25"/>
          <p:cNvSpPr/>
          <p:nvPr/>
        </p:nvSpPr>
        <p:spPr>
          <a:xfrm>
            <a:off x="931945" y="2320503"/>
            <a:ext cx="4206330" cy="400110"/>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1D3EBF"/>
                </a:solidFill>
                <a:latin typeface="MiSans" pitchFamily="34" charset="0"/>
                <a:ea typeface="MiSans" pitchFamily="34" charset="-122"/>
                <a:cs typeface="MiSans" pitchFamily="34" charset="-120"/>
              </a:rPr>
              <a:t>Multi-Dimensional Testing</a:t>
            </a:r>
            <a:endParaRPr lang="en-US" sz="1600" b="1" dirty="0"/>
          </a:p>
        </p:txBody>
      </p:sp>
      <p:sp>
        <p:nvSpPr>
          <p:cNvPr id="28" name="Text 26"/>
          <p:cNvSpPr/>
          <p:nvPr/>
        </p:nvSpPr>
        <p:spPr>
          <a:xfrm>
            <a:off x="932629" y="3153003"/>
            <a:ext cx="3894820" cy="1161728"/>
          </a:xfrm>
          <a:prstGeom prst="rect">
            <a:avLst/>
          </a:prstGeom>
          <a:noFill/>
          <a:ln/>
        </p:spPr>
        <p:txBody>
          <a:bodyPr wrap="square" lIns="91440" tIns="45720" rIns="91440" bIns="45720" rtlCol="0" anchor="t">
            <a:spAutoFit/>
          </a:bodyPr>
          <a:lstStyle/>
          <a:p>
            <a:pPr algn="just">
              <a:lnSpc>
                <a:spcPct val="110000"/>
              </a:lnSpc>
            </a:pPr>
            <a:r>
              <a:rPr lang="en-US" sz="1600" b="1" dirty="0">
                <a:solidFill>
                  <a:srgbClr val="000000"/>
                </a:solidFill>
                <a:latin typeface="MiSans" pitchFamily="34" charset="0"/>
                <a:ea typeface="MiSans" pitchFamily="34" charset="-122"/>
                <a:cs typeface="MiSans" pitchFamily="34" charset="-120"/>
              </a:rPr>
              <a:t>Conduct functional, performance, security, and compatibility testing to ensure system stability and reliability.</a:t>
            </a:r>
            <a:endParaRPr lang="en-US" sz="1600" b="1" dirty="0"/>
          </a:p>
        </p:txBody>
      </p:sp>
      <p:sp>
        <p:nvSpPr>
          <p:cNvPr id="32" name="Text 30"/>
          <p:cNvSpPr/>
          <p:nvPr/>
        </p:nvSpPr>
        <p:spPr>
          <a:xfrm>
            <a:off x="7183597" y="1274486"/>
            <a:ext cx="921524" cy="616691"/>
          </a:xfrm>
          <a:prstGeom prst="rect">
            <a:avLst/>
          </a:prstGeom>
          <a:solidFill>
            <a:srgbClr val="004CC0"/>
          </a:solidFill>
          <a:ln/>
        </p:spPr>
        <p:txBody>
          <a:bodyPr wrap="square" lIns="91440" tIns="45720" rIns="91440" bIns="45720" rtlCol="0" anchor="t"/>
          <a:lstStyle/>
          <a:p>
            <a:pPr algn="ctr">
              <a:lnSpc>
                <a:spcPct val="100000"/>
              </a:lnSpc>
            </a:pPr>
            <a:r>
              <a:rPr lang="en-US" sz="2800" b="1" dirty="0">
                <a:solidFill>
                  <a:srgbClr val="FFFFFF"/>
                </a:solidFill>
                <a:latin typeface="MiSans" pitchFamily="34" charset="0"/>
                <a:ea typeface="MiSans" pitchFamily="34" charset="-122"/>
                <a:cs typeface="MiSans" pitchFamily="34" charset="-120"/>
              </a:rPr>
              <a:t>03</a:t>
            </a:r>
            <a:endParaRPr lang="en-US" sz="1600" dirty="0"/>
          </a:p>
        </p:txBody>
      </p:sp>
      <p:sp>
        <p:nvSpPr>
          <p:cNvPr id="33" name="Text 31"/>
          <p:cNvSpPr/>
          <p:nvPr/>
        </p:nvSpPr>
        <p:spPr>
          <a:xfrm>
            <a:off x="7150815" y="2001820"/>
            <a:ext cx="3783765" cy="400110"/>
          </a:xfrm>
          <a:prstGeom prst="rect">
            <a:avLst/>
          </a:prstGeom>
          <a:noFill/>
          <a:ln/>
        </p:spPr>
        <p:txBody>
          <a:bodyPr wrap="square" lIns="91440" tIns="45720" rIns="91440" bIns="45720" rtlCol="0" anchor="t">
            <a:spAutoFit/>
          </a:bodyPr>
          <a:lstStyle/>
          <a:p>
            <a:pPr algn="just">
              <a:lnSpc>
                <a:spcPct val="100000"/>
              </a:lnSpc>
            </a:pPr>
            <a:r>
              <a:rPr lang="en-US" sz="2000" b="1">
                <a:solidFill>
                  <a:srgbClr val="1D3EBF"/>
                </a:solidFill>
                <a:latin typeface="MiSans" pitchFamily="34" charset="0"/>
                <a:ea typeface="MiSans" pitchFamily="34" charset="-122"/>
                <a:cs typeface="MiSans" pitchFamily="34" charset="-120"/>
              </a:rPr>
              <a:t>Deliverables</a:t>
            </a:r>
            <a:endParaRPr lang="en-US" sz="1600" b="1" dirty="0"/>
          </a:p>
        </p:txBody>
      </p:sp>
      <p:sp>
        <p:nvSpPr>
          <p:cNvPr id="34" name="Text 32"/>
          <p:cNvSpPr/>
          <p:nvPr/>
        </p:nvSpPr>
        <p:spPr>
          <a:xfrm>
            <a:off x="7151499" y="2744603"/>
            <a:ext cx="3781956" cy="891270"/>
          </a:xfrm>
          <a:prstGeom prst="rect">
            <a:avLst/>
          </a:prstGeom>
          <a:noFill/>
          <a:ln/>
        </p:spPr>
        <p:txBody>
          <a:bodyPr wrap="square" lIns="91440" tIns="45720" rIns="91440" bIns="45720" rtlCol="0" anchor="t">
            <a:spAutoFit/>
          </a:bodyPr>
          <a:lstStyle/>
          <a:p>
            <a:pPr algn="just">
              <a:lnSpc>
                <a:spcPct val="110000"/>
              </a:lnSpc>
            </a:pPr>
            <a:r>
              <a:rPr lang="en-US" sz="1600" b="1" dirty="0">
                <a:solidFill>
                  <a:srgbClr val="000000"/>
                </a:solidFill>
                <a:latin typeface="MiSans" pitchFamily="34" charset="0"/>
                <a:ea typeface="MiSans" pitchFamily="34" charset="-122"/>
                <a:cs typeface="MiSans" pitchFamily="34" charset="-120"/>
              </a:rPr>
              <a:t>Compiled test reports and user manuals, delivering the v1.0 plugin package.</a:t>
            </a:r>
            <a:endParaRPr lang="en-US" sz="1600" b="1"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3">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Text 0"/>
          <p:cNvSpPr/>
          <p:nvPr/>
        </p:nvSpPr>
        <p:spPr>
          <a:xfrm>
            <a:off x="369697" y="495344"/>
            <a:ext cx="10151745" cy="338554"/>
          </a:xfrm>
          <a:prstGeom prst="rect">
            <a:avLst/>
          </a:prstGeom>
          <a:noFill/>
          <a:ln/>
        </p:spPr>
        <p:txBody>
          <a:bodyPr wrap="square" lIns="91440" tIns="45720" rIns="91440" bIns="45720" rtlCol="0" anchor="t">
            <a:spAutoFit/>
          </a:bodyPr>
          <a:lstStyle/>
          <a:p>
            <a:pPr>
              <a:lnSpc>
                <a:spcPct val="100000"/>
              </a:lnSpc>
            </a:pPr>
            <a:endParaRPr lang="en-US" sz="1600" dirty="0"/>
          </a:p>
        </p:txBody>
      </p:sp>
      <p:pic>
        <p:nvPicPr>
          <p:cNvPr id="3" name="Image 0" descr="https://kimi-img.moonshot.cn/pub/slides/slides_tmpl/image/25-10-09-17:19:39-d3jnsaos8jdo4os5dltg.sv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6000115"/>
            <a:ext cx="12191365" cy="857885"/>
          </a:xfrm>
          <a:prstGeom prst="rect">
            <a:avLst/>
          </a:prstGeom>
        </p:spPr>
      </p:pic>
      <p:sp>
        <p:nvSpPr>
          <p:cNvPr id="4" name="Shape 1"/>
          <p:cNvSpPr/>
          <p:nvPr/>
        </p:nvSpPr>
        <p:spPr>
          <a:xfrm>
            <a:off x="11106785" y="693737"/>
            <a:ext cx="235520" cy="0"/>
          </a:xfrm>
          <a:prstGeom prst="line">
            <a:avLst/>
          </a:prstGeom>
          <a:noFill/>
          <a:ln w="31750">
            <a:solidFill>
              <a:srgbClr val="004CC0"/>
            </a:solidFill>
            <a:prstDash val="solid"/>
            <a:headEnd type="none"/>
            <a:tailEnd type="none"/>
          </a:ln>
        </p:spPr>
      </p:sp>
      <p:sp>
        <p:nvSpPr>
          <p:cNvPr id="5" name="Shape 2"/>
          <p:cNvSpPr/>
          <p:nvPr/>
        </p:nvSpPr>
        <p:spPr>
          <a:xfrm>
            <a:off x="11106785" y="754697"/>
            <a:ext cx="235520" cy="0"/>
          </a:xfrm>
          <a:prstGeom prst="line">
            <a:avLst/>
          </a:prstGeom>
          <a:noFill/>
          <a:ln w="31750">
            <a:solidFill>
              <a:srgbClr val="004CC0"/>
            </a:solidFill>
            <a:prstDash val="solid"/>
            <a:headEnd type="none"/>
            <a:tailEnd type="none"/>
          </a:ln>
        </p:spPr>
      </p:sp>
      <p:sp>
        <p:nvSpPr>
          <p:cNvPr id="6" name="Shape 3"/>
          <p:cNvSpPr/>
          <p:nvPr/>
        </p:nvSpPr>
        <p:spPr>
          <a:xfrm>
            <a:off x="11106785" y="815657"/>
            <a:ext cx="235520" cy="0"/>
          </a:xfrm>
          <a:prstGeom prst="line">
            <a:avLst/>
          </a:prstGeom>
          <a:noFill/>
          <a:ln w="31750">
            <a:solidFill>
              <a:srgbClr val="004CC0"/>
            </a:solidFill>
            <a:prstDash val="solid"/>
            <a:headEnd type="none"/>
            <a:tailEnd type="none"/>
          </a:ln>
        </p:spPr>
      </p:sp>
      <p:sp>
        <p:nvSpPr>
          <p:cNvPr id="8" name="Text 6">
            <a:extLst>
              <a:ext uri="{FF2B5EF4-FFF2-40B4-BE49-F238E27FC236}">
                <a16:creationId xmlns:a16="http://schemas.microsoft.com/office/drawing/2014/main" id="{3AFE4206-7B97-E553-27AE-502F208371BE}"/>
              </a:ext>
            </a:extLst>
          </p:cNvPr>
          <p:cNvSpPr/>
          <p:nvPr/>
        </p:nvSpPr>
        <p:spPr>
          <a:xfrm>
            <a:off x="447622" y="277502"/>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03- B</a:t>
            </a:r>
            <a:r>
              <a:rPr lang="en-US" altLang="zh-CN" sz="3000" b="1">
                <a:solidFill>
                  <a:srgbClr val="000000"/>
                </a:solidFill>
                <a:latin typeface="MiSans" pitchFamily="34" charset="0"/>
                <a:ea typeface="MiSans" pitchFamily="34" charset="-122"/>
                <a:cs typeface="MiSans" pitchFamily="34" charset="-120"/>
              </a:rPr>
              <a:t>urndown Chart</a:t>
            </a:r>
            <a:endParaRPr lang="en-US" sz="1600" dirty="0"/>
          </a:p>
        </p:txBody>
      </p:sp>
      <p:grpSp>
        <p:nvGrpSpPr>
          <p:cNvPr id="9" name="组合 8">
            <a:extLst>
              <a:ext uri="{FF2B5EF4-FFF2-40B4-BE49-F238E27FC236}">
                <a16:creationId xmlns:a16="http://schemas.microsoft.com/office/drawing/2014/main" id="{6FC50FA1-5CFE-B21B-146E-A63B39C6BDBC}"/>
              </a:ext>
            </a:extLst>
          </p:cNvPr>
          <p:cNvGrpSpPr/>
          <p:nvPr/>
        </p:nvGrpSpPr>
        <p:grpSpPr>
          <a:xfrm>
            <a:off x="369697" y="1509451"/>
            <a:ext cx="4389166" cy="4488265"/>
            <a:chOff x="793750" y="1744980"/>
            <a:chExt cx="6171248" cy="4165600"/>
          </a:xfrm>
        </p:grpSpPr>
        <p:sp>
          <p:nvSpPr>
            <p:cNvPr id="10" name="Shape 5">
              <a:extLst>
                <a:ext uri="{FF2B5EF4-FFF2-40B4-BE49-F238E27FC236}">
                  <a16:creationId xmlns:a16="http://schemas.microsoft.com/office/drawing/2014/main" id="{BEA3EAB8-013B-3400-8CF7-1AC7A45C7F32}"/>
                </a:ext>
              </a:extLst>
            </p:cNvPr>
            <p:cNvSpPr/>
            <p:nvPr/>
          </p:nvSpPr>
          <p:spPr>
            <a:xfrm>
              <a:off x="793750" y="1744980"/>
              <a:ext cx="5769610" cy="4038600"/>
            </a:xfrm>
            <a:prstGeom prst="round2DiagRect">
              <a:avLst>
                <a:gd name="adj1" fmla="val 16667"/>
                <a:gd name="adj2" fmla="val 0"/>
              </a:avLst>
            </a:prstGeom>
            <a:solidFill>
              <a:srgbClr val="004CC0"/>
            </a:solidFill>
            <a:ln w="19050">
              <a:solidFill>
                <a:srgbClr val="004CC0"/>
              </a:solidFill>
              <a:prstDash val="solid"/>
            </a:ln>
          </p:spPr>
        </p:sp>
        <p:sp>
          <p:nvSpPr>
            <p:cNvPr id="11" name="Text 6">
              <a:extLst>
                <a:ext uri="{FF2B5EF4-FFF2-40B4-BE49-F238E27FC236}">
                  <a16:creationId xmlns:a16="http://schemas.microsoft.com/office/drawing/2014/main" id="{0CA7376D-3AFF-7D00-3D52-3F1C5B224E2E}"/>
                </a:ext>
              </a:extLst>
            </p:cNvPr>
            <p:cNvSpPr/>
            <p:nvPr/>
          </p:nvSpPr>
          <p:spPr>
            <a:xfrm>
              <a:off x="793750" y="1744980"/>
              <a:ext cx="5769610" cy="403860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7">
              <a:extLst>
                <a:ext uri="{FF2B5EF4-FFF2-40B4-BE49-F238E27FC236}">
                  <a16:creationId xmlns:a16="http://schemas.microsoft.com/office/drawing/2014/main" id="{78C690DF-A275-04A0-0371-893D50B63927}"/>
                </a:ext>
              </a:extLst>
            </p:cNvPr>
            <p:cNvSpPr/>
            <p:nvPr/>
          </p:nvSpPr>
          <p:spPr>
            <a:xfrm>
              <a:off x="920750" y="1871980"/>
              <a:ext cx="5769610" cy="4038600"/>
            </a:xfrm>
            <a:prstGeom prst="round2DiagRect">
              <a:avLst>
                <a:gd name="adj1" fmla="val 16667"/>
                <a:gd name="adj2" fmla="val 0"/>
              </a:avLst>
            </a:prstGeom>
            <a:solidFill>
              <a:srgbClr val="FFFFFF"/>
            </a:solidFill>
            <a:ln w="19050">
              <a:solidFill>
                <a:srgbClr val="004CC0"/>
              </a:solidFill>
              <a:prstDash val="solid"/>
            </a:ln>
          </p:spPr>
        </p:sp>
        <p:sp>
          <p:nvSpPr>
            <p:cNvPr id="13" name="Text 8">
              <a:extLst>
                <a:ext uri="{FF2B5EF4-FFF2-40B4-BE49-F238E27FC236}">
                  <a16:creationId xmlns:a16="http://schemas.microsoft.com/office/drawing/2014/main" id="{AAEDB906-6F3C-916C-2679-DCFAC2E5AD6A}"/>
                </a:ext>
              </a:extLst>
            </p:cNvPr>
            <p:cNvSpPr/>
            <p:nvPr/>
          </p:nvSpPr>
          <p:spPr>
            <a:xfrm>
              <a:off x="920750" y="1871980"/>
              <a:ext cx="5769610" cy="4038600"/>
            </a:xfrm>
            <a:prstGeom prst="rect">
              <a:avLst/>
            </a:prstGeom>
            <a:noFill/>
            <a:ln/>
          </p:spPr>
          <p:txBody>
            <a:bodyPr wrap="square" lIns="45720" tIns="91440" rIns="91440" bIns="45720" rtlCol="0" anchor="ctr"/>
            <a:lstStyle/>
            <a:p>
              <a:pPr>
                <a:lnSpc>
                  <a:spcPct val="100000"/>
                </a:lnSpc>
              </a:pPr>
              <a:endParaRPr lang="en-US" sz="1600" dirty="0"/>
            </a:p>
          </p:txBody>
        </p:sp>
        <p:sp>
          <p:nvSpPr>
            <p:cNvPr id="14" name="Shape 17">
              <a:extLst>
                <a:ext uri="{FF2B5EF4-FFF2-40B4-BE49-F238E27FC236}">
                  <a16:creationId xmlns:a16="http://schemas.microsoft.com/office/drawing/2014/main" id="{03EAB012-73B9-9BD7-5B86-C603E989F64F}"/>
                </a:ext>
              </a:extLst>
            </p:cNvPr>
            <p:cNvSpPr/>
            <p:nvPr/>
          </p:nvSpPr>
          <p:spPr>
            <a:xfrm>
              <a:off x="1266192" y="2770908"/>
              <a:ext cx="5215889" cy="0"/>
            </a:xfrm>
            <a:prstGeom prst="line">
              <a:avLst/>
            </a:prstGeom>
            <a:noFill/>
            <a:ln w="12700">
              <a:solidFill>
                <a:srgbClr val="004CC0"/>
              </a:solidFill>
              <a:prstDash val="solid"/>
              <a:headEnd type="none"/>
              <a:tailEnd type="none"/>
            </a:ln>
          </p:spPr>
        </p:sp>
        <p:sp>
          <p:nvSpPr>
            <p:cNvPr id="15" name="Shape 18">
              <a:extLst>
                <a:ext uri="{FF2B5EF4-FFF2-40B4-BE49-F238E27FC236}">
                  <a16:creationId xmlns:a16="http://schemas.microsoft.com/office/drawing/2014/main" id="{AB39CCAA-F7CC-5533-1396-F768FE2AC1DC}"/>
                </a:ext>
              </a:extLst>
            </p:cNvPr>
            <p:cNvSpPr/>
            <p:nvPr/>
          </p:nvSpPr>
          <p:spPr>
            <a:xfrm>
              <a:off x="1266192" y="2732809"/>
              <a:ext cx="543560" cy="76200"/>
            </a:xfrm>
            <a:prstGeom prst="rect">
              <a:avLst/>
            </a:prstGeom>
            <a:solidFill>
              <a:srgbClr val="004CC0"/>
            </a:solidFill>
            <a:ln/>
          </p:spPr>
        </p:sp>
        <p:sp>
          <p:nvSpPr>
            <p:cNvPr id="16" name="Text 19">
              <a:extLst>
                <a:ext uri="{FF2B5EF4-FFF2-40B4-BE49-F238E27FC236}">
                  <a16:creationId xmlns:a16="http://schemas.microsoft.com/office/drawing/2014/main" id="{A7987F3E-6B0B-6CCE-715E-79CE7D8F9C74}"/>
                </a:ext>
              </a:extLst>
            </p:cNvPr>
            <p:cNvSpPr/>
            <p:nvPr/>
          </p:nvSpPr>
          <p:spPr>
            <a:xfrm>
              <a:off x="1195705" y="3145155"/>
              <a:ext cx="543560"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34">
              <a:extLst>
                <a:ext uri="{FF2B5EF4-FFF2-40B4-BE49-F238E27FC236}">
                  <a16:creationId xmlns:a16="http://schemas.microsoft.com/office/drawing/2014/main" id="{2A178D49-55DA-D7C0-DABA-3C76ECCD6A9D}"/>
                </a:ext>
              </a:extLst>
            </p:cNvPr>
            <p:cNvSpPr/>
            <p:nvPr/>
          </p:nvSpPr>
          <p:spPr>
            <a:xfrm>
              <a:off x="1195388" y="2172018"/>
              <a:ext cx="5769610" cy="428476"/>
            </a:xfrm>
            <a:prstGeom prst="rect">
              <a:avLst/>
            </a:prstGeom>
            <a:noFill/>
            <a:ln/>
          </p:spPr>
          <p:txBody>
            <a:bodyPr wrap="square" lIns="91440" tIns="45720" rIns="91440" bIns="45720" rtlCol="0" anchor="t">
              <a:spAutoFit/>
            </a:bodyPr>
            <a:lstStyle/>
            <a:p>
              <a:pPr algn="just">
                <a:lnSpc>
                  <a:spcPct val="100000"/>
                </a:lnSpc>
              </a:pPr>
              <a:r>
                <a:rPr lang="en-US" sz="2400" b="1" dirty="0">
                  <a:solidFill>
                    <a:srgbClr val="000000"/>
                  </a:solidFill>
                  <a:latin typeface="MiSans" pitchFamily="34" charset="0"/>
                  <a:ea typeface="MiSans" pitchFamily="34" charset="-122"/>
                  <a:cs typeface="MiSans" pitchFamily="34" charset="-120"/>
                </a:rPr>
                <a:t>Burndown Chart Display</a:t>
              </a:r>
              <a:endParaRPr lang="en-US" sz="1600" b="1" dirty="0"/>
            </a:p>
          </p:txBody>
        </p:sp>
        <p:sp>
          <p:nvSpPr>
            <p:cNvPr id="18" name="Text 35">
              <a:extLst>
                <a:ext uri="{FF2B5EF4-FFF2-40B4-BE49-F238E27FC236}">
                  <a16:creationId xmlns:a16="http://schemas.microsoft.com/office/drawing/2014/main" id="{73CBBC37-72C8-5669-9A9D-220D36BB676E}"/>
                </a:ext>
              </a:extLst>
            </p:cNvPr>
            <p:cNvSpPr/>
            <p:nvPr/>
          </p:nvSpPr>
          <p:spPr>
            <a:xfrm>
              <a:off x="1181104" y="3164217"/>
              <a:ext cx="5215889" cy="2397737"/>
            </a:xfrm>
            <a:prstGeom prst="rect">
              <a:avLst/>
            </a:prstGeom>
            <a:noFill/>
            <a:ln/>
          </p:spPr>
          <p:txBody>
            <a:bodyPr wrap="square" lIns="91440" tIns="45720" rIns="91440" bIns="45720" rtlCol="0" anchor="t">
              <a:spAutoFit/>
            </a:bodyPr>
            <a:lstStyle/>
            <a:p>
              <a:pPr algn="just">
                <a:lnSpc>
                  <a:spcPct val="130000"/>
                </a:lnSpc>
              </a:pPr>
              <a:r>
                <a:rPr lang="en-US" b="1" dirty="0">
                  <a:solidFill>
                    <a:srgbClr val="000000"/>
                  </a:solidFill>
                  <a:latin typeface="MiSans" pitchFamily="34" charset="0"/>
                  <a:ea typeface="MiSans" pitchFamily="34" charset="-122"/>
                  <a:cs typeface="MiSans" pitchFamily="34" charset="-120"/>
                </a:rPr>
                <a:t>Burndown Chart Display Displaying Sprint 1-3 burndown charts, with the vertical axis representing remaining Story Points and the horizontal axis showing weeks. The curve exhibits a steady decline.</a:t>
              </a:r>
              <a:endParaRPr lang="en-US" sz="1600" b="1" dirty="0"/>
            </a:p>
          </p:txBody>
        </p:sp>
      </p:grpSp>
      <p:pic>
        <p:nvPicPr>
          <p:cNvPr id="20" name="图片 19">
            <a:extLst>
              <a:ext uri="{FF2B5EF4-FFF2-40B4-BE49-F238E27FC236}">
                <a16:creationId xmlns:a16="http://schemas.microsoft.com/office/drawing/2014/main" id="{D5ACF7E7-932F-CEE9-1967-AEAD1B22345B}"/>
              </a:ext>
            </a:extLst>
          </p:cNvPr>
          <p:cNvPicPr>
            <a:picLocks noChangeAspect="1"/>
          </p:cNvPicPr>
          <p:nvPr/>
        </p:nvPicPr>
        <p:blipFill>
          <a:blip r:embed="rId5"/>
          <a:stretch>
            <a:fillRect/>
          </a:stretch>
        </p:blipFill>
        <p:spPr>
          <a:xfrm>
            <a:off x="4634806" y="940158"/>
            <a:ext cx="6912000" cy="4833925"/>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1"/>
            <a:ext cx="12192000" cy="6858000"/>
          </a:xfrm>
          <a:prstGeom prst="rect">
            <a:avLst/>
          </a:prstGeom>
          <a:gradFill flip="none" rotWithShape="1">
            <a:gsLst>
              <a:gs pos="0">
                <a:srgbClr val="FFFFFF"/>
              </a:gs>
              <a:gs pos="81000">
                <a:srgbClr val="F0F8FF"/>
              </a:gs>
              <a:gs pos="100000">
                <a:srgbClr val="F0F8FF"/>
              </a:gs>
            </a:gsLst>
            <a:lin ang="5400000" scaled="1"/>
          </a:gradFill>
          <a:ln/>
        </p:spPr>
      </p:sp>
      <p:sp>
        <p:nvSpPr>
          <p:cNvPr id="3" name="Text 1"/>
          <p:cNvSpPr/>
          <p:nvPr/>
        </p:nvSpPr>
        <p:spPr>
          <a:xfrm>
            <a:off x="1" y="1"/>
            <a:ext cx="12192000" cy="6858000"/>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0" y="5432425"/>
            <a:ext cx="12192000" cy="864870"/>
          </a:xfrm>
          <a:custGeom>
            <a:avLst/>
            <a:gdLst/>
            <a:ahLst/>
            <a:cxnLst/>
            <a:rect l="l" t="t" r="r" b="b"/>
            <a:pathLst>
              <a:path w="12192000" h="864870">
                <a:moveTo>
                  <a:pt x="12192000" y="61685"/>
                </a:moveTo>
                <a:lnTo>
                  <a:pt x="12192000" y="864870"/>
                </a:lnTo>
                <a:lnTo>
                  <a:pt x="0" y="864870"/>
                </a:lnTo>
                <a:lnTo>
                  <a:pt x="0" y="65089"/>
                </a:lnTo>
                <a:lnTo>
                  <a:pt x="136525" y="45945"/>
                </a:lnTo>
                <a:lnTo>
                  <a:pt x="278130" y="29779"/>
                </a:lnTo>
                <a:lnTo>
                  <a:pt x="420370" y="17017"/>
                </a:lnTo>
                <a:lnTo>
                  <a:pt x="561975" y="8083"/>
                </a:lnTo>
                <a:lnTo>
                  <a:pt x="703580" y="2552"/>
                </a:lnTo>
                <a:lnTo>
                  <a:pt x="845185" y="0"/>
                </a:lnTo>
                <a:lnTo>
                  <a:pt x="986790" y="425"/>
                </a:lnTo>
                <a:lnTo>
                  <a:pt x="1128395" y="3829"/>
                </a:lnTo>
                <a:lnTo>
                  <a:pt x="1270635" y="10210"/>
                </a:lnTo>
                <a:lnTo>
                  <a:pt x="1412240" y="18718"/>
                </a:lnTo>
                <a:lnTo>
                  <a:pt x="1553845" y="29779"/>
                </a:lnTo>
                <a:lnTo>
                  <a:pt x="1695450" y="42967"/>
                </a:lnTo>
                <a:lnTo>
                  <a:pt x="1837055" y="58282"/>
                </a:lnTo>
                <a:lnTo>
                  <a:pt x="1978660" y="75299"/>
                </a:lnTo>
                <a:lnTo>
                  <a:pt x="2120265" y="94017"/>
                </a:lnTo>
                <a:lnTo>
                  <a:pt x="2262505" y="114437"/>
                </a:lnTo>
                <a:lnTo>
                  <a:pt x="2404110" y="136133"/>
                </a:lnTo>
                <a:lnTo>
                  <a:pt x="2545715" y="159105"/>
                </a:lnTo>
                <a:lnTo>
                  <a:pt x="2687320" y="183354"/>
                </a:lnTo>
                <a:lnTo>
                  <a:pt x="2828925" y="208454"/>
                </a:lnTo>
                <a:lnTo>
                  <a:pt x="2970530" y="233979"/>
                </a:lnTo>
                <a:lnTo>
                  <a:pt x="3112770" y="260354"/>
                </a:lnTo>
                <a:lnTo>
                  <a:pt x="3254375" y="286730"/>
                </a:lnTo>
                <a:lnTo>
                  <a:pt x="3395980" y="313957"/>
                </a:lnTo>
                <a:lnTo>
                  <a:pt x="3537585" y="340758"/>
                </a:lnTo>
                <a:lnTo>
                  <a:pt x="3679190" y="367559"/>
                </a:lnTo>
                <a:lnTo>
                  <a:pt x="3820795" y="394360"/>
                </a:lnTo>
                <a:lnTo>
                  <a:pt x="3963035" y="420736"/>
                </a:lnTo>
                <a:lnTo>
                  <a:pt x="4104640" y="446261"/>
                </a:lnTo>
                <a:lnTo>
                  <a:pt x="4246245" y="471361"/>
                </a:lnTo>
                <a:lnTo>
                  <a:pt x="4387850" y="495609"/>
                </a:lnTo>
                <a:lnTo>
                  <a:pt x="4529455" y="518582"/>
                </a:lnTo>
                <a:lnTo>
                  <a:pt x="4671060" y="540278"/>
                </a:lnTo>
                <a:lnTo>
                  <a:pt x="4813300" y="560698"/>
                </a:lnTo>
                <a:lnTo>
                  <a:pt x="4954905" y="579416"/>
                </a:lnTo>
                <a:lnTo>
                  <a:pt x="5096510" y="596433"/>
                </a:lnTo>
                <a:lnTo>
                  <a:pt x="5238115" y="611748"/>
                </a:lnTo>
                <a:lnTo>
                  <a:pt x="5379720" y="624936"/>
                </a:lnTo>
                <a:lnTo>
                  <a:pt x="5521325" y="635996"/>
                </a:lnTo>
                <a:lnTo>
                  <a:pt x="5662930" y="644505"/>
                </a:lnTo>
                <a:lnTo>
                  <a:pt x="5805170" y="650886"/>
                </a:lnTo>
                <a:lnTo>
                  <a:pt x="5946775" y="654289"/>
                </a:lnTo>
                <a:lnTo>
                  <a:pt x="6088380" y="654715"/>
                </a:lnTo>
                <a:lnTo>
                  <a:pt x="6108065" y="654289"/>
                </a:lnTo>
                <a:lnTo>
                  <a:pt x="6128385" y="654715"/>
                </a:lnTo>
                <a:lnTo>
                  <a:pt x="6269990" y="654289"/>
                </a:lnTo>
                <a:lnTo>
                  <a:pt x="6411595" y="650886"/>
                </a:lnTo>
                <a:lnTo>
                  <a:pt x="6553835" y="644505"/>
                </a:lnTo>
                <a:lnTo>
                  <a:pt x="6695440" y="635996"/>
                </a:lnTo>
                <a:lnTo>
                  <a:pt x="6837045" y="624936"/>
                </a:lnTo>
                <a:lnTo>
                  <a:pt x="6978650" y="611748"/>
                </a:lnTo>
                <a:lnTo>
                  <a:pt x="7120255" y="596433"/>
                </a:lnTo>
                <a:lnTo>
                  <a:pt x="7261860" y="579416"/>
                </a:lnTo>
                <a:lnTo>
                  <a:pt x="7403465" y="560698"/>
                </a:lnTo>
                <a:lnTo>
                  <a:pt x="7545705" y="540278"/>
                </a:lnTo>
                <a:lnTo>
                  <a:pt x="7687310" y="518582"/>
                </a:lnTo>
                <a:lnTo>
                  <a:pt x="7828915" y="495609"/>
                </a:lnTo>
                <a:lnTo>
                  <a:pt x="7970520" y="471361"/>
                </a:lnTo>
                <a:lnTo>
                  <a:pt x="8112125" y="446261"/>
                </a:lnTo>
                <a:lnTo>
                  <a:pt x="8253730" y="420736"/>
                </a:lnTo>
                <a:lnTo>
                  <a:pt x="8395970" y="394360"/>
                </a:lnTo>
                <a:lnTo>
                  <a:pt x="8537575" y="367559"/>
                </a:lnTo>
                <a:lnTo>
                  <a:pt x="8679180" y="340758"/>
                </a:lnTo>
                <a:lnTo>
                  <a:pt x="8820785" y="313957"/>
                </a:lnTo>
                <a:lnTo>
                  <a:pt x="8962390" y="286730"/>
                </a:lnTo>
                <a:lnTo>
                  <a:pt x="9103995" y="260354"/>
                </a:lnTo>
                <a:lnTo>
                  <a:pt x="9246235" y="233979"/>
                </a:lnTo>
                <a:lnTo>
                  <a:pt x="9387840" y="208454"/>
                </a:lnTo>
                <a:lnTo>
                  <a:pt x="9529445" y="183354"/>
                </a:lnTo>
                <a:lnTo>
                  <a:pt x="9671050" y="159105"/>
                </a:lnTo>
                <a:lnTo>
                  <a:pt x="9812655" y="136133"/>
                </a:lnTo>
                <a:lnTo>
                  <a:pt x="9954260" y="114437"/>
                </a:lnTo>
                <a:lnTo>
                  <a:pt x="10096500" y="94017"/>
                </a:lnTo>
                <a:lnTo>
                  <a:pt x="10238105" y="75299"/>
                </a:lnTo>
                <a:lnTo>
                  <a:pt x="10379710" y="58282"/>
                </a:lnTo>
                <a:lnTo>
                  <a:pt x="10521315" y="42967"/>
                </a:lnTo>
                <a:lnTo>
                  <a:pt x="10662920" y="29779"/>
                </a:lnTo>
                <a:lnTo>
                  <a:pt x="10804525" y="18718"/>
                </a:lnTo>
                <a:lnTo>
                  <a:pt x="10946130" y="10210"/>
                </a:lnTo>
                <a:lnTo>
                  <a:pt x="11088370" y="3829"/>
                </a:lnTo>
                <a:lnTo>
                  <a:pt x="11229975" y="425"/>
                </a:lnTo>
                <a:lnTo>
                  <a:pt x="11371580" y="0"/>
                </a:lnTo>
                <a:lnTo>
                  <a:pt x="11513185" y="2552"/>
                </a:lnTo>
                <a:lnTo>
                  <a:pt x="11654790" y="8083"/>
                </a:lnTo>
                <a:lnTo>
                  <a:pt x="11796395" y="17017"/>
                </a:lnTo>
                <a:lnTo>
                  <a:pt x="11938635" y="29779"/>
                </a:lnTo>
                <a:lnTo>
                  <a:pt x="12080240" y="45945"/>
                </a:lnTo>
                <a:lnTo>
                  <a:pt x="12192000" y="61685"/>
                </a:lnTo>
                <a:close/>
              </a:path>
            </a:pathLst>
          </a:custGeom>
          <a:gradFill flip="none" rotWithShape="1">
            <a:gsLst>
              <a:gs pos="0">
                <a:srgbClr val="F8AA5C"/>
              </a:gs>
              <a:gs pos="58000">
                <a:srgbClr val="FBCC9D"/>
              </a:gs>
              <a:gs pos="99000">
                <a:srgbClr val="FDEEDE"/>
              </a:gs>
              <a:gs pos="100000">
                <a:srgbClr val="FDEEDE"/>
              </a:gs>
            </a:gsLst>
            <a:lin ang="0" scaled="1"/>
          </a:gradFill>
          <a:ln/>
        </p:spPr>
      </p:sp>
      <p:sp>
        <p:nvSpPr>
          <p:cNvPr id="5" name="Text 3"/>
          <p:cNvSpPr/>
          <p:nvPr/>
        </p:nvSpPr>
        <p:spPr>
          <a:xfrm>
            <a:off x="0" y="5432425"/>
            <a:ext cx="12192000" cy="864870"/>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0" y="5594985"/>
            <a:ext cx="12192000" cy="1263015"/>
          </a:xfrm>
          <a:custGeom>
            <a:avLst/>
            <a:gdLst/>
            <a:ahLst/>
            <a:cxnLst/>
            <a:rect l="l" t="t" r="r" b="b"/>
            <a:pathLst>
              <a:path w="12192000" h="1263015">
                <a:moveTo>
                  <a:pt x="12192000" y="882546"/>
                </a:moveTo>
                <a:lnTo>
                  <a:pt x="12192000" y="1263015"/>
                </a:lnTo>
                <a:lnTo>
                  <a:pt x="0" y="1263015"/>
                </a:lnTo>
                <a:lnTo>
                  <a:pt x="0" y="65426"/>
                </a:lnTo>
                <a:lnTo>
                  <a:pt x="136525" y="46225"/>
                </a:lnTo>
                <a:lnTo>
                  <a:pt x="278130" y="29869"/>
                </a:lnTo>
                <a:lnTo>
                  <a:pt x="420370" y="17068"/>
                </a:lnTo>
                <a:lnTo>
                  <a:pt x="561975" y="7823"/>
                </a:lnTo>
                <a:lnTo>
                  <a:pt x="703580" y="2845"/>
                </a:lnTo>
                <a:lnTo>
                  <a:pt x="845185" y="0"/>
                </a:lnTo>
                <a:lnTo>
                  <a:pt x="986790" y="711"/>
                </a:lnTo>
                <a:lnTo>
                  <a:pt x="1128395" y="3556"/>
                </a:lnTo>
                <a:lnTo>
                  <a:pt x="1270635" y="9956"/>
                </a:lnTo>
                <a:lnTo>
                  <a:pt x="1412240" y="18490"/>
                </a:lnTo>
                <a:lnTo>
                  <a:pt x="1553845" y="29869"/>
                </a:lnTo>
                <a:lnTo>
                  <a:pt x="1695450" y="42669"/>
                </a:lnTo>
                <a:lnTo>
                  <a:pt x="1837055" y="58315"/>
                </a:lnTo>
                <a:lnTo>
                  <a:pt x="1978660" y="75383"/>
                </a:lnTo>
                <a:lnTo>
                  <a:pt x="2120265" y="93873"/>
                </a:lnTo>
                <a:lnTo>
                  <a:pt x="2262505" y="114496"/>
                </a:lnTo>
                <a:lnTo>
                  <a:pt x="2404110" y="135831"/>
                </a:lnTo>
                <a:lnTo>
                  <a:pt x="2545715" y="159299"/>
                </a:lnTo>
                <a:lnTo>
                  <a:pt x="2687320" y="183479"/>
                </a:lnTo>
                <a:lnTo>
                  <a:pt x="2828925" y="208369"/>
                </a:lnTo>
                <a:lnTo>
                  <a:pt x="2970530" y="233971"/>
                </a:lnTo>
                <a:lnTo>
                  <a:pt x="3112770" y="260283"/>
                </a:lnTo>
                <a:lnTo>
                  <a:pt x="3254375" y="286596"/>
                </a:lnTo>
                <a:lnTo>
                  <a:pt x="3395980" y="314331"/>
                </a:lnTo>
                <a:lnTo>
                  <a:pt x="3537585" y="340644"/>
                </a:lnTo>
                <a:lnTo>
                  <a:pt x="3679190" y="367668"/>
                </a:lnTo>
                <a:lnTo>
                  <a:pt x="3820795" y="394692"/>
                </a:lnTo>
                <a:lnTo>
                  <a:pt x="3963035" y="421005"/>
                </a:lnTo>
                <a:lnTo>
                  <a:pt x="4104640" y="446607"/>
                </a:lnTo>
                <a:lnTo>
                  <a:pt x="4246245" y="471497"/>
                </a:lnTo>
                <a:lnTo>
                  <a:pt x="4387850" y="495676"/>
                </a:lnTo>
                <a:lnTo>
                  <a:pt x="4529455" y="518434"/>
                </a:lnTo>
                <a:lnTo>
                  <a:pt x="4671060" y="540479"/>
                </a:lnTo>
                <a:lnTo>
                  <a:pt x="4813300" y="561103"/>
                </a:lnTo>
                <a:lnTo>
                  <a:pt x="4954905" y="579593"/>
                </a:lnTo>
                <a:lnTo>
                  <a:pt x="5096510" y="596661"/>
                </a:lnTo>
                <a:lnTo>
                  <a:pt x="5238115" y="611595"/>
                </a:lnTo>
                <a:lnTo>
                  <a:pt x="5379720" y="625107"/>
                </a:lnTo>
                <a:lnTo>
                  <a:pt x="5521325" y="636486"/>
                </a:lnTo>
                <a:lnTo>
                  <a:pt x="5662930" y="645019"/>
                </a:lnTo>
                <a:lnTo>
                  <a:pt x="5805170" y="650709"/>
                </a:lnTo>
                <a:lnTo>
                  <a:pt x="5946775" y="654265"/>
                </a:lnTo>
                <a:lnTo>
                  <a:pt x="6088380" y="654976"/>
                </a:lnTo>
                <a:lnTo>
                  <a:pt x="6108065" y="654265"/>
                </a:lnTo>
                <a:lnTo>
                  <a:pt x="6128385" y="654976"/>
                </a:lnTo>
                <a:lnTo>
                  <a:pt x="6269990" y="654265"/>
                </a:lnTo>
                <a:lnTo>
                  <a:pt x="6411595" y="650709"/>
                </a:lnTo>
                <a:lnTo>
                  <a:pt x="6553835" y="645019"/>
                </a:lnTo>
                <a:lnTo>
                  <a:pt x="6695440" y="636486"/>
                </a:lnTo>
                <a:lnTo>
                  <a:pt x="6837045" y="625107"/>
                </a:lnTo>
                <a:lnTo>
                  <a:pt x="6978650" y="611595"/>
                </a:lnTo>
                <a:lnTo>
                  <a:pt x="7120255" y="596661"/>
                </a:lnTo>
                <a:lnTo>
                  <a:pt x="7261860" y="579593"/>
                </a:lnTo>
                <a:lnTo>
                  <a:pt x="7403465" y="561103"/>
                </a:lnTo>
                <a:lnTo>
                  <a:pt x="7545705" y="540479"/>
                </a:lnTo>
                <a:lnTo>
                  <a:pt x="7687310" y="518434"/>
                </a:lnTo>
                <a:lnTo>
                  <a:pt x="7828915" y="495676"/>
                </a:lnTo>
                <a:lnTo>
                  <a:pt x="7970520" y="471497"/>
                </a:lnTo>
                <a:lnTo>
                  <a:pt x="8112125" y="446607"/>
                </a:lnTo>
                <a:lnTo>
                  <a:pt x="8253730" y="421005"/>
                </a:lnTo>
                <a:lnTo>
                  <a:pt x="8395970" y="394692"/>
                </a:lnTo>
                <a:lnTo>
                  <a:pt x="8537575" y="367668"/>
                </a:lnTo>
                <a:lnTo>
                  <a:pt x="8679180" y="340644"/>
                </a:lnTo>
                <a:lnTo>
                  <a:pt x="8820785" y="314331"/>
                </a:lnTo>
                <a:lnTo>
                  <a:pt x="8962390" y="286596"/>
                </a:lnTo>
                <a:lnTo>
                  <a:pt x="9103995" y="260283"/>
                </a:lnTo>
                <a:lnTo>
                  <a:pt x="9246235" y="233971"/>
                </a:lnTo>
                <a:lnTo>
                  <a:pt x="9387840" y="208369"/>
                </a:lnTo>
                <a:lnTo>
                  <a:pt x="9529445" y="183479"/>
                </a:lnTo>
                <a:lnTo>
                  <a:pt x="9671050" y="159299"/>
                </a:lnTo>
                <a:lnTo>
                  <a:pt x="9812655" y="135831"/>
                </a:lnTo>
                <a:lnTo>
                  <a:pt x="9954260" y="114496"/>
                </a:lnTo>
                <a:lnTo>
                  <a:pt x="10096500" y="93873"/>
                </a:lnTo>
                <a:lnTo>
                  <a:pt x="10238105" y="75383"/>
                </a:lnTo>
                <a:lnTo>
                  <a:pt x="10379710" y="58315"/>
                </a:lnTo>
                <a:lnTo>
                  <a:pt x="10521315" y="42669"/>
                </a:lnTo>
                <a:lnTo>
                  <a:pt x="10662920" y="29869"/>
                </a:lnTo>
                <a:lnTo>
                  <a:pt x="10804525" y="18490"/>
                </a:lnTo>
                <a:lnTo>
                  <a:pt x="10946130" y="9956"/>
                </a:lnTo>
                <a:lnTo>
                  <a:pt x="11088370" y="3556"/>
                </a:lnTo>
                <a:lnTo>
                  <a:pt x="11229975" y="711"/>
                </a:lnTo>
                <a:lnTo>
                  <a:pt x="11371580" y="0"/>
                </a:lnTo>
                <a:lnTo>
                  <a:pt x="11513185" y="2845"/>
                </a:lnTo>
                <a:lnTo>
                  <a:pt x="11654790" y="7823"/>
                </a:lnTo>
                <a:lnTo>
                  <a:pt x="11796395" y="17068"/>
                </a:lnTo>
                <a:lnTo>
                  <a:pt x="11938635" y="29869"/>
                </a:lnTo>
                <a:lnTo>
                  <a:pt x="12080240" y="46225"/>
                </a:lnTo>
                <a:lnTo>
                  <a:pt x="12192000" y="61871"/>
                </a:lnTo>
                <a:lnTo>
                  <a:pt x="12192000" y="882546"/>
                </a:lnTo>
                <a:close/>
              </a:path>
            </a:pathLst>
          </a:custGeom>
          <a:solidFill>
            <a:srgbClr val="056EE1"/>
          </a:solidFill>
          <a:ln/>
        </p:spPr>
      </p:sp>
      <p:sp>
        <p:nvSpPr>
          <p:cNvPr id="7" name="Text 5"/>
          <p:cNvSpPr/>
          <p:nvPr/>
        </p:nvSpPr>
        <p:spPr>
          <a:xfrm>
            <a:off x="0" y="5594985"/>
            <a:ext cx="12192000" cy="1263015"/>
          </a:xfrm>
          <a:prstGeom prst="rect">
            <a:avLst/>
          </a:prstGeom>
          <a:noFill/>
          <a:ln/>
        </p:spPr>
        <p:txBody>
          <a:bodyPr wrap="square" lIns="45720" tIns="91440" rIns="91440" bIns="45720" rtlCol="0" anchor="ctr"/>
          <a:lstStyle/>
          <a:p>
            <a:pPr>
              <a:lnSpc>
                <a:spcPct val="100000"/>
              </a:lnSpc>
            </a:pPr>
            <a:endParaRPr lang="en-US" sz="1600" dirty="0"/>
          </a:p>
        </p:txBody>
      </p:sp>
      <p:pic>
        <p:nvPicPr>
          <p:cNvPr id="8" name="Image 0" descr="https://kimi-img.moonshot.cn/pub/slides/slides_tmpl/image/25-10-09-17:19:39-d3jnsaos8jdo4os5dlug.png"/>
          <p:cNvPicPr>
            <a:picLocks noChangeAspect="1"/>
          </p:cNvPicPr>
          <p:nvPr/>
        </p:nvPicPr>
        <p:blipFill>
          <a:blip r:embed="rId3"/>
          <a:stretch>
            <a:fillRect/>
          </a:stretch>
        </p:blipFill>
        <p:spPr>
          <a:xfrm>
            <a:off x="2904490" y="962025"/>
            <a:ext cx="6382385" cy="6108065"/>
          </a:xfrm>
          <a:prstGeom prst="rect">
            <a:avLst/>
          </a:prstGeom>
        </p:spPr>
      </p:pic>
      <p:sp>
        <p:nvSpPr>
          <p:cNvPr id="9" name="Text 6"/>
          <p:cNvSpPr/>
          <p:nvPr/>
        </p:nvSpPr>
        <p:spPr>
          <a:xfrm>
            <a:off x="2001078" y="2994025"/>
            <a:ext cx="8070574" cy="1807845"/>
          </a:xfrm>
          <a:prstGeom prst="rect">
            <a:avLst/>
          </a:prstGeom>
          <a:noFill/>
          <a:ln/>
        </p:spPr>
        <p:txBody>
          <a:bodyPr wrap="square" lIns="91440" tIns="45720" rIns="91440" bIns="45720" rtlCol="0" anchor="t"/>
          <a:lstStyle/>
          <a:p>
            <a:pPr algn="ctr">
              <a:lnSpc>
                <a:spcPct val="100000"/>
              </a:lnSpc>
            </a:pPr>
            <a:r>
              <a:rPr lang="en-US" altLang="zh-CN" sz="5400" dirty="0">
                <a:solidFill>
                  <a:srgbClr val="000000"/>
                </a:solidFill>
                <a:latin typeface="MiSans" pitchFamily="34" charset="0"/>
                <a:ea typeface="MiSans" pitchFamily="34" charset="-122"/>
                <a:cs typeface="MiSans" pitchFamily="34" charset="-120"/>
              </a:rPr>
              <a:t>Testing and Experimental Results</a:t>
            </a:r>
            <a:endParaRPr lang="en-US" sz="1600" dirty="0"/>
          </a:p>
        </p:txBody>
      </p:sp>
      <p:sp>
        <p:nvSpPr>
          <p:cNvPr id="10" name="Shape 7"/>
          <p:cNvSpPr/>
          <p:nvPr/>
        </p:nvSpPr>
        <p:spPr>
          <a:xfrm>
            <a:off x="11106785" y="693737"/>
            <a:ext cx="235520" cy="0"/>
          </a:xfrm>
          <a:prstGeom prst="line">
            <a:avLst/>
          </a:prstGeom>
          <a:noFill/>
          <a:ln w="31750">
            <a:solidFill>
              <a:srgbClr val="056EE1"/>
            </a:solidFill>
            <a:prstDash val="solid"/>
            <a:headEnd type="none"/>
            <a:tailEnd type="none"/>
          </a:ln>
        </p:spPr>
      </p:sp>
      <p:sp>
        <p:nvSpPr>
          <p:cNvPr id="11" name="Shape 8"/>
          <p:cNvSpPr/>
          <p:nvPr/>
        </p:nvSpPr>
        <p:spPr>
          <a:xfrm>
            <a:off x="11106785" y="754697"/>
            <a:ext cx="235520" cy="0"/>
          </a:xfrm>
          <a:prstGeom prst="line">
            <a:avLst/>
          </a:prstGeom>
          <a:noFill/>
          <a:ln w="31750">
            <a:solidFill>
              <a:srgbClr val="056EE1"/>
            </a:solidFill>
            <a:prstDash val="solid"/>
            <a:headEnd type="none"/>
            <a:tailEnd type="none"/>
          </a:ln>
        </p:spPr>
      </p:sp>
      <p:sp>
        <p:nvSpPr>
          <p:cNvPr id="12" name="Shape 9"/>
          <p:cNvSpPr/>
          <p:nvPr/>
        </p:nvSpPr>
        <p:spPr>
          <a:xfrm>
            <a:off x="11106785" y="815657"/>
            <a:ext cx="235520" cy="0"/>
          </a:xfrm>
          <a:prstGeom prst="line">
            <a:avLst/>
          </a:prstGeom>
          <a:noFill/>
          <a:ln w="31750">
            <a:solidFill>
              <a:srgbClr val="056EE1"/>
            </a:solidFill>
            <a:prstDash val="solid"/>
            <a:headEnd type="none"/>
            <a:tailEnd type="none"/>
          </a:ln>
        </p:spPr>
      </p:sp>
      <p:sp>
        <p:nvSpPr>
          <p:cNvPr id="13" name="Shape 10"/>
          <p:cNvSpPr/>
          <p:nvPr/>
        </p:nvSpPr>
        <p:spPr>
          <a:xfrm>
            <a:off x="2725420" y="1268730"/>
            <a:ext cx="6598920" cy="1807845"/>
          </a:xfrm>
          <a:prstGeom prst="rect">
            <a:avLst/>
          </a:prstGeom>
          <a:solidFill>
            <a:srgbClr val="000000">
              <a:alpha val="0"/>
            </a:srgbClr>
          </a:solidFill>
          <a:ln/>
        </p:spPr>
      </p:sp>
      <p:sp>
        <p:nvSpPr>
          <p:cNvPr id="14" name="Text 11"/>
          <p:cNvSpPr/>
          <p:nvPr/>
        </p:nvSpPr>
        <p:spPr>
          <a:xfrm>
            <a:off x="2725420" y="1268730"/>
            <a:ext cx="6598920" cy="1807845"/>
          </a:xfrm>
          <a:prstGeom prst="rect">
            <a:avLst/>
          </a:prstGeom>
          <a:noFill/>
          <a:ln/>
        </p:spPr>
        <p:txBody>
          <a:bodyPr wrap="square" lIns="0" tIns="0" rIns="0" bIns="0" rtlCol="0" anchor="t"/>
          <a:lstStyle/>
          <a:p>
            <a:pPr algn="ctr">
              <a:lnSpc>
                <a:spcPct val="100000"/>
              </a:lnSpc>
            </a:pPr>
            <a:r>
              <a:rPr lang="en-US" sz="12000">
                <a:solidFill>
                  <a:srgbClr val="056EE1"/>
                </a:solidFill>
                <a:latin typeface="MiSans" pitchFamily="34" charset="0"/>
                <a:ea typeface="MiSans" pitchFamily="34" charset="-122"/>
                <a:cs typeface="MiSans" pitchFamily="34" charset="-120"/>
              </a:rPr>
              <a:t>04</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3">
    <p:bg>
      <p:bgPr>
        <a:gradFill flip="none" rotWithShape="0">
          <a:gsLst>
            <a:gs pos="0">
              <a:srgbClr val="FFFFFF"/>
            </a:gs>
            <a:gs pos="28000">
              <a:srgbClr val="FFFFFF"/>
            </a:gs>
            <a:gs pos="100000">
              <a:srgbClr val="DDF0FE"/>
            </a:gs>
          </a:gsLst>
          <a:lin ang="2700000" scaled="1"/>
        </a:gradFill>
        <a:effectLst/>
      </p:bgPr>
    </p:bg>
    <p:spTree>
      <p:nvGrpSpPr>
        <p:cNvPr id="1" name=""/>
        <p:cNvGrpSpPr/>
        <p:nvPr/>
      </p:nvGrpSpPr>
      <p:grpSpPr>
        <a:xfrm>
          <a:off x="0" y="0"/>
          <a:ext cx="0" cy="0"/>
          <a:chOff x="0" y="0"/>
          <a:chExt cx="0" cy="0"/>
        </a:xfrm>
      </p:grpSpPr>
      <p:sp>
        <p:nvSpPr>
          <p:cNvPr id="2" name="Shape 0"/>
          <p:cNvSpPr/>
          <p:nvPr/>
        </p:nvSpPr>
        <p:spPr>
          <a:xfrm>
            <a:off x="848360" y="6346190"/>
            <a:ext cx="163338" cy="153035"/>
          </a:xfrm>
          <a:prstGeom prst="rect">
            <a:avLst/>
          </a:prstGeom>
          <a:solidFill>
            <a:srgbClr val="004CC0"/>
          </a:solidFill>
          <a:ln/>
        </p:spPr>
      </p:sp>
      <p:sp>
        <p:nvSpPr>
          <p:cNvPr id="3" name="Text 1"/>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p:cNvSpPr/>
          <p:nvPr/>
        </p:nvSpPr>
        <p:spPr>
          <a:xfrm>
            <a:off x="1122291" y="6346190"/>
            <a:ext cx="163338" cy="153035"/>
          </a:xfrm>
          <a:prstGeom prst="rect">
            <a:avLst/>
          </a:prstGeom>
          <a:solidFill>
            <a:srgbClr val="004CC0"/>
          </a:solidFill>
          <a:ln/>
        </p:spPr>
      </p:sp>
      <p:sp>
        <p:nvSpPr>
          <p:cNvPr id="5" name="Text 3"/>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p:cNvSpPr/>
          <p:nvPr/>
        </p:nvSpPr>
        <p:spPr>
          <a:xfrm>
            <a:off x="1396222" y="6346190"/>
            <a:ext cx="163338" cy="153035"/>
          </a:xfrm>
          <a:prstGeom prst="rect">
            <a:avLst/>
          </a:prstGeom>
          <a:solidFill>
            <a:srgbClr val="004CC0"/>
          </a:solidFill>
          <a:ln/>
        </p:spPr>
      </p:sp>
      <p:sp>
        <p:nvSpPr>
          <p:cNvPr id="7" name="Text 5"/>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p:cNvSpPr/>
          <p:nvPr/>
        </p:nvSpPr>
        <p:spPr>
          <a:xfrm>
            <a:off x="598837" y="888766"/>
            <a:ext cx="11151237" cy="5469573"/>
          </a:xfrm>
          <a:prstGeom prst="rect">
            <a:avLst/>
          </a:prstGeom>
          <a:solidFill>
            <a:srgbClr val="FFFFFF"/>
          </a:solidFill>
          <a:ln w="19050">
            <a:solidFill>
              <a:srgbClr val="004CC0"/>
            </a:solidFill>
            <a:prstDash val="solid"/>
          </a:ln>
        </p:spPr>
        <p:txBody>
          <a:bodyPr/>
          <a:lstStyle/>
          <a:p>
            <a:endParaRPr lang="zh-CN" altLang="en-US"/>
          </a:p>
        </p:txBody>
      </p:sp>
      <p:sp>
        <p:nvSpPr>
          <p:cNvPr id="9" name="Text 7"/>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grpSp>
        <p:nvGrpSpPr>
          <p:cNvPr id="45" name="组合 44">
            <a:extLst>
              <a:ext uri="{FF2B5EF4-FFF2-40B4-BE49-F238E27FC236}">
                <a16:creationId xmlns:a16="http://schemas.microsoft.com/office/drawing/2014/main" id="{C3E6EE37-7236-3A53-DCBE-9CE6992D9771}"/>
              </a:ext>
            </a:extLst>
          </p:cNvPr>
          <p:cNvGrpSpPr/>
          <p:nvPr/>
        </p:nvGrpSpPr>
        <p:grpSpPr>
          <a:xfrm>
            <a:off x="755528" y="1111312"/>
            <a:ext cx="438785" cy="434340"/>
            <a:chOff x="736916" y="1494914"/>
            <a:chExt cx="438785" cy="434340"/>
          </a:xfrm>
        </p:grpSpPr>
        <p:sp>
          <p:nvSpPr>
            <p:cNvPr id="10" name="Shape 8"/>
            <p:cNvSpPr/>
            <p:nvPr/>
          </p:nvSpPr>
          <p:spPr>
            <a:xfrm rot="5400000">
              <a:off x="739139" y="1492691"/>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p:cNvSpPr/>
            <p:nvPr/>
          </p:nvSpPr>
          <p:spPr>
            <a:xfrm>
              <a:off x="914156" y="1636943"/>
              <a:ext cx="113665" cy="168910"/>
            </a:xfrm>
            <a:prstGeom prst="chevron">
              <a:avLst>
                <a:gd name="adj" fmla="val 64013"/>
              </a:avLst>
            </a:prstGeom>
            <a:solidFill>
              <a:srgbClr val="FFFFFF"/>
            </a:solidFill>
            <a:ln/>
          </p:spPr>
        </p:sp>
        <p:sp>
          <p:nvSpPr>
            <p:cNvPr id="13" name="Text 11"/>
            <p:cNvSpPr/>
            <p:nvPr/>
          </p:nvSpPr>
          <p:spPr>
            <a:xfrm>
              <a:off x="894036" y="1580515"/>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15" name="Text 13"/>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p:cNvSpPr/>
          <p:nvPr/>
        </p:nvSpPr>
        <p:spPr>
          <a:xfrm>
            <a:off x="919480" y="4202430"/>
            <a:ext cx="113665" cy="168910"/>
          </a:xfrm>
          <a:prstGeom prst="chevron">
            <a:avLst>
              <a:gd name="adj" fmla="val 64013"/>
            </a:avLst>
          </a:prstGeom>
          <a:solidFill>
            <a:srgbClr val="FFFFFF"/>
          </a:solidFill>
          <a:ln/>
        </p:spPr>
      </p:sp>
      <p:sp>
        <p:nvSpPr>
          <p:cNvPr id="19" name="Text 17"/>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p:cNvSpPr/>
          <p:nvPr/>
        </p:nvSpPr>
        <p:spPr>
          <a:xfrm>
            <a:off x="6435725" y="1881505"/>
            <a:ext cx="113665" cy="168910"/>
          </a:xfrm>
          <a:prstGeom prst="chevron">
            <a:avLst>
              <a:gd name="adj" fmla="val 64013"/>
            </a:avLst>
          </a:prstGeom>
          <a:solidFill>
            <a:srgbClr val="FFFFFF"/>
          </a:solidFill>
          <a:ln/>
        </p:spPr>
      </p:sp>
      <p:sp>
        <p:nvSpPr>
          <p:cNvPr id="25" name="Text 23"/>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p:cNvSpPr/>
          <p:nvPr/>
        </p:nvSpPr>
        <p:spPr>
          <a:xfrm>
            <a:off x="6435725" y="4202430"/>
            <a:ext cx="113665" cy="168910"/>
          </a:xfrm>
          <a:prstGeom prst="chevron">
            <a:avLst>
              <a:gd name="adj" fmla="val 64013"/>
            </a:avLst>
          </a:prstGeom>
          <a:solidFill>
            <a:srgbClr val="FFFFFF"/>
          </a:solidFill>
          <a:ln/>
        </p:spPr>
      </p:sp>
      <p:sp>
        <p:nvSpPr>
          <p:cNvPr id="31" name="Text 29"/>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a:t>
            </a:r>
            <a:r>
              <a:rPr lang="en-US" sz="3000" b="1" dirty="0">
                <a:solidFill>
                  <a:srgbClr val="000000"/>
                </a:solidFill>
                <a:latin typeface="MiSans" pitchFamily="34" charset="0"/>
                <a:ea typeface="MiSans" pitchFamily="34" charset="-122"/>
                <a:cs typeface="MiSans" pitchFamily="34" charset="-120"/>
              </a:rPr>
              <a:t>User </a:t>
            </a:r>
            <a:r>
              <a:rPr lang="en-US" sz="3000" b="1">
                <a:solidFill>
                  <a:srgbClr val="000000"/>
                </a:solidFill>
                <a:latin typeface="MiSans" pitchFamily="34" charset="0"/>
                <a:ea typeface="MiSans" pitchFamily="34" charset="-122"/>
                <a:cs typeface="MiSans" pitchFamily="34" charset="-120"/>
              </a:rPr>
              <a:t>Experience Flow- 1</a:t>
            </a:r>
            <a:endParaRPr lang="en-US" sz="1600" dirty="0"/>
          </a:p>
        </p:txBody>
      </p:sp>
      <p:sp>
        <p:nvSpPr>
          <p:cNvPr id="33" name="Shape 31"/>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p:cNvSpPr/>
          <p:nvPr/>
        </p:nvSpPr>
        <p:spPr>
          <a:xfrm>
            <a:off x="11106785" y="815657"/>
            <a:ext cx="235520" cy="0"/>
          </a:xfrm>
          <a:prstGeom prst="line">
            <a:avLst/>
          </a:prstGeom>
          <a:noFill/>
          <a:ln w="31750">
            <a:solidFill>
              <a:srgbClr val="004CC0"/>
            </a:solidFill>
            <a:prstDash val="solid"/>
            <a:headEnd type="none"/>
            <a:tailEnd type="none"/>
          </a:ln>
        </p:spPr>
      </p:sp>
      <p:sp>
        <p:nvSpPr>
          <p:cNvPr id="36" name="Text 34"/>
          <p:cNvSpPr/>
          <p:nvPr/>
        </p:nvSpPr>
        <p:spPr>
          <a:xfrm>
            <a:off x="1364615" y="1179418"/>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Log File Upload </a:t>
            </a:r>
          </a:p>
          <a:p>
            <a:pPr algn="just">
              <a:lnSpc>
                <a:spcPct val="100000"/>
              </a:lnSpc>
            </a:pPr>
            <a:r>
              <a:rPr lang="en-US" sz="1800" b="1">
                <a:solidFill>
                  <a:srgbClr val="004CC0"/>
                </a:solidFill>
                <a:latin typeface="MiSans" pitchFamily="34" charset="0"/>
                <a:ea typeface="MiSans" pitchFamily="34" charset="-122"/>
                <a:cs typeface="MiSans" pitchFamily="34" charset="-120"/>
              </a:rPr>
              <a:t>Interface</a:t>
            </a:r>
            <a:endParaRPr lang="en-US" sz="1600" dirty="0"/>
          </a:p>
        </p:txBody>
      </p:sp>
      <p:sp>
        <p:nvSpPr>
          <p:cNvPr id="37" name="Text 35"/>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4098" name="Picture 2">
            <a:extLst>
              <a:ext uri="{FF2B5EF4-FFF2-40B4-BE49-F238E27FC236}">
                <a16:creationId xmlns:a16="http://schemas.microsoft.com/office/drawing/2014/main" id="{D9345619-96AB-5F54-E67F-0386B742B0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5546" y="986089"/>
            <a:ext cx="8115274" cy="5274928"/>
          </a:xfrm>
          <a:prstGeom prst="rect">
            <a:avLst/>
          </a:prstGeom>
          <a:noFill/>
          <a:extLst>
            <a:ext uri="{909E8E84-426E-40DD-AFC4-6F175D3DCCD1}">
              <a14:hiddenFill xmlns:a14="http://schemas.microsoft.com/office/drawing/2010/main">
                <a:solidFill>
                  <a:srgbClr val="FFFFFF"/>
                </a:solidFill>
              </a14:hiddenFill>
            </a:ext>
          </a:extLst>
        </p:spPr>
      </p:pic>
      <p:sp>
        <p:nvSpPr>
          <p:cNvPr id="20" name="Text 20">
            <a:extLst>
              <a:ext uri="{FF2B5EF4-FFF2-40B4-BE49-F238E27FC236}">
                <a16:creationId xmlns:a16="http://schemas.microsoft.com/office/drawing/2014/main" id="{75218E13-AFBF-620E-C06C-3709017DC092}"/>
              </a:ext>
            </a:extLst>
          </p:cNvPr>
          <p:cNvSpPr/>
          <p:nvPr/>
        </p:nvSpPr>
        <p:spPr>
          <a:xfrm>
            <a:off x="912648" y="2430135"/>
            <a:ext cx="2249170" cy="1750159"/>
          </a:xfrm>
          <a:prstGeom prst="rect">
            <a:avLst/>
          </a:prstGeom>
          <a:noFill/>
          <a:ln/>
        </p:spPr>
        <p:txBody>
          <a:bodyPr wrap="square" lIns="91440" tIns="45720" rIns="91440" bIns="45720" rtlCol="0" anchor="t">
            <a:spAutoFit/>
          </a:bodyPr>
          <a:lstStyle/>
          <a:p>
            <a:pPr algn="just">
              <a:lnSpc>
                <a:spcPct val="130000"/>
              </a:lnSpc>
            </a:pPr>
            <a:r>
              <a:rPr lang="en-US" sz="1400" b="1">
                <a:solidFill>
                  <a:srgbClr val="000000"/>
                </a:solidFill>
                <a:latin typeface="MiSans" pitchFamily="34" charset="0"/>
                <a:ea typeface="MiSans" pitchFamily="34" charset="-122"/>
                <a:cs typeface="MiSans" pitchFamily="34" charset="-120"/>
              </a:rPr>
              <a:t>Display the log file uploadinterface, highlighting itszero-configuration setup forquick access, enabling usersto import logs rapidly.</a:t>
            </a:r>
            <a:endParaRPr lang="en-US" sz="1600" b="1" dirty="0"/>
          </a:p>
        </p:txBody>
      </p:sp>
    </p:spTree>
  </p:cSld>
  <p:clrMapOvr>
    <a:masterClrMapping/>
  </p:clrMapOvr>
  <p:transition>
    <p:fade/>
  </p:transition>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F990C-2336-2B1C-A440-B9A8039B15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5BE1CBD-CD9D-44D0-9378-AC4AFE68E365}"/>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B1E602FC-3B75-0AFF-52D8-CA5A1EF1B8D2}"/>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0D717C36-7D99-DA16-80AB-54BD60AE6441}"/>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5CEAA8A6-E201-3281-50B6-10146016447F}"/>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F4741ADE-A32E-DD48-D6CB-F6AD2F14E36F}"/>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770E8598-A208-874F-684E-2B0EF144E943}"/>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a:extLst>
              <a:ext uri="{FF2B5EF4-FFF2-40B4-BE49-F238E27FC236}">
                <a16:creationId xmlns:a16="http://schemas.microsoft.com/office/drawing/2014/main" id="{BB81DA6F-7948-A3CF-4552-9D5704ADE699}"/>
              </a:ext>
            </a:extLst>
          </p:cNvPr>
          <p:cNvSpPr/>
          <p:nvPr/>
        </p:nvSpPr>
        <p:spPr>
          <a:xfrm>
            <a:off x="598837" y="888766"/>
            <a:ext cx="11151237" cy="5469573"/>
          </a:xfrm>
          <a:prstGeom prst="rect">
            <a:avLst/>
          </a:prstGeom>
          <a:solidFill>
            <a:srgbClr val="FFFFFF"/>
          </a:solidFill>
          <a:ln w="19050">
            <a:solidFill>
              <a:srgbClr val="004CC0"/>
            </a:solidFill>
            <a:prstDash val="solid"/>
          </a:ln>
        </p:spPr>
        <p:txBody>
          <a:bodyPr/>
          <a:lstStyle/>
          <a:p>
            <a:endParaRPr lang="zh-CN" altLang="en-US"/>
          </a:p>
        </p:txBody>
      </p:sp>
      <p:sp>
        <p:nvSpPr>
          <p:cNvPr id="9" name="Text 7">
            <a:extLst>
              <a:ext uri="{FF2B5EF4-FFF2-40B4-BE49-F238E27FC236}">
                <a16:creationId xmlns:a16="http://schemas.microsoft.com/office/drawing/2014/main" id="{5AC03032-D8DD-A14A-8DCA-DF6267F2B98B}"/>
              </a:ext>
            </a:extLst>
          </p:cNvPr>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a:extLst>
              <a:ext uri="{FF2B5EF4-FFF2-40B4-BE49-F238E27FC236}">
                <a16:creationId xmlns:a16="http://schemas.microsoft.com/office/drawing/2014/main" id="{0AA27B88-83A4-FD7D-DCF7-158B52322DCD}"/>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grpSp>
        <p:nvGrpSpPr>
          <p:cNvPr id="45" name="组合 44">
            <a:extLst>
              <a:ext uri="{FF2B5EF4-FFF2-40B4-BE49-F238E27FC236}">
                <a16:creationId xmlns:a16="http://schemas.microsoft.com/office/drawing/2014/main" id="{4A025937-5373-FBA4-1540-481351468D65}"/>
              </a:ext>
            </a:extLst>
          </p:cNvPr>
          <p:cNvGrpSpPr/>
          <p:nvPr/>
        </p:nvGrpSpPr>
        <p:grpSpPr>
          <a:xfrm>
            <a:off x="755528" y="1111312"/>
            <a:ext cx="438785" cy="434340"/>
            <a:chOff x="736916" y="1494914"/>
            <a:chExt cx="438785" cy="434340"/>
          </a:xfrm>
        </p:grpSpPr>
        <p:sp>
          <p:nvSpPr>
            <p:cNvPr id="10" name="Shape 8">
              <a:extLst>
                <a:ext uri="{FF2B5EF4-FFF2-40B4-BE49-F238E27FC236}">
                  <a16:creationId xmlns:a16="http://schemas.microsoft.com/office/drawing/2014/main" id="{003A35BA-EED2-B882-E5AA-525ED6AA35C9}"/>
                </a:ext>
              </a:extLst>
            </p:cNvPr>
            <p:cNvSpPr/>
            <p:nvPr/>
          </p:nvSpPr>
          <p:spPr>
            <a:xfrm rot="5400000">
              <a:off x="739139" y="1492691"/>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a:extLst>
                <a:ext uri="{FF2B5EF4-FFF2-40B4-BE49-F238E27FC236}">
                  <a16:creationId xmlns:a16="http://schemas.microsoft.com/office/drawing/2014/main" id="{8CB70744-3AFD-C4DF-4551-B28AD1838E3C}"/>
                </a:ext>
              </a:extLst>
            </p:cNvPr>
            <p:cNvSpPr/>
            <p:nvPr/>
          </p:nvSpPr>
          <p:spPr>
            <a:xfrm>
              <a:off x="914156" y="1636943"/>
              <a:ext cx="113665" cy="168910"/>
            </a:xfrm>
            <a:prstGeom prst="chevron">
              <a:avLst>
                <a:gd name="adj" fmla="val 64013"/>
              </a:avLst>
            </a:prstGeom>
            <a:solidFill>
              <a:srgbClr val="FFFFFF"/>
            </a:solidFill>
            <a:ln/>
          </p:spPr>
        </p:sp>
        <p:sp>
          <p:nvSpPr>
            <p:cNvPr id="13" name="Text 11">
              <a:extLst>
                <a:ext uri="{FF2B5EF4-FFF2-40B4-BE49-F238E27FC236}">
                  <a16:creationId xmlns:a16="http://schemas.microsoft.com/office/drawing/2014/main" id="{7C178597-159B-F8BB-6CFA-630866308885}"/>
                </a:ext>
              </a:extLst>
            </p:cNvPr>
            <p:cNvSpPr/>
            <p:nvPr/>
          </p:nvSpPr>
          <p:spPr>
            <a:xfrm>
              <a:off x="894036" y="1580515"/>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15" name="Text 13">
            <a:extLst>
              <a:ext uri="{FF2B5EF4-FFF2-40B4-BE49-F238E27FC236}">
                <a16:creationId xmlns:a16="http://schemas.microsoft.com/office/drawing/2014/main" id="{4E007BEC-821E-ADDE-003A-BD1BE41F5245}"/>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a:extLst>
              <a:ext uri="{FF2B5EF4-FFF2-40B4-BE49-F238E27FC236}">
                <a16:creationId xmlns:a16="http://schemas.microsoft.com/office/drawing/2014/main" id="{3A2DE9F1-CE1C-9E23-41D9-7397CBFC0E7C}"/>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D1F2E76C-EC9D-CCBE-E662-C80C8F317B0A}"/>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B0D103A5-0507-B612-1A3E-3852E0DE7C13}"/>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937FB16C-EFD6-A6F0-4A4C-8BDC4EE6D579}"/>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A696FF18-1CE7-1CF5-7EC6-056AEDA4549B}"/>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A2E1FB94-368F-F1D7-B386-1177824BF351}"/>
              </a:ext>
            </a:extLst>
          </p:cNvPr>
          <p:cNvSpPr/>
          <p:nvPr/>
        </p:nvSpPr>
        <p:spPr>
          <a:xfrm>
            <a:off x="6435725" y="1881505"/>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F3D132A5-EA0F-8ACA-F9A7-D7A8FAC35E4A}"/>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a:extLst>
              <a:ext uri="{FF2B5EF4-FFF2-40B4-BE49-F238E27FC236}">
                <a16:creationId xmlns:a16="http://schemas.microsoft.com/office/drawing/2014/main" id="{D6EDBAA8-1662-F310-2EF2-14E6A377B61B}"/>
              </a:ext>
            </a:extLst>
          </p:cNvPr>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a:extLst>
              <a:ext uri="{FF2B5EF4-FFF2-40B4-BE49-F238E27FC236}">
                <a16:creationId xmlns:a16="http://schemas.microsoft.com/office/drawing/2014/main" id="{875DE607-131D-34AD-906F-E4F401597B74}"/>
              </a:ext>
            </a:extLst>
          </p:cNvPr>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BF7F7FF3-27B1-1D53-68C8-2FDA432CF578}"/>
              </a:ext>
            </a:extLst>
          </p:cNvPr>
          <p:cNvSpPr/>
          <p:nvPr/>
        </p:nvSpPr>
        <p:spPr>
          <a:xfrm>
            <a:off x="6435725"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1CB7679C-E2B1-5EEA-7D98-5DF8AECED248}"/>
              </a:ext>
            </a:extLst>
          </p:cNvPr>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2601A35F-63FA-2959-1524-CF50530A309A}"/>
              </a:ext>
            </a:extLst>
          </p:cNvPr>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a:t>
            </a:r>
            <a:r>
              <a:rPr lang="en-US" sz="3000" b="1" dirty="0">
                <a:solidFill>
                  <a:srgbClr val="000000"/>
                </a:solidFill>
                <a:latin typeface="MiSans" pitchFamily="34" charset="0"/>
                <a:ea typeface="MiSans" pitchFamily="34" charset="-122"/>
                <a:cs typeface="MiSans" pitchFamily="34" charset="-120"/>
              </a:rPr>
              <a:t>User </a:t>
            </a:r>
            <a:r>
              <a:rPr lang="en-US" sz="3000" b="1">
                <a:solidFill>
                  <a:srgbClr val="000000"/>
                </a:solidFill>
                <a:latin typeface="MiSans" pitchFamily="34" charset="0"/>
                <a:ea typeface="MiSans" pitchFamily="34" charset="-122"/>
                <a:cs typeface="MiSans" pitchFamily="34" charset="-120"/>
              </a:rPr>
              <a:t>Experience Flow- 2</a:t>
            </a:r>
            <a:endParaRPr lang="en-US" sz="1600" dirty="0"/>
          </a:p>
        </p:txBody>
      </p:sp>
      <p:sp>
        <p:nvSpPr>
          <p:cNvPr id="33" name="Shape 31">
            <a:extLst>
              <a:ext uri="{FF2B5EF4-FFF2-40B4-BE49-F238E27FC236}">
                <a16:creationId xmlns:a16="http://schemas.microsoft.com/office/drawing/2014/main" id="{9C9CF411-65BF-3A1B-BDEF-0EAFCFECC806}"/>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a:extLst>
              <a:ext uri="{FF2B5EF4-FFF2-40B4-BE49-F238E27FC236}">
                <a16:creationId xmlns:a16="http://schemas.microsoft.com/office/drawing/2014/main" id="{31AA0723-6586-1357-3AE3-4C25AD9A5EFA}"/>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a:extLst>
              <a:ext uri="{FF2B5EF4-FFF2-40B4-BE49-F238E27FC236}">
                <a16:creationId xmlns:a16="http://schemas.microsoft.com/office/drawing/2014/main" id="{75459E78-249B-1A99-8D8D-FCB19E7A539D}"/>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36" name="Text 34">
            <a:extLst>
              <a:ext uri="{FF2B5EF4-FFF2-40B4-BE49-F238E27FC236}">
                <a16:creationId xmlns:a16="http://schemas.microsoft.com/office/drawing/2014/main" id="{DCB100CD-B2E6-ED1E-668F-E83A179484AB}"/>
              </a:ext>
            </a:extLst>
          </p:cNvPr>
          <p:cNvSpPr/>
          <p:nvPr/>
        </p:nvSpPr>
        <p:spPr>
          <a:xfrm>
            <a:off x="1364615" y="1179418"/>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Highlighted </a:t>
            </a:r>
          </a:p>
          <a:p>
            <a:pPr algn="just">
              <a:lnSpc>
                <a:spcPct val="100000"/>
              </a:lnSpc>
            </a:pPr>
            <a:r>
              <a:rPr lang="en-US" sz="1800" b="1">
                <a:solidFill>
                  <a:srgbClr val="004CC0"/>
                </a:solidFill>
                <a:latin typeface="MiSans" pitchFamily="34" charset="0"/>
                <a:ea typeface="MiSans" pitchFamily="34" charset="-122"/>
                <a:cs typeface="MiSans" pitchFamily="34" charset="-120"/>
              </a:rPr>
              <a:t>Abnormal Content </a:t>
            </a:r>
            <a:endParaRPr lang="en-US" sz="1600" dirty="0"/>
          </a:p>
        </p:txBody>
      </p:sp>
      <p:sp>
        <p:nvSpPr>
          <p:cNvPr id="37" name="Text 35">
            <a:extLst>
              <a:ext uri="{FF2B5EF4-FFF2-40B4-BE49-F238E27FC236}">
                <a16:creationId xmlns:a16="http://schemas.microsoft.com/office/drawing/2014/main" id="{CAE9D7E2-54AA-D831-B74C-1E38335A5CF2}"/>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0FD3BA1B-07E5-32CB-2497-FF6BAA97A707}"/>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9E2A4A9D-FB9B-F63B-C90A-D2DC362A9532}"/>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CDE73760-EBD1-17CD-3E3D-0CF259DC26D1}"/>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9217" name="Picture 1">
            <a:extLst>
              <a:ext uri="{FF2B5EF4-FFF2-40B4-BE49-F238E27FC236}">
                <a16:creationId xmlns:a16="http://schemas.microsoft.com/office/drawing/2014/main" id="{ED247906-B1F5-9836-6DA1-78B1BB4FA9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5082" y="1010686"/>
            <a:ext cx="8042791" cy="5227814"/>
          </a:xfrm>
          <a:prstGeom prst="rect">
            <a:avLst/>
          </a:prstGeom>
          <a:noFill/>
          <a:extLst>
            <a:ext uri="{909E8E84-426E-40DD-AFC4-6F175D3DCCD1}">
              <a14:hiddenFill xmlns:a14="http://schemas.microsoft.com/office/drawing/2010/main">
                <a:solidFill>
                  <a:srgbClr val="FFFFFF"/>
                </a:solidFill>
              </a14:hiddenFill>
            </a:ext>
          </a:extLst>
        </p:spPr>
      </p:pic>
      <p:sp>
        <p:nvSpPr>
          <p:cNvPr id="20" name="Text 23">
            <a:extLst>
              <a:ext uri="{FF2B5EF4-FFF2-40B4-BE49-F238E27FC236}">
                <a16:creationId xmlns:a16="http://schemas.microsoft.com/office/drawing/2014/main" id="{1D0F8CE9-B928-D970-39AF-01BBF06F3353}"/>
              </a:ext>
            </a:extLst>
          </p:cNvPr>
          <p:cNvSpPr/>
          <p:nvPr/>
        </p:nvSpPr>
        <p:spPr>
          <a:xfrm>
            <a:off x="1075690" y="2511511"/>
            <a:ext cx="1754505" cy="2310312"/>
          </a:xfrm>
          <a:prstGeom prst="rect">
            <a:avLst/>
          </a:prstGeom>
          <a:noFill/>
          <a:ln/>
        </p:spPr>
        <p:txBody>
          <a:bodyPr wrap="square" lIns="91440" tIns="45720" rIns="91440" bIns="45720" rtlCol="0" anchor="t">
            <a:spAutoFit/>
          </a:bodyPr>
          <a:lstStyle/>
          <a:p>
            <a:pPr>
              <a:lnSpc>
                <a:spcPct val="130000"/>
              </a:lnSpc>
            </a:pPr>
            <a:r>
              <a:rPr lang="en-US" sz="1400" b="1">
                <a:solidFill>
                  <a:srgbClr val="000000"/>
                </a:solidFill>
                <a:latin typeface="MiSans" pitchFamily="34" charset="0"/>
                <a:ea typeface="MiSans" pitchFamily="34" charset="-122"/>
                <a:cs typeface="MiSans" pitchFamily="34" charset="-120"/>
              </a:rPr>
              <a:t>Display abnormalcontent with ahighlighted effect tohelp users quicklypinpoint issues andimprovetroubleshootingefficiency.</a:t>
            </a:r>
            <a:endParaRPr lang="en-US" sz="1600" b="1" dirty="0"/>
          </a:p>
        </p:txBody>
      </p:sp>
    </p:spTree>
    <p:extLst>
      <p:ext uri="{BB962C8B-B14F-4D97-AF65-F5344CB8AC3E}">
        <p14:creationId xmlns:p14="http://schemas.microsoft.com/office/powerpoint/2010/main" val="1215704504"/>
      </p:ext>
    </p:extLst>
  </p:cSld>
  <p:clrMapOvr>
    <a:masterClrMapping/>
  </p:clrMapOvr>
  <p:transition>
    <p:fade/>
  </p:transition>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55448-2683-8BD6-8AB0-6D354896B87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C74692-CC10-FDE2-1DA8-A49EF9476902}"/>
              </a:ext>
            </a:extLst>
          </p:cNvPr>
          <p:cNvSpPr/>
          <p:nvPr/>
        </p:nvSpPr>
        <p:spPr>
          <a:xfrm>
            <a:off x="848360" y="6346190"/>
            <a:ext cx="163338" cy="153035"/>
          </a:xfrm>
          <a:prstGeom prst="rect">
            <a:avLst/>
          </a:prstGeom>
          <a:solidFill>
            <a:srgbClr val="004CC0"/>
          </a:solidFill>
          <a:ln/>
        </p:spPr>
      </p:sp>
      <p:sp>
        <p:nvSpPr>
          <p:cNvPr id="3" name="Text 1">
            <a:extLst>
              <a:ext uri="{FF2B5EF4-FFF2-40B4-BE49-F238E27FC236}">
                <a16:creationId xmlns:a16="http://schemas.microsoft.com/office/drawing/2014/main" id="{E45102FA-29C6-B14D-6E7E-D6D236288C94}"/>
              </a:ext>
            </a:extLst>
          </p:cNvPr>
          <p:cNvSpPr/>
          <p:nvPr/>
        </p:nvSpPr>
        <p:spPr>
          <a:xfrm>
            <a:off x="848360"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4" name="Shape 2">
            <a:extLst>
              <a:ext uri="{FF2B5EF4-FFF2-40B4-BE49-F238E27FC236}">
                <a16:creationId xmlns:a16="http://schemas.microsoft.com/office/drawing/2014/main" id="{5A81B649-1415-E7C1-AFD7-42A05F836076}"/>
              </a:ext>
            </a:extLst>
          </p:cNvPr>
          <p:cNvSpPr/>
          <p:nvPr/>
        </p:nvSpPr>
        <p:spPr>
          <a:xfrm>
            <a:off x="1122291" y="6346190"/>
            <a:ext cx="163338" cy="153035"/>
          </a:xfrm>
          <a:prstGeom prst="rect">
            <a:avLst/>
          </a:prstGeom>
          <a:solidFill>
            <a:srgbClr val="004CC0"/>
          </a:solidFill>
          <a:ln/>
        </p:spPr>
      </p:sp>
      <p:sp>
        <p:nvSpPr>
          <p:cNvPr id="5" name="Text 3">
            <a:extLst>
              <a:ext uri="{FF2B5EF4-FFF2-40B4-BE49-F238E27FC236}">
                <a16:creationId xmlns:a16="http://schemas.microsoft.com/office/drawing/2014/main" id="{4F2A3EEB-87D3-0350-71C8-908320C837F2}"/>
              </a:ext>
            </a:extLst>
          </p:cNvPr>
          <p:cNvSpPr/>
          <p:nvPr/>
        </p:nvSpPr>
        <p:spPr>
          <a:xfrm>
            <a:off x="1122291"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6" name="Shape 4">
            <a:extLst>
              <a:ext uri="{FF2B5EF4-FFF2-40B4-BE49-F238E27FC236}">
                <a16:creationId xmlns:a16="http://schemas.microsoft.com/office/drawing/2014/main" id="{717EFF63-2851-3FE3-76FC-1A4726E5910F}"/>
              </a:ext>
            </a:extLst>
          </p:cNvPr>
          <p:cNvSpPr/>
          <p:nvPr/>
        </p:nvSpPr>
        <p:spPr>
          <a:xfrm>
            <a:off x="1396222" y="6346190"/>
            <a:ext cx="163338" cy="153035"/>
          </a:xfrm>
          <a:prstGeom prst="rect">
            <a:avLst/>
          </a:prstGeom>
          <a:solidFill>
            <a:srgbClr val="004CC0"/>
          </a:solidFill>
          <a:ln/>
        </p:spPr>
      </p:sp>
      <p:sp>
        <p:nvSpPr>
          <p:cNvPr id="7" name="Text 5">
            <a:extLst>
              <a:ext uri="{FF2B5EF4-FFF2-40B4-BE49-F238E27FC236}">
                <a16:creationId xmlns:a16="http://schemas.microsoft.com/office/drawing/2014/main" id="{42013D29-4D25-53DA-7874-7FDE9F5E35C7}"/>
              </a:ext>
            </a:extLst>
          </p:cNvPr>
          <p:cNvSpPr/>
          <p:nvPr/>
        </p:nvSpPr>
        <p:spPr>
          <a:xfrm>
            <a:off x="1396222" y="6346190"/>
            <a:ext cx="163338" cy="153035"/>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6">
            <a:extLst>
              <a:ext uri="{FF2B5EF4-FFF2-40B4-BE49-F238E27FC236}">
                <a16:creationId xmlns:a16="http://schemas.microsoft.com/office/drawing/2014/main" id="{6BE22569-9FC9-E71A-39FC-3D5CC47E5330}"/>
              </a:ext>
            </a:extLst>
          </p:cNvPr>
          <p:cNvSpPr/>
          <p:nvPr/>
        </p:nvSpPr>
        <p:spPr>
          <a:xfrm>
            <a:off x="598837" y="888766"/>
            <a:ext cx="11151237" cy="5469573"/>
          </a:xfrm>
          <a:prstGeom prst="rect">
            <a:avLst/>
          </a:prstGeom>
          <a:solidFill>
            <a:srgbClr val="FFFFFF"/>
          </a:solidFill>
          <a:ln w="19050">
            <a:solidFill>
              <a:srgbClr val="004CC0"/>
            </a:solidFill>
            <a:prstDash val="solid"/>
          </a:ln>
        </p:spPr>
        <p:txBody>
          <a:bodyPr/>
          <a:lstStyle/>
          <a:p>
            <a:endParaRPr lang="zh-CN" altLang="en-US"/>
          </a:p>
        </p:txBody>
      </p:sp>
      <p:sp>
        <p:nvSpPr>
          <p:cNvPr id="9" name="Text 7">
            <a:extLst>
              <a:ext uri="{FF2B5EF4-FFF2-40B4-BE49-F238E27FC236}">
                <a16:creationId xmlns:a16="http://schemas.microsoft.com/office/drawing/2014/main" id="{877EBD60-FBA8-85FB-0EE6-02561F52AB0B}"/>
              </a:ext>
            </a:extLst>
          </p:cNvPr>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a:extLst>
              <a:ext uri="{FF2B5EF4-FFF2-40B4-BE49-F238E27FC236}">
                <a16:creationId xmlns:a16="http://schemas.microsoft.com/office/drawing/2014/main" id="{070A08C1-410A-B4FD-E831-B76A834952F6}"/>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grpSp>
        <p:nvGrpSpPr>
          <p:cNvPr id="45" name="组合 44">
            <a:extLst>
              <a:ext uri="{FF2B5EF4-FFF2-40B4-BE49-F238E27FC236}">
                <a16:creationId xmlns:a16="http://schemas.microsoft.com/office/drawing/2014/main" id="{09631040-5D28-D89C-CA04-3300EFB7BFD3}"/>
              </a:ext>
            </a:extLst>
          </p:cNvPr>
          <p:cNvGrpSpPr/>
          <p:nvPr/>
        </p:nvGrpSpPr>
        <p:grpSpPr>
          <a:xfrm>
            <a:off x="755528" y="1111312"/>
            <a:ext cx="438785" cy="434340"/>
            <a:chOff x="736916" y="1494914"/>
            <a:chExt cx="438785" cy="434340"/>
          </a:xfrm>
        </p:grpSpPr>
        <p:sp>
          <p:nvSpPr>
            <p:cNvPr id="10" name="Shape 8">
              <a:extLst>
                <a:ext uri="{FF2B5EF4-FFF2-40B4-BE49-F238E27FC236}">
                  <a16:creationId xmlns:a16="http://schemas.microsoft.com/office/drawing/2014/main" id="{1372DB8F-C73E-AB84-5B1D-F8D89056B00C}"/>
                </a:ext>
              </a:extLst>
            </p:cNvPr>
            <p:cNvSpPr/>
            <p:nvPr/>
          </p:nvSpPr>
          <p:spPr>
            <a:xfrm rot="5400000">
              <a:off x="739139" y="1492691"/>
              <a:ext cx="434340" cy="438785"/>
            </a:xfrm>
            <a:prstGeom prst="roundRect">
              <a:avLst>
                <a:gd name="adj" fmla="val 0"/>
              </a:avLst>
            </a:prstGeom>
            <a:gradFill flip="none" rotWithShape="1">
              <a:gsLst>
                <a:gs pos="0">
                  <a:srgbClr val="2078FF"/>
                </a:gs>
                <a:gs pos="100000">
                  <a:srgbClr val="004CC0"/>
                </a:gs>
              </a:gsLst>
              <a:lin ang="13200000" scaled="1"/>
            </a:gradFill>
            <a:ln/>
          </p:spPr>
        </p:sp>
        <p:sp>
          <p:nvSpPr>
            <p:cNvPr id="12" name="Shape 10">
              <a:extLst>
                <a:ext uri="{FF2B5EF4-FFF2-40B4-BE49-F238E27FC236}">
                  <a16:creationId xmlns:a16="http://schemas.microsoft.com/office/drawing/2014/main" id="{D13F1C22-5653-1997-20E0-D4C8A8416A84}"/>
                </a:ext>
              </a:extLst>
            </p:cNvPr>
            <p:cNvSpPr/>
            <p:nvPr/>
          </p:nvSpPr>
          <p:spPr>
            <a:xfrm>
              <a:off x="914156" y="1636943"/>
              <a:ext cx="113665" cy="168910"/>
            </a:xfrm>
            <a:prstGeom prst="chevron">
              <a:avLst>
                <a:gd name="adj" fmla="val 64013"/>
              </a:avLst>
            </a:prstGeom>
            <a:solidFill>
              <a:srgbClr val="FFFFFF"/>
            </a:solidFill>
            <a:ln/>
          </p:spPr>
        </p:sp>
        <p:sp>
          <p:nvSpPr>
            <p:cNvPr id="13" name="Text 11">
              <a:extLst>
                <a:ext uri="{FF2B5EF4-FFF2-40B4-BE49-F238E27FC236}">
                  <a16:creationId xmlns:a16="http://schemas.microsoft.com/office/drawing/2014/main" id="{D2377BC0-BD00-74DF-D7CE-B9C5C6F3D907}"/>
                </a:ext>
              </a:extLst>
            </p:cNvPr>
            <p:cNvSpPr/>
            <p:nvPr/>
          </p:nvSpPr>
          <p:spPr>
            <a:xfrm>
              <a:off x="894036" y="1580515"/>
              <a:ext cx="113665" cy="168910"/>
            </a:xfrm>
            <a:prstGeom prst="rect">
              <a:avLst/>
            </a:prstGeom>
            <a:noFill/>
            <a:ln/>
          </p:spPr>
          <p:txBody>
            <a:bodyPr wrap="square" lIns="0" tIns="0" rIns="0" bIns="0" rtlCol="0" anchor="ctr"/>
            <a:lstStyle/>
            <a:p>
              <a:pPr>
                <a:lnSpc>
                  <a:spcPct val="100000"/>
                </a:lnSpc>
              </a:pPr>
              <a:endParaRPr lang="en-US" sz="1600" dirty="0"/>
            </a:p>
          </p:txBody>
        </p:sp>
      </p:grpSp>
      <p:sp>
        <p:nvSpPr>
          <p:cNvPr id="15" name="Text 13">
            <a:extLst>
              <a:ext uri="{FF2B5EF4-FFF2-40B4-BE49-F238E27FC236}">
                <a16:creationId xmlns:a16="http://schemas.microsoft.com/office/drawing/2014/main" id="{D5B0B748-0DFF-EBDA-D11D-E9FE1503E256}"/>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a:extLst>
              <a:ext uri="{FF2B5EF4-FFF2-40B4-BE49-F238E27FC236}">
                <a16:creationId xmlns:a16="http://schemas.microsoft.com/office/drawing/2014/main" id="{7D198BAB-D082-2DD1-F7CD-3A7043BC991D}"/>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1A3C5899-77EC-786E-FFBD-D3212C52403F}"/>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B2185C01-46F0-970A-8F03-5372D97A2FF9}"/>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73660717-B1CA-9F75-45EE-3FA15A71FC8A}"/>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B2184509-158A-A983-09CE-503BF2B35ACA}"/>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E84E7C5B-6A0F-2416-0FE9-59559CEE99FB}"/>
              </a:ext>
            </a:extLst>
          </p:cNvPr>
          <p:cNvSpPr/>
          <p:nvPr/>
        </p:nvSpPr>
        <p:spPr>
          <a:xfrm>
            <a:off x="6435725" y="1881505"/>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480DE9B3-0EC7-28D2-6799-0B6533F05266}"/>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a:extLst>
              <a:ext uri="{FF2B5EF4-FFF2-40B4-BE49-F238E27FC236}">
                <a16:creationId xmlns:a16="http://schemas.microsoft.com/office/drawing/2014/main" id="{42790DA6-8DC2-EA2E-7175-E5C4D1EC0AFA}"/>
              </a:ext>
            </a:extLst>
          </p:cNvPr>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9" name="Text 27">
            <a:extLst>
              <a:ext uri="{FF2B5EF4-FFF2-40B4-BE49-F238E27FC236}">
                <a16:creationId xmlns:a16="http://schemas.microsoft.com/office/drawing/2014/main" id="{BF22C9A6-5F51-DCA1-160B-1115E7FDED02}"/>
              </a:ext>
            </a:extLst>
          </p:cNvPr>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3F00028E-893E-FA7A-0C45-B953AE744A8B}"/>
              </a:ext>
            </a:extLst>
          </p:cNvPr>
          <p:cNvSpPr/>
          <p:nvPr/>
        </p:nvSpPr>
        <p:spPr>
          <a:xfrm>
            <a:off x="6435725"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C7F4F100-4533-1A5B-52D6-9A932E367FA1}"/>
              </a:ext>
            </a:extLst>
          </p:cNvPr>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F8E01097-4384-68B9-7AAC-577BC260EF6F}"/>
              </a:ext>
            </a:extLst>
          </p:cNvPr>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a:t>
            </a:r>
            <a:r>
              <a:rPr lang="en-US" sz="3000" b="1" dirty="0">
                <a:solidFill>
                  <a:srgbClr val="000000"/>
                </a:solidFill>
                <a:latin typeface="MiSans" pitchFamily="34" charset="0"/>
                <a:ea typeface="MiSans" pitchFamily="34" charset="-122"/>
                <a:cs typeface="MiSans" pitchFamily="34" charset="-120"/>
              </a:rPr>
              <a:t>User </a:t>
            </a:r>
            <a:r>
              <a:rPr lang="en-US" sz="3000" b="1">
                <a:solidFill>
                  <a:srgbClr val="000000"/>
                </a:solidFill>
                <a:latin typeface="MiSans" pitchFamily="34" charset="0"/>
                <a:ea typeface="MiSans" pitchFamily="34" charset="-122"/>
                <a:cs typeface="MiSans" pitchFamily="34" charset="-120"/>
              </a:rPr>
              <a:t>Experience Flow- 3</a:t>
            </a:r>
            <a:endParaRPr lang="en-US" sz="1600" dirty="0"/>
          </a:p>
        </p:txBody>
      </p:sp>
      <p:sp>
        <p:nvSpPr>
          <p:cNvPr id="33" name="Shape 31">
            <a:extLst>
              <a:ext uri="{FF2B5EF4-FFF2-40B4-BE49-F238E27FC236}">
                <a16:creationId xmlns:a16="http://schemas.microsoft.com/office/drawing/2014/main" id="{A13D941E-129B-A1A4-8D55-03D3E1D3D6E3}"/>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a:extLst>
              <a:ext uri="{FF2B5EF4-FFF2-40B4-BE49-F238E27FC236}">
                <a16:creationId xmlns:a16="http://schemas.microsoft.com/office/drawing/2014/main" id="{8BE1B9B8-3AB2-F700-6B3A-DCD04D3CBC4E}"/>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a:extLst>
              <a:ext uri="{FF2B5EF4-FFF2-40B4-BE49-F238E27FC236}">
                <a16:creationId xmlns:a16="http://schemas.microsoft.com/office/drawing/2014/main" id="{8DDD1791-288A-DCF5-83AA-98C35D9E67FF}"/>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36" name="Text 34">
            <a:extLst>
              <a:ext uri="{FF2B5EF4-FFF2-40B4-BE49-F238E27FC236}">
                <a16:creationId xmlns:a16="http://schemas.microsoft.com/office/drawing/2014/main" id="{CC92CB58-DEBD-C946-8F97-3C216B5DFF06}"/>
              </a:ext>
            </a:extLst>
          </p:cNvPr>
          <p:cNvSpPr/>
          <p:nvPr/>
        </p:nvSpPr>
        <p:spPr>
          <a:xfrm>
            <a:off x="1351005" y="1489626"/>
            <a:ext cx="4330700" cy="435610"/>
          </a:xfrm>
          <a:prstGeom prst="rect">
            <a:avLst/>
          </a:prstGeom>
          <a:noFill/>
          <a:ln/>
        </p:spPr>
        <p:txBody>
          <a:bodyPr wrap="square" lIns="0" tIns="0" rIns="0" bIns="0" rtlCol="0" anchor="ctr"/>
          <a:lstStyle/>
          <a:p>
            <a:pPr algn="just">
              <a:lnSpc>
                <a:spcPct val="100000"/>
              </a:lnSpc>
            </a:pPr>
            <a:r>
              <a:rPr lang="en-US" sz="1800" b="1">
                <a:solidFill>
                  <a:srgbClr val="004CC0"/>
                </a:solidFill>
                <a:latin typeface="MiSans" pitchFamily="34" charset="0"/>
                <a:ea typeface="MiSans" pitchFamily="34" charset="-122"/>
                <a:cs typeface="MiSans" pitchFamily="34" charset="-120"/>
              </a:rPr>
              <a:t> AI Model’s </a:t>
            </a:r>
          </a:p>
          <a:p>
            <a:pPr algn="just">
              <a:lnSpc>
                <a:spcPct val="100000"/>
              </a:lnSpc>
            </a:pPr>
            <a:r>
              <a:rPr lang="en-US" sz="1800" b="1">
                <a:solidFill>
                  <a:srgbClr val="004CC0"/>
                </a:solidFill>
                <a:latin typeface="MiSans" pitchFamily="34" charset="0"/>
                <a:ea typeface="MiSans" pitchFamily="34" charset="-122"/>
                <a:cs typeface="MiSans" pitchFamily="34" charset="-120"/>
              </a:rPr>
              <a:t>In-depth Analysis </a:t>
            </a:r>
          </a:p>
          <a:p>
            <a:pPr algn="just">
              <a:lnSpc>
                <a:spcPct val="100000"/>
              </a:lnSpc>
            </a:pPr>
            <a:r>
              <a:rPr lang="en-US" sz="1800" b="1">
                <a:solidFill>
                  <a:srgbClr val="004CC0"/>
                </a:solidFill>
                <a:latin typeface="MiSans" pitchFamily="34" charset="0"/>
                <a:ea typeface="MiSans" pitchFamily="34" charset="-122"/>
                <a:cs typeface="MiSans" pitchFamily="34" charset="-120"/>
              </a:rPr>
              <a:t>Report on </a:t>
            </a:r>
          </a:p>
          <a:p>
            <a:pPr algn="just">
              <a:lnSpc>
                <a:spcPct val="100000"/>
              </a:lnSpc>
            </a:pPr>
            <a:r>
              <a:rPr lang="en-US" sz="1800" b="1">
                <a:solidFill>
                  <a:srgbClr val="004CC0"/>
                </a:solidFill>
                <a:latin typeface="MiSans" pitchFamily="34" charset="0"/>
                <a:ea typeface="MiSans" pitchFamily="34" charset="-122"/>
                <a:cs typeface="MiSans" pitchFamily="34" charset="-120"/>
              </a:rPr>
              <a:t>Log Anomalies</a:t>
            </a:r>
            <a:endParaRPr lang="en-US" sz="1600" dirty="0"/>
          </a:p>
        </p:txBody>
      </p:sp>
      <p:sp>
        <p:nvSpPr>
          <p:cNvPr id="37" name="Text 35">
            <a:extLst>
              <a:ext uri="{FF2B5EF4-FFF2-40B4-BE49-F238E27FC236}">
                <a16:creationId xmlns:a16="http://schemas.microsoft.com/office/drawing/2014/main" id="{3749CD5D-C08B-BE02-A4D4-827CAE6A209F}"/>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45568AE8-642B-5D26-454C-3DFE51F0BE92}"/>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9D2A80FC-12FF-905D-C1F5-7985251A949D}"/>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037F4040-96F3-FB10-B658-467F9CA1BDB0}"/>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8193" name="Picture 1">
            <a:extLst>
              <a:ext uri="{FF2B5EF4-FFF2-40B4-BE49-F238E27FC236}">
                <a16:creationId xmlns:a16="http://schemas.microsoft.com/office/drawing/2014/main" id="{DCA02E22-88D8-F4D1-D773-7EE003BBE0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879" y="946150"/>
            <a:ext cx="8223981" cy="5345588"/>
          </a:xfrm>
          <a:prstGeom prst="rect">
            <a:avLst/>
          </a:prstGeom>
          <a:noFill/>
          <a:extLst>
            <a:ext uri="{909E8E84-426E-40DD-AFC4-6F175D3DCCD1}">
              <a14:hiddenFill xmlns:a14="http://schemas.microsoft.com/office/drawing/2010/main">
                <a:solidFill>
                  <a:srgbClr val="FFFFFF"/>
                </a:solidFill>
              </a14:hiddenFill>
            </a:ext>
          </a:extLst>
        </p:spPr>
      </p:pic>
      <p:sp>
        <p:nvSpPr>
          <p:cNvPr id="14" name="Text 26">
            <a:extLst>
              <a:ext uri="{FF2B5EF4-FFF2-40B4-BE49-F238E27FC236}">
                <a16:creationId xmlns:a16="http://schemas.microsoft.com/office/drawing/2014/main" id="{7F606DF4-E25D-440B-2FB5-90811EFE0BBF}"/>
              </a:ext>
            </a:extLst>
          </p:cNvPr>
          <p:cNvSpPr/>
          <p:nvPr/>
        </p:nvSpPr>
        <p:spPr>
          <a:xfrm>
            <a:off x="967402" y="2814123"/>
            <a:ext cx="2249805" cy="2030236"/>
          </a:xfrm>
          <a:prstGeom prst="rect">
            <a:avLst/>
          </a:prstGeom>
          <a:noFill/>
          <a:ln/>
        </p:spPr>
        <p:txBody>
          <a:bodyPr wrap="square" lIns="91440" tIns="45720" rIns="91440" bIns="45720" rtlCol="0" anchor="t">
            <a:spAutoFit/>
          </a:bodyPr>
          <a:lstStyle/>
          <a:p>
            <a:pPr algn="just">
              <a:lnSpc>
                <a:spcPct val="130000"/>
              </a:lnSpc>
            </a:pPr>
            <a:r>
              <a:rPr lang="en-US" altLang="zh-CN" sz="1400" b="1">
                <a:solidFill>
                  <a:srgbClr val="000000"/>
                </a:solidFill>
                <a:latin typeface="MiSans" pitchFamily="34" charset="0"/>
                <a:ea typeface="MiSans" pitchFamily="34" charset="-122"/>
                <a:cs typeface="MiSans" pitchFamily="34" charset="-120"/>
              </a:rPr>
              <a:t>Solutions prioritized byissue urgency. Present Al in-depthanalysisreportshighlightingtraceableconclusionstoproviderobust support for problemresolution.</a:t>
            </a:r>
            <a:endParaRPr lang="en-US" sz="1600" b="1" dirty="0"/>
          </a:p>
        </p:txBody>
      </p:sp>
    </p:spTree>
    <p:extLst>
      <p:ext uri="{BB962C8B-B14F-4D97-AF65-F5344CB8AC3E}">
        <p14:creationId xmlns:p14="http://schemas.microsoft.com/office/powerpoint/2010/main" val="3497632674"/>
      </p:ext>
    </p:extLst>
  </p:cSld>
  <p:clrMapOvr>
    <a:masterClrMapping/>
  </p:clrMapOvr>
  <p:transition>
    <p:fade/>
  </p:transition>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71500"/>
            <a:ext cx="3610749" cy="215900"/>
          </a:xfrm>
          <a:prstGeom prst="rect">
            <a:avLst/>
          </a:prstGeom>
          <a:gradFill flip="none" rotWithShape="1">
            <a:gsLst>
              <a:gs pos="0">
                <a:srgbClr val="FFFFFF"/>
              </a:gs>
              <a:gs pos="100000">
                <a:srgbClr val="004CC0"/>
              </a:gs>
            </a:gsLst>
            <a:lin ang="8100000" scaled="1"/>
          </a:gradFill>
          <a:ln/>
        </p:spPr>
      </p:sp>
      <p:sp>
        <p:nvSpPr>
          <p:cNvPr id="3" name="Text 1"/>
          <p:cNvSpPr/>
          <p:nvPr/>
        </p:nvSpPr>
        <p:spPr>
          <a:xfrm>
            <a:off x="0" y="571500"/>
            <a:ext cx="3610749" cy="2159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4" name="Shape 2"/>
          <p:cNvSpPr/>
          <p:nvPr/>
        </p:nvSpPr>
        <p:spPr>
          <a:xfrm>
            <a:off x="0" y="872490"/>
            <a:ext cx="12189611" cy="0"/>
          </a:xfrm>
          <a:prstGeom prst="line">
            <a:avLst/>
          </a:prstGeom>
          <a:noFill/>
          <a:ln w="19050">
            <a:solidFill>
              <a:srgbClr val="007FD4"/>
            </a:solidFill>
            <a:prstDash val="solid"/>
            <a:headEnd type="none"/>
            <a:tailEnd type="none"/>
          </a:ln>
        </p:spPr>
      </p:sp>
      <p:sp>
        <p:nvSpPr>
          <p:cNvPr id="5" name="Shape 3"/>
          <p:cNvSpPr/>
          <p:nvPr/>
        </p:nvSpPr>
        <p:spPr>
          <a:xfrm rot="5940000">
            <a:off x="292735" y="51435"/>
            <a:ext cx="558800" cy="558800"/>
          </a:xfrm>
          <a:prstGeom prst="donut">
            <a:avLst>
              <a:gd name="adj" fmla="val 25000"/>
            </a:avLst>
          </a:prstGeom>
          <a:gradFill flip="none" rotWithShape="1">
            <a:gsLst>
              <a:gs pos="0">
                <a:srgbClr val="004CC0"/>
              </a:gs>
              <a:gs pos="54000">
                <a:srgbClr val="00B0F0">
                  <a:alpha val="3000"/>
                </a:srgbClr>
              </a:gs>
              <a:gs pos="100000">
                <a:srgbClr val="00B0F0">
                  <a:alpha val="3000"/>
                </a:srgbClr>
              </a:gs>
            </a:gsLst>
            <a:lin ang="18900000" scaled="1"/>
          </a:gradFill>
          <a:ln/>
        </p:spPr>
      </p:sp>
      <p:sp>
        <p:nvSpPr>
          <p:cNvPr id="6" name="Text 4"/>
          <p:cNvSpPr/>
          <p:nvPr/>
        </p:nvSpPr>
        <p:spPr>
          <a:xfrm rot="5940000">
            <a:off x="292735" y="51435"/>
            <a:ext cx="558800" cy="558800"/>
          </a:xfrm>
          <a:prstGeom prst="rect">
            <a:avLst/>
          </a:prstGeom>
          <a:noFill/>
          <a:ln/>
        </p:spPr>
        <p:txBody>
          <a:bodyPr wrap="square" lIns="45720" tIns="9144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7" name="Shape 5"/>
          <p:cNvSpPr/>
          <p:nvPr/>
        </p:nvSpPr>
        <p:spPr>
          <a:xfrm>
            <a:off x="0" y="6300621"/>
            <a:ext cx="12308205" cy="570865"/>
          </a:xfrm>
          <a:prstGeom prst="roundRect">
            <a:avLst>
              <a:gd name="adj" fmla="val 0"/>
            </a:avLst>
          </a:prstGeom>
          <a:solidFill>
            <a:srgbClr val="004CC0"/>
          </a:solidFill>
          <a:ln/>
        </p:spPr>
      </p:sp>
      <p:sp>
        <p:nvSpPr>
          <p:cNvPr id="8" name="Text 6"/>
          <p:cNvSpPr/>
          <p:nvPr/>
        </p:nvSpPr>
        <p:spPr>
          <a:xfrm>
            <a:off x="1" y="5208796"/>
            <a:ext cx="12221210" cy="138684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Shape 11"/>
          <p:cNvSpPr/>
          <p:nvPr/>
        </p:nvSpPr>
        <p:spPr>
          <a:xfrm>
            <a:off x="4394836" y="1210836"/>
            <a:ext cx="3170555" cy="4673600"/>
          </a:xfrm>
          <a:prstGeom prst="roundRect">
            <a:avLst>
              <a:gd name="adj" fmla="val 5503"/>
            </a:avLst>
          </a:prstGeom>
          <a:solidFill>
            <a:srgbClr val="FFFFFF"/>
          </a:solidFill>
          <a:ln w="19050">
            <a:solidFill>
              <a:srgbClr val="004CC0"/>
            </a:solidFill>
            <a:prstDash val="solid"/>
          </a:ln>
        </p:spPr>
      </p:sp>
      <p:sp>
        <p:nvSpPr>
          <p:cNvPr id="15" name="Text 12"/>
          <p:cNvSpPr/>
          <p:nvPr/>
        </p:nvSpPr>
        <p:spPr>
          <a:xfrm>
            <a:off x="4394836" y="1210836"/>
            <a:ext cx="3170555" cy="46736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6" name="Shape 13"/>
          <p:cNvSpPr/>
          <p:nvPr/>
        </p:nvSpPr>
        <p:spPr>
          <a:xfrm>
            <a:off x="5377181" y="1440071"/>
            <a:ext cx="1206500" cy="1192530"/>
          </a:xfrm>
          <a:prstGeom prst="ellipse">
            <a:avLst/>
          </a:prstGeom>
          <a:solidFill>
            <a:srgbClr val="004CC0"/>
          </a:solidFill>
          <a:ln/>
        </p:spPr>
      </p:sp>
      <p:sp>
        <p:nvSpPr>
          <p:cNvPr id="17" name="Text 14"/>
          <p:cNvSpPr/>
          <p:nvPr/>
        </p:nvSpPr>
        <p:spPr>
          <a:xfrm>
            <a:off x="5377181" y="1440071"/>
            <a:ext cx="1206500" cy="11925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8" name="Image 1" descr="https://kimi-img.moonshot.cn/pub/slides/slides_tmpl/image/25-09-04-15:50:53-d2sk9ne1bb2p4onbqeig.png"/>
          <p:cNvPicPr>
            <a:picLocks noChangeAspect="1"/>
          </p:cNvPicPr>
          <p:nvPr/>
        </p:nvPicPr>
        <p:blipFill>
          <a:blip r:embed="rId3"/>
          <a:srcRect l="59" t="-59" r="59" b="59"/>
          <a:stretch/>
        </p:blipFill>
        <p:spPr>
          <a:xfrm>
            <a:off x="5691861" y="1751431"/>
            <a:ext cx="577140" cy="570488"/>
          </a:xfrm>
          <a:prstGeom prst="rect">
            <a:avLst/>
          </a:prstGeom>
        </p:spPr>
      </p:pic>
      <p:sp>
        <p:nvSpPr>
          <p:cNvPr id="19" name="Shape 15"/>
          <p:cNvSpPr/>
          <p:nvPr/>
        </p:nvSpPr>
        <p:spPr>
          <a:xfrm>
            <a:off x="8014971" y="1210836"/>
            <a:ext cx="3170555" cy="4673600"/>
          </a:xfrm>
          <a:prstGeom prst="roundRect">
            <a:avLst>
              <a:gd name="adj" fmla="val 5503"/>
            </a:avLst>
          </a:prstGeom>
          <a:solidFill>
            <a:srgbClr val="FFFFFF"/>
          </a:solidFill>
          <a:ln w="19050">
            <a:solidFill>
              <a:srgbClr val="004CC0"/>
            </a:solidFill>
            <a:prstDash val="solid"/>
          </a:ln>
        </p:spPr>
      </p:sp>
      <p:sp>
        <p:nvSpPr>
          <p:cNvPr id="20" name="Text 16"/>
          <p:cNvSpPr/>
          <p:nvPr/>
        </p:nvSpPr>
        <p:spPr>
          <a:xfrm>
            <a:off x="8014971" y="1210836"/>
            <a:ext cx="3170555" cy="46736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Shape 17"/>
          <p:cNvSpPr/>
          <p:nvPr/>
        </p:nvSpPr>
        <p:spPr>
          <a:xfrm>
            <a:off x="8997316" y="1440071"/>
            <a:ext cx="1206500" cy="1192530"/>
          </a:xfrm>
          <a:prstGeom prst="ellipse">
            <a:avLst/>
          </a:prstGeom>
          <a:solidFill>
            <a:srgbClr val="004CC0"/>
          </a:solidFill>
          <a:ln/>
        </p:spPr>
      </p:sp>
      <p:sp>
        <p:nvSpPr>
          <p:cNvPr id="22" name="Text 18"/>
          <p:cNvSpPr/>
          <p:nvPr/>
        </p:nvSpPr>
        <p:spPr>
          <a:xfrm>
            <a:off x="8997316" y="1440071"/>
            <a:ext cx="1206500" cy="11925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23" name="Image 2" descr="https://kimi-img.moonshot.cn/pub/slides/slides_tmpl/image/25-09-04-15:50:53-d2sk9ne1bb2p4onbqej0.png"/>
          <p:cNvPicPr>
            <a:picLocks noChangeAspect="1"/>
          </p:cNvPicPr>
          <p:nvPr/>
        </p:nvPicPr>
        <p:blipFill>
          <a:blip r:embed="rId4"/>
          <a:srcRect l="59" t="-59" r="59" b="59"/>
          <a:stretch/>
        </p:blipFill>
        <p:spPr>
          <a:xfrm>
            <a:off x="9311996" y="1751431"/>
            <a:ext cx="577140" cy="570488"/>
          </a:xfrm>
          <a:prstGeom prst="rect">
            <a:avLst/>
          </a:prstGeom>
        </p:spPr>
      </p:pic>
      <p:sp>
        <p:nvSpPr>
          <p:cNvPr id="24" name="Text 19"/>
          <p:cNvSpPr/>
          <p:nvPr/>
        </p:nvSpPr>
        <p:spPr>
          <a:xfrm>
            <a:off x="582930" y="211455"/>
            <a:ext cx="10151745" cy="584775"/>
          </a:xfrm>
          <a:prstGeom prst="rect">
            <a:avLst/>
          </a:prstGeom>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MiSans" pitchFamily="34" charset="0"/>
                <a:ea typeface="MiSans" pitchFamily="34" charset="-122"/>
                <a:cs typeface="MiSans" pitchFamily="34" charset="-120"/>
              </a:rPr>
              <a:t>04-</a:t>
            </a:r>
            <a:r>
              <a:rPr lang="zh-CN" altLang="en-US" sz="3200" b="1" dirty="0">
                <a:solidFill>
                  <a:srgbClr val="000000"/>
                </a:solidFill>
                <a:latin typeface="MiSans" pitchFamily="34" charset="0"/>
                <a:ea typeface="MiSans" pitchFamily="34" charset="-122"/>
                <a:cs typeface="MiSans" pitchFamily="34" charset="-120"/>
              </a:rPr>
              <a:t> </a:t>
            </a:r>
            <a:r>
              <a:rPr lang="en-US" altLang="zh-CN" sz="3200" b="1" dirty="0">
                <a:solidFill>
                  <a:srgbClr val="000000"/>
                </a:solidFill>
                <a:latin typeface="MiSans" pitchFamily="34" charset="0"/>
                <a:ea typeface="MiSans" pitchFamily="34" charset="-122"/>
                <a:cs typeface="MiSans" pitchFamily="34" charset="-120"/>
              </a:rPr>
              <a:t>Testing</a:t>
            </a: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nvGrpSpPr>
          <p:cNvPr id="33" name="组合 32">
            <a:extLst>
              <a:ext uri="{FF2B5EF4-FFF2-40B4-BE49-F238E27FC236}">
                <a16:creationId xmlns:a16="http://schemas.microsoft.com/office/drawing/2014/main" id="{4D1FE622-54D3-C213-FB38-D89625B7C6BA}"/>
              </a:ext>
            </a:extLst>
          </p:cNvPr>
          <p:cNvGrpSpPr/>
          <p:nvPr/>
        </p:nvGrpSpPr>
        <p:grpSpPr>
          <a:xfrm>
            <a:off x="775336" y="1210836"/>
            <a:ext cx="3170555" cy="4673600"/>
            <a:chOff x="760730" y="1472565"/>
            <a:chExt cx="3170555" cy="4673600"/>
          </a:xfrm>
        </p:grpSpPr>
        <p:sp>
          <p:nvSpPr>
            <p:cNvPr id="9" name="Shape 7"/>
            <p:cNvSpPr/>
            <p:nvPr/>
          </p:nvSpPr>
          <p:spPr>
            <a:xfrm>
              <a:off x="760730" y="1472565"/>
              <a:ext cx="3170555" cy="4673600"/>
            </a:xfrm>
            <a:prstGeom prst="roundRect">
              <a:avLst>
                <a:gd name="adj" fmla="val 5503"/>
              </a:avLst>
            </a:prstGeom>
            <a:solidFill>
              <a:srgbClr val="FFFFFF"/>
            </a:solidFill>
            <a:ln w="19050">
              <a:solidFill>
                <a:srgbClr val="004CC0"/>
              </a:solidFill>
              <a:prstDash val="solid"/>
            </a:ln>
          </p:spPr>
        </p:sp>
        <p:sp>
          <p:nvSpPr>
            <p:cNvPr id="10" name="Text 8"/>
            <p:cNvSpPr/>
            <p:nvPr/>
          </p:nvSpPr>
          <p:spPr>
            <a:xfrm>
              <a:off x="760730" y="1472565"/>
              <a:ext cx="3170555" cy="467360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nvGrpSpPr>
            <p:cNvPr id="31" name="组合 30">
              <a:extLst>
                <a:ext uri="{FF2B5EF4-FFF2-40B4-BE49-F238E27FC236}">
                  <a16:creationId xmlns:a16="http://schemas.microsoft.com/office/drawing/2014/main" id="{D9996DAE-258F-F2F0-8F1E-EE41D6859E7B}"/>
                </a:ext>
              </a:extLst>
            </p:cNvPr>
            <p:cNvGrpSpPr/>
            <p:nvPr/>
          </p:nvGrpSpPr>
          <p:grpSpPr>
            <a:xfrm>
              <a:off x="947420" y="1701800"/>
              <a:ext cx="2797175" cy="4270558"/>
              <a:chOff x="947420" y="1701800"/>
              <a:chExt cx="2797175" cy="4270558"/>
            </a:xfrm>
          </p:grpSpPr>
          <p:sp>
            <p:nvSpPr>
              <p:cNvPr id="11" name="Shape 9"/>
              <p:cNvSpPr/>
              <p:nvPr/>
            </p:nvSpPr>
            <p:spPr>
              <a:xfrm>
                <a:off x="1743075" y="1701800"/>
                <a:ext cx="1206543" cy="1192530"/>
              </a:xfrm>
              <a:prstGeom prst="ellipse">
                <a:avLst/>
              </a:prstGeom>
              <a:solidFill>
                <a:srgbClr val="004CC0"/>
              </a:solidFill>
              <a:ln/>
            </p:spPr>
          </p:sp>
          <p:sp>
            <p:nvSpPr>
              <p:cNvPr id="12" name="Text 10"/>
              <p:cNvSpPr/>
              <p:nvPr/>
            </p:nvSpPr>
            <p:spPr>
              <a:xfrm>
                <a:off x="1743075" y="1701800"/>
                <a:ext cx="1206543" cy="1192530"/>
              </a:xfrm>
              <a:prstGeom prst="rect">
                <a:avLst/>
              </a:prstGeom>
              <a:noFill/>
              <a:ln/>
            </p:spPr>
            <p:txBody>
              <a:bodyPr wrap="square" lIns="45720" tIns="9144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pic>
            <p:nvPicPr>
              <p:cNvPr id="13" name="Image 0" descr="https://kimi-img.moonshot.cn/pub/slides/slides_tmpl/image/25-09-04-15:50:53-d2sk9ne1bb2p4onbqei0.svg"/>
              <p:cNvPicPr>
                <a:picLocks noChangeAspect="1"/>
              </p:cNvPicPr>
              <p:nvPr/>
            </p:nvPicPr>
            <p:blipFill>
              <a:blip r:embed="rId5">
                <a:extLst>
                  <a:ext uri="{96DAC541-7B7A-43D3-8B79-37D633B846F1}">
                    <asvg:svgBlip xmlns:asvg="http://schemas.microsoft.com/office/drawing/2016/SVG/main" r:embed="rId6"/>
                  </a:ext>
                </a:extLst>
              </a:blip>
              <a:srcRect l="50" t="644" r="-50" b="644"/>
              <a:stretch/>
            </p:blipFill>
            <p:spPr>
              <a:xfrm>
                <a:off x="2057766" y="2013160"/>
                <a:ext cx="577160" cy="570488"/>
              </a:xfrm>
              <a:prstGeom prst="rect">
                <a:avLst/>
              </a:prstGeom>
            </p:spPr>
          </p:pic>
          <p:sp>
            <p:nvSpPr>
              <p:cNvPr id="25" name="Text 20"/>
              <p:cNvSpPr/>
              <p:nvPr/>
            </p:nvSpPr>
            <p:spPr>
              <a:xfrm>
                <a:off x="947420" y="3009265"/>
                <a:ext cx="2797175" cy="669925"/>
              </a:xfrm>
              <a:prstGeom prst="rect">
                <a:avLst/>
              </a:prstGeom>
              <a:noFill/>
              <a:ln/>
            </p:spPr>
            <p:txBody>
              <a:bodyPr wrap="square" lIns="91440" tIns="45720" rIns="91440" bIns="45720" rtlCol="0" anchor="t"/>
              <a:lstStyle/>
              <a:p>
                <a:pPr lvl="0" algn="ctr">
                  <a:defRPr/>
                </a:pPr>
                <a:r>
                  <a:rPr lang="en-US" b="1">
                    <a:solidFill>
                      <a:srgbClr val="004CC0"/>
                    </a:solidFill>
                    <a:latin typeface="MiSans" pitchFamily="34" charset="0"/>
                    <a:ea typeface="MiSans" pitchFamily="34" charset="-122"/>
                    <a:cs typeface="MiSans" pitchFamily="34" charset="-120"/>
                  </a:rPr>
                  <a:t>Test Preparation</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6" name="Text 21"/>
              <p:cNvSpPr/>
              <p:nvPr/>
            </p:nvSpPr>
            <p:spPr>
              <a:xfrm>
                <a:off x="947420" y="3575868"/>
                <a:ext cx="2797175" cy="2396490"/>
              </a:xfrm>
              <a:prstGeom prst="rect">
                <a:avLst/>
              </a:prstGeom>
              <a:noFill/>
              <a:ln/>
            </p:spPr>
            <p:txBody>
              <a:bodyPr wrap="square" lIns="91440" tIns="45720" rIns="91440" bIns="45720" rtlCol="0" anchor="t">
                <a:spAutoFit/>
              </a:bodyPr>
              <a:lstStyle/>
              <a:p>
                <a:pPr lvl="0" algn="just">
                  <a:lnSpc>
                    <a:spcPct val="120000"/>
                  </a:lnSpc>
                  <a:defRPr/>
                </a:pPr>
                <a:r>
                  <a:rPr lang="en-US" altLang="zh-CN" b="1" dirty="0">
                    <a:solidFill>
                      <a:srgbClr val="000000"/>
                    </a:solidFill>
                    <a:latin typeface="MiSans" pitchFamily="34" charset="0"/>
                    <a:ea typeface="MiSans" pitchFamily="34" charset="-122"/>
                    <a:cs typeface="MiSans" pitchFamily="34" charset="-120"/>
                  </a:rPr>
                  <a:t>Establish a multi-environment testing matrix, prepare test datasets and tools, and organize tester training to support end-to-end testing.</a:t>
                </a:r>
                <a:endParaRPr kumimoji="0" lang="en-US" sz="20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grpSp>
      </p:grpSp>
      <p:sp>
        <p:nvSpPr>
          <p:cNvPr id="27" name="Text 22"/>
          <p:cNvSpPr/>
          <p:nvPr/>
        </p:nvSpPr>
        <p:spPr>
          <a:xfrm>
            <a:off x="4581526" y="2757696"/>
            <a:ext cx="2797175" cy="669925"/>
          </a:xfrm>
          <a:prstGeom prst="rect">
            <a:avLst/>
          </a:prstGeom>
          <a:noFill/>
          <a:ln/>
        </p:spPr>
        <p:txBody>
          <a:bodyPr wrap="square" lIns="91440" tIns="45720" rIns="91440" bIns="45720" rtlCol="0" anchor="t"/>
          <a:lstStyle/>
          <a:p>
            <a:pPr lvl="0" algn="ctr">
              <a:defRPr/>
            </a:pPr>
            <a:r>
              <a:rPr lang="en-US" altLang="zh-CN" b="1">
                <a:solidFill>
                  <a:srgbClr val="004CC0"/>
                </a:solidFill>
                <a:latin typeface="MiSans" pitchFamily="34" charset="0"/>
                <a:ea typeface="MiSans" pitchFamily="34" charset="-122"/>
                <a:cs typeface="MiSans" pitchFamily="34" charset="-120"/>
              </a:rPr>
              <a:t>Test Case Execution</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8" name="Text 23"/>
          <p:cNvSpPr/>
          <p:nvPr/>
        </p:nvSpPr>
        <p:spPr>
          <a:xfrm>
            <a:off x="4581526" y="3107866"/>
            <a:ext cx="2890203" cy="2728889"/>
          </a:xfrm>
          <a:prstGeom prst="rect">
            <a:avLst/>
          </a:prstGeom>
          <a:noFill/>
          <a:ln/>
        </p:spPr>
        <p:txBody>
          <a:bodyPr wrap="square" lIns="91440" tIns="45720" rIns="91440" bIns="45720" rtlCol="0" anchor="t">
            <a:spAutoFit/>
          </a:bodyPr>
          <a:lstStyle/>
          <a:p>
            <a:pPr lvl="0" algn="just">
              <a:lnSpc>
                <a:spcPct val="120000"/>
              </a:lnSpc>
              <a:defRPr/>
            </a:pPr>
            <a:r>
              <a:rPr lang="en-US" altLang="zh-CN" b="1" dirty="0">
                <a:solidFill>
                  <a:srgbClr val="000000"/>
                </a:solidFill>
                <a:latin typeface="MiSans" pitchFamily="34" charset="0"/>
                <a:ea typeface="MiSans" pitchFamily="34" charset="-122"/>
                <a:cs typeface="MiSans" pitchFamily="34" charset="-120"/>
              </a:rPr>
              <a:t>Execute test cases according to priority: P0 (Blocking) → P1 (High) → P2 (Medium) → P3 (Low), and document execution results and defects in detail.</a:t>
            </a:r>
            <a:endParaRPr kumimoji="0" lang="en-US" sz="20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9" name="Text 24"/>
          <p:cNvSpPr/>
          <p:nvPr/>
        </p:nvSpPr>
        <p:spPr>
          <a:xfrm>
            <a:off x="8201661" y="2757696"/>
            <a:ext cx="2797175" cy="669925"/>
          </a:xfrm>
          <a:prstGeom prst="rect">
            <a:avLst/>
          </a:prstGeom>
          <a:noFill/>
          <a:ln/>
        </p:spPr>
        <p:txBody>
          <a:bodyPr wrap="square" lIns="91440" tIns="45720" rIns="91440" bIns="45720" rtlCol="0" anchor="t"/>
          <a:lstStyle/>
          <a:p>
            <a:pPr lvl="0" algn="ctr">
              <a:defRPr/>
            </a:pPr>
            <a:r>
              <a:rPr lang="en-US" altLang="zh-CN" b="1">
                <a:solidFill>
                  <a:srgbClr val="004CC0"/>
                </a:solidFill>
                <a:latin typeface="MiSans" pitchFamily="34" charset="0"/>
                <a:ea typeface="MiSans" pitchFamily="34" charset="-122"/>
                <a:cs typeface="MiSans" pitchFamily="34" charset="-120"/>
              </a:rPr>
              <a:t>Defect Management</a:t>
            </a:r>
            <a:endParaRPr kumimoji="0" lang="en-US" sz="16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30" name="Text 25"/>
          <p:cNvSpPr/>
          <p:nvPr/>
        </p:nvSpPr>
        <p:spPr>
          <a:xfrm>
            <a:off x="8202296" y="3403491"/>
            <a:ext cx="2708910" cy="1731693"/>
          </a:xfrm>
          <a:prstGeom prst="rect">
            <a:avLst/>
          </a:prstGeom>
          <a:noFill/>
          <a:ln/>
        </p:spPr>
        <p:txBody>
          <a:bodyPr wrap="square" lIns="91440" tIns="45720" rIns="91440" bIns="45720" rtlCol="0" anchor="t">
            <a:spAutoFit/>
          </a:bodyPr>
          <a:lstStyle/>
          <a:p>
            <a:pPr lvl="0" algn="just">
              <a:lnSpc>
                <a:spcPct val="120000"/>
              </a:lnSpc>
              <a:defRPr/>
            </a:pPr>
            <a:r>
              <a:rPr lang="en-US" altLang="zh-CN" b="1" dirty="0">
                <a:solidFill>
                  <a:srgbClr val="000000"/>
                </a:solidFill>
                <a:latin typeface="MiSans" pitchFamily="34" charset="0"/>
                <a:ea typeface="MiSans" pitchFamily="34" charset="-122"/>
                <a:cs typeface="MiSans" pitchFamily="34" charset="-120"/>
              </a:rPr>
              <a:t>Track defects </a:t>
            </a:r>
            <a:r>
              <a:rPr lang="en-US" altLang="zh-CN" b="1" dirty="0" err="1">
                <a:solidFill>
                  <a:srgbClr val="000000"/>
                </a:solidFill>
                <a:latin typeface="MiSans" pitchFamily="34" charset="0"/>
                <a:ea typeface="MiSans" pitchFamily="34" charset="-122"/>
                <a:cs typeface="MiSans" pitchFamily="34" charset="-120"/>
              </a:rPr>
              <a:t>contin-uously</a:t>
            </a:r>
            <a:r>
              <a:rPr lang="en-US" altLang="zh-CN" b="1" dirty="0">
                <a:solidFill>
                  <a:srgbClr val="000000"/>
                </a:solidFill>
                <a:latin typeface="MiSans" pitchFamily="34" charset="0"/>
                <a:ea typeface="MiSans" pitchFamily="34" charset="-122"/>
                <a:cs typeface="MiSans" pitchFamily="34" charset="-120"/>
              </a:rPr>
              <a:t> and perform regression testing for resolved issues to ensure stability.</a:t>
            </a:r>
            <a:endParaRPr kumimoji="0" lang="en-US" sz="2000" b="1"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82DDC-F1D3-941A-0CF2-64A043D5C50D}"/>
            </a:ext>
          </a:extLst>
        </p:cNvPr>
        <p:cNvGrpSpPr/>
        <p:nvPr/>
      </p:nvGrpSpPr>
      <p:grpSpPr>
        <a:xfrm>
          <a:off x="0" y="0"/>
          <a:ext cx="0" cy="0"/>
          <a:chOff x="0" y="0"/>
          <a:chExt cx="0" cy="0"/>
        </a:xfrm>
      </p:grpSpPr>
      <p:sp>
        <p:nvSpPr>
          <p:cNvPr id="11" name="Text 9">
            <a:extLst>
              <a:ext uri="{FF2B5EF4-FFF2-40B4-BE49-F238E27FC236}">
                <a16:creationId xmlns:a16="http://schemas.microsoft.com/office/drawing/2014/main" id="{A0F4762A-22D8-9E59-4DFA-AA562D5BDC2A}"/>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5" name="Text 13">
            <a:extLst>
              <a:ext uri="{FF2B5EF4-FFF2-40B4-BE49-F238E27FC236}">
                <a16:creationId xmlns:a16="http://schemas.microsoft.com/office/drawing/2014/main" id="{F72EB2FA-EC44-3235-F97B-5BD5B19105BE}"/>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138AB8A2-45CB-8AFC-F7BC-6C14E8862A72}"/>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73714DF5-6633-5629-3FDD-84B6FF38CB54}"/>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28804621-9298-F563-1793-C284D260FC08}"/>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2BC401AA-4B7F-EFF2-244C-BA16F0C9BD1A}"/>
              </a:ext>
            </a:extLst>
          </p:cNvPr>
          <p:cNvSpPr/>
          <p:nvPr/>
        </p:nvSpPr>
        <p:spPr>
          <a:xfrm rot="5400000">
            <a:off x="2844905" y="4341183"/>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CAD1A438-1703-19CB-3AE0-8CFAD2069CA6}"/>
              </a:ext>
            </a:extLst>
          </p:cNvPr>
          <p:cNvSpPr/>
          <p:nvPr/>
        </p:nvSpPr>
        <p:spPr>
          <a:xfrm>
            <a:off x="3004925" y="4476438"/>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2BA45B4E-12E5-9334-0B58-9D646DAA551A}"/>
              </a:ext>
            </a:extLst>
          </p:cNvPr>
          <p:cNvSpPr/>
          <p:nvPr/>
        </p:nvSpPr>
        <p:spPr>
          <a:xfrm>
            <a:off x="3004925" y="4476438"/>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7" name="Text 25">
            <a:extLst>
              <a:ext uri="{FF2B5EF4-FFF2-40B4-BE49-F238E27FC236}">
                <a16:creationId xmlns:a16="http://schemas.microsoft.com/office/drawing/2014/main" id="{0D65269C-423C-02AB-BFBA-A499D9668092}"/>
              </a:ext>
            </a:extLst>
          </p:cNvPr>
          <p:cNvSpPr/>
          <p:nvPr/>
        </p:nvSpPr>
        <p:spPr>
          <a:xfrm>
            <a:off x="6276975"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F934A211-78C8-BE30-41FE-800222147B40}"/>
              </a:ext>
            </a:extLst>
          </p:cNvPr>
          <p:cNvSpPr/>
          <p:nvPr/>
        </p:nvSpPr>
        <p:spPr>
          <a:xfrm>
            <a:off x="6318004"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F9D2A890-0D00-474E-4875-218749CD710F}"/>
              </a:ext>
            </a:extLst>
          </p:cNvPr>
          <p:cNvSpPr/>
          <p:nvPr/>
        </p:nvSpPr>
        <p:spPr>
          <a:xfrm>
            <a:off x="6318004"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36135101-620E-7270-AE83-6B3271B889AA}"/>
              </a:ext>
            </a:extLst>
          </p:cNvPr>
          <p:cNvSpPr/>
          <p:nvPr/>
        </p:nvSpPr>
        <p:spPr>
          <a:xfrm>
            <a:off x="393485" y="279737"/>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T</a:t>
            </a:r>
            <a:r>
              <a:rPr lang="en-US" altLang="zh-CN" sz="3000" b="1">
                <a:solidFill>
                  <a:srgbClr val="000000"/>
                </a:solidFill>
                <a:latin typeface="MiSans" pitchFamily="34" charset="0"/>
                <a:ea typeface="MiSans" pitchFamily="34" charset="-122"/>
                <a:cs typeface="MiSans" pitchFamily="34" charset="-120"/>
              </a:rPr>
              <a:t>esting Result</a:t>
            </a:r>
            <a:endParaRPr lang="en-US" sz="1600" dirty="0"/>
          </a:p>
        </p:txBody>
      </p:sp>
      <p:sp>
        <p:nvSpPr>
          <p:cNvPr id="37" name="Text 35">
            <a:extLst>
              <a:ext uri="{FF2B5EF4-FFF2-40B4-BE49-F238E27FC236}">
                <a16:creationId xmlns:a16="http://schemas.microsoft.com/office/drawing/2014/main" id="{1D32E09F-C57A-5299-893A-825CA2F8F1A9}"/>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CA7ECFFB-74D5-4DE6-699E-43576AD28D3B}"/>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66A3DD2F-8092-8C21-68AA-219FAF8091AF}"/>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01A0D3D2-E679-16F4-DBB9-92C32399190A}"/>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20" name="图片 19">
            <a:extLst>
              <a:ext uri="{FF2B5EF4-FFF2-40B4-BE49-F238E27FC236}">
                <a16:creationId xmlns:a16="http://schemas.microsoft.com/office/drawing/2014/main" id="{0B32CA02-7B9A-AAC7-7CA2-E10FF9A4396A}"/>
              </a:ext>
            </a:extLst>
          </p:cNvPr>
          <p:cNvPicPr>
            <a:picLocks noChangeAspect="1"/>
          </p:cNvPicPr>
          <p:nvPr/>
        </p:nvPicPr>
        <p:blipFill>
          <a:blip r:embed="rId4"/>
          <a:stretch>
            <a:fillRect/>
          </a:stretch>
        </p:blipFill>
        <p:spPr>
          <a:xfrm>
            <a:off x="371548" y="1152667"/>
            <a:ext cx="3285450" cy="2512403"/>
          </a:xfrm>
          <a:prstGeom prst="rect">
            <a:avLst/>
          </a:prstGeom>
        </p:spPr>
      </p:pic>
      <p:pic>
        <p:nvPicPr>
          <p:cNvPr id="48" name="图片 47">
            <a:extLst>
              <a:ext uri="{FF2B5EF4-FFF2-40B4-BE49-F238E27FC236}">
                <a16:creationId xmlns:a16="http://schemas.microsoft.com/office/drawing/2014/main" id="{277233BC-2EF8-84B5-F2F9-52E101F34B6E}"/>
              </a:ext>
            </a:extLst>
          </p:cNvPr>
          <p:cNvPicPr>
            <a:picLocks noChangeAspect="1"/>
          </p:cNvPicPr>
          <p:nvPr/>
        </p:nvPicPr>
        <p:blipFill>
          <a:blip r:embed="rId5"/>
          <a:stretch>
            <a:fillRect/>
          </a:stretch>
        </p:blipFill>
        <p:spPr>
          <a:xfrm>
            <a:off x="8017386" y="833735"/>
            <a:ext cx="3724465" cy="2848121"/>
          </a:xfrm>
          <a:prstGeom prst="rect">
            <a:avLst/>
          </a:prstGeom>
        </p:spPr>
      </p:pic>
      <p:pic>
        <p:nvPicPr>
          <p:cNvPr id="50" name="图片 49">
            <a:extLst>
              <a:ext uri="{FF2B5EF4-FFF2-40B4-BE49-F238E27FC236}">
                <a16:creationId xmlns:a16="http://schemas.microsoft.com/office/drawing/2014/main" id="{70E3695A-F0F6-E7AF-CE09-6F0E143E94F6}"/>
              </a:ext>
            </a:extLst>
          </p:cNvPr>
          <p:cNvPicPr>
            <a:picLocks noChangeAspect="1"/>
          </p:cNvPicPr>
          <p:nvPr/>
        </p:nvPicPr>
        <p:blipFill>
          <a:blip r:embed="rId6"/>
          <a:stretch>
            <a:fillRect/>
          </a:stretch>
        </p:blipFill>
        <p:spPr>
          <a:xfrm>
            <a:off x="4014916" y="1165839"/>
            <a:ext cx="3435538" cy="2425085"/>
          </a:xfrm>
          <a:prstGeom prst="rect">
            <a:avLst/>
          </a:prstGeom>
        </p:spPr>
      </p:pic>
      <p:sp>
        <p:nvSpPr>
          <p:cNvPr id="54" name="Text 25">
            <a:extLst>
              <a:ext uri="{FF2B5EF4-FFF2-40B4-BE49-F238E27FC236}">
                <a16:creationId xmlns:a16="http://schemas.microsoft.com/office/drawing/2014/main" id="{3FCCD4A9-9E44-2865-45E0-0441696E6DD7}"/>
              </a:ext>
            </a:extLst>
          </p:cNvPr>
          <p:cNvSpPr/>
          <p:nvPr/>
        </p:nvSpPr>
        <p:spPr>
          <a:xfrm>
            <a:off x="498371" y="3775213"/>
            <a:ext cx="3365912" cy="461665"/>
          </a:xfrm>
          <a:prstGeom prst="rect">
            <a:avLst/>
          </a:prstGeom>
          <a:noFill/>
          <a:ln/>
        </p:spPr>
        <p:txBody>
          <a:bodyPr wrap="square" lIns="91440" tIns="45720" rIns="91440" bIns="45720" rtlCol="0" anchor="t">
            <a:spAutoFit/>
          </a:bodyPr>
          <a:lstStyle/>
          <a:p>
            <a:pPr algn="just">
              <a:lnSpc>
                <a:spcPct val="100000"/>
              </a:lnSpc>
            </a:pPr>
            <a:r>
              <a:rPr lang="en-US" sz="2400" b="1" dirty="0">
                <a:solidFill>
                  <a:srgbClr val="1D3EBF"/>
                </a:solidFill>
                <a:latin typeface="MiSans" pitchFamily="34" charset="0"/>
                <a:ea typeface="MiSans" pitchFamily="34" charset="-122"/>
                <a:cs typeface="MiSans" pitchFamily="34" charset="-120"/>
              </a:rPr>
              <a:t>Latency Performance</a:t>
            </a:r>
            <a:endParaRPr lang="en-US" b="1" dirty="0"/>
          </a:p>
        </p:txBody>
      </p:sp>
      <p:sp>
        <p:nvSpPr>
          <p:cNvPr id="57" name="Text 25">
            <a:extLst>
              <a:ext uri="{FF2B5EF4-FFF2-40B4-BE49-F238E27FC236}">
                <a16:creationId xmlns:a16="http://schemas.microsoft.com/office/drawing/2014/main" id="{6F807190-A93A-F580-8170-3FCC536687EB}"/>
              </a:ext>
            </a:extLst>
          </p:cNvPr>
          <p:cNvSpPr/>
          <p:nvPr/>
        </p:nvSpPr>
        <p:spPr>
          <a:xfrm>
            <a:off x="4460910" y="3768288"/>
            <a:ext cx="2857430" cy="461665"/>
          </a:xfrm>
          <a:prstGeom prst="rect">
            <a:avLst/>
          </a:prstGeom>
          <a:noFill/>
          <a:ln/>
        </p:spPr>
        <p:txBody>
          <a:bodyPr wrap="square" lIns="91440" tIns="45720" rIns="91440" bIns="45720" rtlCol="0" anchor="t">
            <a:spAutoFit/>
          </a:bodyPr>
          <a:lstStyle/>
          <a:p>
            <a:pPr algn="just">
              <a:lnSpc>
                <a:spcPct val="100000"/>
              </a:lnSpc>
            </a:pPr>
            <a:r>
              <a:rPr lang="en-US" sz="2400" b="1" dirty="0">
                <a:solidFill>
                  <a:srgbClr val="1D3EBF"/>
                </a:solidFill>
                <a:latin typeface="MiSans" pitchFamily="34" charset="0"/>
                <a:ea typeface="MiSans" pitchFamily="34" charset="-122"/>
                <a:cs typeface="MiSans" pitchFamily="34" charset="-120"/>
              </a:rPr>
              <a:t>Success Rate</a:t>
            </a:r>
            <a:endParaRPr lang="en-US" b="1" dirty="0"/>
          </a:p>
        </p:txBody>
      </p:sp>
      <p:sp>
        <p:nvSpPr>
          <p:cNvPr id="58" name="Text 25">
            <a:extLst>
              <a:ext uri="{FF2B5EF4-FFF2-40B4-BE49-F238E27FC236}">
                <a16:creationId xmlns:a16="http://schemas.microsoft.com/office/drawing/2014/main" id="{0653191C-CBAE-E2A0-9FCC-67471D1E7C67}"/>
              </a:ext>
            </a:extLst>
          </p:cNvPr>
          <p:cNvSpPr/>
          <p:nvPr/>
        </p:nvSpPr>
        <p:spPr>
          <a:xfrm>
            <a:off x="8091725" y="3766044"/>
            <a:ext cx="3986107" cy="461665"/>
          </a:xfrm>
          <a:prstGeom prst="rect">
            <a:avLst/>
          </a:prstGeom>
          <a:noFill/>
          <a:ln/>
        </p:spPr>
        <p:txBody>
          <a:bodyPr wrap="square" lIns="91440" tIns="45720" rIns="91440" bIns="45720" rtlCol="0" anchor="t">
            <a:spAutoFit/>
          </a:bodyPr>
          <a:lstStyle/>
          <a:p>
            <a:pPr algn="just">
              <a:lnSpc>
                <a:spcPct val="100000"/>
              </a:lnSpc>
            </a:pPr>
            <a:r>
              <a:rPr lang="en-US" sz="2400" b="1" dirty="0">
                <a:solidFill>
                  <a:srgbClr val="1D3EBF"/>
                </a:solidFill>
                <a:latin typeface="MiSans" pitchFamily="34" charset="0"/>
                <a:ea typeface="MiSans" pitchFamily="34" charset="-122"/>
                <a:cs typeface="MiSans" pitchFamily="34" charset="-120"/>
              </a:rPr>
              <a:t>Resource Utilization</a:t>
            </a:r>
            <a:endParaRPr lang="en-US" b="1" dirty="0"/>
          </a:p>
        </p:txBody>
      </p:sp>
      <p:sp>
        <p:nvSpPr>
          <p:cNvPr id="59" name="Text 26">
            <a:extLst>
              <a:ext uri="{FF2B5EF4-FFF2-40B4-BE49-F238E27FC236}">
                <a16:creationId xmlns:a16="http://schemas.microsoft.com/office/drawing/2014/main" id="{D9143947-B52A-07C7-E3BA-3A725C424C91}"/>
              </a:ext>
            </a:extLst>
          </p:cNvPr>
          <p:cNvSpPr/>
          <p:nvPr/>
        </p:nvSpPr>
        <p:spPr>
          <a:xfrm>
            <a:off x="539008" y="4347021"/>
            <a:ext cx="3021266" cy="1431161"/>
          </a:xfrm>
          <a:prstGeom prst="rect">
            <a:avLst/>
          </a:prstGeom>
          <a:noFill/>
          <a:ln/>
        </p:spPr>
        <p:txBody>
          <a:bodyPr wrap="square" lIns="91440" tIns="45720" rIns="91440" bIns="45720" rtlCol="0" anchor="t">
            <a:spAutoFit/>
          </a:bodyPr>
          <a:lstStyle/>
          <a:p>
            <a:pPr algn="just">
              <a:lnSpc>
                <a:spcPct val="110000"/>
              </a:lnSpc>
            </a:pPr>
            <a:r>
              <a:rPr lang="en-US" sz="1600" b="1" dirty="0">
                <a:solidFill>
                  <a:srgbClr val="000000"/>
                </a:solidFill>
                <a:latin typeface="MiSans" pitchFamily="34" charset="0"/>
                <a:ea typeface="MiSans" pitchFamily="34" charset="-122"/>
                <a:cs typeface="MiSans" pitchFamily="34" charset="-120"/>
              </a:rPr>
              <a:t>Latency (average, 95th percentile, 99th percentile) increases with concurrency (0–200 users) but remains within acceptable limits.</a:t>
            </a:r>
          </a:p>
        </p:txBody>
      </p:sp>
      <p:sp>
        <p:nvSpPr>
          <p:cNvPr id="60" name="Text 26">
            <a:extLst>
              <a:ext uri="{FF2B5EF4-FFF2-40B4-BE49-F238E27FC236}">
                <a16:creationId xmlns:a16="http://schemas.microsoft.com/office/drawing/2014/main" id="{498462B8-ACBF-CEB8-C44A-E194F7880243}"/>
              </a:ext>
            </a:extLst>
          </p:cNvPr>
          <p:cNvSpPr/>
          <p:nvPr/>
        </p:nvSpPr>
        <p:spPr>
          <a:xfrm>
            <a:off x="4467823" y="4323585"/>
            <a:ext cx="2918038" cy="890885"/>
          </a:xfrm>
          <a:prstGeom prst="rect">
            <a:avLst/>
          </a:prstGeom>
          <a:noFill/>
          <a:ln/>
        </p:spPr>
        <p:txBody>
          <a:bodyPr wrap="square" lIns="91440" tIns="45720" rIns="91440" bIns="45720" rtlCol="0" anchor="t">
            <a:spAutoFit/>
          </a:bodyPr>
          <a:lstStyle/>
          <a:p>
            <a:pPr algn="just">
              <a:lnSpc>
                <a:spcPct val="110000"/>
              </a:lnSpc>
            </a:pPr>
            <a:r>
              <a:rPr lang="en-US" sz="1600" b="1" dirty="0">
                <a:solidFill>
                  <a:srgbClr val="000000"/>
                </a:solidFill>
                <a:latin typeface="MiSans" pitchFamily="34" charset="0"/>
                <a:ea typeface="MiSans" pitchFamily="34" charset="-122"/>
                <a:cs typeface="MiSans" pitchFamily="34" charset="-120"/>
              </a:rPr>
              <a:t>Request success rate stays above 97% across all concurrency levels.</a:t>
            </a:r>
            <a:endParaRPr lang="en-US" sz="1600" b="1" dirty="0"/>
          </a:p>
        </p:txBody>
      </p:sp>
      <p:sp>
        <p:nvSpPr>
          <p:cNvPr id="61" name="Text 26">
            <a:extLst>
              <a:ext uri="{FF2B5EF4-FFF2-40B4-BE49-F238E27FC236}">
                <a16:creationId xmlns:a16="http://schemas.microsoft.com/office/drawing/2014/main" id="{BB1C89BE-51CC-D218-93B8-949E47C04FD5}"/>
              </a:ext>
            </a:extLst>
          </p:cNvPr>
          <p:cNvSpPr/>
          <p:nvPr/>
        </p:nvSpPr>
        <p:spPr>
          <a:xfrm>
            <a:off x="8044457" y="4363585"/>
            <a:ext cx="3697394" cy="1161728"/>
          </a:xfrm>
          <a:prstGeom prst="rect">
            <a:avLst/>
          </a:prstGeom>
          <a:noFill/>
          <a:ln/>
        </p:spPr>
        <p:txBody>
          <a:bodyPr wrap="square" lIns="91440" tIns="45720" rIns="91440" bIns="45720" rtlCol="0" anchor="t">
            <a:spAutoFit/>
          </a:bodyPr>
          <a:lstStyle/>
          <a:p>
            <a:pPr algn="just">
              <a:lnSpc>
                <a:spcPct val="110000"/>
              </a:lnSpc>
            </a:pPr>
            <a:r>
              <a:rPr lang="en-US" sz="1600" b="1" dirty="0">
                <a:solidFill>
                  <a:srgbClr val="000000"/>
                </a:solidFill>
                <a:latin typeface="MiSans" pitchFamily="34" charset="0"/>
                <a:ea typeface="MiSans" pitchFamily="34" charset="-122"/>
                <a:cs typeface="MiSans" pitchFamily="34" charset="-120"/>
              </a:rPr>
              <a:t>GPU utilization (&gt;70%) and memory usage (~3000MB) grow reasonably under 200 concurrent users without resource exhaustion.</a:t>
            </a:r>
            <a:endParaRPr lang="en-US" sz="1600" b="1" dirty="0"/>
          </a:p>
        </p:txBody>
      </p:sp>
    </p:spTree>
    <p:extLst>
      <p:ext uri="{BB962C8B-B14F-4D97-AF65-F5344CB8AC3E}">
        <p14:creationId xmlns:p14="http://schemas.microsoft.com/office/powerpoint/2010/main" val="780035198"/>
      </p:ext>
    </p:extLst>
  </p:cSld>
  <p:clrMapOvr>
    <a:masterClrMapping/>
  </p:clrMapOvr>
  <p:transition>
    <p:fade/>
  </p:transition>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CA094-CEF5-0777-632A-DCEC8623F3E0}"/>
            </a:ext>
          </a:extLst>
        </p:cNvPr>
        <p:cNvGrpSpPr/>
        <p:nvPr/>
      </p:nvGrpSpPr>
      <p:grpSpPr>
        <a:xfrm>
          <a:off x="0" y="0"/>
          <a:ext cx="0" cy="0"/>
          <a:chOff x="0" y="0"/>
          <a:chExt cx="0" cy="0"/>
        </a:xfrm>
      </p:grpSpPr>
      <p:sp>
        <p:nvSpPr>
          <p:cNvPr id="9" name="Text 7">
            <a:extLst>
              <a:ext uri="{FF2B5EF4-FFF2-40B4-BE49-F238E27FC236}">
                <a16:creationId xmlns:a16="http://schemas.microsoft.com/office/drawing/2014/main" id="{61EE2B3D-5F26-B59B-BF70-10A10EA4D49D}"/>
              </a:ext>
            </a:extLst>
          </p:cNvPr>
          <p:cNvSpPr/>
          <p:nvPr/>
        </p:nvSpPr>
        <p:spPr>
          <a:xfrm>
            <a:off x="760730"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1" name="Text 9">
            <a:extLst>
              <a:ext uri="{FF2B5EF4-FFF2-40B4-BE49-F238E27FC236}">
                <a16:creationId xmlns:a16="http://schemas.microsoft.com/office/drawing/2014/main" id="{48E7A1A7-7920-A8A0-7997-ED261AD6BDBA}"/>
              </a:ext>
            </a:extLst>
          </p:cNvPr>
          <p:cNvSpPr/>
          <p:nvPr/>
        </p:nvSpPr>
        <p:spPr>
          <a:xfrm rot="5400000">
            <a:off x="759460"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5" name="Text 13">
            <a:extLst>
              <a:ext uri="{FF2B5EF4-FFF2-40B4-BE49-F238E27FC236}">
                <a16:creationId xmlns:a16="http://schemas.microsoft.com/office/drawing/2014/main" id="{C2995EEC-DDC1-8E98-7153-C7AF945C3C79}"/>
              </a:ext>
            </a:extLst>
          </p:cNvPr>
          <p:cNvSpPr/>
          <p:nvPr/>
        </p:nvSpPr>
        <p:spPr>
          <a:xfrm>
            <a:off x="760730" y="3923030"/>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17" name="Text 15">
            <a:extLst>
              <a:ext uri="{FF2B5EF4-FFF2-40B4-BE49-F238E27FC236}">
                <a16:creationId xmlns:a16="http://schemas.microsoft.com/office/drawing/2014/main" id="{BF6BE90F-C903-A09E-9FEE-351C2A2AA30E}"/>
              </a:ext>
            </a:extLst>
          </p:cNvPr>
          <p:cNvSpPr/>
          <p:nvPr/>
        </p:nvSpPr>
        <p:spPr>
          <a:xfrm rot="5400000">
            <a:off x="759460"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18" name="Shape 16">
            <a:extLst>
              <a:ext uri="{FF2B5EF4-FFF2-40B4-BE49-F238E27FC236}">
                <a16:creationId xmlns:a16="http://schemas.microsoft.com/office/drawing/2014/main" id="{11948792-5000-F7AC-B096-6B6067B8372F}"/>
              </a:ext>
            </a:extLst>
          </p:cNvPr>
          <p:cNvSpPr/>
          <p:nvPr/>
        </p:nvSpPr>
        <p:spPr>
          <a:xfrm>
            <a:off x="919480" y="4202430"/>
            <a:ext cx="113665" cy="168910"/>
          </a:xfrm>
          <a:prstGeom prst="chevron">
            <a:avLst>
              <a:gd name="adj" fmla="val 64013"/>
            </a:avLst>
          </a:prstGeom>
          <a:solidFill>
            <a:srgbClr val="FFFFFF"/>
          </a:solidFill>
          <a:ln/>
        </p:spPr>
      </p:sp>
      <p:sp>
        <p:nvSpPr>
          <p:cNvPr id="19" name="Text 17">
            <a:extLst>
              <a:ext uri="{FF2B5EF4-FFF2-40B4-BE49-F238E27FC236}">
                <a16:creationId xmlns:a16="http://schemas.microsoft.com/office/drawing/2014/main" id="{7F7DD7BD-D583-C127-F5A1-02DA317A5533}"/>
              </a:ext>
            </a:extLst>
          </p:cNvPr>
          <p:cNvSpPr/>
          <p:nvPr/>
        </p:nvSpPr>
        <p:spPr>
          <a:xfrm>
            <a:off x="919480"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1" name="Text 19">
            <a:extLst>
              <a:ext uri="{FF2B5EF4-FFF2-40B4-BE49-F238E27FC236}">
                <a16:creationId xmlns:a16="http://schemas.microsoft.com/office/drawing/2014/main" id="{1F5F710C-7DB5-B16F-1A5A-D62DC149F4A2}"/>
              </a:ext>
            </a:extLst>
          </p:cNvPr>
          <p:cNvSpPr/>
          <p:nvPr/>
        </p:nvSpPr>
        <p:spPr>
          <a:xfrm>
            <a:off x="6276975" y="1602105"/>
            <a:ext cx="5128895" cy="1988820"/>
          </a:xfrm>
          <a:prstGeom prst="rect">
            <a:avLst/>
          </a:prstGeom>
          <a:noFill/>
          <a:ln/>
        </p:spPr>
        <p:txBody>
          <a:bodyPr wrap="square" lIns="45720" tIns="91440" rIns="91440" bIns="45720" rtlCol="0" anchor="ctr"/>
          <a:lstStyle/>
          <a:p>
            <a:pPr>
              <a:lnSpc>
                <a:spcPct val="100000"/>
              </a:lnSpc>
            </a:pPr>
            <a:endParaRPr lang="en-US" sz="1600" dirty="0"/>
          </a:p>
        </p:txBody>
      </p:sp>
      <p:sp>
        <p:nvSpPr>
          <p:cNvPr id="23" name="Text 21">
            <a:extLst>
              <a:ext uri="{FF2B5EF4-FFF2-40B4-BE49-F238E27FC236}">
                <a16:creationId xmlns:a16="http://schemas.microsoft.com/office/drawing/2014/main" id="{B18D43BD-51E4-D0C7-9A83-113865033C8A}"/>
              </a:ext>
            </a:extLst>
          </p:cNvPr>
          <p:cNvSpPr/>
          <p:nvPr/>
        </p:nvSpPr>
        <p:spPr>
          <a:xfrm rot="5400000">
            <a:off x="6275705" y="1746250"/>
            <a:ext cx="434340" cy="438785"/>
          </a:xfrm>
          <a:prstGeom prst="rect">
            <a:avLst/>
          </a:prstGeom>
          <a:noFill/>
          <a:ln/>
        </p:spPr>
        <p:txBody>
          <a:bodyPr wrap="square" lIns="0" tIns="0" rIns="0" bIns="0" rtlCol="0" anchor="ctr"/>
          <a:lstStyle/>
          <a:p>
            <a:pPr>
              <a:lnSpc>
                <a:spcPct val="100000"/>
              </a:lnSpc>
            </a:pPr>
            <a:endParaRPr lang="en-US" sz="1600" dirty="0"/>
          </a:p>
        </p:txBody>
      </p:sp>
      <p:sp>
        <p:nvSpPr>
          <p:cNvPr id="24" name="Shape 22">
            <a:extLst>
              <a:ext uri="{FF2B5EF4-FFF2-40B4-BE49-F238E27FC236}">
                <a16:creationId xmlns:a16="http://schemas.microsoft.com/office/drawing/2014/main" id="{10D8272A-E4AC-FF21-A60B-521C923E1610}"/>
              </a:ext>
            </a:extLst>
          </p:cNvPr>
          <p:cNvSpPr/>
          <p:nvPr/>
        </p:nvSpPr>
        <p:spPr>
          <a:xfrm>
            <a:off x="6435725" y="1881505"/>
            <a:ext cx="113665" cy="168910"/>
          </a:xfrm>
          <a:prstGeom prst="chevron">
            <a:avLst>
              <a:gd name="adj" fmla="val 64013"/>
            </a:avLst>
          </a:prstGeom>
          <a:solidFill>
            <a:srgbClr val="FFFFFF"/>
          </a:solidFill>
          <a:ln/>
        </p:spPr>
      </p:sp>
      <p:sp>
        <p:nvSpPr>
          <p:cNvPr id="25" name="Text 23">
            <a:extLst>
              <a:ext uri="{FF2B5EF4-FFF2-40B4-BE49-F238E27FC236}">
                <a16:creationId xmlns:a16="http://schemas.microsoft.com/office/drawing/2014/main" id="{7865116D-DD6A-64FE-1695-0A3C7F443098}"/>
              </a:ext>
            </a:extLst>
          </p:cNvPr>
          <p:cNvSpPr/>
          <p:nvPr/>
        </p:nvSpPr>
        <p:spPr>
          <a:xfrm>
            <a:off x="6435725" y="1881505"/>
            <a:ext cx="113665" cy="168910"/>
          </a:xfrm>
          <a:prstGeom prst="rect">
            <a:avLst/>
          </a:prstGeom>
          <a:noFill/>
          <a:ln/>
        </p:spPr>
        <p:txBody>
          <a:bodyPr wrap="square" lIns="0" tIns="0" rIns="0" bIns="0" rtlCol="0" anchor="ctr"/>
          <a:lstStyle/>
          <a:p>
            <a:pPr>
              <a:lnSpc>
                <a:spcPct val="100000"/>
              </a:lnSpc>
            </a:pPr>
            <a:endParaRPr lang="en-US" sz="1600" dirty="0"/>
          </a:p>
        </p:txBody>
      </p:sp>
      <p:sp>
        <p:nvSpPr>
          <p:cNvPr id="29" name="Text 27">
            <a:extLst>
              <a:ext uri="{FF2B5EF4-FFF2-40B4-BE49-F238E27FC236}">
                <a16:creationId xmlns:a16="http://schemas.microsoft.com/office/drawing/2014/main" id="{E72C8326-0B6A-7DD7-1398-5B08A5132192}"/>
              </a:ext>
            </a:extLst>
          </p:cNvPr>
          <p:cNvSpPr/>
          <p:nvPr/>
        </p:nvSpPr>
        <p:spPr>
          <a:xfrm rot="5400000">
            <a:off x="6275705" y="4067175"/>
            <a:ext cx="434340" cy="438785"/>
          </a:xfrm>
          <a:prstGeom prst="rect">
            <a:avLst/>
          </a:prstGeom>
          <a:noFill/>
          <a:ln/>
        </p:spPr>
        <p:txBody>
          <a:bodyPr wrap="square" lIns="0" tIns="0" rIns="0" bIns="0" rtlCol="0" anchor="ctr"/>
          <a:lstStyle/>
          <a:p>
            <a:pPr>
              <a:lnSpc>
                <a:spcPct val="100000"/>
              </a:lnSpc>
            </a:pPr>
            <a:endParaRPr lang="en-US" sz="1600" dirty="0"/>
          </a:p>
        </p:txBody>
      </p:sp>
      <p:sp>
        <p:nvSpPr>
          <p:cNvPr id="30" name="Shape 28">
            <a:extLst>
              <a:ext uri="{FF2B5EF4-FFF2-40B4-BE49-F238E27FC236}">
                <a16:creationId xmlns:a16="http://schemas.microsoft.com/office/drawing/2014/main" id="{7E59C061-158F-B987-9463-2146CC6B57A9}"/>
              </a:ext>
            </a:extLst>
          </p:cNvPr>
          <p:cNvSpPr/>
          <p:nvPr/>
        </p:nvSpPr>
        <p:spPr>
          <a:xfrm>
            <a:off x="6435725" y="4202430"/>
            <a:ext cx="113665" cy="168910"/>
          </a:xfrm>
          <a:prstGeom prst="chevron">
            <a:avLst>
              <a:gd name="adj" fmla="val 64013"/>
            </a:avLst>
          </a:prstGeom>
          <a:solidFill>
            <a:srgbClr val="FFFFFF"/>
          </a:solidFill>
          <a:ln/>
        </p:spPr>
      </p:sp>
      <p:sp>
        <p:nvSpPr>
          <p:cNvPr id="31" name="Text 29">
            <a:extLst>
              <a:ext uri="{FF2B5EF4-FFF2-40B4-BE49-F238E27FC236}">
                <a16:creationId xmlns:a16="http://schemas.microsoft.com/office/drawing/2014/main" id="{425D8804-0474-A7F8-CD3F-8B86CBA9CE38}"/>
              </a:ext>
            </a:extLst>
          </p:cNvPr>
          <p:cNvSpPr/>
          <p:nvPr/>
        </p:nvSpPr>
        <p:spPr>
          <a:xfrm>
            <a:off x="6435725" y="4202430"/>
            <a:ext cx="113665" cy="168910"/>
          </a:xfrm>
          <a:prstGeom prst="rect">
            <a:avLst/>
          </a:prstGeom>
          <a:noFill/>
          <a:ln/>
        </p:spPr>
        <p:txBody>
          <a:bodyPr wrap="square" lIns="0" tIns="0" rIns="0" bIns="0" rtlCol="0" anchor="ctr"/>
          <a:lstStyle/>
          <a:p>
            <a:pPr>
              <a:lnSpc>
                <a:spcPct val="100000"/>
              </a:lnSpc>
            </a:pPr>
            <a:endParaRPr lang="en-US" sz="1600" dirty="0"/>
          </a:p>
        </p:txBody>
      </p:sp>
      <p:sp>
        <p:nvSpPr>
          <p:cNvPr id="32" name="Text 30">
            <a:extLst>
              <a:ext uri="{FF2B5EF4-FFF2-40B4-BE49-F238E27FC236}">
                <a16:creationId xmlns:a16="http://schemas.microsoft.com/office/drawing/2014/main" id="{4ECF3F21-AB00-1858-3A83-37B3FF6FB3E7}"/>
              </a:ext>
            </a:extLst>
          </p:cNvPr>
          <p:cNvSpPr/>
          <p:nvPr/>
        </p:nvSpPr>
        <p:spPr>
          <a:xfrm>
            <a:off x="441926" y="287956"/>
            <a:ext cx="10151745" cy="553998"/>
          </a:xfrm>
          <a:prstGeom prst="rect">
            <a:avLst/>
          </a:prstGeom>
          <a:noFill/>
          <a:ln/>
        </p:spPr>
        <p:txBody>
          <a:bodyPr wrap="square" lIns="91440" tIns="45720" rIns="91440" bIns="45720" rtlCol="0" anchor="t">
            <a:spAutoFit/>
          </a:bodyPr>
          <a:lstStyle/>
          <a:p>
            <a:pPr>
              <a:lnSpc>
                <a:spcPct val="100000"/>
              </a:lnSpc>
            </a:pPr>
            <a:r>
              <a:rPr lang="en-US" sz="3000" b="1">
                <a:solidFill>
                  <a:srgbClr val="000000"/>
                </a:solidFill>
                <a:latin typeface="MiSans" pitchFamily="34" charset="0"/>
                <a:ea typeface="MiSans" pitchFamily="34" charset="-122"/>
                <a:cs typeface="MiSans" pitchFamily="34" charset="-120"/>
              </a:rPr>
              <a:t>04- Testing Result: F1 Score Comparison</a:t>
            </a:r>
            <a:endParaRPr lang="en-US" sz="1600" dirty="0"/>
          </a:p>
        </p:txBody>
      </p:sp>
      <p:sp>
        <p:nvSpPr>
          <p:cNvPr id="33" name="Shape 31">
            <a:extLst>
              <a:ext uri="{FF2B5EF4-FFF2-40B4-BE49-F238E27FC236}">
                <a16:creationId xmlns:a16="http://schemas.microsoft.com/office/drawing/2014/main" id="{FFA1541C-7BEC-934D-6EF7-20E577027047}"/>
              </a:ext>
            </a:extLst>
          </p:cNvPr>
          <p:cNvSpPr/>
          <p:nvPr/>
        </p:nvSpPr>
        <p:spPr>
          <a:xfrm>
            <a:off x="11106785" y="693737"/>
            <a:ext cx="235520" cy="0"/>
          </a:xfrm>
          <a:prstGeom prst="line">
            <a:avLst/>
          </a:prstGeom>
          <a:noFill/>
          <a:ln w="31750">
            <a:solidFill>
              <a:srgbClr val="004CC0"/>
            </a:solidFill>
            <a:prstDash val="solid"/>
            <a:headEnd type="none"/>
            <a:tailEnd type="none"/>
          </a:ln>
        </p:spPr>
      </p:sp>
      <p:sp>
        <p:nvSpPr>
          <p:cNvPr id="34" name="Shape 32">
            <a:extLst>
              <a:ext uri="{FF2B5EF4-FFF2-40B4-BE49-F238E27FC236}">
                <a16:creationId xmlns:a16="http://schemas.microsoft.com/office/drawing/2014/main" id="{BA4C3C91-962D-4036-1B0E-5DD2099AF904}"/>
              </a:ext>
            </a:extLst>
          </p:cNvPr>
          <p:cNvSpPr/>
          <p:nvPr/>
        </p:nvSpPr>
        <p:spPr>
          <a:xfrm>
            <a:off x="11106785" y="754697"/>
            <a:ext cx="235520" cy="0"/>
          </a:xfrm>
          <a:prstGeom prst="line">
            <a:avLst/>
          </a:prstGeom>
          <a:noFill/>
          <a:ln w="31750">
            <a:solidFill>
              <a:srgbClr val="004CC0"/>
            </a:solidFill>
            <a:prstDash val="solid"/>
            <a:headEnd type="none"/>
            <a:tailEnd type="none"/>
          </a:ln>
        </p:spPr>
      </p:sp>
      <p:sp>
        <p:nvSpPr>
          <p:cNvPr id="35" name="Shape 33">
            <a:extLst>
              <a:ext uri="{FF2B5EF4-FFF2-40B4-BE49-F238E27FC236}">
                <a16:creationId xmlns:a16="http://schemas.microsoft.com/office/drawing/2014/main" id="{45DF9A92-8C50-9038-905D-ED7655096E62}"/>
              </a:ext>
            </a:extLst>
          </p:cNvPr>
          <p:cNvSpPr/>
          <p:nvPr/>
        </p:nvSpPr>
        <p:spPr>
          <a:xfrm>
            <a:off x="11106785" y="815657"/>
            <a:ext cx="235520" cy="0"/>
          </a:xfrm>
          <a:prstGeom prst="line">
            <a:avLst/>
          </a:prstGeom>
          <a:noFill/>
          <a:ln w="31750">
            <a:solidFill>
              <a:srgbClr val="004CC0"/>
            </a:solidFill>
            <a:prstDash val="solid"/>
            <a:headEnd type="none"/>
            <a:tailEnd type="none"/>
          </a:ln>
        </p:spPr>
      </p:sp>
      <p:sp>
        <p:nvSpPr>
          <p:cNvPr id="37" name="Text 35">
            <a:extLst>
              <a:ext uri="{FF2B5EF4-FFF2-40B4-BE49-F238E27FC236}">
                <a16:creationId xmlns:a16="http://schemas.microsoft.com/office/drawing/2014/main" id="{FBDCA412-98C8-A3FE-9CEA-477B262011DE}"/>
              </a:ext>
            </a:extLst>
          </p:cNvPr>
          <p:cNvSpPr/>
          <p:nvPr/>
        </p:nvSpPr>
        <p:spPr>
          <a:xfrm>
            <a:off x="1364615"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39" name="Text 37">
            <a:extLst>
              <a:ext uri="{FF2B5EF4-FFF2-40B4-BE49-F238E27FC236}">
                <a16:creationId xmlns:a16="http://schemas.microsoft.com/office/drawing/2014/main" id="{B13A417F-1984-90B2-52EC-876C510D415B}"/>
              </a:ext>
            </a:extLst>
          </p:cNvPr>
          <p:cNvSpPr/>
          <p:nvPr/>
        </p:nvSpPr>
        <p:spPr>
          <a:xfrm>
            <a:off x="1364615"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1" name="Text 39">
            <a:extLst>
              <a:ext uri="{FF2B5EF4-FFF2-40B4-BE49-F238E27FC236}">
                <a16:creationId xmlns:a16="http://schemas.microsoft.com/office/drawing/2014/main" id="{CB8FACAF-DC02-399D-872C-4A8DBF7CD512}"/>
              </a:ext>
            </a:extLst>
          </p:cNvPr>
          <p:cNvSpPr/>
          <p:nvPr/>
        </p:nvSpPr>
        <p:spPr>
          <a:xfrm>
            <a:off x="6880860" y="2153920"/>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sp>
        <p:nvSpPr>
          <p:cNvPr id="43" name="Text 41">
            <a:extLst>
              <a:ext uri="{FF2B5EF4-FFF2-40B4-BE49-F238E27FC236}">
                <a16:creationId xmlns:a16="http://schemas.microsoft.com/office/drawing/2014/main" id="{0E77424D-0BEF-92F1-BBCC-4D9EE95C4CA5}"/>
              </a:ext>
            </a:extLst>
          </p:cNvPr>
          <p:cNvSpPr/>
          <p:nvPr/>
        </p:nvSpPr>
        <p:spPr>
          <a:xfrm>
            <a:off x="6880860" y="4474845"/>
            <a:ext cx="4329430" cy="294183"/>
          </a:xfrm>
          <a:prstGeom prst="rect">
            <a:avLst/>
          </a:prstGeom>
          <a:noFill/>
          <a:ln/>
        </p:spPr>
        <p:txBody>
          <a:bodyPr wrap="square" lIns="0" tIns="0" rIns="0" bIns="0" rtlCol="0" anchor="t">
            <a:spAutoFit/>
          </a:bodyPr>
          <a:lstStyle/>
          <a:p>
            <a:pPr algn="just">
              <a:lnSpc>
                <a:spcPct val="130000"/>
              </a:lnSpc>
            </a:pPr>
            <a:endParaRPr lang="en-US" sz="1600" dirty="0"/>
          </a:p>
        </p:txBody>
      </p:sp>
      <p:pic>
        <p:nvPicPr>
          <p:cNvPr id="53" name="图片 52">
            <a:extLst>
              <a:ext uri="{FF2B5EF4-FFF2-40B4-BE49-F238E27FC236}">
                <a16:creationId xmlns:a16="http://schemas.microsoft.com/office/drawing/2014/main" id="{77F72F07-2A06-CCD3-CD63-07C36F78327D}"/>
              </a:ext>
            </a:extLst>
          </p:cNvPr>
          <p:cNvPicPr>
            <a:picLocks noChangeAspect="1"/>
          </p:cNvPicPr>
          <p:nvPr/>
        </p:nvPicPr>
        <p:blipFill>
          <a:blip r:embed="rId4"/>
          <a:stretch>
            <a:fillRect/>
          </a:stretch>
        </p:blipFill>
        <p:spPr>
          <a:xfrm>
            <a:off x="2191746" y="899681"/>
            <a:ext cx="7558636" cy="4667210"/>
          </a:xfrm>
          <a:prstGeom prst="rect">
            <a:avLst/>
          </a:prstGeom>
        </p:spPr>
      </p:pic>
      <p:sp>
        <p:nvSpPr>
          <p:cNvPr id="10" name="Text 26">
            <a:extLst>
              <a:ext uri="{FF2B5EF4-FFF2-40B4-BE49-F238E27FC236}">
                <a16:creationId xmlns:a16="http://schemas.microsoft.com/office/drawing/2014/main" id="{49C466C4-E0D3-B585-DA38-B0BC166D143E}"/>
              </a:ext>
            </a:extLst>
          </p:cNvPr>
          <p:cNvSpPr/>
          <p:nvPr/>
        </p:nvSpPr>
        <p:spPr>
          <a:xfrm>
            <a:off x="774381" y="5713258"/>
            <a:ext cx="10656889" cy="991169"/>
          </a:xfrm>
          <a:prstGeom prst="rect">
            <a:avLst/>
          </a:prstGeom>
          <a:noFill/>
          <a:ln/>
        </p:spPr>
        <p:txBody>
          <a:bodyPr wrap="square" lIns="91440" tIns="45720" rIns="91440" bIns="45720" rtlCol="0" anchor="t">
            <a:spAutoFit/>
          </a:bodyPr>
          <a:lstStyle/>
          <a:p>
            <a:pPr algn="just">
              <a:lnSpc>
                <a:spcPct val="110000"/>
              </a:lnSpc>
            </a:pPr>
            <a:r>
              <a:rPr lang="en-US" b="1" dirty="0">
                <a:solidFill>
                  <a:srgbClr val="000000"/>
                </a:solidFill>
                <a:latin typeface="MiSans" pitchFamily="34" charset="0"/>
                <a:ea typeface="MiSans" pitchFamily="34" charset="-122"/>
                <a:cs typeface="MiSans" pitchFamily="34" charset="-120"/>
              </a:rPr>
              <a:t>Comparison of F1-scores across multiple log analysis methods (e.g., </a:t>
            </a:r>
            <a:r>
              <a:rPr lang="en-US" b="1" dirty="0" err="1">
                <a:solidFill>
                  <a:srgbClr val="000000"/>
                </a:solidFill>
                <a:latin typeface="MiSans" pitchFamily="34" charset="0"/>
                <a:ea typeface="MiSans" pitchFamily="34" charset="-122"/>
                <a:cs typeface="MiSans" pitchFamily="34" charset="-120"/>
              </a:rPr>
              <a:t>FastLogD</a:t>
            </a:r>
            <a:r>
              <a:rPr lang="en-US" b="1" dirty="0">
                <a:solidFill>
                  <a:srgbClr val="000000"/>
                </a:solidFill>
                <a:latin typeface="MiSans" pitchFamily="34" charset="0"/>
                <a:ea typeface="MiSans" pitchFamily="34" charset="-122"/>
                <a:cs typeface="MiSans" pitchFamily="34" charset="-120"/>
              </a:rPr>
              <a:t>, </a:t>
            </a:r>
            <a:r>
              <a:rPr lang="en-US" b="1" dirty="0" err="1">
                <a:solidFill>
                  <a:srgbClr val="000000"/>
                </a:solidFill>
                <a:latin typeface="MiSans" pitchFamily="34" charset="0"/>
                <a:ea typeface="MiSans" pitchFamily="34" charset="-122"/>
                <a:cs typeface="MiSans" pitchFamily="34" charset="-120"/>
              </a:rPr>
              <a:t>LogLLM</a:t>
            </a:r>
            <a:r>
              <a:rPr lang="en-US" b="1" dirty="0">
                <a:solidFill>
                  <a:srgbClr val="000000"/>
                </a:solidFill>
                <a:latin typeface="MiSans" pitchFamily="34" charset="0"/>
                <a:ea typeface="MiSans" pitchFamily="34" charset="-122"/>
                <a:cs typeface="MiSans" pitchFamily="34" charset="-120"/>
              </a:rPr>
              <a:t>).</a:t>
            </a:r>
            <a:endParaRPr lang="en-US" b="1" dirty="0"/>
          </a:p>
          <a:p>
            <a:pPr algn="just">
              <a:lnSpc>
                <a:spcPct val="110000"/>
              </a:lnSpc>
            </a:pPr>
            <a:r>
              <a:rPr lang="en-US" b="1" dirty="0" err="1"/>
              <a:t>LogLLM</a:t>
            </a:r>
            <a:r>
              <a:rPr lang="en-US" b="1" dirty="0"/>
              <a:t> (rightmost) achieves the highest F1-score (≈1.0), significantly outperforming other methods such as HDFS and IGL, and exceeding the average benchmark.</a:t>
            </a:r>
          </a:p>
        </p:txBody>
      </p:sp>
    </p:spTree>
    <p:extLst>
      <p:ext uri="{BB962C8B-B14F-4D97-AF65-F5344CB8AC3E}">
        <p14:creationId xmlns:p14="http://schemas.microsoft.com/office/powerpoint/2010/main" val="2325310340"/>
      </p:ext>
    </p:extLst>
  </p:cSld>
  <p:clrMapOvr>
    <a:masterClrMapping/>
  </p:clrMapOvr>
  <p:transition>
    <p:fade/>
  </p:transition>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name="Slide 22">
    <p:bg>
      <p:bgPr>
        <a:gradFill flip="none" rotWithShape="0">
          <a:gsLst>
            <a:gs pos="0">
              <a:srgbClr val="EFF6FC"/>
            </a:gs>
            <a:gs pos="100000">
              <a:srgbClr val="BED7EE"/>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10-09-17:19:39-d3jnsaos8jdo4os5dls0.png"/>
          <p:cNvPicPr>
            <a:picLocks noChangeAspect="1"/>
          </p:cNvPicPr>
          <p:nvPr/>
        </p:nvPicPr>
        <p:blipFill>
          <a:blip r:embed="rId3"/>
          <a:stretch>
            <a:fillRect/>
          </a:stretch>
        </p:blipFill>
        <p:spPr>
          <a:xfrm>
            <a:off x="182880" y="0"/>
            <a:ext cx="11826240" cy="6492240"/>
          </a:xfrm>
          <a:prstGeom prst="rect">
            <a:avLst/>
          </a:prstGeom>
        </p:spPr>
      </p:pic>
      <p:sp>
        <p:nvSpPr>
          <p:cNvPr id="3" name="Shape 0"/>
          <p:cNvSpPr/>
          <p:nvPr/>
        </p:nvSpPr>
        <p:spPr>
          <a:xfrm>
            <a:off x="667075" y="756100"/>
            <a:ext cx="237324" cy="0"/>
          </a:xfrm>
          <a:prstGeom prst="line">
            <a:avLst/>
          </a:prstGeom>
          <a:noFill/>
          <a:ln w="31750">
            <a:solidFill>
              <a:srgbClr val="004CC0"/>
            </a:solidFill>
            <a:prstDash val="solid"/>
            <a:headEnd type="none"/>
            <a:tailEnd type="none"/>
          </a:ln>
        </p:spPr>
      </p:sp>
      <p:sp>
        <p:nvSpPr>
          <p:cNvPr id="4" name="Shape 1"/>
          <p:cNvSpPr/>
          <p:nvPr/>
        </p:nvSpPr>
        <p:spPr>
          <a:xfrm>
            <a:off x="667075" y="821637"/>
            <a:ext cx="237324" cy="0"/>
          </a:xfrm>
          <a:prstGeom prst="line">
            <a:avLst/>
          </a:prstGeom>
          <a:noFill/>
          <a:ln w="31750">
            <a:solidFill>
              <a:srgbClr val="004CC0"/>
            </a:solidFill>
            <a:prstDash val="solid"/>
            <a:headEnd type="none"/>
            <a:tailEnd type="none"/>
          </a:ln>
        </p:spPr>
      </p:sp>
      <p:sp>
        <p:nvSpPr>
          <p:cNvPr id="5" name="Shape 2"/>
          <p:cNvSpPr/>
          <p:nvPr/>
        </p:nvSpPr>
        <p:spPr>
          <a:xfrm>
            <a:off x="667075" y="887173"/>
            <a:ext cx="237324" cy="0"/>
          </a:xfrm>
          <a:prstGeom prst="line">
            <a:avLst/>
          </a:prstGeom>
          <a:noFill/>
          <a:ln w="31750">
            <a:solidFill>
              <a:srgbClr val="004CC0"/>
            </a:solidFill>
            <a:prstDash val="solid"/>
            <a:headEnd type="none"/>
            <a:tailEnd type="none"/>
          </a:ln>
        </p:spPr>
      </p:sp>
      <p:sp>
        <p:nvSpPr>
          <p:cNvPr id="6" name="Shape 3"/>
          <p:cNvSpPr/>
          <p:nvPr/>
        </p:nvSpPr>
        <p:spPr>
          <a:xfrm>
            <a:off x="3121978" y="3770882"/>
            <a:ext cx="774258" cy="76200"/>
          </a:xfrm>
          <a:prstGeom prst="rect">
            <a:avLst/>
          </a:prstGeom>
          <a:solidFill>
            <a:srgbClr val="FFFFFF"/>
          </a:solidFill>
          <a:ln/>
        </p:spPr>
      </p:sp>
      <p:sp>
        <p:nvSpPr>
          <p:cNvPr id="7" name="Text 4"/>
          <p:cNvSpPr/>
          <p:nvPr/>
        </p:nvSpPr>
        <p:spPr>
          <a:xfrm>
            <a:off x="3121978" y="3770882"/>
            <a:ext cx="774258" cy="76200"/>
          </a:xfrm>
          <a:prstGeom prst="rect">
            <a:avLst/>
          </a:prstGeom>
          <a:noFill/>
          <a:ln/>
        </p:spPr>
        <p:txBody>
          <a:bodyPr wrap="square" lIns="45720" tIns="91440" rIns="91440" bIns="45720" rtlCol="0" anchor="ctr"/>
          <a:lstStyle/>
          <a:p>
            <a:pPr>
              <a:lnSpc>
                <a:spcPct val="100000"/>
              </a:lnSpc>
            </a:pPr>
            <a:endParaRPr lang="en-US" sz="1600" dirty="0"/>
          </a:p>
        </p:txBody>
      </p:sp>
      <p:sp>
        <p:nvSpPr>
          <p:cNvPr id="8" name="Shape 5"/>
          <p:cNvSpPr/>
          <p:nvPr/>
        </p:nvSpPr>
        <p:spPr>
          <a:xfrm>
            <a:off x="3390388" y="3808982"/>
            <a:ext cx="5667570" cy="0"/>
          </a:xfrm>
          <a:prstGeom prst="line">
            <a:avLst/>
          </a:prstGeom>
          <a:noFill/>
          <a:ln w="19050">
            <a:solidFill>
              <a:srgbClr val="FFFFFF"/>
            </a:solidFill>
            <a:prstDash val="solid"/>
            <a:headEnd type="none"/>
            <a:tailEnd type="none"/>
          </a:ln>
        </p:spPr>
      </p:sp>
      <p:pic>
        <p:nvPicPr>
          <p:cNvPr id="10" name="Image 2" descr="https://kimi-img.moonshot.cn/pub/slides/slides_tmpl/image/25-10-09-17:19:39-d3jnsaos8jdo4os5dlqg.png"/>
          <p:cNvPicPr>
            <a:picLocks noChangeAspect="1"/>
          </p:cNvPicPr>
          <p:nvPr/>
        </p:nvPicPr>
        <p:blipFill>
          <a:blip r:embed="rId4"/>
          <a:stretch>
            <a:fillRect/>
          </a:stretch>
        </p:blipFill>
        <p:spPr>
          <a:xfrm>
            <a:off x="0" y="5998210"/>
            <a:ext cx="12192000" cy="859790"/>
          </a:xfrm>
          <a:prstGeom prst="rect">
            <a:avLst/>
          </a:prstGeom>
        </p:spPr>
      </p:pic>
      <p:sp>
        <p:nvSpPr>
          <p:cNvPr id="11" name="Text 6"/>
          <p:cNvSpPr/>
          <p:nvPr/>
        </p:nvSpPr>
        <p:spPr>
          <a:xfrm>
            <a:off x="3564097" y="1886837"/>
            <a:ext cx="7708900" cy="1543050"/>
          </a:xfrm>
          <a:prstGeom prst="rect">
            <a:avLst/>
          </a:prstGeom>
          <a:noFill/>
          <a:ln/>
        </p:spPr>
        <p:txBody>
          <a:bodyPr wrap="square" lIns="91440" tIns="45720" rIns="91440" bIns="45720" rtlCol="0" anchor="t">
            <a:spAutoFit/>
          </a:bodyPr>
          <a:lstStyle/>
          <a:p>
            <a:pPr algn="just">
              <a:lnSpc>
                <a:spcPct val="100000"/>
              </a:lnSpc>
            </a:pPr>
            <a:r>
              <a:rPr lang="en-US" sz="10000" b="1" dirty="0">
                <a:solidFill>
                  <a:srgbClr val="004CC0"/>
                </a:solidFill>
                <a:latin typeface="MiSans" pitchFamily="34" charset="0"/>
                <a:ea typeface="MiSans" pitchFamily="34" charset="-122"/>
                <a:cs typeface="MiSans" pitchFamily="34" charset="-120"/>
              </a:rPr>
              <a:t>THANKS</a:t>
            </a:r>
            <a:endParaRPr lang="en-US" sz="1600" dirty="0"/>
          </a:p>
        </p:txBody>
      </p:sp>
      <p:pic>
        <p:nvPicPr>
          <p:cNvPr id="13" name="Image 3" descr="https://kimi-img.moonshot.cn/pub/slides/slides_tmpl/image/25-10-09-17:19:39-d3jnsaos8jdo4os5dlq0.png"/>
          <p:cNvPicPr>
            <a:picLocks noChangeAspect="1"/>
          </p:cNvPicPr>
          <p:nvPr/>
        </p:nvPicPr>
        <p:blipFill>
          <a:blip r:embed="rId5"/>
          <a:stretch>
            <a:fillRect/>
          </a:stretch>
        </p:blipFill>
        <p:spPr>
          <a:xfrm>
            <a:off x="4031615" y="4362067"/>
            <a:ext cx="4526915" cy="597535"/>
          </a:xfrm>
          <a:prstGeom prst="rect">
            <a:avLst/>
          </a:prstGeom>
        </p:spPr>
      </p:pic>
      <p:sp>
        <p:nvSpPr>
          <p:cNvPr id="14" name="Text 8"/>
          <p:cNvSpPr/>
          <p:nvPr/>
        </p:nvSpPr>
        <p:spPr>
          <a:xfrm>
            <a:off x="5939156" y="4446085"/>
            <a:ext cx="2350135" cy="307777"/>
          </a:xfrm>
          <a:prstGeom prst="rect">
            <a:avLst/>
          </a:prstGeom>
          <a:noFill/>
          <a:ln/>
        </p:spPr>
        <p:txBody>
          <a:bodyPr wrap="square" lIns="91440" tIns="45720" rIns="91440" bIns="45720" rtlCol="0" anchor="t">
            <a:spAutoFit/>
          </a:bodyPr>
          <a:lstStyle/>
          <a:p>
            <a:pPr algn="ctr">
              <a:lnSpc>
                <a:spcPct val="100000"/>
              </a:lnSpc>
            </a:pPr>
            <a:r>
              <a:rPr lang="en-US" sz="1400" b="1" dirty="0">
                <a:solidFill>
                  <a:srgbClr val="404040"/>
                </a:solidFill>
                <a:latin typeface="MiSans" pitchFamily="34" charset="0"/>
                <a:ea typeface="MiSans" pitchFamily="34" charset="-122"/>
                <a:cs typeface="MiSans" pitchFamily="34" charset="-120"/>
              </a:rPr>
              <a:t>Date：</a:t>
            </a:r>
            <a:r>
              <a:rPr lang="en-US" sz="1400" dirty="0">
                <a:solidFill>
                  <a:srgbClr val="404040"/>
                </a:solidFill>
                <a:latin typeface="MiSans" pitchFamily="34" charset="0"/>
                <a:ea typeface="MiSans" pitchFamily="34" charset="-122"/>
                <a:cs typeface="MiSans" pitchFamily="34" charset="-120"/>
              </a:rPr>
              <a:t>2025/12/10</a:t>
            </a:r>
            <a:endParaRPr lang="en-US" sz="1600" dirty="0"/>
          </a:p>
        </p:txBody>
      </p:sp>
      <p:sp>
        <p:nvSpPr>
          <p:cNvPr id="15" name="Text 9"/>
          <p:cNvSpPr/>
          <p:nvPr/>
        </p:nvSpPr>
        <p:spPr>
          <a:xfrm>
            <a:off x="4140201" y="4446085"/>
            <a:ext cx="1666875" cy="307777"/>
          </a:xfrm>
          <a:prstGeom prst="rect">
            <a:avLst/>
          </a:prstGeom>
          <a:noFill/>
          <a:ln/>
        </p:spPr>
        <p:txBody>
          <a:bodyPr wrap="square" lIns="91440" tIns="45720" rIns="91440" bIns="45720" rtlCol="0" anchor="t">
            <a:spAutoFit/>
          </a:bodyPr>
          <a:lstStyle/>
          <a:p>
            <a:pPr algn="ctr">
              <a:lnSpc>
                <a:spcPct val="100000"/>
              </a:lnSpc>
            </a:pPr>
            <a:r>
              <a:rPr lang="en-US" sz="1400" b="1" dirty="0" err="1">
                <a:solidFill>
                  <a:srgbClr val="404040"/>
                </a:solidFill>
                <a:latin typeface="MiSans" pitchFamily="34" charset="0"/>
                <a:ea typeface="MiSans" pitchFamily="34" charset="-122"/>
                <a:cs typeface="MiSans" pitchFamily="34" charset="-120"/>
              </a:rPr>
              <a:t>Goup</a:t>
            </a:r>
            <a:r>
              <a:rPr lang="en-US" sz="1400" b="1" dirty="0">
                <a:solidFill>
                  <a:srgbClr val="404040"/>
                </a:solidFill>
                <a:latin typeface="MiSans" pitchFamily="34" charset="0"/>
                <a:ea typeface="MiSans" pitchFamily="34" charset="-122"/>
                <a:cs typeface="MiSans" pitchFamily="34" charset="-120"/>
              </a:rPr>
              <a:t>:</a:t>
            </a:r>
            <a:r>
              <a:rPr lang="zh-CN" altLang="en-US" sz="1400" b="1" dirty="0">
                <a:solidFill>
                  <a:srgbClr val="404040"/>
                </a:solidFill>
                <a:latin typeface="MiSans" pitchFamily="34" charset="0"/>
                <a:ea typeface="MiSans" pitchFamily="34" charset="-122"/>
                <a:cs typeface="MiSans" pitchFamily="34" charset="-120"/>
              </a:rPr>
              <a:t> </a:t>
            </a:r>
            <a:r>
              <a:rPr lang="en-US" altLang="zh-CN" sz="1400" dirty="0" err="1">
                <a:solidFill>
                  <a:srgbClr val="404040"/>
                </a:solidFill>
                <a:latin typeface="MiSans" pitchFamily="34" charset="0"/>
                <a:ea typeface="MiSans" pitchFamily="34" charset="-122"/>
                <a:cs typeface="MiSans" pitchFamily="34" charset="-120"/>
              </a:rPr>
              <a:t>GitCommit</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004CC0"/>
      </a:accent1>
      <a:accent2>
        <a:srgbClr val="00B0F0"/>
      </a:accent2>
      <a:accent3>
        <a:srgbClr val="1D3EBF"/>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2105</TotalTime>
  <Words>1926</Words>
  <Application>Microsoft Office PowerPoint</Application>
  <PresentationFormat>宽屏</PresentationFormat>
  <Paragraphs>209</Paragraphs>
  <Slides>23</Slides>
  <Notes>23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23</vt:i4>
      </vt:variant>
    </vt:vector>
  </HeadingPairs>
  <TitlesOfParts>
    <vt:vector size="31" baseType="lpstr">
      <vt:lpstr>MiSans</vt:lpstr>
      <vt:lpstr>等线</vt:lpstr>
      <vt:lpstr>宋体</vt:lpstr>
      <vt:lpstr>Arial</vt:lpstr>
      <vt:lpstr>Calibri</vt:lpstr>
      <vt:lpstr>Courier New</vt:lpstr>
      <vt:lpstr>Times New Roman</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Log Analyzer for VS Code</dc:title>
  <dc:subject>AI-Driven Log Analyzer for VS Code</dc:subject>
  <dc:creator>Kimi</dc:creator>
  <cp:lastModifiedBy>志宏 张</cp:lastModifiedBy>
  <cp:revision>24</cp:revision>
  <dcterms:created xsi:type="dcterms:W3CDTF">2025-11-15T16:02:16Z</dcterms:created>
  <dcterms:modified xsi:type="dcterms:W3CDTF">2025-12-04T09:22:56Z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{"Label":"AI-Driven Log Analyzer for VS Code","ContentProducer":"001191110108MACG2KBH8F10000","ProduceID":"d4c8u92hra0c0g0gjp9g","ReservedCode1":"","ContentPropagator":"001191110108MACG2KBH8F20000","PropagateID":"d4c8u92hra0c0g0gjp9g","ReservedCode2":""}</vt:lpwstr>
  </property>
</Properties>
</file>